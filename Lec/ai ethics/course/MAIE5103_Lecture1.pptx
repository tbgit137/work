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337" r:id="rId33"/>
    <p:sldId id="288" r:id="rId34"/>
    <p:sldId id="289" r:id="rId35"/>
    <p:sldId id="290" r:id="rId36"/>
    <p:sldId id="291" r:id="rId37"/>
    <p:sldId id="292" r:id="rId38"/>
    <p:sldId id="293" r:id="rId39"/>
    <p:sldId id="294" r:id="rId40"/>
    <p:sldId id="295" r:id="rId41"/>
    <p:sldId id="296" r:id="rId42"/>
    <p:sldId id="297" r:id="rId43"/>
    <p:sldId id="338" r:id="rId44"/>
    <p:sldId id="299" r:id="rId45"/>
    <p:sldId id="300" r:id="rId46"/>
    <p:sldId id="301" r:id="rId47"/>
    <p:sldId id="302" r:id="rId48"/>
    <p:sldId id="304" r:id="rId49"/>
    <p:sldId id="305" r:id="rId50"/>
    <p:sldId id="306" r:id="rId51"/>
    <p:sldId id="307" r:id="rId52"/>
    <p:sldId id="339" r:id="rId53"/>
    <p:sldId id="309" r:id="rId54"/>
    <p:sldId id="310" r:id="rId55"/>
    <p:sldId id="311" r:id="rId56"/>
    <p:sldId id="312" r:id="rId57"/>
    <p:sldId id="313" r:id="rId58"/>
    <p:sldId id="340" r:id="rId59"/>
    <p:sldId id="303" r:id="rId60"/>
    <p:sldId id="315" r:id="rId61"/>
    <p:sldId id="316" r:id="rId62"/>
    <p:sldId id="317" r:id="rId63"/>
    <p:sldId id="318" r:id="rId64"/>
    <p:sldId id="319" r:id="rId65"/>
    <p:sldId id="320" r:id="rId66"/>
    <p:sldId id="321" r:id="rId67"/>
    <p:sldId id="322" r:id="rId68"/>
    <p:sldId id="323" r:id="rId69"/>
    <p:sldId id="324" r:id="rId70"/>
    <p:sldId id="341" r:id="rId71"/>
    <p:sldId id="342" r:id="rId72"/>
    <p:sldId id="327" r:id="rId73"/>
    <p:sldId id="328" r:id="rId74"/>
    <p:sldId id="329" r:id="rId75"/>
    <p:sldId id="330" r:id="rId76"/>
    <p:sldId id="331" r:id="rId77"/>
    <p:sldId id="332" r:id="rId78"/>
    <p:sldId id="333" r:id="rId79"/>
    <p:sldId id="334" r:id="rId80"/>
    <p:sldId id="336" r:id="rId8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7"/>
    <p:restoredTop sz="69987"/>
  </p:normalViewPr>
  <p:slideViewPr>
    <p:cSldViewPr snapToGrid="0" snapToObjects="1">
      <p:cViewPr varScale="1">
        <p:scale>
          <a:sx n="88" d="100"/>
          <a:sy n="88" d="100"/>
        </p:scale>
        <p:origin x="150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61" Type="http://schemas.openxmlformats.org/officeDocument/2006/relationships/slide" Target="slides/slide60.xml"/><Relationship Id="rId8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Learn to recognize ethical risks before they become real-world harms.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course connects technical design choices to their consequences for people and institutions.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We first establish how the course works, then build a practical vocabulary for ethical reasoning.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Ethical analysis follows AI across research, design, deployment, use, and governance.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Automated decisions increasingly shape access to opportunities, services, rights, and public trust.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goal is not only to know ethical concepts, but to evaluate, communicate, and act on them.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Each phase builds toward an evidence-based capstone analysis of a real AI ethics problem.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semester moves from foundations to recurring issues, applied domains, and governance.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assessment mix rewards preparation, analysis, communication, and integrated project work.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Strong work is prepared, evidence-based, concise, and explicitly connected to ethical concepts.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case study diagnoses an existing problem; the final project develops and defends a response.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readings combine philosophy, responsible-AI practice, mathematical harms, and social impact.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may support learning only when its use is permitted, disclosed, verified, and remains your own work.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reliable weekly rhythm is simple: read, contribute, reflect, and ask for help early.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judge AI responsibly, we need to understand both the technology and the values it affects.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lecture progresses from definition to evaluation, cases, and practical decision-making.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these objectives as a contract for the session. Students should leave able to identify the kind of ethical question being asked, use more than one lens, map who is affected, and defend a practical response.</a:t>
            </a:r>
          </a:p>
          <a:p>
            <a:endParaRPr/>
          </a:p>
          <a:p>
            <a:r>
              <a:t>[Sources]</a:t>
            </a:r>
          </a:p>
          <a:p>
            <a:r>
              <a:t>- Source course structure and baseline content: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Invite two or three examples. Push students beyond obvious chatbots: recommendations, ranking, fraud detection, navigation, admissions support, triage, and eligibility systems are all AI-mediated decisions. This opening makes the lecture immediately personal.</a:t>
            </a:r>
          </a:p>
          <a:p>
            <a:endParaRPr/>
          </a:p>
          <a:p>
            <a:r>
              <a:t>[Sources]</a:t>
            </a:r>
          </a:p>
          <a:p>
            <a:r>
              <a:t>- Source course structure and baseline content: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Most current AI learns patterns for specific tasks; fluent or capable behavior is not human understanding.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history repeatedly cycles through optimism, technical limits, and renewed progress driven by new methods and resources.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 Turing as the starting point, then emphasize the recurring cycle: strong expectations, technical and institutional limits, new resources, and renewed confidence. Ethical judgment becomes distorted when imagined capability is treated as present fact.</a:t>
            </a:r>
          </a:p>
          <a:p>
            <a:endParaRPr/>
          </a:p>
          <a:p>
            <a:r>
              <a:t>[Sources]</a:t>
            </a:r>
          </a:p>
          <a:p>
            <a:r>
              <a:t>- https://www.turing.ac.uk/people/researchers/idris-zakariyya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lifecycle clockwise: data, training, prediction or generation, deployment, and monitoring. At each stage, ask the blue question beside it. The key point is that ethics is not a final compliance check; choices about inclusion, objectives, error, explanation, appeal, and correction enter throughout the system lifecycle.</a:t>
            </a:r>
          </a:p>
          <a:p>
            <a:endParaRPr/>
          </a:p>
          <a:p>
            <a:r>
              <a:t>[Sources]</a:t>
            </a:r>
          </a:p>
          <a:p>
            <a:r>
              <a:t>- Source content and visual identity: user-provided MAIE5103_Lecture1_all.pptx.</a:t>
            </a:r>
          </a:p>
          <a:p>
            <a:r>
              <a:t>- Slide artwork: Codex built-in image generation, approved by the user in this task.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Generative models can produce fluent outputs without knowing whether those outputs are true, fair, or appropriate.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left to right. Fluency describes the surface quality of language. Knowledge is more contested and depends on what kind of representation or competence we mean. Verification is a social and technical process outside the generated sentence.</a:t>
            </a:r>
          </a:p>
          <a:p>
            <a:endParaRPr/>
          </a:p>
          <a:p>
            <a:r>
              <a:t>[Sources]</a:t>
            </a:r>
          </a:p>
          <a:p>
            <a:r>
              <a:t>- Source course structure and baseline content: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students two minutes in pairs. The key issue is that excluding gender does not remove gendered proxies or unequal outcomes. Ask groups to name evidence they would request: subgroup performance, feature documentation, data provenance, audit results, and appeal procedures.</a:t>
            </a:r>
          </a:p>
          <a:p>
            <a:endParaRPr/>
          </a:p>
          <a:p>
            <a:r>
              <a:t>[Sources]</a:t>
            </a:r>
          </a:p>
          <a:p>
            <a:r>
              <a:t>- Source course structure and baseline content: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is often invisible infrastructure: it ranks, recommends, predicts, allocates, and moderates throughout daily life.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Benchmark performance is conditional; context change, uncertainty, and adversarial use can quickly undermine reliability.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Powerful + opaque + pervasive systems create obligations to anticipate, explain, and remedy harm.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Take a 15–20 minute break. Keep the return question visible so students re-enter the room already considering intervention points.</a:t>
            </a:r>
          </a:p>
          <a:p>
            <a:endParaRPr/>
          </a:p>
          <a:p>
            <a:r>
              <a:t>[Sources]</a:t>
            </a:r>
          </a:p>
          <a:p>
            <a:r>
              <a:t>- Source course structure and baseline content: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Law asks what is permitted; ethics asks what is justified and why, including when law is silent.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Technology is not neutral because every objective, interface, and default privileges some values over others.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sz="1500">
                <a:solidFill>
                  <a:srgbClr val="263442"/>
                </a:solidFill>
              </a:defRPr>
            </a:pPr>
            <a:r>
              <a:rPr lang="en" altLang="zh-CN" sz="1200" dirty="0"/>
              <a:t>Use recommendation as a familiar example. The point is not that engagement is always wrong, but that choosing it as the dominant objective makes a normative claim about what the system should optimize.</a:t>
            </a:r>
            <a:endParaRPr lang="en" altLang="zh-CN" sz="1200" dirty="0">
              <a:solidFill>
                <a:srgbClr val="263442"/>
              </a:solidFill>
            </a:endParaRPr>
          </a:p>
          <a:p>
            <a:pPr>
              <a:defRPr sz="1500">
                <a:solidFill>
                  <a:srgbClr val="263442"/>
                </a:solidFill>
              </a:defRPr>
            </a:pPr>
            <a:r>
              <a:rPr lang="en" altLang="zh-CN" sz="1200" dirty="0">
                <a:solidFill>
                  <a:srgbClr val="263442"/>
                </a:solidFill>
              </a:rPr>
              <a:t>•  Changing the metric changes which content is promoted.</a:t>
            </a:r>
          </a:p>
          <a:p>
            <a:pPr>
              <a:defRPr sz="1500">
                <a:solidFill>
                  <a:srgbClr val="263442"/>
                </a:solidFill>
              </a:defRPr>
            </a:pPr>
            <a:r>
              <a:rPr lang="en" altLang="zh-CN" sz="1200" dirty="0">
                <a:solidFill>
                  <a:srgbClr val="263442"/>
                </a:solidFill>
              </a:rPr>
              <a:t>•  Interface defaults affect autonomy and attention.</a:t>
            </a:r>
          </a:p>
          <a:p>
            <a:pPr>
              <a:defRPr sz="1500">
                <a:solidFill>
                  <a:srgbClr val="263442"/>
                </a:solidFill>
              </a:defRPr>
            </a:pPr>
            <a:r>
              <a:rPr lang="en" altLang="zh-CN" sz="1200" dirty="0">
                <a:solidFill>
                  <a:srgbClr val="263442"/>
                </a:solidFill>
              </a:rPr>
              <a:t>•  The same objective distributes benefits and burdens unevenly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Consequentialism asks whose benefits and harms count, over what time horizon, and under what uncertainty.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high-performing system can still be wrong if it violates rights, consent, dignity, or due process.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Virtue and relational ethics shift attention from isolated acts to character, care, dependence, and social context.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Different lenses expose different blind spots; robust analysis usually needs more than one.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Apply each lens to the same tool. Encourage students to notice that a favorable aggregate outcome does not settle rights, distribution, or care concerns. Multiple lenses reduce the risk of a one-dimensional conclusion.</a:t>
            </a:r>
          </a:p>
          <a:p>
            <a:endParaRPr/>
          </a:p>
          <a:p>
            <a:r>
              <a:t>[Sources]</a:t>
            </a:r>
          </a:p>
          <a:p>
            <a:r>
              <a:t>- Source course structure and baseline content: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Assign consequentialism, deontology, justice, or care ethics to groups. Allow four minutes to prepare and about four minutes for selected report-backs. Ask each group to state what evidence could change its recommendation.</a:t>
            </a:r>
          </a:p>
          <a:p>
            <a:endParaRPr/>
          </a:p>
          <a:p>
            <a:r>
              <a:t>[Sources]</a:t>
            </a:r>
          </a:p>
          <a:p>
            <a:r>
              <a:t>- Source course structure and baseline content: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AI ethics studies moral questions across the full socio-technical lifecycle, not only model behavior.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complete analysis combines descriptive evidence, normative judgment, and practical safeguards.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Scale, opacity, speed, and high stakes make after-the-fact review too slow and too costly.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Opaque, scaled, damaging systems often reinforce themselves through feedback loops.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 Explain the clockwise feedback loop: historical records influence prediction, prediction changes resource allocation, deployment changes observation, and recorded incidents become future training data.</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Use predictive policing as a conceptual example without claiming a particular numerical effect. Follow the loop and ask where intervention is possible: data interpretation, allocation policy, independent outcome measures, or deployment limits.</a:t>
            </a:r>
          </a:p>
          <a:p>
            <a:pPr>
              <a:defRPr sz="1500">
                <a:solidFill>
                  <a:srgbClr val="263442"/>
                </a:solidFill>
              </a:defRPr>
            </a:pPr>
            <a:r>
              <a:rPr lang="en" altLang="zh-CN" sz="1200" dirty="0">
                <a:solidFill>
                  <a:srgbClr val="263442"/>
                </a:solidFill>
              </a:rPr>
              <a:t>•  Example: more patrols create more recorded incidents, even if underlying behavior is unchanged.</a:t>
            </a:r>
          </a:p>
          <a:p>
            <a:pPr>
              <a:defRPr sz="1500">
                <a:solidFill>
                  <a:srgbClr val="263442"/>
                </a:solidFill>
              </a:defRPr>
            </a:pPr>
            <a:r>
              <a:rPr lang="en" altLang="zh-CN" sz="1200" dirty="0">
                <a:solidFill>
                  <a:srgbClr val="263442"/>
                </a:solidFill>
              </a:rPr>
              <a:t>•  The system can appear to confirm itself because observation is not neutral.</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 single actor controls the full lifecycle, so effective governance must coordinate multiple forms of expertise and authority.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Distributed work does not eliminate responsibility; it makes ownership, handoffs, and escalation more important.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Principles become credible only when translated into controls, evidence, monitoring, appeal, and remedy.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Fairness, privacy, transparency, accountability, safety, and societal impact are deeply interconnected.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Bias is not only an accuracy gap; it is an unjustified pattern of differential burden or harm.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Seemingly harmless data can reveal identity, health, beliefs, location, and vulnerability through inference.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Useful explanation depends on the audience: developers, regulators, deployers, and affected people need different answers.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Avoid treating explainability as a single technical property. A developer debugging a model and an applicant contesting a rejection need different information, different timing, and different authority to act.</a:t>
            </a:r>
          </a:p>
          <a:p>
            <a:endParaRPr/>
          </a:p>
          <a:p>
            <a:r>
              <a:t>[Sources]</a:t>
            </a:r>
          </a:p>
          <a:p>
            <a:r>
              <a:t>- Source course structure and baseline content: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Developers, deployers, regulators, and affected people need different explanations because each audience has a different legitimate next 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Safety and security require testing before deployment and monitoring under real-world change after deployment.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Aggregate benefits can coexist with concentrated harms, unequal power, and long-term institutional change.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Moral status asks whether AI can be harmed; moral agency asks whether it can be responsible — these are different questions.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Run a structured seven-minute debate. Ask one side to argue for expanded concepts of agency and the other to defend human and institutional responsibility. End by distinguishing philosophical status from practical accountability.</a:t>
            </a:r>
          </a:p>
          <a:p>
            <a:endParaRPr/>
          </a:p>
          <a:p>
            <a:r>
              <a:t>[Sources]</a:t>
            </a:r>
          </a:p>
          <a:p>
            <a:r>
              <a:t>- Source course structure and baseline content: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COMPAS debate shows that competing fairness definitions can produce different judgments from the same scores.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 altLang="zh-CN" dirty="0"/>
              <a:t>Explain the two error types before discussing fairness definitions. Do not imply that one metric mechanically resolves the dispute; each criterion foregrounds different harms and institutional goals.</a:t>
            </a:r>
          </a:p>
          <a:p>
            <a:endParaRPr lang="en" altLang="zh-CN" dirty="0"/>
          </a:p>
          <a:p>
            <a:r>
              <a:rPr lang="en" altLang="zh-CN" dirty="0"/>
              <a:t>[Sources]</a:t>
            </a:r>
          </a:p>
          <a:p>
            <a:r>
              <a:rPr lang="en" altLang="zh-CN" dirty="0"/>
              <a:t>- https://</a:t>
            </a:r>
            <a:r>
              <a:rPr lang="en" altLang="zh-CN" dirty="0" err="1"/>
              <a:t>www.propublica.org</a:t>
            </a:r>
            <a:r>
              <a:rPr lang="en" altLang="zh-CN" dirty="0"/>
              <a:t>/article/how-we-analyzed-the-</a:t>
            </a:r>
            <a:r>
              <a:rPr lang="en" altLang="zh-CN" dirty="0" err="1"/>
              <a:t>compas</a:t>
            </a:r>
            <a:r>
              <a:rPr lang="en" altLang="zh-CN" dirty="0"/>
              <a:t>-recidivism-algorithm</a:t>
            </a:r>
          </a:p>
          <a:p>
            <a:r>
              <a:rPr dirty="0"/>
              <a:t>Contrast false positives and false negatives, then discuss why fairness definitions may conflict.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Take the second 15–20 minute break. After the break, collect two responses and connect them to explainability, accountability, and the case studies that follow.</a:t>
            </a:r>
          </a:p>
          <a:p>
            <a:endParaRPr/>
          </a:p>
          <a:p>
            <a:r>
              <a:t>[Sources]</a:t>
            </a:r>
          </a:p>
          <a:p>
            <a:r>
              <a:t>- Source course structure and baseline content: user-provided MAIE5103_Lecture1_all.pptx.</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29905632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Automation can scale administrative burden and denial when notice, human review, and appeal are weak.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Proxy variables and feedback loops allow discrimination to persist even when protected attributes are removed.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Accuracy alone cannot justify surveillance; legitimacy also depends on purpose, consent, proportionality, and oversight.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paper reported error rates up to 34.7% for darker-skinned women and a maximum of 0.8% for lighter-skinned men across the evaluated commercial gender-classification systems. Emphasize the evaluation method: subgroup analysis exposed disparities hidden by aggregate results.</a:t>
            </a:r>
          </a:p>
          <a:p>
            <a:endParaRPr/>
          </a:p>
          <a:p>
            <a:r>
              <a:t>[Sources]</a:t>
            </a:r>
          </a:p>
          <a:p>
            <a:r>
              <a:t>- https://proceedings.mlr.press/v81/buolamwini18a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Deepfake governance needs layered responses: provenance, detection, platform policy, law, literacy, and victim support.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Walk through the official diagram from digital content and metadata to signed manifests and provenance. Then state the limitation clearly: a valid chain can show where content came from and how it changed, but not whether the represented claim is true.</a:t>
            </a:r>
          </a:p>
          <a:p>
            <a:endParaRPr/>
          </a:p>
          <a:p>
            <a:r>
              <a:t>[Sources]</a:t>
            </a:r>
          </a:p>
          <a:p>
            <a:r>
              <a:t>- https://spec.c2pa.org/specifications/specifications/1.0/specs/C2PA_Specification.html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Vehicles and weapons differ in purpose, but both raise questions about meaningful human control and accountability.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students one position to defend: what conditions would make human control meaningful rather than symbolic? Compare purpose, time pressure, authority, and failure consequences before reaching a conclusion.</a:t>
            </a:r>
          </a:p>
          <a:p>
            <a:endParaRPr/>
          </a:p>
          <a:p>
            <a:r>
              <a:t>[Sources]</a:t>
            </a:r>
          </a:p>
          <a:p>
            <a:r>
              <a:t>- Source course structure and baseline content: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Responsible AI links who is accountable, what is designed, and how governance verifies performance in practice.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Ethical principles work best as review questions that guide design evidence, not as slogans.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MAP, MEASURE, and MANAGE form a continuous operating cycle; GOVERN shapes culture, roles, and policy across the entire framework.</a:t>
            </a: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dirty="0"/>
              <a:t>Introduce NIST AI RMF 1.0 as a voluntary, rights-preserving, non-sector-specific framework. Explain that Govern is cross-cutting, while Map, Measure, and Manage create an iterative operational cycle.</a:t>
            </a:r>
          </a:p>
          <a:p>
            <a:endParaRPr dirty="0"/>
          </a:p>
          <a:p>
            <a:r>
              <a:rPr dirty="0"/>
              <a:t>[Sources]</a:t>
            </a:r>
          </a:p>
          <a:p>
            <a:r>
              <a:rPr dirty="0"/>
              <a:t>- https://</a:t>
            </a:r>
            <a:r>
              <a:rPr dirty="0" err="1"/>
              <a:t>www.nist.gov</a:t>
            </a:r>
            <a:r>
              <a:rPr dirty="0"/>
              <a:t>/publications/artificial-intelligence-risk-management-framework-ai-rmf-10</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Replacement for original page 71. Values and principles become actionable through impact assessment, institutions, and sector-specific policy.</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b="1" dirty="0">
                <a:solidFill>
                  <a:srgbClr val="1F3B6D"/>
                </a:solidFill>
              </a:rPr>
              <a:t>CORE VALUES</a:t>
            </a:r>
          </a:p>
          <a:p>
            <a:pPr>
              <a:defRPr sz="1200">
                <a:solidFill>
                  <a:srgbClr val="263442"/>
                </a:solidFill>
              </a:defRPr>
            </a:pPr>
            <a:r>
              <a:rPr lang="en" altLang="zh-CN" sz="1200" dirty="0">
                <a:solidFill>
                  <a:srgbClr val="263442"/>
                </a:solidFill>
              </a:rPr>
              <a:t>Human rights &amp; dignity</a:t>
            </a:r>
          </a:p>
          <a:p>
            <a:pPr>
              <a:defRPr sz="1200">
                <a:solidFill>
                  <a:srgbClr val="263442"/>
                </a:solidFill>
              </a:defRPr>
            </a:pPr>
            <a:r>
              <a:rPr lang="en" altLang="zh-CN" sz="1200" dirty="0">
                <a:solidFill>
                  <a:srgbClr val="263442"/>
                </a:solidFill>
              </a:rPr>
              <a:t>Peaceful, just societies</a:t>
            </a:r>
          </a:p>
          <a:p>
            <a:pPr>
              <a:defRPr sz="1200">
                <a:solidFill>
                  <a:srgbClr val="263442"/>
                </a:solidFill>
              </a:defRPr>
            </a:pPr>
            <a:r>
              <a:rPr lang="en" altLang="zh-CN" sz="1200" dirty="0">
                <a:solidFill>
                  <a:srgbClr val="263442"/>
                </a:solidFill>
              </a:rPr>
              <a:t>Environment &amp; ecosystems</a:t>
            </a:r>
          </a:p>
          <a:p>
            <a:pPr>
              <a:defRPr sz="1200">
                <a:solidFill>
                  <a:srgbClr val="263442"/>
                </a:solidFill>
              </a:defRPr>
            </a:pPr>
            <a:r>
              <a:rPr lang="en" altLang="zh-CN" sz="1200" dirty="0">
                <a:solidFill>
                  <a:srgbClr val="263442"/>
                </a:solidFill>
              </a:rPr>
              <a:t>Diversity &amp; inclusion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CN" sz="1200" b="1" dirty="0">
              <a:solidFill>
                <a:srgbClr val="1F3B6D"/>
              </a:solidFill>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 altLang="zh-CN" sz="1200" b="1" dirty="0">
                <a:solidFill>
                  <a:srgbClr val="2D78B9"/>
                </a:solidFill>
              </a:rPr>
              <a:t>ACTION AREAS</a:t>
            </a:r>
          </a:p>
          <a:p>
            <a:pPr>
              <a:defRPr sz="1200">
                <a:solidFill>
                  <a:srgbClr val="263442"/>
                </a:solidFill>
              </a:defRPr>
            </a:pPr>
            <a:r>
              <a:rPr lang="en" altLang="zh-CN" sz="1200" dirty="0">
                <a:solidFill>
                  <a:srgbClr val="263442"/>
                </a:solidFill>
              </a:rPr>
              <a:t>Data governance</a:t>
            </a:r>
          </a:p>
          <a:p>
            <a:pPr>
              <a:defRPr sz="1200">
                <a:solidFill>
                  <a:srgbClr val="263442"/>
                </a:solidFill>
              </a:defRPr>
            </a:pPr>
            <a:r>
              <a:rPr lang="en" altLang="zh-CN" sz="1200" dirty="0">
                <a:solidFill>
                  <a:srgbClr val="263442"/>
                </a:solidFill>
              </a:rPr>
              <a:t>Education &amp; research</a:t>
            </a:r>
          </a:p>
          <a:p>
            <a:pPr>
              <a:defRPr sz="1200">
                <a:solidFill>
                  <a:srgbClr val="263442"/>
                </a:solidFill>
              </a:defRPr>
            </a:pPr>
            <a:r>
              <a:rPr lang="en" altLang="zh-CN" sz="1200" dirty="0">
                <a:solidFill>
                  <a:srgbClr val="263442"/>
                </a:solidFill>
              </a:rPr>
              <a:t>Economy &amp; labor</a:t>
            </a:r>
          </a:p>
          <a:p>
            <a:pPr>
              <a:defRPr sz="1200">
                <a:solidFill>
                  <a:srgbClr val="263442"/>
                </a:solidFill>
              </a:defRPr>
            </a:pPr>
            <a:r>
              <a:rPr lang="en" altLang="zh-CN" sz="1200" dirty="0">
                <a:solidFill>
                  <a:srgbClr val="263442"/>
                </a:solidFill>
              </a:rPr>
              <a:t>Health &amp; social well-being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 altLang="zh-CN" sz="1200" b="1" dirty="0">
              <a:solidFill>
                <a:srgbClr val="1F3B6D"/>
              </a:solidFill>
            </a:endParaRPr>
          </a:p>
          <a:p>
            <a:endParaRPr dirty="0"/>
          </a:p>
          <a:p>
            <a:r>
              <a:rPr dirty="0"/>
              <a:t>[Sources]</a:t>
            </a:r>
          </a:p>
          <a:p>
            <a:r>
              <a:rPr dirty="0"/>
              <a:t>- https://</a:t>
            </a:r>
            <a:r>
              <a:rPr dirty="0" err="1"/>
              <a:t>www.unesco.org</a:t>
            </a:r>
            <a:r>
              <a:rPr dirty="0"/>
              <a:t>/</a:t>
            </a:r>
            <a:r>
              <a:rPr dirty="0" err="1"/>
              <a:t>en</a:t>
            </a:r>
            <a:r>
              <a:rPr dirty="0"/>
              <a:t>/articles/</a:t>
            </a:r>
            <a:r>
              <a:rPr dirty="0" err="1"/>
              <a:t>recommendation-ethics-artificial-intelligence?hub</a:t>
            </a:r>
            <a:r>
              <a:rPr dirty="0"/>
              <a:t>=66929</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Trade-offs should be demonstrated, documented, and monitored — not assumed before better options are explored.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 defensible decision identifies stakeholders, maps harms, applies lenses, compares options, justifies action, and monitors outcomes.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a hiring tool, audit and redesign before deployment is often more defensible than deploying first and repairing harm later.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Give groups ten minutes to complete the eight-part review and five minutes for debrief. Require a provisional decision, not only a list of concerns. Ask what evidence could reverse the decision and how rejected applicants would receive an explanation and appeal.</a:t>
            </a:r>
          </a:p>
          <a:p>
            <a:endParaRPr/>
          </a:p>
          <a:p>
            <a:r>
              <a:t>[Sources]</a:t>
            </a:r>
          </a:p>
          <a:p>
            <a:r>
              <a:t>- Source course structure and baseline content: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Principles set direction; governance assigns authority, incentives, evidence requirements, enforcement, and remedy.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course repeatedly practices a cycle: encounter a case, analyze it, debate options, decide, and reflect.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Responsible AI requires both ethical reasoning and institutional mechanisms that make responsibility real.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discussion: name one AI system, one affected stakeholder, one possible harm, and one practical safeguard.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325D55-D9DD-A3B1-4D14-574A79FA6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D06DEE-1AA3-6B8D-0CDD-63D540D413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925687-C9A0-FD36-A4B5-2D33C2CABD4F}"/>
              </a:ext>
            </a:extLst>
          </p:cNvPr>
          <p:cNvSpPr>
            <a:spLocks noGrp="1"/>
          </p:cNvSpPr>
          <p:nvPr>
            <p:ph type="body" idx="1"/>
          </p:nvPr>
        </p:nvSpPr>
        <p:spPr/>
        <p:txBody>
          <a:bodyPr/>
          <a:lstStyle/>
          <a:p>
            <a:r>
              <a:t>Learn to recognize ethical risks before they become real-world harms. Use the visible source material on this slide to explain the idea in concrete terms, then connect it to the next step in the lecture. Invite students to test the claim against a familiar AI system rather than treating the principle as an abstract slogan.</a:t>
            </a:r>
          </a:p>
          <a:p>
            <a:endParaRPr/>
          </a:p>
          <a:p>
            <a:r>
              <a:t>[Sources]</a:t>
            </a:r>
          </a:p>
          <a:p>
            <a:r>
              <a:t>- Source content and course structure: user-provided MAIE5103_Lecture1_all.pptx.</a:t>
            </a:r>
          </a:p>
        </p:txBody>
      </p:sp>
      <p:sp>
        <p:nvSpPr>
          <p:cNvPr id="4" name="Slide Number Placeholder 3">
            <a:extLst>
              <a:ext uri="{FF2B5EF4-FFF2-40B4-BE49-F238E27FC236}">
                <a16:creationId xmlns:a16="http://schemas.microsoft.com/office/drawing/2014/main" id="{85A0177F-DF47-7031-C47B-C0069A0A7F8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79154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E3EF7-C6E9-4E45-A2A2-0413D6CF9012}"/>
              </a:ext>
            </a:extLst>
          </p:cNvPr>
          <p:cNvSpPr>
            <a:spLocks noGrp="1"/>
          </p:cNvSpPr>
          <p:nvPr>
            <p:ph type="ctrTitle"/>
          </p:nvPr>
        </p:nvSpPr>
        <p:spPr>
          <a:xfrm>
            <a:off x="685800" y="2130425"/>
            <a:ext cx="7772400" cy="1470025"/>
          </a:xfrm>
        </p:spPr>
        <p:txBody>
          <a:bodyPr/>
          <a:lstStyle/>
          <a:p>
            <a:r>
              <a:t>Click to edit Master title style</a:t>
            </a:r>
          </a:p>
        </p:txBody>
      </p:sp>
      <p:sp>
        <p:nvSpPr>
          <p:cNvPr id="3" name="Subtitle 2">
            <a:extLst>
              <a:ext uri="{FF2B5EF4-FFF2-40B4-BE49-F238E27FC236}">
                <a16:creationId xmlns:a16="http://schemas.microsoft.com/office/drawing/2014/main" id="{08267A3B-7351-490D-9D2C-B1E993B2E520}"/>
              </a:ext>
            </a:extLst>
          </p:cNvPr>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t>Click to edit Master subtitle style</a:t>
            </a:r>
          </a:p>
        </p:txBody>
      </p:sp>
      <p:sp>
        <p:nvSpPr>
          <p:cNvPr id="4" name="Date Placeholder 3">
            <a:extLst>
              <a:ext uri="{FF2B5EF4-FFF2-40B4-BE49-F238E27FC236}">
                <a16:creationId xmlns:a16="http://schemas.microsoft.com/office/drawing/2014/main" id="{AF1E1853-CFF0-4F4F-8224-702DABFE14AE}"/>
              </a:ext>
            </a:extLst>
          </p:cNvPr>
          <p:cNvSpPr>
            <a:spLocks noGrp="1"/>
          </p:cNvSpPr>
          <p:nvPr>
            <p:ph type="dt" idx="10"/>
          </p:nvPr>
        </p:nvSpPr>
        <p:spPr/>
        <p:txBody>
          <a:bodyPr/>
          <a:lstStyle/>
          <a:p>
            <a:fld id="{5BCAD085-E8A6-8845-BD4E-CB4CCA059FC4}" type="datetimeFigureOut">
              <a:t>2026/9/1</a:t>
            </a:fld>
            <a:endParaRPr/>
          </a:p>
        </p:txBody>
      </p:sp>
      <p:sp>
        <p:nvSpPr>
          <p:cNvPr id="5" name="Footer Placeholder 4">
            <a:extLst>
              <a:ext uri="{FF2B5EF4-FFF2-40B4-BE49-F238E27FC236}">
                <a16:creationId xmlns:a16="http://schemas.microsoft.com/office/drawing/2014/main" id="{BD15F03E-C921-47B8-8C66-D8C7275931A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7CF5581-088C-49AB-845A-D4E3F2C35BE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CE71C-162F-4C0B-AAA9-6A83A3257B81}"/>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F9D257C-E9AD-4D91-9A05-3B35C4A63485}"/>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765E7F67-1C25-4FC4-B935-DF88258F2EEC}"/>
              </a:ext>
            </a:extLst>
          </p:cNvPr>
          <p:cNvSpPr>
            <a:spLocks noGrp="1"/>
          </p:cNvSpPr>
          <p:nvPr>
            <p:ph type="dt" idx="10"/>
          </p:nvPr>
        </p:nvSpPr>
        <p:spPr/>
        <p:txBody>
          <a:bodyPr/>
          <a:lstStyle/>
          <a:p>
            <a:fld id="{5BCAD085-E8A6-8845-BD4E-CB4CCA059FC4}" type="datetimeFigureOut">
              <a:t>2026/9/1</a:t>
            </a:fld>
            <a:endParaRPr/>
          </a:p>
        </p:txBody>
      </p:sp>
      <p:sp>
        <p:nvSpPr>
          <p:cNvPr id="5" name="Footer Placeholder 4">
            <a:extLst>
              <a:ext uri="{FF2B5EF4-FFF2-40B4-BE49-F238E27FC236}">
                <a16:creationId xmlns:a16="http://schemas.microsoft.com/office/drawing/2014/main" id="{DBD76A6B-1518-4B4E-8864-07C556E5D205}"/>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751FAD9D-2DB0-47D6-B966-3A531E6A784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F1AA53-507C-48D6-9590-4AD9A4A2141F}"/>
              </a:ext>
            </a:extLst>
          </p:cNvPr>
          <p:cNvSpPr>
            <a:spLocks noGrp="1"/>
          </p:cNvSpPr>
          <p:nvPr>
            <p:ph type="title"/>
          </p:nvPr>
        </p:nvSpPr>
        <p:spPr>
          <a:xfrm>
            <a:off x="722313" y="4406900"/>
            <a:ext cx="7772400" cy="1362075"/>
          </a:xfrm>
        </p:spPr>
        <p:txBody>
          <a:bodyPr anchor="t"/>
          <a:lstStyle>
            <a:lvl1pPr algn="l">
              <a:buNone/>
              <a:defRPr sz="4000" b="1" cap="all"/>
            </a:lvl1pPr>
          </a:lstStyle>
          <a:p>
            <a:r>
              <a:t>Click to edit Master title style</a:t>
            </a:r>
          </a:p>
        </p:txBody>
      </p:sp>
      <p:sp>
        <p:nvSpPr>
          <p:cNvPr id="3" name="Text Placeholder 2">
            <a:extLst>
              <a:ext uri="{FF2B5EF4-FFF2-40B4-BE49-F238E27FC236}">
                <a16:creationId xmlns:a16="http://schemas.microsoft.com/office/drawing/2014/main" id="{DE07B431-7DEB-41C4-8363-A2C04E2022FF}"/>
              </a:ext>
            </a:extLst>
          </p:cNvPr>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6E7244FE-9B66-4EE2-A179-4608609C66E5}"/>
              </a:ext>
            </a:extLst>
          </p:cNvPr>
          <p:cNvSpPr>
            <a:spLocks noGrp="1"/>
          </p:cNvSpPr>
          <p:nvPr>
            <p:ph type="dt" idx="10"/>
          </p:nvPr>
        </p:nvSpPr>
        <p:spPr/>
        <p:txBody>
          <a:bodyPr/>
          <a:lstStyle/>
          <a:p>
            <a:fld id="{5BCAD085-E8A6-8845-BD4E-CB4CCA059FC4}" type="datetimeFigureOut">
              <a:t>2026/9/1</a:t>
            </a:fld>
            <a:endParaRPr/>
          </a:p>
        </p:txBody>
      </p:sp>
      <p:sp>
        <p:nvSpPr>
          <p:cNvPr id="5" name="Footer Placeholder 4">
            <a:extLst>
              <a:ext uri="{FF2B5EF4-FFF2-40B4-BE49-F238E27FC236}">
                <a16:creationId xmlns:a16="http://schemas.microsoft.com/office/drawing/2014/main" id="{396C0233-6414-4CE4-B399-1A396E5F7AC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4E67CEB-8C6A-45D8-9131-BA7345812651}"/>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E261F-151A-413F-B564-D6851D643AAB}"/>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DBBC1F2B-41AA-4949-9E2E-0749010AB9D8}"/>
              </a:ext>
            </a:extLst>
          </p:cNvPr>
          <p:cNvSpPr>
            <a:spLocks noGrp="1"/>
          </p:cNvSpPr>
          <p:nvPr>
            <p:ph idx="1"/>
          </p:nvPr>
        </p:nvSpPr>
        <p:spPr>
          <a:xfrm>
            <a:off x="457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D665EF6C-214C-4678-8E3E-B156B7EBA7D1}"/>
              </a:ext>
            </a:extLst>
          </p:cNvPr>
          <p:cNvSpPr>
            <a:spLocks noGrp="1"/>
          </p:cNvSpPr>
          <p:nvPr>
            <p:ph idx="2"/>
          </p:nvPr>
        </p:nvSpPr>
        <p:spPr>
          <a:xfrm>
            <a:off x="4648200" y="1600200"/>
            <a:ext cx="4038600" cy="4525963"/>
          </a:xfrm>
        </p:spPr>
        <p:txBody>
          <a:bodyPr/>
          <a:lstStyle>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A25D27CC-0CC1-4A11-BA0A-3BD24213A5D6}"/>
              </a:ext>
            </a:extLst>
          </p:cNvPr>
          <p:cNvSpPr>
            <a:spLocks noGrp="1"/>
          </p:cNvSpPr>
          <p:nvPr>
            <p:ph type="dt" idx="10"/>
          </p:nvPr>
        </p:nvSpPr>
        <p:spPr/>
        <p:txBody>
          <a:bodyPr/>
          <a:lstStyle/>
          <a:p>
            <a:fld id="{5BCAD085-E8A6-8845-BD4E-CB4CCA059FC4}" type="datetimeFigureOut">
              <a:t>2026/9/1</a:t>
            </a:fld>
            <a:endParaRPr/>
          </a:p>
        </p:txBody>
      </p:sp>
      <p:sp>
        <p:nvSpPr>
          <p:cNvPr id="6" name="Footer Placeholder 5">
            <a:extLst>
              <a:ext uri="{FF2B5EF4-FFF2-40B4-BE49-F238E27FC236}">
                <a16:creationId xmlns:a16="http://schemas.microsoft.com/office/drawing/2014/main" id="{D1FC54A7-00A7-42C0-9155-C3C402BFFE4A}"/>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246E57CC-3998-4DE0-B588-0F95AF82D075}"/>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871A7-D297-4DF3-BEC7-8918D0E3AE36}"/>
              </a:ext>
            </a:extLst>
          </p:cNvPr>
          <p:cNvSpPr>
            <a:spLocks noGrp="1"/>
          </p:cNvSpPr>
          <p:nvPr>
            <p:ph type="title"/>
          </p:nvPr>
        </p:nvSpPr>
        <p:spPr/>
        <p:txBody>
          <a:bodyPr/>
          <a:lstStyle>
            <a:lvl1pPr>
              <a:buNone/>
              <a:defRPr/>
            </a:lvl1pPr>
          </a:lstStyle>
          <a:p>
            <a:r>
              <a:t>Click to edit Master title style</a:t>
            </a:r>
          </a:p>
        </p:txBody>
      </p:sp>
      <p:sp>
        <p:nvSpPr>
          <p:cNvPr id="3" name="Text Placeholder 2">
            <a:extLst>
              <a:ext uri="{FF2B5EF4-FFF2-40B4-BE49-F238E27FC236}">
                <a16:creationId xmlns:a16="http://schemas.microsoft.com/office/drawing/2014/main" id="{DC98394C-5E33-413D-AF51-5516E08B88AE}"/>
              </a:ext>
            </a:extLst>
          </p:cNvPr>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FFA07873-33D4-48F3-B9D5-4A1F63FA2106}"/>
              </a:ext>
            </a:extLst>
          </p:cNvPr>
          <p:cNvSpPr>
            <a:spLocks noGrp="1"/>
          </p:cNvSpPr>
          <p:nvPr>
            <p:ph idx="2"/>
          </p:nvPr>
        </p:nvSpPr>
        <p:spPr>
          <a:xfrm>
            <a:off x="457200" y="2174875"/>
            <a:ext cx="4040188"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E957DD7D-8116-4187-B396-CE243277C5F7}"/>
              </a:ext>
            </a:extLst>
          </p:cNvPr>
          <p:cNvSpPr>
            <a:spLocks noGrp="1"/>
          </p:cNvSpPr>
          <p:nvPr>
            <p:ph type="body"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957C72D1-9168-473E-ADB0-DCEE15D53FA7}"/>
              </a:ext>
            </a:extLst>
          </p:cNvPr>
          <p:cNvSpPr>
            <a:spLocks noGrp="1"/>
          </p:cNvSpPr>
          <p:nvPr>
            <p:ph idx="4"/>
          </p:nvPr>
        </p:nvSpPr>
        <p:spPr>
          <a:xfrm>
            <a:off x="4645025" y="2174875"/>
            <a:ext cx="4041775" cy="3951288"/>
          </a:xfrm>
        </p:spPr>
        <p:txBody>
          <a:bodyPr/>
          <a:lstStyle>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B042B272-69DA-450A-ACEE-2D27556A03DA}"/>
              </a:ext>
            </a:extLst>
          </p:cNvPr>
          <p:cNvSpPr>
            <a:spLocks noGrp="1"/>
          </p:cNvSpPr>
          <p:nvPr>
            <p:ph type="dt" idx="10"/>
          </p:nvPr>
        </p:nvSpPr>
        <p:spPr/>
        <p:txBody>
          <a:bodyPr/>
          <a:lstStyle/>
          <a:p>
            <a:fld id="{5BCAD085-E8A6-8845-BD4E-CB4CCA059FC4}" type="datetimeFigureOut">
              <a:t>2026/9/1</a:t>
            </a:fld>
            <a:endParaRPr/>
          </a:p>
        </p:txBody>
      </p:sp>
      <p:sp>
        <p:nvSpPr>
          <p:cNvPr id="8" name="Footer Placeholder 7">
            <a:extLst>
              <a:ext uri="{FF2B5EF4-FFF2-40B4-BE49-F238E27FC236}">
                <a16:creationId xmlns:a16="http://schemas.microsoft.com/office/drawing/2014/main" id="{BBE3B591-FEB3-44E7-93EA-218706B76083}"/>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2AF44FE1-19C5-44CA-8BEC-A15D0598E95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82FC66-F95B-4448-B451-6EE203F4F61C}"/>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B01FDD8B-25FD-4F4F-B53A-3EE84B61959B}"/>
              </a:ext>
            </a:extLst>
          </p:cNvPr>
          <p:cNvSpPr>
            <a:spLocks noGrp="1"/>
          </p:cNvSpPr>
          <p:nvPr>
            <p:ph type="dt" idx="10"/>
          </p:nvPr>
        </p:nvSpPr>
        <p:spPr/>
        <p:txBody>
          <a:bodyPr/>
          <a:lstStyle/>
          <a:p>
            <a:fld id="{5BCAD085-E8A6-8845-BD4E-CB4CCA059FC4}" type="datetimeFigureOut">
              <a:t>2026/9/1</a:t>
            </a:fld>
            <a:endParaRPr/>
          </a:p>
        </p:txBody>
      </p:sp>
      <p:sp>
        <p:nvSpPr>
          <p:cNvPr id="4" name="Footer Placeholder 3">
            <a:extLst>
              <a:ext uri="{FF2B5EF4-FFF2-40B4-BE49-F238E27FC236}">
                <a16:creationId xmlns:a16="http://schemas.microsoft.com/office/drawing/2014/main" id="{FCD83EBB-6584-430B-B6E1-6508ECEF0DC4}"/>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A6AF6496-09EC-42E4-B544-1F01EE84A27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DB8CFF-F159-40FD-A6B5-5EA606026E08}"/>
              </a:ext>
            </a:extLst>
          </p:cNvPr>
          <p:cNvSpPr>
            <a:spLocks noGrp="1"/>
          </p:cNvSpPr>
          <p:nvPr>
            <p:ph type="dt" idx="10"/>
          </p:nvPr>
        </p:nvSpPr>
        <p:spPr/>
        <p:txBody>
          <a:bodyPr/>
          <a:lstStyle/>
          <a:p>
            <a:fld id="{5BCAD085-E8A6-8845-BD4E-CB4CCA059FC4}" type="datetimeFigureOut">
              <a:t>2026/9/1</a:t>
            </a:fld>
            <a:endParaRPr/>
          </a:p>
        </p:txBody>
      </p:sp>
      <p:sp>
        <p:nvSpPr>
          <p:cNvPr id="3" name="Footer Placeholder 2">
            <a:extLst>
              <a:ext uri="{FF2B5EF4-FFF2-40B4-BE49-F238E27FC236}">
                <a16:creationId xmlns:a16="http://schemas.microsoft.com/office/drawing/2014/main" id="{B0278D2C-8AC1-488B-A5BB-44A5D32C632A}"/>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1AAA69C0-C176-4144-A8DC-66CB430BB34C}"/>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A2807-A2C1-426D-98D5-67C136701B16}"/>
              </a:ext>
            </a:extLst>
          </p:cNvPr>
          <p:cNvSpPr>
            <a:spLocks noGrp="1"/>
          </p:cNvSpPr>
          <p:nvPr>
            <p:ph type="title"/>
          </p:nvPr>
        </p:nvSpPr>
        <p:spPr>
          <a:xfrm>
            <a:off x="457200" y="273050"/>
            <a:ext cx="3008313" cy="1162050"/>
          </a:xfrm>
        </p:spPr>
        <p:txBody>
          <a:bodyPr anchor="b"/>
          <a:lstStyle>
            <a:lvl1pPr algn="l">
              <a:buNone/>
              <a:defRPr sz="2000" b="1"/>
            </a:lvl1pPr>
          </a:lstStyle>
          <a:p>
            <a:r>
              <a:t>Click to edit Master title style</a:t>
            </a:r>
          </a:p>
        </p:txBody>
      </p:sp>
      <p:sp>
        <p:nvSpPr>
          <p:cNvPr id="3" name="Content Placeholder 2">
            <a:extLst>
              <a:ext uri="{FF2B5EF4-FFF2-40B4-BE49-F238E27FC236}">
                <a16:creationId xmlns:a16="http://schemas.microsoft.com/office/drawing/2014/main" id="{DB4900F3-98E6-4F91-959F-90B808B353C2}"/>
              </a:ext>
            </a:extLst>
          </p:cNvPr>
          <p:cNvSpPr>
            <a:spLocks noGrp="1"/>
          </p:cNvSpPr>
          <p:nvPr>
            <p:ph idx="1"/>
          </p:nvPr>
        </p:nvSpPr>
        <p:spPr>
          <a:xfrm>
            <a:off x="3575050" y="273050"/>
            <a:ext cx="5111750" cy="5853113"/>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631BE47E-7458-424C-BD48-F42ED85905BA}"/>
              </a:ext>
            </a:extLst>
          </p:cNvPr>
          <p:cNvSpPr>
            <a:spLocks noGrp="1"/>
          </p:cNvSpPr>
          <p:nvPr>
            <p:ph type="body"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92702710-0313-4E09-8E03-3442D175D5A5}"/>
              </a:ext>
            </a:extLst>
          </p:cNvPr>
          <p:cNvSpPr>
            <a:spLocks noGrp="1"/>
          </p:cNvSpPr>
          <p:nvPr>
            <p:ph type="dt" idx="10"/>
          </p:nvPr>
        </p:nvSpPr>
        <p:spPr/>
        <p:txBody>
          <a:bodyPr/>
          <a:lstStyle/>
          <a:p>
            <a:fld id="{5BCAD085-E8A6-8845-BD4E-CB4CCA059FC4}" type="datetimeFigureOut">
              <a:t>2026/9/1</a:t>
            </a:fld>
            <a:endParaRPr/>
          </a:p>
        </p:txBody>
      </p:sp>
      <p:sp>
        <p:nvSpPr>
          <p:cNvPr id="6" name="Footer Placeholder 5">
            <a:extLst>
              <a:ext uri="{FF2B5EF4-FFF2-40B4-BE49-F238E27FC236}">
                <a16:creationId xmlns:a16="http://schemas.microsoft.com/office/drawing/2014/main" id="{B9FED13F-CF2F-49EB-9436-8AA7EE2CADB5}"/>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873AA52E-A24C-4F9C-9E0A-57F105BA3977}"/>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6699CD-F6B0-4B93-865B-64E81454565D}"/>
              </a:ext>
            </a:extLst>
          </p:cNvPr>
          <p:cNvSpPr>
            <a:spLocks noGrp="1"/>
          </p:cNvSpPr>
          <p:nvPr>
            <p:ph type="title"/>
          </p:nvPr>
        </p:nvSpPr>
        <p:spPr>
          <a:xfrm>
            <a:off x="1792288" y="4800600"/>
            <a:ext cx="5486400" cy="566738"/>
          </a:xfrm>
        </p:spPr>
        <p:txBody>
          <a:bodyPr anchor="b"/>
          <a:lstStyle>
            <a:lvl1pPr algn="l">
              <a:buNone/>
              <a:defRPr sz="2000" b="1"/>
            </a:lvl1pPr>
          </a:lstStyle>
          <a:p>
            <a:r>
              <a:t>Click to edit Master title style</a:t>
            </a:r>
          </a:p>
        </p:txBody>
      </p:sp>
      <p:sp>
        <p:nvSpPr>
          <p:cNvPr id="3" name="Picture Placeholder 2">
            <a:extLst>
              <a:ext uri="{FF2B5EF4-FFF2-40B4-BE49-F238E27FC236}">
                <a16:creationId xmlns:a16="http://schemas.microsoft.com/office/drawing/2014/main" id="{912CF8EB-9D6C-462D-A623-1BD57A7054C8}"/>
              </a:ext>
            </a:extLst>
          </p:cNvPr>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922D7FD5-62A8-46A8-BF7A-48B7D97C8F6A}"/>
              </a:ext>
            </a:extLst>
          </p:cNvPr>
          <p:cNvSpPr>
            <a:spLocks noGrp="1"/>
          </p:cNvSpPr>
          <p:nvPr>
            <p:ph type="body"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buNone/>
            </a:pPr>
            <a:r>
              <a:t>Click to edit Master text styles</a:t>
            </a:r>
          </a:p>
        </p:txBody>
      </p:sp>
      <p:sp>
        <p:nvSpPr>
          <p:cNvPr id="5" name="Date Placeholder 4">
            <a:extLst>
              <a:ext uri="{FF2B5EF4-FFF2-40B4-BE49-F238E27FC236}">
                <a16:creationId xmlns:a16="http://schemas.microsoft.com/office/drawing/2014/main" id="{4AF8C505-5BDD-414C-8EB3-863C991955DB}"/>
              </a:ext>
            </a:extLst>
          </p:cNvPr>
          <p:cNvSpPr>
            <a:spLocks noGrp="1"/>
          </p:cNvSpPr>
          <p:nvPr>
            <p:ph type="dt" idx="10"/>
          </p:nvPr>
        </p:nvSpPr>
        <p:spPr/>
        <p:txBody>
          <a:bodyPr/>
          <a:lstStyle/>
          <a:p>
            <a:fld id="{5BCAD085-E8A6-8845-BD4E-CB4CCA059FC4}" type="datetimeFigureOut">
              <a:t>2026/9/1</a:t>
            </a:fld>
            <a:endParaRPr/>
          </a:p>
        </p:txBody>
      </p:sp>
      <p:sp>
        <p:nvSpPr>
          <p:cNvPr id="6" name="Footer Placeholder 5">
            <a:extLst>
              <a:ext uri="{FF2B5EF4-FFF2-40B4-BE49-F238E27FC236}">
                <a16:creationId xmlns:a16="http://schemas.microsoft.com/office/drawing/2014/main" id="{223F2472-E721-4037-BAB7-DAB7958B3BFE}"/>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683617A9-5EB0-4F4A-AE7B-22B971494F4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BC2682-EDC4-4285-8C28-A97993D2B31E}"/>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ECCD8DFE-2770-47B2-B7D5-E511560976F7}"/>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EDB5B052-A573-40DC-B4BB-35854C0F2855}"/>
              </a:ext>
            </a:extLst>
          </p:cNvPr>
          <p:cNvSpPr>
            <a:spLocks noGrp="1"/>
          </p:cNvSpPr>
          <p:nvPr>
            <p:ph type="dt" idx="10"/>
          </p:nvPr>
        </p:nvSpPr>
        <p:spPr/>
        <p:txBody>
          <a:bodyPr/>
          <a:lstStyle/>
          <a:p>
            <a:fld id="{5BCAD085-E8A6-8845-BD4E-CB4CCA059FC4}" type="datetimeFigureOut">
              <a:t>2026/9/1</a:t>
            </a:fld>
            <a:endParaRPr/>
          </a:p>
        </p:txBody>
      </p:sp>
      <p:sp>
        <p:nvSpPr>
          <p:cNvPr id="5" name="Footer Placeholder 4">
            <a:extLst>
              <a:ext uri="{FF2B5EF4-FFF2-40B4-BE49-F238E27FC236}">
                <a16:creationId xmlns:a16="http://schemas.microsoft.com/office/drawing/2014/main" id="{0B4B5112-5B35-44FD-96F5-5DC01768DCA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4842D17A-1F24-4495-A77A-BB38D0EB120A}"/>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EC7B1C9-B36E-4D23-B4F5-CAB00A553822}"/>
              </a:ext>
            </a:extLst>
          </p:cNvPr>
          <p:cNvSpPr>
            <a:spLocks noGrp="1"/>
          </p:cNvSpPr>
          <p:nvPr>
            <p:ph type="title"/>
          </p:nvPr>
        </p:nvSpPr>
        <p:spPr>
          <a:xfrm>
            <a:off x="6629400" y="274638"/>
            <a:ext cx="2057400" cy="5851525"/>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388C1543-51D0-4F88-8C50-68385928C27F}"/>
              </a:ext>
            </a:extLst>
          </p:cNvPr>
          <p:cNvSpPr>
            <a:spLocks noGrp="1"/>
          </p:cNvSpPr>
          <p:nvPr>
            <p:ph type="body" idx="1"/>
          </p:nvPr>
        </p:nvSpPr>
        <p:spPr>
          <a:xfrm>
            <a:off x="457200" y="274638"/>
            <a:ext cx="6019800" cy="5851525"/>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DCF97268-E7A5-4199-BBAE-FFDFBC9D166A}"/>
              </a:ext>
            </a:extLst>
          </p:cNvPr>
          <p:cNvSpPr>
            <a:spLocks noGrp="1"/>
          </p:cNvSpPr>
          <p:nvPr>
            <p:ph type="dt" idx="10"/>
          </p:nvPr>
        </p:nvSpPr>
        <p:spPr/>
        <p:txBody>
          <a:bodyPr/>
          <a:lstStyle/>
          <a:p>
            <a:fld id="{5BCAD085-E8A6-8845-BD4E-CB4CCA059FC4}" type="datetimeFigureOut">
              <a:t>2026/9/1</a:t>
            </a:fld>
            <a:endParaRPr/>
          </a:p>
        </p:txBody>
      </p:sp>
      <p:sp>
        <p:nvSpPr>
          <p:cNvPr id="5" name="Footer Placeholder 4">
            <a:extLst>
              <a:ext uri="{FF2B5EF4-FFF2-40B4-BE49-F238E27FC236}">
                <a16:creationId xmlns:a16="http://schemas.microsoft.com/office/drawing/2014/main" id="{5D8F4FFE-A308-487D-8F1D-F4CBCEB6481D}"/>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8094D9F9-A26C-4C44-899A-BCBFC52D6E6F}"/>
              </a:ext>
            </a:extLst>
          </p:cNvPr>
          <p:cNvSpPr>
            <a:spLocks noGrp="1"/>
          </p:cNvSpPr>
          <p:nvPr>
            <p:ph type="sldNum" idx="12"/>
          </p:nvPr>
        </p:nvSpPr>
        <p:spPr/>
        <p:txBody>
          <a:bodyPr/>
          <a:lstStyle/>
          <a:p>
            <a:fld id="{C1FF6DA9-008F-8B48-92A6-B652298478BF}"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5283484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3E77B41-68E5-4902-B93A-B648B5F2DE97}"/>
              </a:ext>
            </a:extLst>
          </p:cNvPr>
          <p:cNvSpPr>
            <a:spLocks noGrp="1"/>
          </p:cNvSpPr>
          <p:nvPr>
            <p:ph type="title"/>
          </p:nvPr>
        </p:nvSpPr>
        <p:spPr>
          <a:xfrm>
            <a:off x="457200" y="274638"/>
            <a:ext cx="8229600" cy="1143000"/>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1DD5785-64E8-43E3-B49B-32C361CB7633}"/>
              </a:ext>
            </a:extLst>
          </p:cNvPr>
          <p:cNvSpPr>
            <a:spLocks noGrp="1"/>
          </p:cNvSpPr>
          <p:nvPr>
            <p:ph type="body" idx="1"/>
          </p:nvPr>
        </p:nvSpPr>
        <p:spPr>
          <a:xfrm>
            <a:off x="457200" y="1600200"/>
            <a:ext cx="8229600" cy="4525963"/>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9C5AF786-4E6E-4322-A4C7-7FEDB85B11D6}"/>
              </a:ext>
            </a:extLst>
          </p:cNvPr>
          <p:cNvSpPr>
            <a:spLocks noGrp="1"/>
          </p:cNvSpPr>
          <p:nvPr>
            <p:ph type="dt" idx="2"/>
          </p:nvPr>
        </p:nvSpPr>
        <p:spPr>
          <a:xfrm>
            <a:off x="457200" y="6356350"/>
            <a:ext cx="2133600" cy="365125"/>
          </a:xfrm>
          <a:prstGeom prst="rect">
            <a:avLst/>
          </a:prstGeom>
        </p:spPr>
        <p:txBody>
          <a:bodyPr vert="horz" lIns="91440" tIns="45720" rIns="91440" bIns="45720" anchor="ctr"/>
          <a:lstStyle>
            <a:lvl1pPr algn="l">
              <a:buNone/>
              <a:defRPr sz="1200">
                <a:solidFill>
                  <a:schemeClr val="tx1">
                    <a:tint val="75000"/>
                  </a:schemeClr>
                </a:solidFill>
              </a:defRPr>
            </a:lvl1pPr>
          </a:lstStyle>
          <a:p>
            <a:fld id="{5BCAD085-E8A6-8845-BD4E-CB4CCA059FC4}" type="datetimeFigureOut">
              <a:t>2026/9/1</a:t>
            </a:fld>
            <a:endParaRPr/>
          </a:p>
        </p:txBody>
      </p:sp>
      <p:sp>
        <p:nvSpPr>
          <p:cNvPr id="5" name="Footer Placeholder 4">
            <a:extLst>
              <a:ext uri="{FF2B5EF4-FFF2-40B4-BE49-F238E27FC236}">
                <a16:creationId xmlns:a16="http://schemas.microsoft.com/office/drawing/2014/main" id="{ABFF3F64-5904-4613-98E1-797DD2B535B3}"/>
              </a:ext>
            </a:extLst>
          </p:cNvPr>
          <p:cNvSpPr>
            <a:spLocks noGrp="1"/>
          </p:cNvSpPr>
          <p:nvPr>
            <p:ph type="ftr" idx="3"/>
          </p:nvPr>
        </p:nvSpPr>
        <p:spPr>
          <a:xfrm>
            <a:off x="3124200" y="6356350"/>
            <a:ext cx="2895600" cy="365125"/>
          </a:xfrm>
          <a:prstGeom prst="rect">
            <a:avLst/>
          </a:prstGeom>
        </p:spPr>
        <p:txBody>
          <a:bodyPr vert="horz" lIns="91440" tIns="45720" rIns="91440" bIns="45720" anchor="ctr"/>
          <a:lstStyle>
            <a:lvl1pPr algn="ctr">
              <a:buNone/>
              <a:defRPr sz="1200">
                <a:solidFill>
                  <a:schemeClr val="tx1">
                    <a:tint val="75000"/>
                  </a:schemeClr>
                </a:solidFill>
              </a:defRPr>
            </a:lvl1pPr>
          </a:lstStyle>
          <a:p>
            <a:endParaRPr/>
          </a:p>
        </p:txBody>
      </p:sp>
      <p:sp>
        <p:nvSpPr>
          <p:cNvPr id="6" name="Slide Number Placeholder 5">
            <a:extLst>
              <a:ext uri="{FF2B5EF4-FFF2-40B4-BE49-F238E27FC236}">
                <a16:creationId xmlns:a16="http://schemas.microsoft.com/office/drawing/2014/main" id="{5DFBE0A6-31ED-48BC-B4A8-A958F64D4826}"/>
              </a:ext>
            </a:extLst>
          </p:cNvPr>
          <p:cNvSpPr>
            <a:spLocks noGrp="1"/>
          </p:cNvSpPr>
          <p:nvPr>
            <p:ph type="sldNum" idx="4"/>
          </p:nvPr>
        </p:nvSpPr>
        <p:spPr>
          <a:xfrm>
            <a:off x="6553200" y="6356350"/>
            <a:ext cx="2133600" cy="365125"/>
          </a:xfrm>
          <a:prstGeom prst="rect">
            <a:avLst/>
          </a:prstGeom>
        </p:spPr>
        <p:txBody>
          <a:bodyPr vert="horz" lIns="91440" tIns="45720" rIns="91440" bIns="45720" anchor="ctr"/>
          <a:lstStyle>
            <a:lvl1pPr algn="r">
              <a:buNone/>
              <a:defRPr sz="1200">
                <a:solidFill>
                  <a:schemeClr val="tx1">
                    <a:tint val="75000"/>
                  </a:schemeClr>
                </a:solidFill>
              </a:defRPr>
            </a:lvl1pPr>
          </a:lstStyle>
          <a:p>
            <a:fld id="{C1FF6DA9-008F-8B48-92A6-B652298478BF}"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a:spcBef>
          <a:spcPct val="0"/>
        </a:spcBef>
        <a:buNone/>
        <a:defRPr sz="4400" kern="1200">
          <a:solidFill>
            <a:schemeClr val="tx1"/>
          </a:solidFill>
          <a:latin typeface="+mj-lt"/>
          <a:ea typeface="+mj-lt"/>
          <a:cs typeface="+mj-lt"/>
        </a:defRPr>
      </a:lvl1pPr>
    </p:titleStyle>
    <p:bodyStyle>
      <a:lvl1pPr marL="342900" indent="-342900" algn="l" defTabSz="457200">
        <a:spcBef>
          <a:spcPct val="20000"/>
        </a:spcBef>
        <a:buFont typeface="Arial"/>
        <a:buChar char="•"/>
        <a:defRPr sz="3200" kern="1200">
          <a:solidFill>
            <a:schemeClr val="tx1"/>
          </a:solidFill>
          <a:latin typeface="+mn-lt"/>
          <a:ea typeface="+mn-lt"/>
          <a:cs typeface="+mn-lt"/>
        </a:defRPr>
      </a:lvl1pPr>
      <a:lvl2pPr marL="742950" indent="-285750" algn="l" defTabSz="457200">
        <a:spcBef>
          <a:spcPct val="20000"/>
        </a:spcBef>
        <a:buFont typeface="Arial"/>
        <a:buChar char="–"/>
        <a:defRPr sz="2800" kern="1200">
          <a:solidFill>
            <a:schemeClr val="tx1"/>
          </a:solidFill>
          <a:latin typeface="+mn-lt"/>
          <a:ea typeface="+mn-lt"/>
          <a:cs typeface="+mn-lt"/>
        </a:defRPr>
      </a:lvl2pPr>
      <a:lvl3pPr marL="1143000" indent="-228600" algn="l" defTabSz="457200">
        <a:spcBef>
          <a:spcPct val="20000"/>
        </a:spcBef>
        <a:buFont typeface="Arial"/>
        <a:buChar char="•"/>
        <a:defRPr sz="2400" kern="1200">
          <a:solidFill>
            <a:schemeClr val="tx1"/>
          </a:solidFill>
          <a:latin typeface="+mn-lt"/>
          <a:ea typeface="+mn-lt"/>
          <a:cs typeface="+mn-lt"/>
        </a:defRPr>
      </a:lvl3pPr>
      <a:lvl4pPr marL="1600200" indent="-228600" algn="l" defTabSz="457200">
        <a:spcBef>
          <a:spcPct val="20000"/>
        </a:spcBef>
        <a:buFont typeface="Arial"/>
        <a:buChar char="–"/>
        <a:defRPr sz="2000" kern="1200">
          <a:solidFill>
            <a:schemeClr val="tx1"/>
          </a:solidFill>
          <a:latin typeface="+mn-lt"/>
          <a:ea typeface="+mn-lt"/>
          <a:cs typeface="+mn-lt"/>
        </a:defRPr>
      </a:lvl4pPr>
      <a:lvl5pPr marL="2057400" indent="-228600" algn="l" defTabSz="457200">
        <a:spcBef>
          <a:spcPct val="20000"/>
        </a:spcBef>
        <a:buFont typeface="Arial"/>
        <a:buChar char="»"/>
        <a:defRPr sz="2000" kern="1200">
          <a:solidFill>
            <a:schemeClr val="tx1"/>
          </a:solidFill>
          <a:latin typeface="+mn-lt"/>
          <a:ea typeface="+mn-lt"/>
          <a:cs typeface="+mn-lt"/>
        </a:defRPr>
      </a:lvl5pPr>
      <a:lvl6pPr marL="2514600" indent="-228600" algn="l" defTabSz="457200">
        <a:spcBef>
          <a:spcPct val="20000"/>
        </a:spcBef>
        <a:buFont typeface="Arial"/>
        <a:buChar char="•"/>
        <a:defRPr sz="2000" kern="1200">
          <a:solidFill>
            <a:schemeClr val="tx1"/>
          </a:solidFill>
          <a:latin typeface="+mn-lt"/>
          <a:ea typeface="+mn-lt"/>
          <a:cs typeface="+mn-lt"/>
        </a:defRPr>
      </a:lvl6pPr>
      <a:lvl7pPr marL="2971800" indent="-228600" algn="l" defTabSz="457200">
        <a:spcBef>
          <a:spcPct val="20000"/>
        </a:spcBef>
        <a:buFont typeface="Arial"/>
        <a:buChar char="•"/>
        <a:defRPr sz="2000" kern="1200">
          <a:solidFill>
            <a:schemeClr val="tx1"/>
          </a:solidFill>
          <a:latin typeface="+mn-lt"/>
          <a:ea typeface="+mn-lt"/>
          <a:cs typeface="+mn-lt"/>
        </a:defRPr>
      </a:lvl7pPr>
      <a:lvl8pPr marL="3429000" indent="-228600" algn="l" defTabSz="457200">
        <a:spcBef>
          <a:spcPct val="20000"/>
        </a:spcBef>
        <a:buFont typeface="Arial"/>
        <a:buChar char="•"/>
        <a:defRPr sz="2000" kern="1200">
          <a:solidFill>
            <a:schemeClr val="tx1"/>
          </a:solidFill>
          <a:latin typeface="+mn-lt"/>
          <a:ea typeface="+mn-lt"/>
          <a:cs typeface="+mn-lt"/>
        </a:defRPr>
      </a:lvl8pPr>
      <a:lvl9pPr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marL="0" algn="l" defTabSz="457200">
        <a:buNone/>
        <a:defRPr sz="1800" kern="1200">
          <a:solidFill>
            <a:schemeClr val="tx1"/>
          </a:solidFill>
          <a:latin typeface="+mn-lt"/>
          <a:ea typeface="+mn-lt"/>
          <a:cs typeface="+mn-lt"/>
        </a:defRPr>
      </a:lvl1pPr>
      <a:lvl2pPr marL="457200" algn="l" defTabSz="457200">
        <a:buNone/>
        <a:defRPr sz="1800" kern="1200">
          <a:solidFill>
            <a:schemeClr val="tx1"/>
          </a:solidFill>
          <a:latin typeface="+mn-lt"/>
          <a:ea typeface="+mn-lt"/>
          <a:cs typeface="+mn-lt"/>
        </a:defRPr>
      </a:lvl2pPr>
      <a:lvl3pPr marL="914400" algn="l" defTabSz="457200">
        <a:buNone/>
        <a:defRPr sz="1800" kern="1200">
          <a:solidFill>
            <a:schemeClr val="tx1"/>
          </a:solidFill>
          <a:latin typeface="+mn-lt"/>
          <a:ea typeface="+mn-lt"/>
          <a:cs typeface="+mn-lt"/>
        </a:defRPr>
      </a:lvl3pPr>
      <a:lvl4pPr marL="1371600" algn="l" defTabSz="457200">
        <a:buNone/>
        <a:defRPr sz="1800" kern="1200">
          <a:solidFill>
            <a:schemeClr val="tx1"/>
          </a:solidFill>
          <a:latin typeface="+mn-lt"/>
          <a:ea typeface="+mn-lt"/>
          <a:cs typeface="+mn-lt"/>
        </a:defRPr>
      </a:lvl4pPr>
      <a:lvl5pPr marL="1828800" algn="l" defTabSz="457200">
        <a:buNone/>
        <a:defRPr sz="1800" kern="1200">
          <a:solidFill>
            <a:schemeClr val="tx1"/>
          </a:solidFill>
          <a:latin typeface="+mn-lt"/>
          <a:ea typeface="+mn-lt"/>
          <a:cs typeface="+mn-lt"/>
        </a:defRPr>
      </a:lvl5pPr>
      <a:lvl6pPr marL="2286000" algn="l" defTabSz="457200">
        <a:buNone/>
        <a:defRPr sz="1800" kern="1200">
          <a:solidFill>
            <a:schemeClr val="tx1"/>
          </a:solidFill>
          <a:latin typeface="+mn-lt"/>
          <a:ea typeface="+mn-lt"/>
          <a:cs typeface="+mn-lt"/>
        </a:defRPr>
      </a:lvl6pPr>
      <a:lvl7pPr marL="2743200" algn="l" defTabSz="457200">
        <a:buNone/>
        <a:defRPr sz="1800" kern="1200">
          <a:solidFill>
            <a:schemeClr val="tx1"/>
          </a:solidFill>
          <a:latin typeface="+mn-lt"/>
          <a:ea typeface="+mn-lt"/>
          <a:cs typeface="+mn-lt"/>
        </a:defRPr>
      </a:lvl7pPr>
      <a:lvl8pPr marL="3200400" algn="l" defTabSz="457200">
        <a:buNone/>
        <a:defRPr sz="1800" kern="1200">
          <a:solidFill>
            <a:schemeClr val="tx1"/>
          </a:solidFill>
          <a:latin typeface="+mn-lt"/>
          <a:ea typeface="+mn-lt"/>
          <a:cs typeface="+mn-lt"/>
        </a:defRPr>
      </a:lvl8pPr>
      <a:lvl9pPr marL="3657600" algn="l" defTabSz="4572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216DC0-C4F2-4E78-8B1F-2408F659244F}"/>
              </a:ext>
            </a:extLst>
          </p:cNvPr>
          <p:cNvSpPr>
            <a:spLocks noGrp="1"/>
          </p:cNvSpPr>
          <p:nvPr/>
        </p:nvSpPr>
        <p:spPr>
          <a:xfrm>
            <a:off x="0" y="0"/>
            <a:ext cx="1645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B90F74FC-5246-4586-9CD2-1DC4BC930A21}"/>
              </a:ext>
            </a:extLst>
          </p:cNvPr>
          <p:cNvSpPr>
            <a:spLocks noGrp="1"/>
          </p:cNvSpPr>
          <p:nvPr/>
        </p:nvSpPr>
        <p:spPr>
          <a:xfrm>
            <a:off x="11795760" y="0"/>
            <a:ext cx="393192" cy="6858000"/>
          </a:xfrm>
          <a:prstGeom prst="rect">
            <a:avLst/>
          </a:prstGeom>
          <a:solidFill>
            <a:srgbClr val="DEEA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ectangle 3">
            <a:extLst>
              <a:ext uri="{FF2B5EF4-FFF2-40B4-BE49-F238E27FC236}">
                <a16:creationId xmlns:a16="http://schemas.microsoft.com/office/drawing/2014/main" id="{234BBE77-11DB-4E64-9FD5-77F8AAE13185}"/>
              </a:ext>
            </a:extLst>
          </p:cNvPr>
          <p:cNvSpPr>
            <a:spLocks noGrp="1"/>
          </p:cNvSpPr>
          <p:nvPr/>
        </p:nvSpPr>
        <p:spPr>
          <a:xfrm>
            <a:off x="11430000" y="411480"/>
            <a:ext cx="274320" cy="1097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C4E83D54-7F6D-46D3-B5E4-849E63468E11}"/>
              </a:ext>
            </a:extLst>
          </p:cNvPr>
          <p:cNvSpPr>
            <a:spLocks noGrp="1"/>
          </p:cNvSpPr>
          <p:nvPr/>
        </p:nvSpPr>
        <p:spPr>
          <a:xfrm>
            <a:off x="11430000" y="868680"/>
            <a:ext cx="274320" cy="10972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4C6DB42F-43D1-4364-8DAC-9A93C00AC92B}"/>
              </a:ext>
            </a:extLst>
          </p:cNvPr>
          <p:cNvSpPr>
            <a:spLocks noGrp="1"/>
          </p:cNvSpPr>
          <p:nvPr/>
        </p:nvSpPr>
        <p:spPr>
          <a:xfrm>
            <a:off x="11430000" y="1325880"/>
            <a:ext cx="274320" cy="1097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B946C6CF-C8A1-4C8D-82B4-D55C7C9C4941}"/>
              </a:ext>
            </a:extLst>
          </p:cNvPr>
          <p:cNvSpPr>
            <a:spLocks noGrp="1"/>
          </p:cNvSpPr>
          <p:nvPr/>
        </p:nvSpPr>
        <p:spPr>
          <a:xfrm>
            <a:off x="868680" y="566928"/>
            <a:ext cx="10241280" cy="365760"/>
          </a:xfrm>
          <a:prstGeom prst="rect">
            <a:avLst/>
          </a:prstGeom>
          <a:noFill/>
        </p:spPr>
        <p:txBody>
          <a:bodyPr wrap="square">
            <a:spAutoFit/>
          </a:bodyPr>
          <a:lstStyle/>
          <a:p>
            <a:r>
              <a:rPr sz="1400" b="1">
                <a:solidFill>
                  <a:srgbClr val="2E75B6"/>
                </a:solidFill>
                <a:latin typeface="Calibri"/>
                <a:ea typeface="Calibri"/>
                <a:cs typeface="Calibri"/>
              </a:rPr>
              <a:t>HKUST  ·  MSc(AIE) Program  ·  Fall 2026/27</a:t>
            </a:r>
          </a:p>
        </p:txBody>
      </p:sp>
      <p:sp>
        <p:nvSpPr>
          <p:cNvPr id="8" name="Rectangle 7">
            <a:extLst>
              <a:ext uri="{FF2B5EF4-FFF2-40B4-BE49-F238E27FC236}">
                <a16:creationId xmlns:a16="http://schemas.microsoft.com/office/drawing/2014/main" id="{8D62CAA3-0C3A-4C15-8C04-9C7F79111408}"/>
              </a:ext>
            </a:extLst>
          </p:cNvPr>
          <p:cNvSpPr>
            <a:spLocks noGrp="1"/>
          </p:cNvSpPr>
          <p:nvPr/>
        </p:nvSpPr>
        <p:spPr>
          <a:xfrm>
            <a:off x="896112" y="969264"/>
            <a:ext cx="3840480" cy="25603"/>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A871F085-32ED-41F4-9022-3F9C32DB368C}"/>
              </a:ext>
            </a:extLst>
          </p:cNvPr>
          <p:cNvSpPr>
            <a:spLocks noGrp="1"/>
          </p:cNvSpPr>
          <p:nvPr/>
        </p:nvSpPr>
        <p:spPr>
          <a:xfrm>
            <a:off x="868680" y="1874519"/>
            <a:ext cx="10424160" cy="1188720"/>
          </a:xfrm>
          <a:prstGeom prst="rect">
            <a:avLst/>
          </a:prstGeom>
          <a:noFill/>
        </p:spPr>
        <p:txBody>
          <a:bodyPr wrap="square">
            <a:spAutoFit/>
          </a:bodyPr>
          <a:lstStyle/>
          <a:p>
            <a:r>
              <a:rPr sz="4400" b="1">
                <a:solidFill>
                  <a:srgbClr val="1F3864"/>
                </a:solidFill>
                <a:latin typeface="Georgia"/>
                <a:ea typeface="Georgia"/>
                <a:cs typeface="Georgia"/>
              </a:rPr>
              <a:t>Artificial Intelligence Ethics</a:t>
            </a:r>
          </a:p>
        </p:txBody>
      </p:sp>
      <p:sp>
        <p:nvSpPr>
          <p:cNvPr id="10" name="TextBox 9">
            <a:extLst>
              <a:ext uri="{FF2B5EF4-FFF2-40B4-BE49-F238E27FC236}">
                <a16:creationId xmlns:a16="http://schemas.microsoft.com/office/drawing/2014/main" id="{99AE5738-3C6C-4B56-B51C-D32AA93D4686}"/>
              </a:ext>
            </a:extLst>
          </p:cNvPr>
          <p:cNvSpPr>
            <a:spLocks noGrp="1"/>
          </p:cNvSpPr>
          <p:nvPr/>
        </p:nvSpPr>
        <p:spPr>
          <a:xfrm>
            <a:off x="886968" y="3063240"/>
            <a:ext cx="10424160" cy="457200"/>
          </a:xfrm>
          <a:prstGeom prst="rect">
            <a:avLst/>
          </a:prstGeom>
          <a:noFill/>
        </p:spPr>
        <p:txBody>
          <a:bodyPr wrap="square">
            <a:spAutoFit/>
          </a:bodyPr>
          <a:lstStyle/>
          <a:p>
            <a:r>
              <a:rPr sz="2000">
                <a:solidFill>
                  <a:srgbClr val="2E75B6"/>
                </a:solidFill>
                <a:latin typeface="Georgia"/>
                <a:ea typeface="Georgia"/>
                <a:cs typeface="Georgia"/>
              </a:rPr>
              <a:t>MAIE 5103   ·   No. of Credits: 3</a:t>
            </a:r>
          </a:p>
        </p:txBody>
      </p:sp>
      <p:sp>
        <p:nvSpPr>
          <p:cNvPr id="11" name="Rectangle 10">
            <a:extLst>
              <a:ext uri="{FF2B5EF4-FFF2-40B4-BE49-F238E27FC236}">
                <a16:creationId xmlns:a16="http://schemas.microsoft.com/office/drawing/2014/main" id="{410FED0E-7A98-4B83-A00F-1A8B8856F45B}"/>
              </a:ext>
            </a:extLst>
          </p:cNvPr>
          <p:cNvSpPr>
            <a:spLocks noGrp="1"/>
          </p:cNvSpPr>
          <p:nvPr/>
        </p:nvSpPr>
        <p:spPr>
          <a:xfrm>
            <a:off x="905256" y="3657600"/>
            <a:ext cx="2377440" cy="4572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 name="TextBox 11">
            <a:extLst>
              <a:ext uri="{FF2B5EF4-FFF2-40B4-BE49-F238E27FC236}">
                <a16:creationId xmlns:a16="http://schemas.microsoft.com/office/drawing/2014/main" id="{D3C6D888-3944-4DDA-829A-893519F33AA0}"/>
              </a:ext>
            </a:extLst>
          </p:cNvPr>
          <p:cNvSpPr>
            <a:spLocks noGrp="1"/>
          </p:cNvSpPr>
          <p:nvPr/>
        </p:nvSpPr>
        <p:spPr>
          <a:xfrm>
            <a:off x="886968" y="3886200"/>
            <a:ext cx="10058400" cy="1280160"/>
          </a:xfrm>
          <a:prstGeom prst="rect">
            <a:avLst/>
          </a:prstGeom>
          <a:noFill/>
        </p:spPr>
        <p:txBody>
          <a:bodyPr wrap="square">
            <a:spAutoFit/>
          </a:bodyPr>
          <a:lstStyle/>
          <a:p>
            <a:endParaRPr/>
          </a:p>
        </p:txBody>
      </p:sp>
      <p:sp>
        <p:nvSpPr>
          <p:cNvPr id="13" name="TextBox 12">
            <a:extLst>
              <a:ext uri="{FF2B5EF4-FFF2-40B4-BE49-F238E27FC236}">
                <a16:creationId xmlns:a16="http://schemas.microsoft.com/office/drawing/2014/main" id="{1C2FEF1E-88B3-4C8F-AA92-19495C325A04}"/>
              </a:ext>
            </a:extLst>
          </p:cNvPr>
          <p:cNvSpPr>
            <a:spLocks noGrp="1"/>
          </p:cNvSpPr>
          <p:nvPr/>
        </p:nvSpPr>
        <p:spPr>
          <a:xfrm>
            <a:off x="886968" y="3886200"/>
            <a:ext cx="10058400" cy="1280160"/>
          </a:xfrm>
          <a:prstGeom prst="rect">
            <a:avLst/>
          </a:prstGeom>
          <a:noFill/>
        </p:spPr>
        <p:txBody>
          <a:bodyPr wrap="square" anchor="t">
            <a:spAutoFit/>
          </a:bodyPr>
          <a:lstStyle/>
          <a:p>
            <a:pPr marL="285750" indent="0" algn="l">
              <a:lnSpc>
                <a:spcPct val="114000"/>
              </a:lnSpc>
              <a:spcBef>
                <a:spcPts val="0"/>
              </a:spcBef>
              <a:spcAft>
                <a:spcPts val="400"/>
              </a:spcAft>
              <a:buNone/>
            </a:pPr>
            <a:r>
              <a:rPr sz="1800" b="1" i="0" u="none">
                <a:solidFill>
                  <a:srgbClr val="1F3864"/>
                </a:solidFill>
                <a:latin typeface="Calibri"/>
                <a:ea typeface="Calibri"/>
                <a:cs typeface="Calibri"/>
              </a:rPr>
              <a:t>Instructor:  </a:t>
            </a:r>
            <a:r>
              <a:rPr sz="1800" b="1" i="0" u="sng">
                <a:solidFill>
                  <a:srgbClr val="1F3864"/>
                </a:solidFill>
                <a:latin typeface="Calibri"/>
                <a:ea typeface="Calibri"/>
                <a:cs typeface="Calibri"/>
              </a:rPr>
              <a:t>HAN, Sirui</a:t>
            </a:r>
          </a:p>
          <a:p>
            <a:pPr marL="285750" indent="0" algn="l">
              <a:lnSpc>
                <a:spcPct val="114000"/>
              </a:lnSpc>
              <a:spcBef>
                <a:spcPts val="0"/>
              </a:spcBef>
              <a:spcAft>
                <a:spcPts val="400"/>
              </a:spcAft>
              <a:buNone/>
            </a:pPr>
            <a:r>
              <a:rPr sz="1600" b="1" i="0" u="none">
                <a:solidFill>
                  <a:srgbClr val="1F3864"/>
                </a:solidFill>
                <a:latin typeface="Calibri"/>
                <a:ea typeface="Calibri"/>
                <a:cs typeface="Calibri"/>
              </a:rPr>
              <a:t>Email:  </a:t>
            </a:r>
            <a:r>
              <a:rPr sz="1600" b="0" i="0" u="none">
                <a:solidFill>
                  <a:srgbClr val="262626"/>
                </a:solidFill>
                <a:latin typeface="Calibri"/>
                <a:ea typeface="Calibri"/>
                <a:cs typeface="Calibri"/>
              </a:rPr>
              <a:t>siruihan@ust.hk</a:t>
            </a:r>
          </a:p>
          <a:p>
            <a:pPr marL="285750" indent="0" algn="l">
              <a:lnSpc>
                <a:spcPct val="114000"/>
              </a:lnSpc>
              <a:spcBef>
                <a:spcPts val="0"/>
              </a:spcBef>
              <a:spcAft>
                <a:spcPts val="0"/>
              </a:spcAft>
              <a:buNone/>
            </a:pPr>
            <a:r>
              <a:rPr sz="1600" b="1" i="0" u="none">
                <a:solidFill>
                  <a:srgbClr val="1F3864"/>
                </a:solidFill>
                <a:latin typeface="Calibri"/>
                <a:ea typeface="Calibri"/>
                <a:cs typeface="Calibri"/>
              </a:rPr>
              <a:t>Office Hours:  </a:t>
            </a:r>
            <a:r>
              <a:rPr sz="1600" b="0" i="1" u="none">
                <a:solidFill>
                  <a:srgbClr val="595959"/>
                </a:solidFill>
                <a:latin typeface="Calibri"/>
                <a:ea typeface="Calibri"/>
                <a:cs typeface="Calibri"/>
              </a:rPr>
              <a:t>TBD</a:t>
            </a:r>
          </a:p>
        </p:txBody>
      </p:sp>
      <p:sp>
        <p:nvSpPr>
          <p:cNvPr id="14" name="Rounded Rectangle 13">
            <a:extLst>
              <a:ext uri="{FF2B5EF4-FFF2-40B4-BE49-F238E27FC236}">
                <a16:creationId xmlns:a16="http://schemas.microsoft.com/office/drawing/2014/main" id="{A68F1D8A-E868-4261-88E8-8FCDD5F51D67}"/>
              </a:ext>
            </a:extLst>
          </p:cNvPr>
          <p:cNvSpPr>
            <a:spLocks noGrp="1"/>
          </p:cNvSpPr>
          <p:nvPr/>
        </p:nvSpPr>
        <p:spPr>
          <a:xfrm>
            <a:off x="886968" y="5833872"/>
            <a:ext cx="8869680" cy="530352"/>
          </a:xfrm>
          <a:prstGeom prst="roundRect">
            <a:avLst/>
          </a:prstGeom>
          <a:solidFill>
            <a:srgbClr val="DEEAF6"/>
          </a:solidFill>
          <a:ln w="9525">
            <a:solidFill>
              <a:srgbClr val="2E75B6"/>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5" name="TextBox 14">
            <a:extLst>
              <a:ext uri="{FF2B5EF4-FFF2-40B4-BE49-F238E27FC236}">
                <a16:creationId xmlns:a16="http://schemas.microsoft.com/office/drawing/2014/main" id="{3FA42496-6B1D-4092-A59A-95DC454EA5F2}"/>
              </a:ext>
            </a:extLst>
          </p:cNvPr>
          <p:cNvSpPr>
            <a:spLocks noGrp="1"/>
          </p:cNvSpPr>
          <p:nvPr/>
        </p:nvSpPr>
        <p:spPr>
          <a:xfrm>
            <a:off x="1097280" y="5907024"/>
            <a:ext cx="8503920" cy="411480"/>
          </a:xfrm>
          <a:prstGeom prst="rect">
            <a:avLst/>
          </a:prstGeom>
          <a:noFill/>
        </p:spPr>
        <p:txBody>
          <a:bodyPr wrap="square">
            <a:spAutoFit/>
          </a:bodyPr>
          <a:lstStyle/>
          <a:p>
            <a:pPr algn="l">
              <a:buNone/>
            </a:pPr>
            <a:r>
              <a:rPr sz="1500" b="1">
                <a:solidFill>
                  <a:srgbClr val="1F3864"/>
                </a:solidFill>
                <a:latin typeface="Calibri"/>
                <a:ea typeface="Calibri"/>
                <a:cs typeface="Calibri"/>
              </a:rPr>
              <a:t>Course Overview  &amp;  Lecture 1: Introduction to AI Ethics</a:t>
            </a:r>
          </a:p>
        </p:txBody>
      </p:sp>
      <p:sp>
        <p:nvSpPr>
          <p:cNvPr id="16" name="expanded-takeaway-1">
            <a:extLst>
              <a:ext uri="{FF2B5EF4-FFF2-40B4-BE49-F238E27FC236}">
                <a16:creationId xmlns:a16="http://schemas.microsoft.com/office/drawing/2014/main" id="{609612BA-9DA7-4F8C-B8D6-B7648732B0A5}"/>
              </a:ext>
            </a:extLst>
          </p:cNvPr>
          <p:cNvSpPr>
            <a:spLocks noGrp="1"/>
          </p:cNvSpPr>
          <p:nvPr/>
        </p:nvSpPr>
        <p:spPr>
          <a:xfrm>
            <a:off x="876300" y="5181600"/>
            <a:ext cx="10439400" cy="400050"/>
          </a:xfrm>
          <a:prstGeom prst="roundRect">
            <a:avLst>
              <a:gd name="adj" fmla="val 19048"/>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Learn to recognize ethical risks before they become real-world harms.</a:t>
            </a:r>
          </a:p>
        </p:txBody>
      </p:sp>
      <p:sp>
        <p:nvSpPr>
          <p:cNvPr id="17" name="v2-page-mask-1">
            <a:extLst>
              <a:ext uri="{FF2B5EF4-FFF2-40B4-BE49-F238E27FC236}">
                <a16:creationId xmlns:a16="http://schemas.microsoft.com/office/drawing/2014/main" id="{89A74A93-DF0C-4C96-A67E-EBA22862A4F4}"/>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8" name="v2-page-1">
            <a:extLst>
              <a:ext uri="{FF2B5EF4-FFF2-40B4-BE49-F238E27FC236}">
                <a16:creationId xmlns:a16="http://schemas.microsoft.com/office/drawing/2014/main" id="{BA61DE8D-5B4C-4E41-A1F7-A668CDF19325}"/>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1</a:t>
            </a:r>
          </a:p>
        </p:txBody>
      </p:sp>
    </p:spTree>
    <p:extLst>
      <p:ext uri="{BB962C8B-B14F-4D97-AF65-F5344CB8AC3E}">
        <p14:creationId xmlns:p14="http://schemas.microsoft.com/office/powerpoint/2010/main" val="1601804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E6851EC-810E-4A14-9181-24873C0C8B44}"/>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D4E1714C-09CB-48E3-938A-B373BDC04ABA}"/>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E020C11-98CF-41D3-B393-6E75869B68E2}"/>
              </a:ext>
            </a:extLst>
          </p:cNvPr>
          <p:cNvSpPr>
            <a:spLocks noGrp="1"/>
          </p:cNvSpPr>
          <p:nvPr/>
        </p:nvSpPr>
        <p:spPr>
          <a:xfrm>
            <a:off x="896112" y="310896"/>
            <a:ext cx="10515600" cy="658368"/>
          </a:xfrm>
          <a:prstGeom prst="rect">
            <a:avLst/>
          </a:prstGeom>
          <a:noFill/>
        </p:spPr>
        <p:txBody>
          <a:bodyPr wrap="square">
            <a:spAutoFit/>
          </a:bodyPr>
          <a:lstStyle/>
          <a:p>
            <a:pPr algn="l">
              <a:buNone/>
            </a:pPr>
            <a:r>
              <a:rPr sz="2600" b="1">
                <a:solidFill>
                  <a:srgbClr val="1F3864"/>
                </a:solidFill>
                <a:latin typeface="Georgia"/>
                <a:ea typeface="Georgia"/>
                <a:cs typeface="Georgia"/>
              </a:rPr>
              <a:t>Welcome &amp; Instructor Introduction</a:t>
            </a:r>
          </a:p>
        </p:txBody>
      </p:sp>
      <p:sp>
        <p:nvSpPr>
          <p:cNvPr id="5" name="Rectangle 4">
            <a:extLst>
              <a:ext uri="{FF2B5EF4-FFF2-40B4-BE49-F238E27FC236}">
                <a16:creationId xmlns:a16="http://schemas.microsoft.com/office/drawing/2014/main" id="{33F9CB23-9B44-46A6-AD9A-837ACE1B8976}"/>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BD1659C-4E74-4C1E-9334-B06D1195317B}"/>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41EBD89A-406B-4B30-B173-98773B3B49FC}"/>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2</a:t>
            </a:r>
          </a:p>
        </p:txBody>
      </p:sp>
      <p:sp>
        <p:nvSpPr>
          <p:cNvPr id="8" name="TextBox 7">
            <a:extLst>
              <a:ext uri="{FF2B5EF4-FFF2-40B4-BE49-F238E27FC236}">
                <a16:creationId xmlns:a16="http://schemas.microsoft.com/office/drawing/2014/main" id="{6ABC8251-7F0C-4E9F-8571-522A54EC66D3}"/>
              </a:ext>
            </a:extLst>
          </p:cNvPr>
          <p:cNvSpPr>
            <a:spLocks noGrp="1"/>
          </p:cNvSpPr>
          <p:nvPr/>
        </p:nvSpPr>
        <p:spPr>
          <a:xfrm>
            <a:off x="896112" y="1417320"/>
            <a:ext cx="10607040" cy="4754880"/>
          </a:xfrm>
          <a:prstGeom prst="rect">
            <a:avLst/>
          </a:prstGeom>
          <a:noFill/>
        </p:spPr>
        <p:txBody>
          <a:bodyPr wrap="square" anchor="t">
            <a:spAutoFit/>
          </a:bodyPr>
          <a:lstStyle/>
          <a:p>
            <a:pPr marL="285750" indent="-285750" algn="l">
              <a:lnSpc>
                <a:spcPct val="114000"/>
              </a:lnSpc>
              <a:spcBef>
                <a:spcPts val="0"/>
              </a:spcBef>
              <a:spcAft>
                <a:spcPts val="700"/>
              </a:spcAft>
              <a:buClr>
                <a:srgbClr val="2E75B6"/>
              </a:buClr>
              <a:buSzPct val="100000"/>
              <a:buFont typeface="Arial"/>
              <a:buChar char="•"/>
            </a:pPr>
            <a:r>
              <a:rPr sz="1700" b="0" i="0" u="none" dirty="0">
                <a:solidFill>
                  <a:srgbClr val="262626"/>
                </a:solidFill>
                <a:latin typeface="Calibri"/>
                <a:ea typeface="Calibri"/>
                <a:cs typeface="Calibri"/>
              </a:rPr>
              <a:t>A case-driven, discussion-based course on the ethics of AI.</a:t>
            </a:r>
          </a:p>
          <a:p>
            <a:pPr marL="285750" indent="-285750" algn="l">
              <a:lnSpc>
                <a:spcPct val="114000"/>
              </a:lnSpc>
              <a:spcBef>
                <a:spcPts val="0"/>
              </a:spcBef>
              <a:spcAft>
                <a:spcPts val="700"/>
              </a:spcAft>
              <a:buClr>
                <a:srgbClr val="2E75B6"/>
              </a:buClr>
              <a:buSzPct val="100000"/>
              <a:buFont typeface="Arial"/>
              <a:buChar char="•"/>
            </a:pPr>
            <a:r>
              <a:rPr sz="1700" b="0" i="0" u="none" dirty="0">
                <a:solidFill>
                  <a:srgbClr val="262626"/>
                </a:solidFill>
                <a:latin typeface="Calibri"/>
                <a:ea typeface="Calibri"/>
                <a:cs typeface="Calibri"/>
              </a:rPr>
              <a:t>We investigate how AI systems are </a:t>
            </a:r>
            <a:r>
              <a:rPr sz="1700" b="1" i="0" u="sng" dirty="0">
                <a:solidFill>
                  <a:srgbClr val="262626"/>
                </a:solidFill>
                <a:latin typeface="Calibri"/>
                <a:ea typeface="Calibri"/>
                <a:cs typeface="Calibri"/>
              </a:rPr>
              <a:t>designed, developed, and deployed</a:t>
            </a:r>
            <a:r>
              <a:rPr sz="1700" b="0" i="0" u="none" dirty="0">
                <a:solidFill>
                  <a:srgbClr val="262626"/>
                </a:solidFill>
                <a:latin typeface="Calibri"/>
                <a:ea typeface="Calibri"/>
                <a:cs typeface="Calibri"/>
              </a:rPr>
              <a:t> — and the societal impacts that follow.</a:t>
            </a:r>
          </a:p>
          <a:p>
            <a:pPr marL="285750" indent="-285750" algn="l">
              <a:lnSpc>
                <a:spcPct val="114000"/>
              </a:lnSpc>
              <a:spcBef>
                <a:spcPts val="600"/>
              </a:spcBef>
              <a:spcAft>
                <a:spcPts val="700"/>
              </a:spcAft>
              <a:buClr>
                <a:srgbClr val="2E75B6"/>
              </a:buClr>
              <a:buSzPct val="100000"/>
              <a:buFont typeface="Arial"/>
              <a:buChar char="•"/>
            </a:pPr>
            <a:r>
              <a:rPr sz="1700" b="1" i="0" u="none" dirty="0">
                <a:solidFill>
                  <a:srgbClr val="1F3864"/>
                </a:solidFill>
                <a:latin typeface="Calibri"/>
                <a:ea typeface="Calibri"/>
                <a:cs typeface="Calibri"/>
              </a:rPr>
              <a:t>About the instructor:  </a:t>
            </a:r>
            <a:r>
              <a:rPr sz="1700" b="0" i="1" u="none" dirty="0">
                <a:solidFill>
                  <a:srgbClr val="595959"/>
                </a:solidFill>
                <a:latin typeface="Calibri"/>
                <a:ea typeface="Calibri"/>
                <a:cs typeface="Calibri"/>
              </a:rPr>
              <a:t>Sirui Han (research &amp; teaching interests to be confirmed).</a:t>
            </a:r>
          </a:p>
          <a:p>
            <a:pPr marL="285750" indent="-285750" algn="l">
              <a:lnSpc>
                <a:spcPct val="114000"/>
              </a:lnSpc>
              <a:spcBef>
                <a:spcPts val="0"/>
              </a:spcBef>
              <a:spcAft>
                <a:spcPts val="700"/>
              </a:spcAft>
              <a:buClr>
                <a:srgbClr val="2E75B6"/>
              </a:buClr>
              <a:buSzPct val="100000"/>
              <a:buFont typeface="Arial"/>
              <a:buChar char="•"/>
            </a:pPr>
            <a:r>
              <a:rPr sz="1700" b="1" i="0" u="none" dirty="0">
                <a:solidFill>
                  <a:srgbClr val="1F3864"/>
                </a:solidFill>
                <a:latin typeface="Calibri"/>
                <a:ea typeface="Calibri"/>
                <a:cs typeface="Calibri"/>
              </a:rPr>
              <a:t>Contact:  </a:t>
            </a:r>
            <a:r>
              <a:rPr sz="1700" b="0" i="0" u="sng" dirty="0" err="1">
                <a:solidFill>
                  <a:srgbClr val="262626"/>
                </a:solidFill>
                <a:latin typeface="Calibri"/>
                <a:ea typeface="Calibri"/>
                <a:cs typeface="Calibri"/>
              </a:rPr>
              <a:t>siruihan@ust.hk</a:t>
            </a:r>
            <a:r>
              <a:rPr sz="1700" b="0" i="0" u="none" dirty="0">
                <a:solidFill>
                  <a:srgbClr val="262626"/>
                </a:solidFill>
                <a:latin typeface="Calibri"/>
                <a:ea typeface="Calibri"/>
                <a:cs typeface="Calibri"/>
              </a:rPr>
              <a:t>   ·   Office hours: TBD (announced via Canvas).</a:t>
            </a:r>
          </a:p>
          <a:p>
            <a:pPr marL="285750" indent="-285750" algn="l">
              <a:lnSpc>
                <a:spcPct val="114000"/>
              </a:lnSpc>
              <a:spcBef>
                <a:spcPts val="0"/>
              </a:spcBef>
              <a:spcAft>
                <a:spcPts val="700"/>
              </a:spcAft>
              <a:buClr>
                <a:srgbClr val="2E75B6"/>
              </a:buClr>
              <a:buSzPct val="100000"/>
              <a:buFont typeface="Arial"/>
              <a:buChar char="•"/>
            </a:pPr>
            <a:r>
              <a:rPr sz="1700" b="0" i="0" u="none" dirty="0">
                <a:solidFill>
                  <a:srgbClr val="262626"/>
                </a:solidFill>
                <a:latin typeface="Calibri"/>
                <a:ea typeface="Calibri"/>
                <a:cs typeface="Calibri"/>
              </a:rPr>
              <a:t>Reach me by email; please allow ~2 business days for a reply.</a:t>
            </a:r>
          </a:p>
        </p:txBody>
      </p:sp>
      <p:sp>
        <p:nvSpPr>
          <p:cNvPr id="9" name="expanded-takeaway-2">
            <a:extLst>
              <a:ext uri="{FF2B5EF4-FFF2-40B4-BE49-F238E27FC236}">
                <a16:creationId xmlns:a16="http://schemas.microsoft.com/office/drawing/2014/main" id="{41D8C405-1300-4E94-878E-0B797694D89D}"/>
              </a:ext>
            </a:extLst>
          </p:cNvPr>
          <p:cNvSpPr>
            <a:spLocks noGrp="1"/>
          </p:cNvSpPr>
          <p:nvPr/>
        </p:nvSpPr>
        <p:spPr>
          <a:xfrm>
            <a:off x="876300" y="5715000"/>
            <a:ext cx="10439400" cy="419100"/>
          </a:xfrm>
          <a:prstGeom prst="roundRect">
            <a:avLst>
              <a:gd name="adj" fmla="val 18182"/>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This course connects technical design choices to their consequences for people and institutions.</a:t>
            </a:r>
          </a:p>
        </p:txBody>
      </p:sp>
      <p:sp>
        <p:nvSpPr>
          <p:cNvPr id="10" name="v2-page-mask-2">
            <a:extLst>
              <a:ext uri="{FF2B5EF4-FFF2-40B4-BE49-F238E27FC236}">
                <a16:creationId xmlns:a16="http://schemas.microsoft.com/office/drawing/2014/main" id="{4DB3604A-6939-40DC-8391-7632B537EFF5}"/>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1" name="v2-page-2">
            <a:extLst>
              <a:ext uri="{FF2B5EF4-FFF2-40B4-BE49-F238E27FC236}">
                <a16:creationId xmlns:a16="http://schemas.microsoft.com/office/drawing/2014/main" id="{32411A10-97F8-4185-B997-6FCFCD0783EF}"/>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2</a:t>
            </a:r>
          </a:p>
        </p:txBody>
      </p:sp>
    </p:spTree>
    <p:extLst>
      <p:ext uri="{BB962C8B-B14F-4D97-AF65-F5344CB8AC3E}">
        <p14:creationId xmlns:p14="http://schemas.microsoft.com/office/powerpoint/2010/main" val="17394549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7AE6B31-EB7C-4D33-A88B-EE49B229D9DE}"/>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03A32DB9-EDF0-4640-9E64-CD3CB13BE865}"/>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FC3B9FF-DC2C-4A47-994B-E8F1A4EA62D0}"/>
              </a:ext>
            </a:extLst>
          </p:cNvPr>
          <p:cNvSpPr>
            <a:spLocks noGrp="1"/>
          </p:cNvSpPr>
          <p:nvPr/>
        </p:nvSpPr>
        <p:spPr>
          <a:xfrm>
            <a:off x="896112" y="310896"/>
            <a:ext cx="10515600" cy="658368"/>
          </a:xfrm>
          <a:prstGeom prst="rect">
            <a:avLst/>
          </a:prstGeom>
          <a:noFill/>
        </p:spPr>
        <p:txBody>
          <a:bodyPr wrap="square">
            <a:spAutoFit/>
          </a:bodyPr>
          <a:lstStyle/>
          <a:p>
            <a:pPr algn="l">
              <a:buNone/>
            </a:pPr>
            <a:r>
              <a:rPr sz="2600" b="1">
                <a:solidFill>
                  <a:srgbClr val="1F3864"/>
                </a:solidFill>
                <a:latin typeface="Georgia"/>
                <a:ea typeface="Georgia"/>
                <a:cs typeface="Georgia"/>
              </a:rPr>
              <a:t>Today's Agenda</a:t>
            </a:r>
          </a:p>
        </p:txBody>
      </p:sp>
      <p:sp>
        <p:nvSpPr>
          <p:cNvPr id="5" name="Rectangle 4">
            <a:extLst>
              <a:ext uri="{FF2B5EF4-FFF2-40B4-BE49-F238E27FC236}">
                <a16:creationId xmlns:a16="http://schemas.microsoft.com/office/drawing/2014/main" id="{2A565D25-A110-4132-B1FF-4DD5697C3C93}"/>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61A132F8-6E62-4601-9706-9161A088C3D2}"/>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3FD5FFA0-E87F-46D6-BAB5-EBECE55A6801}"/>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3</a:t>
            </a:r>
          </a:p>
        </p:txBody>
      </p:sp>
      <p:sp>
        <p:nvSpPr>
          <p:cNvPr id="8" name="TextBox 7">
            <a:extLst>
              <a:ext uri="{FF2B5EF4-FFF2-40B4-BE49-F238E27FC236}">
                <a16:creationId xmlns:a16="http://schemas.microsoft.com/office/drawing/2014/main" id="{11D2020E-31EE-43E3-8496-3A1974D68F7D}"/>
              </a:ext>
            </a:extLst>
          </p:cNvPr>
          <p:cNvSpPr>
            <a:spLocks noGrp="1"/>
          </p:cNvSpPr>
          <p:nvPr/>
        </p:nvSpPr>
        <p:spPr>
          <a:xfrm>
            <a:off x="896112" y="1463040"/>
            <a:ext cx="10607040" cy="3085973"/>
          </a:xfrm>
          <a:prstGeom prst="rect">
            <a:avLst/>
          </a:prstGeom>
          <a:noFill/>
        </p:spPr>
        <p:txBody>
          <a:bodyPr wrap="square" anchor="t">
            <a:spAutoFit/>
          </a:bodyPr>
          <a:lstStyle/>
          <a:p>
            <a:pPr marL="285750" indent="-285750" algn="l">
              <a:lnSpc>
                <a:spcPct val="114000"/>
              </a:lnSpc>
              <a:spcBef>
                <a:spcPts val="0"/>
              </a:spcBef>
              <a:spcAft>
                <a:spcPts val="800"/>
              </a:spcAft>
              <a:buClr>
                <a:srgbClr val="2E75B6"/>
              </a:buClr>
              <a:buSzPct val="100000"/>
              <a:buFont typeface="Arial"/>
              <a:buChar char="•"/>
            </a:pPr>
            <a:r>
              <a:rPr sz="2000" b="1" i="0" u="none">
                <a:solidFill>
                  <a:srgbClr val="1F3864"/>
                </a:solidFill>
                <a:latin typeface="Calibri"/>
                <a:ea typeface="Calibri"/>
                <a:cs typeface="Calibri"/>
              </a:rPr>
              <a:t>Part 1 — Course Overview</a:t>
            </a:r>
          </a:p>
          <a:p>
            <a:pPr marL="514350" indent="-285750" algn="l">
              <a:lnSpc>
                <a:spcPct val="114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Objectives, weekly schedule, assessments, and course policies</a:t>
            </a:r>
            <a:r>
              <a:rPr sz="1500" b="0" i="1" u="none">
                <a:solidFill>
                  <a:srgbClr val="595959"/>
                </a:solidFill>
                <a:latin typeface="Calibri"/>
                <a:ea typeface="Calibri"/>
                <a:cs typeface="Calibri"/>
              </a:rPr>
              <a:t>  </a:t>
            </a:r>
          </a:p>
          <a:p>
            <a:pPr marL="514350" indent="-285750" algn="l">
              <a:lnSpc>
                <a:spcPct val="114000"/>
              </a:lnSpc>
              <a:spcBef>
                <a:spcPts val="0"/>
              </a:spcBef>
              <a:spcAft>
                <a:spcPts val="700"/>
              </a:spcAft>
              <a:buClr>
                <a:srgbClr val="2E75B6"/>
              </a:buClr>
              <a:buSzPct val="100000"/>
              <a:buFont typeface="Arial"/>
              <a:buChar char="•"/>
            </a:pPr>
            <a:r>
              <a:rPr sz="2000" b="1" i="0" u="none">
                <a:solidFill>
                  <a:srgbClr val="1F3864"/>
                </a:solidFill>
                <a:latin typeface="Calibri"/>
                <a:ea typeface="Calibri"/>
                <a:cs typeface="Calibri"/>
              </a:rPr>
              <a:t>Break</a:t>
            </a:r>
          </a:p>
          <a:p>
            <a:pPr marL="514350" indent="-285750" algn="l">
              <a:lnSpc>
                <a:spcPct val="114000"/>
              </a:lnSpc>
              <a:spcBef>
                <a:spcPts val="0"/>
              </a:spcBef>
              <a:spcAft>
                <a:spcPts val="700"/>
              </a:spcAft>
              <a:buClr>
                <a:srgbClr val="2E75B6"/>
              </a:buClr>
              <a:buSzPct val="100000"/>
              <a:buFont typeface="Arial"/>
              <a:buChar char="•"/>
            </a:pPr>
            <a:r>
              <a:rPr sz="1500" b="0" i="1" u="none">
                <a:solidFill>
                  <a:srgbClr val="595959"/>
                </a:solidFill>
                <a:latin typeface="Calibri"/>
                <a:ea typeface="Calibri"/>
                <a:cs typeface="Calibri"/>
              </a:rPr>
              <a:t>(~10 min)</a:t>
            </a:r>
          </a:p>
          <a:p>
            <a:pPr marL="285750" indent="-285750" algn="l">
              <a:lnSpc>
                <a:spcPct val="114000"/>
              </a:lnSpc>
              <a:spcBef>
                <a:spcPts val="1000"/>
              </a:spcBef>
              <a:spcAft>
                <a:spcPts val="800"/>
              </a:spcAft>
              <a:buClr>
                <a:srgbClr val="2E75B6"/>
              </a:buClr>
              <a:buSzPct val="100000"/>
              <a:buFont typeface="Arial"/>
              <a:buChar char="•"/>
            </a:pPr>
            <a:r>
              <a:rPr sz="2000" b="1" i="0" u="none">
                <a:solidFill>
                  <a:srgbClr val="1F3864"/>
                </a:solidFill>
                <a:latin typeface="Calibri"/>
                <a:ea typeface="Calibri"/>
                <a:cs typeface="Calibri"/>
              </a:rPr>
              <a:t>Part 2 — Lecture 1: Introduction to AI Ethics</a:t>
            </a:r>
          </a:p>
          <a:p>
            <a:pPr marL="514350" indent="-285750" algn="l">
              <a:lnSpc>
                <a:spcPct val="114000"/>
              </a:lnSpc>
              <a:spcBef>
                <a:spcPts val="0"/>
              </a:spcBef>
              <a:spcAft>
                <a:spcPts val="700"/>
              </a:spcAft>
              <a:buClr>
                <a:srgbClr val="2E75B6"/>
              </a:buClr>
              <a:buSzPct val="100000"/>
              <a:buFont typeface="Arial"/>
              <a:buChar char="•"/>
            </a:pPr>
            <a:r>
              <a:rPr sz="1500" b="0" i="0" u="none">
                <a:solidFill>
                  <a:srgbClr val="595959"/>
                </a:solidFill>
                <a:latin typeface="Calibri"/>
                <a:ea typeface="Calibri"/>
                <a:cs typeface="Calibri"/>
              </a:rPr>
              <a:t>What is AI? What is ethics? Why does it matter now?</a:t>
            </a:r>
            <a:r>
              <a:rPr sz="1500" b="0" i="1" u="none">
                <a:solidFill>
                  <a:srgbClr val="595959"/>
                </a:solidFill>
                <a:latin typeface="Calibri"/>
                <a:ea typeface="Calibri"/>
                <a:cs typeface="Calibri"/>
              </a:rPr>
              <a:t>  (~50 min)</a:t>
            </a:r>
          </a:p>
          <a:p>
            <a:pPr marL="285750" indent="-285750" algn="l">
              <a:lnSpc>
                <a:spcPct val="114000"/>
              </a:lnSpc>
              <a:spcBef>
                <a:spcPts val="1000"/>
              </a:spcBef>
              <a:spcAft>
                <a:spcPts val="700"/>
              </a:spcAft>
              <a:buClr>
                <a:srgbClr val="2E75B6"/>
              </a:buClr>
              <a:buSzPct val="100000"/>
              <a:buFont typeface="Arial"/>
              <a:buChar char="•"/>
            </a:pPr>
            <a:r>
              <a:rPr sz="2000" b="1" i="0" u="none">
                <a:solidFill>
                  <a:srgbClr val="1F3864"/>
                </a:solidFill>
                <a:latin typeface="Calibri"/>
                <a:ea typeface="Calibri"/>
                <a:cs typeface="Calibri"/>
              </a:rPr>
              <a:t>Q&amp;A — throughout and at the end</a:t>
            </a:r>
          </a:p>
        </p:txBody>
      </p:sp>
      <p:sp>
        <p:nvSpPr>
          <p:cNvPr id="9" name="expanded-takeaway-3">
            <a:extLst>
              <a:ext uri="{FF2B5EF4-FFF2-40B4-BE49-F238E27FC236}">
                <a16:creationId xmlns:a16="http://schemas.microsoft.com/office/drawing/2014/main" id="{48F0244F-673A-4F4A-B6A1-BB6CEA5C4ED0}"/>
              </a:ext>
            </a:extLst>
          </p:cNvPr>
          <p:cNvSpPr>
            <a:spLocks noGrp="1"/>
          </p:cNvSpPr>
          <p:nvPr/>
        </p:nvSpPr>
        <p:spPr>
          <a:xfrm>
            <a:off x="876300" y="5715000"/>
            <a:ext cx="10439400" cy="419100"/>
          </a:xfrm>
          <a:prstGeom prst="roundRect">
            <a:avLst>
              <a:gd name="adj" fmla="val 18182"/>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We first establish how the course works, then build a practical vocabulary for ethical reasoning.</a:t>
            </a:r>
          </a:p>
        </p:txBody>
      </p:sp>
      <p:sp>
        <p:nvSpPr>
          <p:cNvPr id="10" name="v2-page-mask-3">
            <a:extLst>
              <a:ext uri="{FF2B5EF4-FFF2-40B4-BE49-F238E27FC236}">
                <a16:creationId xmlns:a16="http://schemas.microsoft.com/office/drawing/2014/main" id="{C0657F24-22BF-45EA-827D-C0F489731716}"/>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1" name="v2-page-3">
            <a:extLst>
              <a:ext uri="{FF2B5EF4-FFF2-40B4-BE49-F238E27FC236}">
                <a16:creationId xmlns:a16="http://schemas.microsoft.com/office/drawing/2014/main" id="{B3B1F116-69FC-4BD0-B98E-EEFCF3378A99}"/>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3</a:t>
            </a:r>
          </a:p>
        </p:txBody>
      </p:sp>
    </p:spTree>
    <p:extLst>
      <p:ext uri="{BB962C8B-B14F-4D97-AF65-F5344CB8AC3E}">
        <p14:creationId xmlns:p14="http://schemas.microsoft.com/office/powerpoint/2010/main" val="19374555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C47AB6-CB72-4119-80DF-6E1AB7983756}"/>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46866021-5F6F-41DC-B96C-D9DAFA01DB46}"/>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91D9A55-A282-4722-A88F-FF5B2BA69427}"/>
              </a:ext>
            </a:extLst>
          </p:cNvPr>
          <p:cNvSpPr>
            <a:spLocks noGrp="1"/>
          </p:cNvSpPr>
          <p:nvPr/>
        </p:nvSpPr>
        <p:spPr>
          <a:xfrm>
            <a:off x="896112" y="310896"/>
            <a:ext cx="10515600" cy="658368"/>
          </a:xfrm>
          <a:prstGeom prst="rect">
            <a:avLst/>
          </a:prstGeom>
          <a:noFill/>
        </p:spPr>
        <p:txBody>
          <a:bodyPr wrap="square">
            <a:spAutoFit/>
          </a:bodyPr>
          <a:lstStyle/>
          <a:p>
            <a:pPr algn="l">
              <a:buNone/>
            </a:pPr>
            <a:r>
              <a:rPr sz="2600" b="1">
                <a:solidFill>
                  <a:srgbClr val="1F3864"/>
                </a:solidFill>
                <a:latin typeface="Georgia"/>
                <a:ea typeface="Georgia"/>
                <a:cs typeface="Georgia"/>
              </a:rPr>
              <a:t>Course Description</a:t>
            </a:r>
          </a:p>
        </p:txBody>
      </p:sp>
      <p:sp>
        <p:nvSpPr>
          <p:cNvPr id="5" name="Rectangle 4">
            <a:extLst>
              <a:ext uri="{FF2B5EF4-FFF2-40B4-BE49-F238E27FC236}">
                <a16:creationId xmlns:a16="http://schemas.microsoft.com/office/drawing/2014/main" id="{C3CADE00-851A-4B27-AC9D-E7B57BEDA833}"/>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92C16EB-5724-4AAD-BBC2-26E54134C915}"/>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BC162D3B-D231-48D7-BA6F-80C0DD7756B7}"/>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4</a:t>
            </a:r>
          </a:p>
        </p:txBody>
      </p:sp>
      <p:sp>
        <p:nvSpPr>
          <p:cNvPr id="8" name="TextBox 7">
            <a:extLst>
              <a:ext uri="{FF2B5EF4-FFF2-40B4-BE49-F238E27FC236}">
                <a16:creationId xmlns:a16="http://schemas.microsoft.com/office/drawing/2014/main" id="{82A2F501-5942-4A9A-A9D2-B0EB5A1E207C}"/>
              </a:ext>
            </a:extLst>
          </p:cNvPr>
          <p:cNvSpPr>
            <a:spLocks noGrp="1"/>
          </p:cNvSpPr>
          <p:nvPr/>
        </p:nvSpPr>
        <p:spPr>
          <a:xfrm>
            <a:off x="960120" y="1600200"/>
            <a:ext cx="10332720" cy="4389120"/>
          </a:xfrm>
          <a:prstGeom prst="rect">
            <a:avLst/>
          </a:prstGeom>
          <a:noFill/>
        </p:spPr>
        <p:txBody>
          <a:bodyPr wrap="square" anchor="t">
            <a:spAutoFit/>
          </a:bodyPr>
          <a:lstStyle/>
          <a:p>
            <a:pPr marL="285750" indent="0" algn="l">
              <a:lnSpc>
                <a:spcPct val="135000"/>
              </a:lnSpc>
              <a:spcBef>
                <a:spcPts val="0"/>
              </a:spcBef>
              <a:spcAft>
                <a:spcPts val="1400"/>
              </a:spcAft>
              <a:buNone/>
            </a:pPr>
            <a:r>
              <a:rPr sz="1700" b="0" i="0" u="none">
                <a:solidFill>
                  <a:srgbClr val="262626"/>
                </a:solidFill>
                <a:latin typeface="Calibri"/>
                <a:ea typeface="Calibri"/>
                <a:cs typeface="Calibri"/>
              </a:rPr>
              <a:t>This course delves into the ethical considerations involved in </a:t>
            </a:r>
            <a:r>
              <a:rPr sz="1700" b="1" i="0" u="sng">
                <a:solidFill>
                  <a:srgbClr val="262626"/>
                </a:solidFill>
                <a:latin typeface="Calibri"/>
                <a:ea typeface="Calibri"/>
                <a:cs typeface="Calibri"/>
              </a:rPr>
              <a:t>designing, developing, and deploying</a:t>
            </a:r>
            <a:r>
              <a:rPr sz="1700" b="0" i="0" u="none">
                <a:solidFill>
                  <a:srgbClr val="262626"/>
                </a:solidFill>
                <a:latin typeface="Calibri"/>
                <a:ea typeface="Calibri"/>
                <a:cs typeface="Calibri"/>
              </a:rPr>
              <a:t> artificial intelligence (AI) systems. Students will investigate the societal impacts of AI and the ethical dilemmas that emerge in areas such as </a:t>
            </a:r>
            <a:r>
              <a:rPr sz="1700" b="1" i="0" u="sng">
                <a:solidFill>
                  <a:srgbClr val="262626"/>
                </a:solidFill>
                <a:latin typeface="Calibri"/>
                <a:ea typeface="Calibri"/>
                <a:cs typeface="Calibri"/>
              </a:rPr>
              <a:t>privacy, bias, transparency, and accountability</a:t>
            </a:r>
            <a:r>
              <a:rPr sz="1700" b="0" i="0" u="none">
                <a:solidFill>
                  <a:srgbClr val="262626"/>
                </a:solidFill>
                <a:latin typeface="Calibri"/>
                <a:ea typeface="Calibri"/>
                <a:cs typeface="Calibri"/>
              </a:rPr>
              <a:t>. Through case studies and discussions, students will build a </a:t>
            </a:r>
            <a:r>
              <a:rPr sz="1700" b="1" i="0" u="sng">
                <a:solidFill>
                  <a:srgbClr val="262626"/>
                </a:solidFill>
                <a:latin typeface="Calibri"/>
                <a:ea typeface="Calibri"/>
                <a:cs typeface="Calibri"/>
              </a:rPr>
              <a:t>framework for ethical decision-making</a:t>
            </a:r>
            <a:r>
              <a:rPr sz="1700" b="0" i="0" u="none">
                <a:solidFill>
                  <a:srgbClr val="262626"/>
                </a:solidFill>
                <a:latin typeface="Calibri"/>
                <a:ea typeface="Calibri"/>
                <a:cs typeface="Calibri"/>
              </a:rPr>
              <a:t> in the development and implementation of AI systems.</a:t>
            </a:r>
          </a:p>
          <a:p>
            <a:pPr marL="285750" indent="-285750" algn="l">
              <a:lnSpc>
                <a:spcPct val="130000"/>
              </a:lnSpc>
              <a:spcBef>
                <a:spcPts val="0"/>
              </a:spcBef>
              <a:spcAft>
                <a:spcPts val="700"/>
              </a:spcAft>
              <a:buClr>
                <a:srgbClr val="2E75B6"/>
              </a:buClr>
              <a:buSzPct val="100000"/>
              <a:buFont typeface="Arial"/>
              <a:buChar char="•"/>
            </a:pPr>
            <a:r>
              <a:rPr sz="1500" b="1" i="0" u="none">
                <a:solidFill>
                  <a:srgbClr val="1F3864"/>
                </a:solidFill>
                <a:latin typeface="Calibri"/>
                <a:ea typeface="Calibri"/>
                <a:cs typeface="Calibri"/>
              </a:rPr>
              <a:t>Key themes this term: </a:t>
            </a:r>
            <a:r>
              <a:rPr sz="1500" b="0" i="0" u="none">
                <a:solidFill>
                  <a:srgbClr val="262626"/>
                </a:solidFill>
                <a:latin typeface="Calibri"/>
                <a:ea typeface="Calibri"/>
                <a:cs typeface="Calibri"/>
              </a:rPr>
              <a:t>privacy &amp; data protection · fairness &amp; bias · accountability &amp; transparency · safety &amp; security · societal impact · AI policy &amp; regulation.</a:t>
            </a:r>
          </a:p>
        </p:txBody>
      </p:sp>
      <p:sp>
        <p:nvSpPr>
          <p:cNvPr id="9" name="expanded-takeaway-4">
            <a:extLst>
              <a:ext uri="{FF2B5EF4-FFF2-40B4-BE49-F238E27FC236}">
                <a16:creationId xmlns:a16="http://schemas.microsoft.com/office/drawing/2014/main" id="{2F674F6F-72A2-46FF-91C4-F174D9B1D0E3}"/>
              </a:ext>
            </a:extLst>
          </p:cNvPr>
          <p:cNvSpPr>
            <a:spLocks noGrp="1"/>
          </p:cNvSpPr>
          <p:nvPr/>
        </p:nvSpPr>
        <p:spPr>
          <a:xfrm>
            <a:off x="876300" y="5715000"/>
            <a:ext cx="10439400" cy="419100"/>
          </a:xfrm>
          <a:prstGeom prst="roundRect">
            <a:avLst>
              <a:gd name="adj" fmla="val 18182"/>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Ethical analysis follows AI across research, design, deployment, use, and governance.</a:t>
            </a:r>
          </a:p>
        </p:txBody>
      </p:sp>
      <p:sp>
        <p:nvSpPr>
          <p:cNvPr id="10" name="v2-page-mask-4">
            <a:extLst>
              <a:ext uri="{FF2B5EF4-FFF2-40B4-BE49-F238E27FC236}">
                <a16:creationId xmlns:a16="http://schemas.microsoft.com/office/drawing/2014/main" id="{4800F879-D195-41B1-A00D-1B2139D95AF3}"/>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1" name="v2-page-4">
            <a:extLst>
              <a:ext uri="{FF2B5EF4-FFF2-40B4-BE49-F238E27FC236}">
                <a16:creationId xmlns:a16="http://schemas.microsoft.com/office/drawing/2014/main" id="{5DFFB0D8-9373-4BA0-B238-3DF6840D2883}"/>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4</a:t>
            </a:r>
          </a:p>
        </p:txBody>
      </p:sp>
    </p:spTree>
    <p:extLst>
      <p:ext uri="{BB962C8B-B14F-4D97-AF65-F5344CB8AC3E}">
        <p14:creationId xmlns:p14="http://schemas.microsoft.com/office/powerpoint/2010/main" val="11621500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1F93A74-5FEC-4C57-A14E-FCBCF5CE5C1D}"/>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5837D1B8-AD7F-45F9-8768-48A740FA06E3}"/>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314525B-C4D0-4F48-B7B8-2F8EF91396FD}"/>
              </a:ext>
            </a:extLst>
          </p:cNvPr>
          <p:cNvSpPr>
            <a:spLocks noGrp="1"/>
          </p:cNvSpPr>
          <p:nvPr/>
        </p:nvSpPr>
        <p:spPr>
          <a:xfrm>
            <a:off x="896112" y="310896"/>
            <a:ext cx="10515600" cy="658368"/>
          </a:xfrm>
          <a:prstGeom prst="rect">
            <a:avLst/>
          </a:prstGeom>
          <a:noFill/>
        </p:spPr>
        <p:txBody>
          <a:bodyPr wrap="square">
            <a:spAutoFit/>
          </a:bodyPr>
          <a:lstStyle/>
          <a:p>
            <a:pPr algn="l">
              <a:buNone/>
            </a:pPr>
            <a:r>
              <a:rPr sz="2600" b="1">
                <a:solidFill>
                  <a:srgbClr val="1F3864"/>
                </a:solidFill>
                <a:latin typeface="Georgia"/>
                <a:ea typeface="Georgia"/>
                <a:cs typeface="Georgia"/>
              </a:rPr>
              <a:t>Why This Course Matters</a:t>
            </a:r>
          </a:p>
        </p:txBody>
      </p:sp>
      <p:sp>
        <p:nvSpPr>
          <p:cNvPr id="5" name="Rectangle 4">
            <a:extLst>
              <a:ext uri="{FF2B5EF4-FFF2-40B4-BE49-F238E27FC236}">
                <a16:creationId xmlns:a16="http://schemas.microsoft.com/office/drawing/2014/main" id="{D3B3C3D2-172B-47E6-BA92-DCA3AC8A5EC9}"/>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D740FD2-9954-4D4B-A6AD-70B5927ABF43}"/>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9796AF51-7166-497B-A1AC-B8E6D85A630A}"/>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5</a:t>
            </a:r>
          </a:p>
        </p:txBody>
      </p:sp>
      <p:sp>
        <p:nvSpPr>
          <p:cNvPr id="8" name="TextBox 7">
            <a:extLst>
              <a:ext uri="{FF2B5EF4-FFF2-40B4-BE49-F238E27FC236}">
                <a16:creationId xmlns:a16="http://schemas.microsoft.com/office/drawing/2014/main" id="{08E227E5-8F0E-43E1-9714-E2F6AC05DA2A}"/>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4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AI is now </a:t>
            </a:r>
            <a:r>
              <a:rPr sz="1700" b="1" i="0" u="sng">
                <a:solidFill>
                  <a:srgbClr val="262626"/>
                </a:solidFill>
                <a:latin typeface="Calibri"/>
                <a:ea typeface="Calibri"/>
                <a:cs typeface="Calibri"/>
              </a:rPr>
              <a:t>pervasive and high-stakes</a:t>
            </a:r>
            <a:r>
              <a:rPr sz="1700" b="0" i="0" u="none">
                <a:solidFill>
                  <a:srgbClr val="262626"/>
                </a:solidFill>
                <a:latin typeface="Calibri"/>
                <a:ea typeface="Calibri"/>
                <a:cs typeface="Calibri"/>
              </a:rPr>
              <a:t> — it shapes credit, hiring, healthcare, criminal justice, and democracy.</a:t>
            </a:r>
          </a:p>
          <a:p>
            <a:pPr marL="285750" indent="-285750" algn="l">
              <a:lnSpc>
                <a:spcPct val="114000"/>
              </a:lnSpc>
              <a:spcBef>
                <a:spcPts val="0"/>
              </a:spcBef>
              <a:spcAft>
                <a:spcPts val="700"/>
              </a:spcAft>
              <a:buClr>
                <a:srgbClr val="2E75B6"/>
              </a:buClr>
              <a:buSzPct val="100000"/>
              <a:buFont typeface="Arial"/>
              <a:buChar char="•"/>
            </a:pPr>
            <a:r>
              <a:rPr sz="1700" b="1" i="0" u="none">
                <a:solidFill>
                  <a:srgbClr val="262626"/>
                </a:solidFill>
                <a:latin typeface="Calibri"/>
                <a:ea typeface="Calibri"/>
                <a:cs typeface="Calibri"/>
              </a:rPr>
              <a:t>Ethical harms are already happening: </a:t>
            </a:r>
            <a:r>
              <a:rPr sz="1700" b="0" i="0" u="none">
                <a:solidFill>
                  <a:srgbClr val="262626"/>
                </a:solidFill>
                <a:latin typeface="Calibri"/>
                <a:ea typeface="Calibri"/>
                <a:cs typeface="Calibri"/>
              </a:rPr>
              <a:t>biased decisions, privacy erosion, misinformation, surveillance.</a:t>
            </a:r>
          </a:p>
          <a:p>
            <a:pPr marL="285750" indent="-285750" algn="l">
              <a:lnSpc>
                <a:spcPct val="114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Ethics must be part of </a:t>
            </a:r>
            <a:r>
              <a:rPr sz="1700" b="1" i="0" u="sng">
                <a:solidFill>
                  <a:srgbClr val="262626"/>
                </a:solidFill>
                <a:latin typeface="Calibri"/>
                <a:ea typeface="Calibri"/>
                <a:cs typeface="Calibri"/>
              </a:rPr>
              <a:t>design, not an afterthought</a:t>
            </a:r>
            <a:r>
              <a:rPr sz="1700" b="0" i="0" u="none">
                <a:solidFill>
                  <a:srgbClr val="262626"/>
                </a:solidFill>
                <a:latin typeface="Calibri"/>
                <a:ea typeface="Calibri"/>
                <a:cs typeface="Calibri"/>
              </a:rPr>
              <a:t>.</a:t>
            </a:r>
          </a:p>
          <a:p>
            <a:pPr marL="285750" indent="-285750" algn="l">
              <a:lnSpc>
                <a:spcPct val="114000"/>
              </a:lnSpc>
              <a:spcBef>
                <a:spcPts val="600"/>
              </a:spcBef>
              <a:spcAft>
                <a:spcPts val="700"/>
              </a:spcAft>
              <a:buClr>
                <a:srgbClr val="2E75B6"/>
              </a:buClr>
              <a:buSzPct val="100000"/>
              <a:buFont typeface="Arial"/>
              <a:buChar char="•"/>
            </a:pPr>
            <a:r>
              <a:rPr sz="1700" b="1" i="0" u="none">
                <a:solidFill>
                  <a:srgbClr val="1F3864"/>
                </a:solidFill>
                <a:latin typeface="Calibri"/>
                <a:ea typeface="Calibri"/>
                <a:cs typeface="Calibri"/>
              </a:rPr>
              <a:t>Over the term we examine real cases, e.g.:</a:t>
            </a:r>
          </a:p>
          <a:p>
            <a:pPr marL="514350" indent="-285750" algn="l">
              <a:lnSpc>
                <a:spcPct val="114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Recidivism risk scoring (COMPAS)</a:t>
            </a:r>
          </a:p>
          <a:p>
            <a:pPr marL="514350" indent="-285750" algn="l">
              <a:lnSpc>
                <a:spcPct val="114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Public-service algorithms that profile the poor (Eubanks)</a:t>
            </a:r>
          </a:p>
          <a:p>
            <a:pPr marL="514350" indent="-285750" algn="l">
              <a:lnSpc>
                <a:spcPct val="114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Facial recognition &amp; surveillance; deepfakes; autonomous systems.</a:t>
            </a:r>
          </a:p>
        </p:txBody>
      </p:sp>
      <p:sp>
        <p:nvSpPr>
          <p:cNvPr id="9" name="expanded-takeaway-5">
            <a:extLst>
              <a:ext uri="{FF2B5EF4-FFF2-40B4-BE49-F238E27FC236}">
                <a16:creationId xmlns:a16="http://schemas.microsoft.com/office/drawing/2014/main" id="{9BDCA41E-80E3-42D0-947A-3044A81BBCD6}"/>
              </a:ext>
            </a:extLst>
          </p:cNvPr>
          <p:cNvSpPr>
            <a:spLocks noGrp="1"/>
          </p:cNvSpPr>
          <p:nvPr/>
        </p:nvSpPr>
        <p:spPr>
          <a:xfrm>
            <a:off x="876300" y="5715000"/>
            <a:ext cx="10439400" cy="419100"/>
          </a:xfrm>
          <a:prstGeom prst="roundRect">
            <a:avLst>
              <a:gd name="adj" fmla="val 18182"/>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Automated decisions increasingly shape access to opportunities, services, rights, and public trust.</a:t>
            </a:r>
          </a:p>
        </p:txBody>
      </p:sp>
      <p:sp>
        <p:nvSpPr>
          <p:cNvPr id="10" name="v2-page-mask-5">
            <a:extLst>
              <a:ext uri="{FF2B5EF4-FFF2-40B4-BE49-F238E27FC236}">
                <a16:creationId xmlns:a16="http://schemas.microsoft.com/office/drawing/2014/main" id="{9184E98F-6D0D-45B8-A256-FB6C4C72C08B}"/>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1" name="v2-page-5">
            <a:extLst>
              <a:ext uri="{FF2B5EF4-FFF2-40B4-BE49-F238E27FC236}">
                <a16:creationId xmlns:a16="http://schemas.microsoft.com/office/drawing/2014/main" id="{CD33AD6C-C913-4D73-BA69-9BFE116893A4}"/>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5</a:t>
            </a:r>
          </a:p>
        </p:txBody>
      </p:sp>
    </p:spTree>
    <p:extLst>
      <p:ext uri="{BB962C8B-B14F-4D97-AF65-F5344CB8AC3E}">
        <p14:creationId xmlns:p14="http://schemas.microsoft.com/office/powerpoint/2010/main" val="8915189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D18CAF5-F226-434E-ADEF-95AB48AE1724}"/>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BEA5A434-B105-4059-B95A-E5A6669A0458}"/>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A4E5BA5-7B2A-4334-B41A-E3490E7CB592}"/>
              </a:ext>
            </a:extLst>
          </p:cNvPr>
          <p:cNvSpPr>
            <a:spLocks noGrp="1"/>
          </p:cNvSpPr>
          <p:nvPr/>
        </p:nvSpPr>
        <p:spPr>
          <a:xfrm>
            <a:off x="896112" y="310896"/>
            <a:ext cx="10515600" cy="658368"/>
          </a:xfrm>
          <a:prstGeom prst="rect">
            <a:avLst/>
          </a:prstGeom>
          <a:noFill/>
        </p:spPr>
        <p:txBody>
          <a:bodyPr wrap="square">
            <a:spAutoFit/>
          </a:bodyPr>
          <a:lstStyle/>
          <a:p>
            <a:pPr algn="l">
              <a:buNone/>
            </a:pPr>
            <a:r>
              <a:rPr sz="2600" b="1">
                <a:solidFill>
                  <a:srgbClr val="1F3864"/>
                </a:solidFill>
                <a:latin typeface="Georgia"/>
                <a:ea typeface="Georgia"/>
                <a:cs typeface="Georgia"/>
              </a:rPr>
              <a:t>Course Intended Learning Outcomes (CILOs)</a:t>
            </a:r>
          </a:p>
        </p:txBody>
      </p:sp>
      <p:sp>
        <p:nvSpPr>
          <p:cNvPr id="5" name="Rectangle 4">
            <a:extLst>
              <a:ext uri="{FF2B5EF4-FFF2-40B4-BE49-F238E27FC236}">
                <a16:creationId xmlns:a16="http://schemas.microsoft.com/office/drawing/2014/main" id="{BEFC4312-CC96-4B68-BF16-F9EFD40D2215}"/>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254F32C-DFA8-44F3-ABDF-6BCE3E60F0B2}"/>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On successful completion of this course, students will be able to:</a:t>
            </a:r>
          </a:p>
        </p:txBody>
      </p:sp>
      <p:sp>
        <p:nvSpPr>
          <p:cNvPr id="7" name="TextBox 6">
            <a:extLst>
              <a:ext uri="{FF2B5EF4-FFF2-40B4-BE49-F238E27FC236}">
                <a16:creationId xmlns:a16="http://schemas.microsoft.com/office/drawing/2014/main" id="{468FFB55-1D57-4710-9C34-78B2C3A8664F}"/>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EB76142A-1150-41A2-A7A0-9FAFD25C4C93}"/>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6</a:t>
            </a:r>
          </a:p>
        </p:txBody>
      </p:sp>
      <p:sp>
        <p:nvSpPr>
          <p:cNvPr id="9" name="TextBox 8">
            <a:extLst>
              <a:ext uri="{FF2B5EF4-FFF2-40B4-BE49-F238E27FC236}">
                <a16:creationId xmlns:a16="http://schemas.microsoft.com/office/drawing/2014/main" id="{0208AF70-8B28-45A8-B830-C7E8AA757396}"/>
              </a:ext>
            </a:extLst>
          </p:cNvPr>
          <p:cNvSpPr>
            <a:spLocks noGrp="1"/>
          </p:cNvSpPr>
          <p:nvPr/>
        </p:nvSpPr>
        <p:spPr>
          <a:xfrm>
            <a:off x="896112" y="1691640"/>
            <a:ext cx="10607040" cy="4206240"/>
          </a:xfrm>
          <a:prstGeom prst="rect">
            <a:avLst/>
          </a:prstGeom>
          <a:noFill/>
        </p:spPr>
        <p:txBody>
          <a:bodyPr wrap="square" anchor="t">
            <a:spAutoFit/>
          </a:bodyPr>
          <a:lstStyle/>
          <a:p>
            <a:pPr marL="285750" indent="-285750" algn="l">
              <a:lnSpc>
                <a:spcPct val="114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CILO-1  </a:t>
            </a:r>
            <a:r>
              <a:rPr sz="1600" b="0" i="0" u="none">
                <a:solidFill>
                  <a:srgbClr val="262626"/>
                </a:solidFill>
                <a:latin typeface="Calibri"/>
                <a:ea typeface="Calibri"/>
                <a:cs typeface="Calibri"/>
              </a:rPr>
              <a:t>Acquire a comprehensive understanding of AI ethical considerations and social implications.</a:t>
            </a:r>
          </a:p>
          <a:p>
            <a:pPr marL="285750" indent="-285750" algn="l">
              <a:lnSpc>
                <a:spcPct val="114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CILO-2  </a:t>
            </a:r>
            <a:r>
              <a:rPr sz="1600" b="0" i="0" u="none">
                <a:solidFill>
                  <a:srgbClr val="262626"/>
                </a:solidFill>
                <a:latin typeface="Calibri"/>
                <a:ea typeface="Calibri"/>
                <a:cs typeface="Calibri"/>
              </a:rPr>
              <a:t>Develop own perspectives on the foundational ethical questions surrounding emerging technologies.</a:t>
            </a:r>
          </a:p>
          <a:p>
            <a:pPr marL="285750" indent="-285750" algn="l">
              <a:lnSpc>
                <a:spcPct val="114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CILO-3  </a:t>
            </a:r>
            <a:r>
              <a:rPr sz="1600" b="0" i="0" u="none">
                <a:solidFill>
                  <a:srgbClr val="262626"/>
                </a:solidFill>
                <a:latin typeface="Calibri"/>
                <a:ea typeface="Calibri"/>
                <a:cs typeface="Calibri"/>
              </a:rPr>
              <a:t>Critically analyze impacts and societal challenges of AI.</a:t>
            </a:r>
          </a:p>
          <a:p>
            <a:pPr marL="285750" indent="-285750" algn="l">
              <a:lnSpc>
                <a:spcPct val="114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CILO-4  </a:t>
            </a:r>
            <a:r>
              <a:rPr sz="1600" b="0" i="0" u="none">
                <a:solidFill>
                  <a:srgbClr val="262626"/>
                </a:solidFill>
                <a:latin typeface="Calibri"/>
                <a:ea typeface="Calibri"/>
                <a:cs typeface="Calibri"/>
              </a:rPr>
              <a:t>Apply knowledge to real-world AI-related issues and propose solutions.</a:t>
            </a:r>
          </a:p>
          <a:p>
            <a:pPr marL="285750" indent="-285750" algn="l">
              <a:lnSpc>
                <a:spcPct val="114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CILO-5  </a:t>
            </a:r>
            <a:r>
              <a:rPr sz="1600" b="0" i="0" u="none">
                <a:solidFill>
                  <a:srgbClr val="262626"/>
                </a:solidFill>
                <a:latin typeface="Calibri"/>
                <a:ea typeface="Calibri"/>
                <a:cs typeface="Calibri"/>
              </a:rPr>
              <a:t>Enhance written and oral communication skills to effectively discuss ideas related to AI ethics.</a:t>
            </a:r>
          </a:p>
          <a:p>
            <a:pPr marL="285750" indent="0" algn="l">
              <a:lnSpc>
                <a:spcPct val="120000"/>
              </a:lnSpc>
              <a:spcBef>
                <a:spcPts val="1000"/>
              </a:spcBef>
              <a:spcAft>
                <a:spcPts val="700"/>
              </a:spcAft>
              <a:buNone/>
            </a:pPr>
            <a:r>
              <a:rPr sz="1300" b="1" i="0" u="none">
                <a:solidFill>
                  <a:srgbClr val="1F3864"/>
                </a:solidFill>
                <a:latin typeface="Calibri"/>
                <a:ea typeface="Calibri"/>
                <a:cs typeface="Calibri"/>
              </a:rPr>
              <a:t>Mapping: </a:t>
            </a:r>
            <a:r>
              <a:rPr sz="1300" b="0" i="1" u="none">
                <a:solidFill>
                  <a:srgbClr val="595959"/>
                </a:solidFill>
                <a:latin typeface="Calibri"/>
                <a:ea typeface="Calibri"/>
                <a:cs typeface="Calibri"/>
              </a:rPr>
              <a:t>CILOs map onto assessments (e.g., Reading response → CILO 1, 2, 5; Final project → all) and onto weekly lectures.</a:t>
            </a:r>
          </a:p>
        </p:txBody>
      </p:sp>
      <p:sp>
        <p:nvSpPr>
          <p:cNvPr id="10" name="expanded-takeaway-6">
            <a:extLst>
              <a:ext uri="{FF2B5EF4-FFF2-40B4-BE49-F238E27FC236}">
                <a16:creationId xmlns:a16="http://schemas.microsoft.com/office/drawing/2014/main" id="{AAC92D43-DF28-4782-9DF3-19A691D005E8}"/>
              </a:ext>
            </a:extLst>
          </p:cNvPr>
          <p:cNvSpPr>
            <a:spLocks noGrp="1"/>
          </p:cNvSpPr>
          <p:nvPr/>
        </p:nvSpPr>
        <p:spPr>
          <a:xfrm>
            <a:off x="876300" y="5715000"/>
            <a:ext cx="10439400" cy="419100"/>
          </a:xfrm>
          <a:prstGeom prst="roundRect">
            <a:avLst>
              <a:gd name="adj" fmla="val 18182"/>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The goal is not only to know ethical concepts, but to evaluate, communicate, and act on them.</a:t>
            </a:r>
          </a:p>
        </p:txBody>
      </p:sp>
      <p:sp>
        <p:nvSpPr>
          <p:cNvPr id="11" name="v2-page-mask-6">
            <a:extLst>
              <a:ext uri="{FF2B5EF4-FFF2-40B4-BE49-F238E27FC236}">
                <a16:creationId xmlns:a16="http://schemas.microsoft.com/office/drawing/2014/main" id="{AD939AAD-36C6-4BCC-8B3B-2C7717C9680B}"/>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2" name="v2-page-6">
            <a:extLst>
              <a:ext uri="{FF2B5EF4-FFF2-40B4-BE49-F238E27FC236}">
                <a16:creationId xmlns:a16="http://schemas.microsoft.com/office/drawing/2014/main" id="{970C63B8-AAE1-4465-AFA8-7D4E96E7131F}"/>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6</a:t>
            </a:r>
          </a:p>
        </p:txBody>
      </p:sp>
    </p:spTree>
    <p:extLst>
      <p:ext uri="{BB962C8B-B14F-4D97-AF65-F5344CB8AC3E}">
        <p14:creationId xmlns:p14="http://schemas.microsoft.com/office/powerpoint/2010/main" val="16183391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89BA63-5737-4E4F-BB85-1EBFE5FD2FFE}"/>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C5AD909E-CA41-4F47-85BA-C08A0E1A1B50}"/>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14FC7EE-B0FF-470C-A4EC-50F3D2209373}"/>
              </a:ext>
            </a:extLst>
          </p:cNvPr>
          <p:cNvSpPr>
            <a:spLocks noGrp="1"/>
          </p:cNvSpPr>
          <p:nvPr/>
        </p:nvSpPr>
        <p:spPr>
          <a:xfrm>
            <a:off x="896112" y="310896"/>
            <a:ext cx="10515600" cy="658368"/>
          </a:xfrm>
          <a:prstGeom prst="rect">
            <a:avLst/>
          </a:prstGeom>
          <a:noFill/>
        </p:spPr>
        <p:txBody>
          <a:bodyPr wrap="square">
            <a:spAutoFit/>
          </a:bodyPr>
          <a:lstStyle/>
          <a:p>
            <a:pPr algn="l">
              <a:buNone/>
            </a:pPr>
            <a:r>
              <a:rPr sz="2600" b="1">
                <a:solidFill>
                  <a:srgbClr val="1F3864"/>
                </a:solidFill>
                <a:latin typeface="Georgia"/>
                <a:ea typeface="Georgia"/>
                <a:cs typeface="Georgia"/>
              </a:rPr>
              <a:t>Course Structure: A 13-Week Journey</a:t>
            </a:r>
          </a:p>
        </p:txBody>
      </p:sp>
      <p:sp>
        <p:nvSpPr>
          <p:cNvPr id="5" name="Rectangle 4">
            <a:extLst>
              <a:ext uri="{FF2B5EF4-FFF2-40B4-BE49-F238E27FC236}">
                <a16:creationId xmlns:a16="http://schemas.microsoft.com/office/drawing/2014/main" id="{AA7C9471-E565-4752-81F8-41CA813335E4}"/>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4DEB62E-5A2B-47A1-8A53-45EBBA3CDA77}"/>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The course unfolds in four phases, building from foundations to a capstone project.</a:t>
            </a:r>
          </a:p>
        </p:txBody>
      </p:sp>
      <p:sp>
        <p:nvSpPr>
          <p:cNvPr id="7" name="TextBox 6">
            <a:extLst>
              <a:ext uri="{FF2B5EF4-FFF2-40B4-BE49-F238E27FC236}">
                <a16:creationId xmlns:a16="http://schemas.microsoft.com/office/drawing/2014/main" id="{D12B859D-5352-44AC-B9C4-5258FF2F759D}"/>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010C9F13-FF07-4D0A-B87D-7C06834BD002}"/>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7</a:t>
            </a:r>
          </a:p>
        </p:txBody>
      </p:sp>
      <p:graphicFrame>
        <p:nvGraphicFramePr>
          <p:cNvPr id="21" name="Table 8"/>
          <p:cNvGraphicFramePr/>
          <p:nvPr/>
        </p:nvGraphicFramePr>
        <p:xfrm>
          <a:off x="896112" y="1783080"/>
          <a:ext cx="10607038" cy="3383280"/>
        </p:xfrm>
        <a:graphic>
          <a:graphicData uri="http://schemas.openxmlformats.org/drawingml/2006/table">
            <a:tbl>
              <a:tblPr firstRow="1">
                <a:tableStyleId>{5C22544A-7EE6-4342-B048-85BDC9FD1C3A}</a:tableStyleId>
              </a:tblPr>
              <a:tblGrid>
                <a:gridCol w="2863900">
                  <a:extLst>
                    <a:ext uri="{9D8B030D-6E8A-4147-A177-3AD203B41FA5}">
                      <a16:colId xmlns:a16="http://schemas.microsoft.com/office/drawing/2014/main" val="20000"/>
                    </a:ext>
                  </a:extLst>
                </a:gridCol>
                <a:gridCol w="1697126">
                  <a:extLst>
                    <a:ext uri="{9D8B030D-6E8A-4147-A177-3AD203B41FA5}">
                      <a16:colId xmlns:a16="http://schemas.microsoft.com/office/drawing/2014/main" val="20001"/>
                    </a:ext>
                  </a:extLst>
                </a:gridCol>
                <a:gridCol w="6046012">
                  <a:extLst>
                    <a:ext uri="{9D8B030D-6E8A-4147-A177-3AD203B41FA5}">
                      <a16:colId xmlns:a16="http://schemas.microsoft.com/office/drawing/2014/main" val="20002"/>
                    </a:ext>
                  </a:extLst>
                </a:gridCol>
              </a:tblGrid>
              <a:tr h="676656">
                <a:tc>
                  <a:txBody>
                    <a:bodyPr/>
                    <a:lstStyle/>
                    <a:p>
                      <a:pPr algn="l">
                        <a:lnSpc>
                          <a:spcPct val="100000"/>
                        </a:lnSpc>
                        <a:buNone/>
                      </a:pPr>
                      <a:r>
                        <a:rPr sz="1400" b="1">
                          <a:solidFill>
                            <a:srgbClr val="FFFFFF"/>
                          </a:solidFill>
                          <a:latin typeface="Calibri"/>
                          <a:ea typeface="Calibri"/>
                          <a:cs typeface="Calibri"/>
                        </a:rPr>
                        <a:t>Phase</a:t>
                      </a:r>
                    </a:p>
                  </a:txBody>
                  <a:tcPr marL="82296" marR="82296" marT="32004" marB="32004" anchor="ctr">
                    <a:solidFill>
                      <a:srgbClr val="1F3864"/>
                    </a:solidFill>
                  </a:tcPr>
                </a:tc>
                <a:tc>
                  <a:txBody>
                    <a:bodyPr/>
                    <a:lstStyle/>
                    <a:p>
                      <a:pPr algn="ctr">
                        <a:lnSpc>
                          <a:spcPct val="100000"/>
                        </a:lnSpc>
                        <a:buNone/>
                      </a:pPr>
                      <a:r>
                        <a:rPr sz="1400" b="1">
                          <a:solidFill>
                            <a:srgbClr val="FFFFFF"/>
                          </a:solidFill>
                          <a:latin typeface="Calibri"/>
                          <a:ea typeface="Calibri"/>
                          <a:cs typeface="Calibri"/>
                        </a:rPr>
                        <a:t>Weeks</a:t>
                      </a:r>
                    </a:p>
                  </a:txBody>
                  <a:tcPr marL="82296" marR="82296" marT="32004" marB="32004" anchor="ctr">
                    <a:solidFill>
                      <a:srgbClr val="1F3864"/>
                    </a:solidFill>
                  </a:tcPr>
                </a:tc>
                <a:tc>
                  <a:txBody>
                    <a:bodyPr/>
                    <a:lstStyle/>
                    <a:p>
                      <a:pPr algn="l">
                        <a:lnSpc>
                          <a:spcPct val="100000"/>
                        </a:lnSpc>
                        <a:buNone/>
                      </a:pPr>
                      <a:r>
                        <a:rPr sz="1400" b="1">
                          <a:solidFill>
                            <a:srgbClr val="FFFFFF"/>
                          </a:solidFill>
                          <a:latin typeface="Calibri"/>
                          <a:ea typeface="Calibri"/>
                          <a:cs typeface="Calibri"/>
                        </a:rPr>
                        <a:t>Focus</a:t>
                      </a:r>
                    </a:p>
                  </a:txBody>
                  <a:tcPr marL="82296" marR="82296" marT="32004" marB="32004" anchor="ctr">
                    <a:solidFill>
                      <a:srgbClr val="1F3864"/>
                    </a:solidFill>
                  </a:tcPr>
                </a:tc>
                <a:extLst>
                  <a:ext uri="{0D108BD9-81ED-4DB2-BD59-A6C34878D82A}">
                    <a16:rowId xmlns:a16="http://schemas.microsoft.com/office/drawing/2014/main" val="10000"/>
                  </a:ext>
                </a:extLst>
              </a:tr>
              <a:tr h="676656">
                <a:tc>
                  <a:txBody>
                    <a:bodyPr/>
                    <a:lstStyle/>
                    <a:p>
                      <a:pPr algn="l">
                        <a:lnSpc>
                          <a:spcPct val="100000"/>
                        </a:lnSpc>
                        <a:buNone/>
                      </a:pPr>
                      <a:r>
                        <a:rPr sz="1400">
                          <a:solidFill>
                            <a:srgbClr val="262626"/>
                          </a:solidFill>
                          <a:latin typeface="Calibri"/>
                          <a:ea typeface="Calibri"/>
                          <a:cs typeface="Calibri"/>
                        </a:rPr>
                        <a:t>Foundations</a:t>
                      </a:r>
                    </a:p>
                  </a:txBody>
                  <a:tcPr marL="82296" marR="82296" marT="32004" marB="32004" anchor="ctr">
                    <a:solidFill>
                      <a:srgbClr val="F2F6FC"/>
                    </a:solidFill>
                  </a:tcPr>
                </a:tc>
                <a:tc>
                  <a:txBody>
                    <a:bodyPr/>
                    <a:lstStyle/>
                    <a:p>
                      <a:pPr algn="ctr">
                        <a:lnSpc>
                          <a:spcPct val="100000"/>
                        </a:lnSpc>
                        <a:buNone/>
                      </a:pPr>
                      <a:r>
                        <a:rPr sz="1400">
                          <a:solidFill>
                            <a:srgbClr val="262626"/>
                          </a:solidFill>
                          <a:latin typeface="Calibri"/>
                          <a:ea typeface="Calibri"/>
                          <a:cs typeface="Calibri"/>
                        </a:rPr>
                        <a:t>1 – 3</a:t>
                      </a:r>
                    </a:p>
                  </a:txBody>
                  <a:tcPr marL="82296" marR="82296" marT="32004" marB="32004" anchor="ctr">
                    <a:solidFill>
                      <a:srgbClr val="F2F6FC"/>
                    </a:solidFill>
                  </a:tcPr>
                </a:tc>
                <a:tc>
                  <a:txBody>
                    <a:bodyPr/>
                    <a:lstStyle/>
                    <a:p>
                      <a:pPr algn="l">
                        <a:lnSpc>
                          <a:spcPct val="100000"/>
                        </a:lnSpc>
                        <a:buNone/>
                      </a:pPr>
                      <a:r>
                        <a:rPr sz="1400">
                          <a:solidFill>
                            <a:srgbClr val="262626"/>
                          </a:solidFill>
                          <a:latin typeface="Calibri"/>
                          <a:ea typeface="Calibri"/>
                          <a:cs typeface="Calibri"/>
                        </a:rPr>
                        <a:t>Introduction to AI Ethics  ·  Privacy &amp; Data Protection  ·  Accountability, Responsibility &amp; Transparency</a:t>
                      </a:r>
                    </a:p>
                  </a:txBody>
                  <a:tcPr marL="82296" marR="82296" marT="32004" marB="32004" anchor="ctr">
                    <a:solidFill>
                      <a:srgbClr val="F2F6FC"/>
                    </a:solidFill>
                  </a:tcPr>
                </a:tc>
                <a:extLst>
                  <a:ext uri="{0D108BD9-81ED-4DB2-BD59-A6C34878D82A}">
                    <a16:rowId xmlns:a16="http://schemas.microsoft.com/office/drawing/2014/main" val="10001"/>
                  </a:ext>
                </a:extLst>
              </a:tr>
              <a:tr h="676656">
                <a:tc>
                  <a:txBody>
                    <a:bodyPr/>
                    <a:lstStyle/>
                    <a:p>
                      <a:pPr algn="l">
                        <a:lnSpc>
                          <a:spcPct val="100000"/>
                        </a:lnSpc>
                        <a:buNone/>
                      </a:pPr>
                      <a:r>
                        <a:rPr sz="1400">
                          <a:solidFill>
                            <a:srgbClr val="262626"/>
                          </a:solidFill>
                          <a:latin typeface="Calibri"/>
                          <a:ea typeface="Calibri"/>
                          <a:cs typeface="Calibri"/>
                        </a:rPr>
                        <a:t>Fairness &amp; Bias</a:t>
                      </a:r>
                    </a:p>
                  </a:txBody>
                  <a:tcPr marL="82296" marR="82296" marT="32004" marB="32004" anchor="ctr">
                    <a:solidFill>
                      <a:srgbClr val="FFFFFF"/>
                    </a:solidFill>
                  </a:tcPr>
                </a:tc>
                <a:tc>
                  <a:txBody>
                    <a:bodyPr/>
                    <a:lstStyle/>
                    <a:p>
                      <a:pPr algn="ctr">
                        <a:lnSpc>
                          <a:spcPct val="100000"/>
                        </a:lnSpc>
                        <a:buNone/>
                      </a:pPr>
                      <a:r>
                        <a:rPr sz="1400">
                          <a:solidFill>
                            <a:srgbClr val="262626"/>
                          </a:solidFill>
                          <a:latin typeface="Calibri"/>
                          <a:ea typeface="Calibri"/>
                          <a:cs typeface="Calibri"/>
                        </a:rPr>
                        <a:t>4 – 7</a:t>
                      </a:r>
                    </a:p>
                  </a:txBody>
                  <a:tcPr marL="82296" marR="82296" marT="32004" marB="32004" anchor="ctr">
                    <a:solidFill>
                      <a:srgbClr val="FFFFFF"/>
                    </a:solidFill>
                  </a:tcPr>
                </a:tc>
                <a:tc>
                  <a:txBody>
                    <a:bodyPr/>
                    <a:lstStyle/>
                    <a:p>
                      <a:pPr algn="l">
                        <a:lnSpc>
                          <a:spcPct val="100000"/>
                        </a:lnSpc>
                        <a:buNone/>
                      </a:pPr>
                      <a:r>
                        <a:rPr sz="1400">
                          <a:solidFill>
                            <a:srgbClr val="262626"/>
                          </a:solidFill>
                          <a:latin typeface="Calibri"/>
                          <a:ea typeface="Calibri"/>
                          <a:cs typeface="Calibri"/>
                        </a:rPr>
                        <a:t>Fairness and Bias (Parts 1–2)  ·  Beyond Bias (Parts 1–2)  +  Tutorials on Academic Writing &amp; News Presentation</a:t>
                      </a:r>
                    </a:p>
                  </a:txBody>
                  <a:tcPr marL="82296" marR="82296" marT="32004" marB="32004" anchor="ctr">
                    <a:solidFill>
                      <a:srgbClr val="FFFFFF"/>
                    </a:solidFill>
                  </a:tcPr>
                </a:tc>
                <a:extLst>
                  <a:ext uri="{0D108BD9-81ED-4DB2-BD59-A6C34878D82A}">
                    <a16:rowId xmlns:a16="http://schemas.microsoft.com/office/drawing/2014/main" val="10002"/>
                  </a:ext>
                </a:extLst>
              </a:tr>
              <a:tr h="676656">
                <a:tc>
                  <a:txBody>
                    <a:bodyPr/>
                    <a:lstStyle/>
                    <a:p>
                      <a:pPr algn="l">
                        <a:lnSpc>
                          <a:spcPct val="100000"/>
                        </a:lnSpc>
                        <a:buNone/>
                      </a:pPr>
                      <a:r>
                        <a:rPr sz="1400">
                          <a:solidFill>
                            <a:srgbClr val="262626"/>
                          </a:solidFill>
                          <a:latin typeface="Calibri"/>
                          <a:ea typeface="Calibri"/>
                          <a:cs typeface="Calibri"/>
                        </a:rPr>
                        <a:t>Applications &amp; Governance</a:t>
                      </a:r>
                    </a:p>
                  </a:txBody>
                  <a:tcPr marL="82296" marR="82296" marT="32004" marB="32004" anchor="ctr">
                    <a:solidFill>
                      <a:srgbClr val="F2F6FC"/>
                    </a:solidFill>
                  </a:tcPr>
                </a:tc>
                <a:tc>
                  <a:txBody>
                    <a:bodyPr/>
                    <a:lstStyle/>
                    <a:p>
                      <a:pPr algn="ctr">
                        <a:lnSpc>
                          <a:spcPct val="100000"/>
                        </a:lnSpc>
                        <a:buNone/>
                      </a:pPr>
                      <a:r>
                        <a:rPr sz="1400">
                          <a:solidFill>
                            <a:srgbClr val="262626"/>
                          </a:solidFill>
                          <a:latin typeface="Calibri"/>
                          <a:ea typeface="Calibri"/>
                          <a:cs typeface="Calibri"/>
                        </a:rPr>
                        <a:t>8 – 11</a:t>
                      </a:r>
                    </a:p>
                  </a:txBody>
                  <a:tcPr marL="82296" marR="82296" marT="32004" marB="32004" anchor="ctr">
                    <a:solidFill>
                      <a:srgbClr val="F2F6FC"/>
                    </a:solidFill>
                  </a:tcPr>
                </a:tc>
                <a:tc>
                  <a:txBody>
                    <a:bodyPr/>
                    <a:lstStyle/>
                    <a:p>
                      <a:pPr algn="l">
                        <a:lnSpc>
                          <a:spcPct val="100000"/>
                        </a:lnSpc>
                        <a:buNone/>
                      </a:pPr>
                      <a:r>
                        <a:rPr sz="1400">
                          <a:solidFill>
                            <a:srgbClr val="262626"/>
                          </a:solidFill>
                          <a:latin typeface="Calibri"/>
                          <a:ea typeface="Calibri"/>
                          <a:cs typeface="Calibri"/>
                        </a:rPr>
                        <a:t>Ethics of Automation  ·  Safety &amp; Security  ·  AI in Social Media  ·  AI in Military &amp; Politics  ·  AI Policy &amp; Regulations</a:t>
                      </a:r>
                    </a:p>
                  </a:txBody>
                  <a:tcPr marL="82296" marR="82296" marT="32004" marB="32004" anchor="ctr">
                    <a:solidFill>
                      <a:srgbClr val="F2F6FC"/>
                    </a:solidFill>
                  </a:tcPr>
                </a:tc>
                <a:extLst>
                  <a:ext uri="{0D108BD9-81ED-4DB2-BD59-A6C34878D82A}">
                    <a16:rowId xmlns:a16="http://schemas.microsoft.com/office/drawing/2014/main" val="10003"/>
                  </a:ext>
                </a:extLst>
              </a:tr>
              <a:tr h="676656">
                <a:tc>
                  <a:txBody>
                    <a:bodyPr/>
                    <a:lstStyle/>
                    <a:p>
                      <a:pPr algn="l">
                        <a:lnSpc>
                          <a:spcPct val="100000"/>
                        </a:lnSpc>
                        <a:buNone/>
                      </a:pPr>
                      <a:r>
                        <a:rPr sz="1400">
                          <a:solidFill>
                            <a:srgbClr val="262626"/>
                          </a:solidFill>
                          <a:latin typeface="Calibri"/>
                          <a:ea typeface="Calibri"/>
                          <a:cs typeface="Calibri"/>
                        </a:rPr>
                        <a:t>Capstone</a:t>
                      </a:r>
                    </a:p>
                  </a:txBody>
                  <a:tcPr marL="82296" marR="82296" marT="32004" marB="32004" anchor="ctr">
                    <a:solidFill>
                      <a:srgbClr val="FFFFFF"/>
                    </a:solidFill>
                  </a:tcPr>
                </a:tc>
                <a:tc>
                  <a:txBody>
                    <a:bodyPr/>
                    <a:lstStyle/>
                    <a:p>
                      <a:pPr algn="ctr">
                        <a:lnSpc>
                          <a:spcPct val="100000"/>
                        </a:lnSpc>
                        <a:buNone/>
                      </a:pPr>
                      <a:r>
                        <a:rPr sz="1400">
                          <a:solidFill>
                            <a:srgbClr val="262626"/>
                          </a:solidFill>
                          <a:latin typeface="Calibri"/>
                          <a:ea typeface="Calibri"/>
                          <a:cs typeface="Calibri"/>
                        </a:rPr>
                        <a:t>12 – 13</a:t>
                      </a:r>
                    </a:p>
                  </a:txBody>
                  <a:tcPr marL="82296" marR="82296" marT="32004" marB="32004" anchor="ctr">
                    <a:solidFill>
                      <a:srgbClr val="FFFFFF"/>
                    </a:solidFill>
                  </a:tcPr>
                </a:tc>
                <a:tc>
                  <a:txBody>
                    <a:bodyPr/>
                    <a:lstStyle/>
                    <a:p>
                      <a:pPr algn="l">
                        <a:lnSpc>
                          <a:spcPct val="100000"/>
                        </a:lnSpc>
                        <a:buNone/>
                      </a:pPr>
                      <a:r>
                        <a:rPr sz="1400">
                          <a:solidFill>
                            <a:srgbClr val="262626"/>
                          </a:solidFill>
                          <a:latin typeface="Calibri"/>
                          <a:ea typeface="Calibri"/>
                          <a:cs typeface="Calibri"/>
                        </a:rPr>
                        <a:t>Final Project Presentations</a:t>
                      </a:r>
                    </a:p>
                  </a:txBody>
                  <a:tcPr marL="82296" marR="82296" marT="32004" marB="32004" anchor="ctr">
                    <a:solidFill>
                      <a:srgbClr val="FFFFFF"/>
                    </a:solidFill>
                  </a:tcPr>
                </a:tc>
                <a:extLst>
                  <a:ext uri="{0D108BD9-81ED-4DB2-BD59-A6C34878D82A}">
                    <a16:rowId xmlns:a16="http://schemas.microsoft.com/office/drawing/2014/main" val="10004"/>
                  </a:ext>
                </a:extLst>
              </a:tr>
            </a:tbl>
          </a:graphicData>
        </a:graphic>
      </p:graphicFrame>
      <p:sp>
        <p:nvSpPr>
          <p:cNvPr id="10" name="expanded-takeaway-7">
            <a:extLst>
              <a:ext uri="{FF2B5EF4-FFF2-40B4-BE49-F238E27FC236}">
                <a16:creationId xmlns:a16="http://schemas.microsoft.com/office/drawing/2014/main" id="{4F7BB56F-03DC-422A-BE33-BF1CDEC227D4}"/>
              </a:ext>
            </a:extLst>
          </p:cNvPr>
          <p:cNvSpPr>
            <a:spLocks noGrp="1"/>
          </p:cNvSpPr>
          <p:nvPr/>
        </p:nvSpPr>
        <p:spPr>
          <a:xfrm>
            <a:off x="876300" y="5467350"/>
            <a:ext cx="10439400" cy="419100"/>
          </a:xfrm>
          <a:prstGeom prst="roundRect">
            <a:avLst>
              <a:gd name="adj" fmla="val 18182"/>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Each phase builds toward an evidence-based capstone analysis of a real AI ethics problem.</a:t>
            </a:r>
          </a:p>
        </p:txBody>
      </p:sp>
      <p:sp>
        <p:nvSpPr>
          <p:cNvPr id="12" name="v2-page-mask-7">
            <a:extLst>
              <a:ext uri="{FF2B5EF4-FFF2-40B4-BE49-F238E27FC236}">
                <a16:creationId xmlns:a16="http://schemas.microsoft.com/office/drawing/2014/main" id="{F9828BDC-E6E0-4DA9-9924-0C7566F7D9BB}"/>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3" name="v2-page-7">
            <a:extLst>
              <a:ext uri="{FF2B5EF4-FFF2-40B4-BE49-F238E27FC236}">
                <a16:creationId xmlns:a16="http://schemas.microsoft.com/office/drawing/2014/main" id="{58306AD4-4E15-4EBF-BA37-0C8612D0A61D}"/>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7</a:t>
            </a:r>
          </a:p>
        </p:txBody>
      </p:sp>
    </p:spTree>
    <p:extLst>
      <p:ext uri="{BB962C8B-B14F-4D97-AF65-F5344CB8AC3E}">
        <p14:creationId xmlns:p14="http://schemas.microsoft.com/office/powerpoint/2010/main" val="716728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93E025-CA51-469D-8971-B9629697D609}"/>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B1503F5B-E706-4BD8-93CF-1BD067F1E71C}"/>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962B4725-5AAC-494D-AB26-860E84F06BDB}"/>
              </a:ext>
            </a:extLst>
          </p:cNvPr>
          <p:cNvSpPr>
            <a:spLocks noGrp="1"/>
          </p:cNvSpPr>
          <p:nvPr/>
        </p:nvSpPr>
        <p:spPr>
          <a:xfrm>
            <a:off x="896112" y="310896"/>
            <a:ext cx="10515600" cy="658368"/>
          </a:xfrm>
          <a:prstGeom prst="rect">
            <a:avLst/>
          </a:prstGeom>
          <a:noFill/>
        </p:spPr>
        <p:txBody>
          <a:bodyPr wrap="square">
            <a:spAutoFit/>
          </a:bodyPr>
          <a:lstStyle/>
          <a:p>
            <a:pPr algn="l">
              <a:buNone/>
            </a:pPr>
            <a:r>
              <a:rPr sz="2600" b="1">
                <a:solidFill>
                  <a:srgbClr val="1F3864"/>
                </a:solidFill>
                <a:latin typeface="Georgia"/>
                <a:ea typeface="Georgia"/>
                <a:cs typeface="Georgia"/>
              </a:rPr>
              <a:t>Weekly Schedule</a:t>
            </a:r>
          </a:p>
        </p:txBody>
      </p:sp>
      <p:sp>
        <p:nvSpPr>
          <p:cNvPr id="5" name="Rectangle 4">
            <a:extLst>
              <a:ext uri="{FF2B5EF4-FFF2-40B4-BE49-F238E27FC236}">
                <a16:creationId xmlns:a16="http://schemas.microsoft.com/office/drawing/2014/main" id="{E35C7275-1B0A-473A-9BB6-935EB892DA02}"/>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B89E572F-A639-455C-8B6B-4392A7EC18F2}"/>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Order and contents may be adjusted according to teaching progress.</a:t>
            </a:r>
          </a:p>
        </p:txBody>
      </p:sp>
      <p:sp>
        <p:nvSpPr>
          <p:cNvPr id="7" name="TextBox 6">
            <a:extLst>
              <a:ext uri="{FF2B5EF4-FFF2-40B4-BE49-F238E27FC236}">
                <a16:creationId xmlns:a16="http://schemas.microsoft.com/office/drawing/2014/main" id="{41FDEBE6-BAE9-4500-A634-BADE04FB528C}"/>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06F711C9-D7B1-4D13-B317-A7C67CAAEEE9}"/>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8</a:t>
            </a:r>
          </a:p>
        </p:txBody>
      </p:sp>
      <p:graphicFrame>
        <p:nvGraphicFramePr>
          <p:cNvPr id="21" name="Table 8"/>
          <p:cNvGraphicFramePr/>
          <p:nvPr/>
        </p:nvGraphicFramePr>
        <p:xfrm>
          <a:off x="896112" y="1463040"/>
          <a:ext cx="10607040" cy="4572000"/>
        </p:xfrm>
        <a:graphic>
          <a:graphicData uri="http://schemas.openxmlformats.org/drawingml/2006/table">
            <a:tbl>
              <a:tblPr firstRow="1">
                <a:tableStyleId>{5C22544A-7EE6-4342-B048-85BDC9FD1C3A}</a:tableStyleId>
              </a:tblPr>
              <a:tblGrid>
                <a:gridCol w="1060704">
                  <a:extLst>
                    <a:ext uri="{9D8B030D-6E8A-4147-A177-3AD203B41FA5}">
                      <a16:colId xmlns:a16="http://schemas.microsoft.com/office/drawing/2014/main" val="20000"/>
                    </a:ext>
                  </a:extLst>
                </a:gridCol>
                <a:gridCol w="9546336">
                  <a:extLst>
                    <a:ext uri="{9D8B030D-6E8A-4147-A177-3AD203B41FA5}">
                      <a16:colId xmlns:a16="http://schemas.microsoft.com/office/drawing/2014/main" val="20001"/>
                    </a:ext>
                  </a:extLst>
                </a:gridCol>
              </a:tblGrid>
              <a:tr h="326571">
                <a:tc>
                  <a:txBody>
                    <a:bodyPr/>
                    <a:lstStyle/>
                    <a:p>
                      <a:pPr algn="ctr">
                        <a:lnSpc>
                          <a:spcPct val="100000"/>
                        </a:lnSpc>
                        <a:buNone/>
                      </a:pPr>
                      <a:r>
                        <a:rPr sz="1300" b="1">
                          <a:solidFill>
                            <a:srgbClr val="FFFFFF"/>
                          </a:solidFill>
                          <a:latin typeface="Calibri"/>
                          <a:ea typeface="Calibri"/>
                          <a:cs typeface="Calibri"/>
                        </a:rPr>
                        <a:t>Week</a:t>
                      </a:r>
                    </a:p>
                  </a:txBody>
                  <a:tcPr marL="82296" marR="82296" marT="32004" marB="32004" anchor="ctr">
                    <a:solidFill>
                      <a:srgbClr val="1F3864"/>
                    </a:solidFill>
                  </a:tcPr>
                </a:tc>
                <a:tc>
                  <a:txBody>
                    <a:bodyPr/>
                    <a:lstStyle/>
                    <a:p>
                      <a:pPr algn="l">
                        <a:lnSpc>
                          <a:spcPct val="100000"/>
                        </a:lnSpc>
                        <a:buNone/>
                      </a:pPr>
                      <a:r>
                        <a:rPr sz="1300" b="1">
                          <a:solidFill>
                            <a:srgbClr val="FFFFFF"/>
                          </a:solidFill>
                          <a:latin typeface="Calibri"/>
                          <a:ea typeface="Calibri"/>
                          <a:cs typeface="Calibri"/>
                        </a:rPr>
                        <a:t>Topic</a:t>
                      </a:r>
                    </a:p>
                  </a:txBody>
                  <a:tcPr marL="82296" marR="82296" marT="32004" marB="32004" anchor="ctr">
                    <a:solidFill>
                      <a:srgbClr val="1F3864"/>
                    </a:solidFill>
                  </a:tcPr>
                </a:tc>
                <a:extLst>
                  <a:ext uri="{0D108BD9-81ED-4DB2-BD59-A6C34878D82A}">
                    <a16:rowId xmlns:a16="http://schemas.microsoft.com/office/drawing/2014/main" val="10000"/>
                  </a:ext>
                </a:extLst>
              </a:tr>
              <a:tr h="326571">
                <a:tc>
                  <a:txBody>
                    <a:bodyPr/>
                    <a:lstStyle/>
                    <a:p>
                      <a:pPr algn="ctr">
                        <a:lnSpc>
                          <a:spcPct val="100000"/>
                        </a:lnSpc>
                        <a:buNone/>
                      </a:pPr>
                      <a:r>
                        <a:rPr sz="1300">
                          <a:solidFill>
                            <a:srgbClr val="262626"/>
                          </a:solidFill>
                          <a:latin typeface="Calibri"/>
                          <a:ea typeface="Calibri"/>
                          <a:cs typeface="Calibri"/>
                        </a:rPr>
                        <a:t>1</a:t>
                      </a:r>
                    </a:p>
                  </a:txBody>
                  <a:tcPr marL="82296" marR="82296" marT="32004" marB="32004" anchor="ctr">
                    <a:solidFill>
                      <a:srgbClr val="F2F6FC"/>
                    </a:solidFill>
                  </a:tcPr>
                </a:tc>
                <a:tc>
                  <a:txBody>
                    <a:bodyPr/>
                    <a:lstStyle/>
                    <a:p>
                      <a:pPr algn="l">
                        <a:lnSpc>
                          <a:spcPct val="100000"/>
                        </a:lnSpc>
                        <a:buNone/>
                      </a:pPr>
                      <a:r>
                        <a:rPr sz="1300">
                          <a:solidFill>
                            <a:srgbClr val="262626"/>
                          </a:solidFill>
                          <a:latin typeface="Calibri"/>
                          <a:ea typeface="Calibri"/>
                          <a:cs typeface="Calibri"/>
                        </a:rPr>
                        <a:t>Course Overview &amp; Lecture 1: Introduction to AI Ethics</a:t>
                      </a:r>
                    </a:p>
                  </a:txBody>
                  <a:tcPr marL="82296" marR="82296" marT="32004" marB="32004" anchor="ctr">
                    <a:solidFill>
                      <a:srgbClr val="F2F6FC"/>
                    </a:solidFill>
                  </a:tcPr>
                </a:tc>
                <a:extLst>
                  <a:ext uri="{0D108BD9-81ED-4DB2-BD59-A6C34878D82A}">
                    <a16:rowId xmlns:a16="http://schemas.microsoft.com/office/drawing/2014/main" val="10001"/>
                  </a:ext>
                </a:extLst>
              </a:tr>
              <a:tr h="326571">
                <a:tc>
                  <a:txBody>
                    <a:bodyPr/>
                    <a:lstStyle/>
                    <a:p>
                      <a:pPr algn="ctr">
                        <a:lnSpc>
                          <a:spcPct val="100000"/>
                        </a:lnSpc>
                        <a:buNone/>
                      </a:pPr>
                      <a:r>
                        <a:rPr sz="1300">
                          <a:solidFill>
                            <a:srgbClr val="262626"/>
                          </a:solidFill>
                          <a:latin typeface="Calibri"/>
                          <a:ea typeface="Calibri"/>
                          <a:cs typeface="Calibri"/>
                        </a:rPr>
                        <a:t>2</a:t>
                      </a:r>
                    </a:p>
                  </a:txBody>
                  <a:tcPr marL="82296" marR="82296" marT="32004" marB="32004" anchor="ctr">
                    <a:solidFill>
                      <a:srgbClr val="FFFFFF"/>
                    </a:solidFill>
                  </a:tcPr>
                </a:tc>
                <a:tc>
                  <a:txBody>
                    <a:bodyPr/>
                    <a:lstStyle/>
                    <a:p>
                      <a:pPr algn="l">
                        <a:lnSpc>
                          <a:spcPct val="100000"/>
                        </a:lnSpc>
                        <a:buNone/>
                      </a:pPr>
                      <a:r>
                        <a:rPr sz="1300">
                          <a:solidFill>
                            <a:srgbClr val="262626"/>
                          </a:solidFill>
                          <a:latin typeface="Calibri"/>
                          <a:ea typeface="Calibri"/>
                          <a:cs typeface="Calibri"/>
                        </a:rPr>
                        <a:t>Lecture 2: Privacy and Data Protection</a:t>
                      </a:r>
                    </a:p>
                  </a:txBody>
                  <a:tcPr marL="82296" marR="82296" marT="32004" marB="32004" anchor="ctr">
                    <a:solidFill>
                      <a:srgbClr val="FFFFFF"/>
                    </a:solidFill>
                  </a:tcPr>
                </a:tc>
                <a:extLst>
                  <a:ext uri="{0D108BD9-81ED-4DB2-BD59-A6C34878D82A}">
                    <a16:rowId xmlns:a16="http://schemas.microsoft.com/office/drawing/2014/main" val="10002"/>
                  </a:ext>
                </a:extLst>
              </a:tr>
              <a:tr h="326571">
                <a:tc>
                  <a:txBody>
                    <a:bodyPr/>
                    <a:lstStyle/>
                    <a:p>
                      <a:pPr algn="ctr">
                        <a:lnSpc>
                          <a:spcPct val="100000"/>
                        </a:lnSpc>
                        <a:buNone/>
                      </a:pPr>
                      <a:r>
                        <a:rPr sz="1300">
                          <a:solidFill>
                            <a:srgbClr val="262626"/>
                          </a:solidFill>
                          <a:latin typeface="Calibri"/>
                          <a:ea typeface="Calibri"/>
                          <a:cs typeface="Calibri"/>
                        </a:rPr>
                        <a:t>3</a:t>
                      </a:r>
                    </a:p>
                  </a:txBody>
                  <a:tcPr marL="82296" marR="82296" marT="32004" marB="32004" anchor="ctr">
                    <a:solidFill>
                      <a:srgbClr val="F2F6FC"/>
                    </a:solidFill>
                  </a:tcPr>
                </a:tc>
                <a:tc>
                  <a:txBody>
                    <a:bodyPr/>
                    <a:lstStyle/>
                    <a:p>
                      <a:pPr algn="l">
                        <a:lnSpc>
                          <a:spcPct val="100000"/>
                        </a:lnSpc>
                        <a:buNone/>
                      </a:pPr>
                      <a:r>
                        <a:rPr sz="1300">
                          <a:solidFill>
                            <a:srgbClr val="262626"/>
                          </a:solidFill>
                          <a:latin typeface="Calibri"/>
                          <a:ea typeface="Calibri"/>
                          <a:cs typeface="Calibri"/>
                        </a:rPr>
                        <a:t>Lecture 3: Accountability, Responsibility, Transparency</a:t>
                      </a:r>
                    </a:p>
                  </a:txBody>
                  <a:tcPr marL="82296" marR="82296" marT="32004" marB="32004" anchor="ctr">
                    <a:solidFill>
                      <a:srgbClr val="F2F6FC"/>
                    </a:solidFill>
                  </a:tcPr>
                </a:tc>
                <a:extLst>
                  <a:ext uri="{0D108BD9-81ED-4DB2-BD59-A6C34878D82A}">
                    <a16:rowId xmlns:a16="http://schemas.microsoft.com/office/drawing/2014/main" val="10003"/>
                  </a:ext>
                </a:extLst>
              </a:tr>
              <a:tr h="326571">
                <a:tc>
                  <a:txBody>
                    <a:bodyPr/>
                    <a:lstStyle/>
                    <a:p>
                      <a:pPr algn="ctr">
                        <a:lnSpc>
                          <a:spcPct val="100000"/>
                        </a:lnSpc>
                        <a:buNone/>
                      </a:pPr>
                      <a:r>
                        <a:rPr sz="1300">
                          <a:solidFill>
                            <a:srgbClr val="262626"/>
                          </a:solidFill>
                          <a:latin typeface="Calibri"/>
                          <a:ea typeface="Calibri"/>
                          <a:cs typeface="Calibri"/>
                        </a:rPr>
                        <a:t>4</a:t>
                      </a:r>
                    </a:p>
                  </a:txBody>
                  <a:tcPr marL="82296" marR="82296" marT="32004" marB="32004" anchor="ctr">
                    <a:solidFill>
                      <a:srgbClr val="FFFFFF"/>
                    </a:solidFill>
                  </a:tcPr>
                </a:tc>
                <a:tc>
                  <a:txBody>
                    <a:bodyPr/>
                    <a:lstStyle/>
                    <a:p>
                      <a:pPr algn="l">
                        <a:lnSpc>
                          <a:spcPct val="100000"/>
                        </a:lnSpc>
                        <a:buNone/>
                      </a:pPr>
                      <a:r>
                        <a:rPr sz="1300">
                          <a:solidFill>
                            <a:srgbClr val="262626"/>
                          </a:solidFill>
                          <a:latin typeface="Calibri"/>
                          <a:ea typeface="Calibri"/>
                          <a:cs typeface="Calibri"/>
                        </a:rPr>
                        <a:t>Lecture 4: Fairness and Bias (Part 1)  &amp;  Tutorial on Academic Writing</a:t>
                      </a:r>
                    </a:p>
                  </a:txBody>
                  <a:tcPr marL="82296" marR="82296" marT="32004" marB="32004" anchor="ctr">
                    <a:solidFill>
                      <a:srgbClr val="FFFFFF"/>
                    </a:solidFill>
                  </a:tcPr>
                </a:tc>
                <a:extLst>
                  <a:ext uri="{0D108BD9-81ED-4DB2-BD59-A6C34878D82A}">
                    <a16:rowId xmlns:a16="http://schemas.microsoft.com/office/drawing/2014/main" val="10004"/>
                  </a:ext>
                </a:extLst>
              </a:tr>
              <a:tr h="326571">
                <a:tc>
                  <a:txBody>
                    <a:bodyPr/>
                    <a:lstStyle/>
                    <a:p>
                      <a:pPr algn="ctr">
                        <a:lnSpc>
                          <a:spcPct val="100000"/>
                        </a:lnSpc>
                        <a:buNone/>
                      </a:pPr>
                      <a:r>
                        <a:rPr sz="1300">
                          <a:solidFill>
                            <a:srgbClr val="262626"/>
                          </a:solidFill>
                          <a:latin typeface="Calibri"/>
                          <a:ea typeface="Calibri"/>
                          <a:cs typeface="Calibri"/>
                        </a:rPr>
                        <a:t>5</a:t>
                      </a:r>
                    </a:p>
                  </a:txBody>
                  <a:tcPr marL="82296" marR="82296" marT="32004" marB="32004" anchor="ctr">
                    <a:solidFill>
                      <a:srgbClr val="F2F6FC"/>
                    </a:solidFill>
                  </a:tcPr>
                </a:tc>
                <a:tc>
                  <a:txBody>
                    <a:bodyPr/>
                    <a:lstStyle/>
                    <a:p>
                      <a:pPr algn="l">
                        <a:lnSpc>
                          <a:spcPct val="100000"/>
                        </a:lnSpc>
                        <a:buNone/>
                      </a:pPr>
                      <a:r>
                        <a:rPr sz="1300">
                          <a:solidFill>
                            <a:srgbClr val="262626"/>
                          </a:solidFill>
                          <a:latin typeface="Calibri"/>
                          <a:ea typeface="Calibri"/>
                          <a:cs typeface="Calibri"/>
                        </a:rPr>
                        <a:t>Lecture 4: Fairness and Bias (Part 2)</a:t>
                      </a:r>
                    </a:p>
                  </a:txBody>
                  <a:tcPr marL="82296" marR="82296" marT="32004" marB="32004" anchor="ctr">
                    <a:solidFill>
                      <a:srgbClr val="F2F6FC"/>
                    </a:solidFill>
                  </a:tcPr>
                </a:tc>
                <a:extLst>
                  <a:ext uri="{0D108BD9-81ED-4DB2-BD59-A6C34878D82A}">
                    <a16:rowId xmlns:a16="http://schemas.microsoft.com/office/drawing/2014/main" val="10005"/>
                  </a:ext>
                </a:extLst>
              </a:tr>
              <a:tr h="326571">
                <a:tc>
                  <a:txBody>
                    <a:bodyPr/>
                    <a:lstStyle/>
                    <a:p>
                      <a:pPr algn="ctr">
                        <a:lnSpc>
                          <a:spcPct val="100000"/>
                        </a:lnSpc>
                        <a:buNone/>
                      </a:pPr>
                      <a:r>
                        <a:rPr sz="1300">
                          <a:solidFill>
                            <a:srgbClr val="262626"/>
                          </a:solidFill>
                          <a:latin typeface="Calibri"/>
                          <a:ea typeface="Calibri"/>
                          <a:cs typeface="Calibri"/>
                        </a:rPr>
                        <a:t>6</a:t>
                      </a:r>
                    </a:p>
                  </a:txBody>
                  <a:tcPr marL="82296" marR="82296" marT="32004" marB="32004" anchor="ctr">
                    <a:solidFill>
                      <a:srgbClr val="FFFFFF"/>
                    </a:solidFill>
                  </a:tcPr>
                </a:tc>
                <a:tc>
                  <a:txBody>
                    <a:bodyPr/>
                    <a:lstStyle/>
                    <a:p>
                      <a:pPr algn="l">
                        <a:lnSpc>
                          <a:spcPct val="100000"/>
                        </a:lnSpc>
                        <a:buNone/>
                      </a:pPr>
                      <a:r>
                        <a:rPr sz="1300">
                          <a:solidFill>
                            <a:srgbClr val="262626"/>
                          </a:solidFill>
                          <a:latin typeface="Calibri"/>
                          <a:ea typeface="Calibri"/>
                          <a:cs typeface="Calibri"/>
                        </a:rPr>
                        <a:t>Lecture 5: Beyond Bias (Part 1)  &amp;  Tutorial on News Presentation</a:t>
                      </a:r>
                    </a:p>
                  </a:txBody>
                  <a:tcPr marL="82296" marR="82296" marT="32004" marB="32004" anchor="ctr">
                    <a:solidFill>
                      <a:srgbClr val="FFFFFF"/>
                    </a:solidFill>
                  </a:tcPr>
                </a:tc>
                <a:extLst>
                  <a:ext uri="{0D108BD9-81ED-4DB2-BD59-A6C34878D82A}">
                    <a16:rowId xmlns:a16="http://schemas.microsoft.com/office/drawing/2014/main" val="10006"/>
                  </a:ext>
                </a:extLst>
              </a:tr>
              <a:tr h="326571">
                <a:tc>
                  <a:txBody>
                    <a:bodyPr/>
                    <a:lstStyle/>
                    <a:p>
                      <a:pPr algn="ctr">
                        <a:lnSpc>
                          <a:spcPct val="100000"/>
                        </a:lnSpc>
                        <a:buNone/>
                      </a:pPr>
                      <a:r>
                        <a:rPr sz="1300">
                          <a:solidFill>
                            <a:srgbClr val="262626"/>
                          </a:solidFill>
                          <a:latin typeface="Calibri"/>
                          <a:ea typeface="Calibri"/>
                          <a:cs typeface="Calibri"/>
                        </a:rPr>
                        <a:t>7</a:t>
                      </a:r>
                    </a:p>
                  </a:txBody>
                  <a:tcPr marL="82296" marR="82296" marT="32004" marB="32004" anchor="ctr">
                    <a:solidFill>
                      <a:srgbClr val="F2F6FC"/>
                    </a:solidFill>
                  </a:tcPr>
                </a:tc>
                <a:tc>
                  <a:txBody>
                    <a:bodyPr/>
                    <a:lstStyle/>
                    <a:p>
                      <a:pPr algn="l">
                        <a:lnSpc>
                          <a:spcPct val="100000"/>
                        </a:lnSpc>
                        <a:buNone/>
                      </a:pPr>
                      <a:r>
                        <a:rPr sz="1300">
                          <a:solidFill>
                            <a:srgbClr val="262626"/>
                          </a:solidFill>
                          <a:latin typeface="Calibri"/>
                          <a:ea typeface="Calibri"/>
                          <a:cs typeface="Calibri"/>
                        </a:rPr>
                        <a:t>Lecture 5: Beyond Bias (Part 2)</a:t>
                      </a:r>
                    </a:p>
                  </a:txBody>
                  <a:tcPr marL="82296" marR="82296" marT="32004" marB="32004" anchor="ctr">
                    <a:solidFill>
                      <a:srgbClr val="F2F6FC"/>
                    </a:solidFill>
                  </a:tcPr>
                </a:tc>
                <a:extLst>
                  <a:ext uri="{0D108BD9-81ED-4DB2-BD59-A6C34878D82A}">
                    <a16:rowId xmlns:a16="http://schemas.microsoft.com/office/drawing/2014/main" val="10007"/>
                  </a:ext>
                </a:extLst>
              </a:tr>
              <a:tr h="326571">
                <a:tc>
                  <a:txBody>
                    <a:bodyPr/>
                    <a:lstStyle/>
                    <a:p>
                      <a:pPr algn="ctr">
                        <a:lnSpc>
                          <a:spcPct val="100000"/>
                        </a:lnSpc>
                        <a:buNone/>
                      </a:pPr>
                      <a:r>
                        <a:rPr sz="1300">
                          <a:solidFill>
                            <a:srgbClr val="262626"/>
                          </a:solidFill>
                          <a:latin typeface="Calibri"/>
                          <a:ea typeface="Calibri"/>
                          <a:cs typeface="Calibri"/>
                        </a:rPr>
                        <a:t>8</a:t>
                      </a:r>
                    </a:p>
                  </a:txBody>
                  <a:tcPr marL="82296" marR="82296" marT="32004" marB="32004" anchor="ctr">
                    <a:solidFill>
                      <a:srgbClr val="FFFFFF"/>
                    </a:solidFill>
                  </a:tcPr>
                </a:tc>
                <a:tc>
                  <a:txBody>
                    <a:bodyPr/>
                    <a:lstStyle/>
                    <a:p>
                      <a:pPr algn="l">
                        <a:lnSpc>
                          <a:spcPct val="100000"/>
                        </a:lnSpc>
                        <a:buNone/>
                      </a:pPr>
                      <a:r>
                        <a:rPr sz="1300">
                          <a:solidFill>
                            <a:srgbClr val="262626"/>
                          </a:solidFill>
                          <a:latin typeface="Calibri"/>
                          <a:ea typeface="Calibri"/>
                          <a:cs typeface="Calibri"/>
                        </a:rPr>
                        <a:t>Lecture 6: The Ethics of Automation  &amp;  Lecture 7: Safety and Security</a:t>
                      </a:r>
                    </a:p>
                  </a:txBody>
                  <a:tcPr marL="82296" marR="82296" marT="32004" marB="32004" anchor="ctr">
                    <a:solidFill>
                      <a:srgbClr val="FFFFFF"/>
                    </a:solidFill>
                  </a:tcPr>
                </a:tc>
                <a:extLst>
                  <a:ext uri="{0D108BD9-81ED-4DB2-BD59-A6C34878D82A}">
                    <a16:rowId xmlns:a16="http://schemas.microsoft.com/office/drawing/2014/main" val="10008"/>
                  </a:ext>
                </a:extLst>
              </a:tr>
              <a:tr h="326571">
                <a:tc>
                  <a:txBody>
                    <a:bodyPr/>
                    <a:lstStyle/>
                    <a:p>
                      <a:pPr algn="ctr">
                        <a:lnSpc>
                          <a:spcPct val="100000"/>
                        </a:lnSpc>
                        <a:buNone/>
                      </a:pPr>
                      <a:r>
                        <a:rPr sz="1300">
                          <a:solidFill>
                            <a:srgbClr val="262626"/>
                          </a:solidFill>
                          <a:latin typeface="Calibri"/>
                          <a:ea typeface="Calibri"/>
                          <a:cs typeface="Calibri"/>
                        </a:rPr>
                        <a:t>9</a:t>
                      </a:r>
                    </a:p>
                  </a:txBody>
                  <a:tcPr marL="82296" marR="82296" marT="32004" marB="32004" anchor="ctr">
                    <a:solidFill>
                      <a:srgbClr val="F2F6FC"/>
                    </a:solidFill>
                  </a:tcPr>
                </a:tc>
                <a:tc>
                  <a:txBody>
                    <a:bodyPr/>
                    <a:lstStyle/>
                    <a:p>
                      <a:pPr algn="l">
                        <a:lnSpc>
                          <a:spcPct val="100000"/>
                        </a:lnSpc>
                        <a:buNone/>
                      </a:pPr>
                      <a:r>
                        <a:rPr sz="1300">
                          <a:solidFill>
                            <a:srgbClr val="262626"/>
                          </a:solidFill>
                          <a:latin typeface="Calibri"/>
                          <a:ea typeface="Calibri"/>
                          <a:cs typeface="Calibri"/>
                        </a:rPr>
                        <a:t>Lecture 8: AI in Social Media</a:t>
                      </a:r>
                    </a:p>
                  </a:txBody>
                  <a:tcPr marL="82296" marR="82296" marT="32004" marB="32004" anchor="ctr">
                    <a:solidFill>
                      <a:srgbClr val="F2F6FC"/>
                    </a:solidFill>
                  </a:tcPr>
                </a:tc>
                <a:extLst>
                  <a:ext uri="{0D108BD9-81ED-4DB2-BD59-A6C34878D82A}">
                    <a16:rowId xmlns:a16="http://schemas.microsoft.com/office/drawing/2014/main" val="10009"/>
                  </a:ext>
                </a:extLst>
              </a:tr>
              <a:tr h="326571">
                <a:tc>
                  <a:txBody>
                    <a:bodyPr/>
                    <a:lstStyle/>
                    <a:p>
                      <a:pPr algn="ctr">
                        <a:lnSpc>
                          <a:spcPct val="100000"/>
                        </a:lnSpc>
                        <a:buNone/>
                      </a:pPr>
                      <a:r>
                        <a:rPr sz="1300">
                          <a:solidFill>
                            <a:srgbClr val="262626"/>
                          </a:solidFill>
                          <a:latin typeface="Calibri"/>
                          <a:ea typeface="Calibri"/>
                          <a:cs typeface="Calibri"/>
                        </a:rPr>
                        <a:t>10</a:t>
                      </a:r>
                    </a:p>
                  </a:txBody>
                  <a:tcPr marL="82296" marR="82296" marT="32004" marB="32004" anchor="ctr">
                    <a:solidFill>
                      <a:srgbClr val="FFFFFF"/>
                    </a:solidFill>
                  </a:tcPr>
                </a:tc>
                <a:tc>
                  <a:txBody>
                    <a:bodyPr/>
                    <a:lstStyle/>
                    <a:p>
                      <a:pPr algn="l">
                        <a:lnSpc>
                          <a:spcPct val="100000"/>
                        </a:lnSpc>
                        <a:buNone/>
                      </a:pPr>
                      <a:r>
                        <a:rPr sz="1300">
                          <a:solidFill>
                            <a:srgbClr val="262626"/>
                          </a:solidFill>
                          <a:latin typeface="Calibri"/>
                          <a:ea typeface="Calibri"/>
                          <a:cs typeface="Calibri"/>
                        </a:rPr>
                        <a:t>Lecture 9: AI in the Military  &amp;  Lecture 10: AI in Politics</a:t>
                      </a:r>
                    </a:p>
                  </a:txBody>
                  <a:tcPr marL="82296" marR="82296" marT="32004" marB="32004" anchor="ctr">
                    <a:solidFill>
                      <a:srgbClr val="FFFFFF"/>
                    </a:solidFill>
                  </a:tcPr>
                </a:tc>
                <a:extLst>
                  <a:ext uri="{0D108BD9-81ED-4DB2-BD59-A6C34878D82A}">
                    <a16:rowId xmlns:a16="http://schemas.microsoft.com/office/drawing/2014/main" val="10010"/>
                  </a:ext>
                </a:extLst>
              </a:tr>
              <a:tr h="326571">
                <a:tc>
                  <a:txBody>
                    <a:bodyPr/>
                    <a:lstStyle/>
                    <a:p>
                      <a:pPr algn="ctr">
                        <a:lnSpc>
                          <a:spcPct val="100000"/>
                        </a:lnSpc>
                        <a:buNone/>
                      </a:pPr>
                      <a:r>
                        <a:rPr sz="1300">
                          <a:solidFill>
                            <a:srgbClr val="262626"/>
                          </a:solidFill>
                          <a:latin typeface="Calibri"/>
                          <a:ea typeface="Calibri"/>
                          <a:cs typeface="Calibri"/>
                        </a:rPr>
                        <a:t>11</a:t>
                      </a:r>
                    </a:p>
                  </a:txBody>
                  <a:tcPr marL="82296" marR="82296" marT="32004" marB="32004" anchor="ctr">
                    <a:solidFill>
                      <a:srgbClr val="F2F6FC"/>
                    </a:solidFill>
                  </a:tcPr>
                </a:tc>
                <a:tc>
                  <a:txBody>
                    <a:bodyPr/>
                    <a:lstStyle/>
                    <a:p>
                      <a:pPr algn="l">
                        <a:lnSpc>
                          <a:spcPct val="100000"/>
                        </a:lnSpc>
                        <a:buNone/>
                      </a:pPr>
                      <a:r>
                        <a:rPr sz="1300">
                          <a:solidFill>
                            <a:srgbClr val="262626"/>
                          </a:solidFill>
                          <a:latin typeface="Calibri"/>
                          <a:ea typeface="Calibri"/>
                          <a:cs typeface="Calibri"/>
                        </a:rPr>
                        <a:t>Lecture 11: AI Policy and Regulations</a:t>
                      </a:r>
                    </a:p>
                  </a:txBody>
                  <a:tcPr marL="82296" marR="82296" marT="32004" marB="32004" anchor="ctr">
                    <a:solidFill>
                      <a:srgbClr val="F2F6FC"/>
                    </a:solidFill>
                  </a:tcPr>
                </a:tc>
                <a:extLst>
                  <a:ext uri="{0D108BD9-81ED-4DB2-BD59-A6C34878D82A}">
                    <a16:rowId xmlns:a16="http://schemas.microsoft.com/office/drawing/2014/main" val="10011"/>
                  </a:ext>
                </a:extLst>
              </a:tr>
              <a:tr h="326571">
                <a:tc>
                  <a:txBody>
                    <a:bodyPr/>
                    <a:lstStyle/>
                    <a:p>
                      <a:pPr algn="ctr">
                        <a:lnSpc>
                          <a:spcPct val="100000"/>
                        </a:lnSpc>
                        <a:buNone/>
                      </a:pPr>
                      <a:r>
                        <a:rPr sz="1300">
                          <a:solidFill>
                            <a:srgbClr val="262626"/>
                          </a:solidFill>
                          <a:latin typeface="Calibri"/>
                          <a:ea typeface="Calibri"/>
                          <a:cs typeface="Calibri"/>
                        </a:rPr>
                        <a:t>12</a:t>
                      </a:r>
                    </a:p>
                  </a:txBody>
                  <a:tcPr marL="82296" marR="82296" marT="32004" marB="32004" anchor="ctr">
                    <a:solidFill>
                      <a:srgbClr val="FFFFFF"/>
                    </a:solidFill>
                  </a:tcPr>
                </a:tc>
                <a:tc>
                  <a:txBody>
                    <a:bodyPr/>
                    <a:lstStyle/>
                    <a:p>
                      <a:pPr algn="l">
                        <a:lnSpc>
                          <a:spcPct val="100000"/>
                        </a:lnSpc>
                        <a:buNone/>
                      </a:pPr>
                      <a:r>
                        <a:rPr sz="1300">
                          <a:solidFill>
                            <a:srgbClr val="262626"/>
                          </a:solidFill>
                          <a:latin typeface="Calibri"/>
                          <a:ea typeface="Calibri"/>
                          <a:cs typeface="Calibri"/>
                        </a:rPr>
                        <a:t>Final Project Presentations</a:t>
                      </a:r>
                    </a:p>
                  </a:txBody>
                  <a:tcPr marL="82296" marR="82296" marT="32004" marB="32004" anchor="ctr">
                    <a:solidFill>
                      <a:srgbClr val="FFFFFF"/>
                    </a:solidFill>
                  </a:tcPr>
                </a:tc>
                <a:extLst>
                  <a:ext uri="{0D108BD9-81ED-4DB2-BD59-A6C34878D82A}">
                    <a16:rowId xmlns:a16="http://schemas.microsoft.com/office/drawing/2014/main" val="10012"/>
                  </a:ext>
                </a:extLst>
              </a:tr>
              <a:tr h="326577">
                <a:tc>
                  <a:txBody>
                    <a:bodyPr/>
                    <a:lstStyle/>
                    <a:p>
                      <a:pPr algn="ctr">
                        <a:lnSpc>
                          <a:spcPct val="100000"/>
                        </a:lnSpc>
                        <a:buNone/>
                      </a:pPr>
                      <a:r>
                        <a:rPr sz="1300">
                          <a:solidFill>
                            <a:srgbClr val="262626"/>
                          </a:solidFill>
                          <a:latin typeface="Calibri"/>
                          <a:ea typeface="Calibri"/>
                          <a:cs typeface="Calibri"/>
                        </a:rPr>
                        <a:t>13</a:t>
                      </a:r>
                    </a:p>
                  </a:txBody>
                  <a:tcPr marL="82296" marR="82296" marT="32004" marB="32004" anchor="ctr">
                    <a:solidFill>
                      <a:srgbClr val="F2F6FC"/>
                    </a:solidFill>
                  </a:tcPr>
                </a:tc>
                <a:tc>
                  <a:txBody>
                    <a:bodyPr/>
                    <a:lstStyle/>
                    <a:p>
                      <a:pPr algn="l">
                        <a:lnSpc>
                          <a:spcPct val="100000"/>
                        </a:lnSpc>
                        <a:buNone/>
                      </a:pPr>
                      <a:r>
                        <a:rPr sz="1300">
                          <a:solidFill>
                            <a:srgbClr val="262626"/>
                          </a:solidFill>
                          <a:latin typeface="Calibri"/>
                          <a:ea typeface="Calibri"/>
                          <a:cs typeface="Calibri"/>
                        </a:rPr>
                        <a:t>Final Project Presentations</a:t>
                      </a:r>
                    </a:p>
                  </a:txBody>
                  <a:tcPr marL="82296" marR="82296" marT="32004" marB="32004" anchor="ctr">
                    <a:solidFill>
                      <a:srgbClr val="F2F6FC"/>
                    </a:solidFill>
                  </a:tcPr>
                </a:tc>
                <a:extLst>
                  <a:ext uri="{0D108BD9-81ED-4DB2-BD59-A6C34878D82A}">
                    <a16:rowId xmlns:a16="http://schemas.microsoft.com/office/drawing/2014/main" val="10013"/>
                  </a:ext>
                </a:extLst>
              </a:tr>
            </a:tbl>
          </a:graphicData>
        </a:graphic>
      </p:graphicFrame>
      <p:sp>
        <p:nvSpPr>
          <p:cNvPr id="10" name="expanded-takeaway-8">
            <a:extLst>
              <a:ext uri="{FF2B5EF4-FFF2-40B4-BE49-F238E27FC236}">
                <a16:creationId xmlns:a16="http://schemas.microsoft.com/office/drawing/2014/main" id="{7F3EEA67-AB35-4795-9CBE-931447437C96}"/>
              </a:ext>
            </a:extLst>
          </p:cNvPr>
          <p:cNvSpPr>
            <a:spLocks noGrp="1"/>
          </p:cNvSpPr>
          <p:nvPr/>
        </p:nvSpPr>
        <p:spPr>
          <a:xfrm>
            <a:off x="876300" y="5467350"/>
            <a:ext cx="10439400" cy="419100"/>
          </a:xfrm>
          <a:prstGeom prst="roundRect">
            <a:avLst>
              <a:gd name="adj" fmla="val 18182"/>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The semester moves from foundations to recurring issues, applied domains, and governance.</a:t>
            </a:r>
          </a:p>
        </p:txBody>
      </p:sp>
      <p:sp>
        <p:nvSpPr>
          <p:cNvPr id="12" name="v2-page-mask-8">
            <a:extLst>
              <a:ext uri="{FF2B5EF4-FFF2-40B4-BE49-F238E27FC236}">
                <a16:creationId xmlns:a16="http://schemas.microsoft.com/office/drawing/2014/main" id="{DB21B62A-FC2B-46DA-9759-2D54BE525975}"/>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3" name="v2-page-8">
            <a:extLst>
              <a:ext uri="{FF2B5EF4-FFF2-40B4-BE49-F238E27FC236}">
                <a16:creationId xmlns:a16="http://schemas.microsoft.com/office/drawing/2014/main" id="{B6612BB8-A57D-4656-8B4F-8431DBBE8C64}"/>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8</a:t>
            </a:r>
          </a:p>
        </p:txBody>
      </p:sp>
    </p:spTree>
    <p:extLst>
      <p:ext uri="{BB962C8B-B14F-4D97-AF65-F5344CB8AC3E}">
        <p14:creationId xmlns:p14="http://schemas.microsoft.com/office/powerpoint/2010/main" val="3373843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7DBB417-3EA3-47EF-BC9F-1BE44B52F62A}"/>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48E8D68D-707C-4786-8B92-C2833A6AF6D3}"/>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644BB5E-F9A9-4032-8531-101910070483}"/>
              </a:ext>
            </a:extLst>
          </p:cNvPr>
          <p:cNvSpPr>
            <a:spLocks noGrp="1"/>
          </p:cNvSpPr>
          <p:nvPr/>
        </p:nvSpPr>
        <p:spPr>
          <a:xfrm>
            <a:off x="896112" y="310896"/>
            <a:ext cx="10515600" cy="658368"/>
          </a:xfrm>
          <a:prstGeom prst="rect">
            <a:avLst/>
          </a:prstGeom>
          <a:noFill/>
        </p:spPr>
        <p:txBody>
          <a:bodyPr wrap="square">
            <a:spAutoFit/>
          </a:bodyPr>
          <a:lstStyle/>
          <a:p>
            <a:pPr algn="l">
              <a:buNone/>
            </a:pPr>
            <a:r>
              <a:rPr sz="2600" b="1">
                <a:solidFill>
                  <a:srgbClr val="1F3864"/>
                </a:solidFill>
                <a:latin typeface="Georgia"/>
                <a:ea typeface="Georgia"/>
                <a:cs typeface="Georgia"/>
              </a:rPr>
              <a:t>Assessments Overview</a:t>
            </a:r>
          </a:p>
        </p:txBody>
      </p:sp>
      <p:sp>
        <p:nvSpPr>
          <p:cNvPr id="5" name="Rectangle 4">
            <a:extLst>
              <a:ext uri="{FF2B5EF4-FFF2-40B4-BE49-F238E27FC236}">
                <a16:creationId xmlns:a16="http://schemas.microsoft.com/office/drawing/2014/main" id="{4D366089-6B0E-4578-A5C8-9FFE6FDAF046}"/>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5A6D381-D954-4B8F-8D70-4212B5C51BE5}"/>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Criterion-referenced grading; letter grades assigned against descriptors (not curved).</a:t>
            </a:r>
          </a:p>
        </p:txBody>
      </p:sp>
      <p:sp>
        <p:nvSpPr>
          <p:cNvPr id="7" name="TextBox 6">
            <a:extLst>
              <a:ext uri="{FF2B5EF4-FFF2-40B4-BE49-F238E27FC236}">
                <a16:creationId xmlns:a16="http://schemas.microsoft.com/office/drawing/2014/main" id="{2CB654A9-3C32-48BF-AEE6-3808CF2A04F3}"/>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0D0A193A-D1A0-4F92-9D6B-E90C45BC59D1}"/>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9</a:t>
            </a:r>
          </a:p>
        </p:txBody>
      </p:sp>
      <p:graphicFrame>
        <p:nvGraphicFramePr>
          <p:cNvPr id="21" name="Table 8"/>
          <p:cNvGraphicFramePr/>
          <p:nvPr/>
        </p:nvGraphicFramePr>
        <p:xfrm>
          <a:off x="896112" y="1554480"/>
          <a:ext cx="10607038" cy="4023360"/>
        </p:xfrm>
        <a:graphic>
          <a:graphicData uri="http://schemas.openxmlformats.org/drawingml/2006/table">
            <a:tbl>
              <a:tblPr firstRow="1">
                <a:tableStyleId>{5C22544A-7EE6-4342-B048-85BDC9FD1C3A}</a:tableStyleId>
              </a:tblPr>
              <a:tblGrid>
                <a:gridCol w="4242816">
                  <a:extLst>
                    <a:ext uri="{9D8B030D-6E8A-4147-A177-3AD203B41FA5}">
                      <a16:colId xmlns:a16="http://schemas.microsoft.com/office/drawing/2014/main" val="20000"/>
                    </a:ext>
                  </a:extLst>
                </a:gridCol>
                <a:gridCol w="1272844">
                  <a:extLst>
                    <a:ext uri="{9D8B030D-6E8A-4147-A177-3AD203B41FA5}">
                      <a16:colId xmlns:a16="http://schemas.microsoft.com/office/drawing/2014/main" val="20001"/>
                    </a:ext>
                  </a:extLst>
                </a:gridCol>
                <a:gridCol w="2757830">
                  <a:extLst>
                    <a:ext uri="{9D8B030D-6E8A-4147-A177-3AD203B41FA5}">
                      <a16:colId xmlns:a16="http://schemas.microsoft.com/office/drawing/2014/main" val="20002"/>
                    </a:ext>
                  </a:extLst>
                </a:gridCol>
                <a:gridCol w="2333548">
                  <a:extLst>
                    <a:ext uri="{9D8B030D-6E8A-4147-A177-3AD203B41FA5}">
                      <a16:colId xmlns:a16="http://schemas.microsoft.com/office/drawing/2014/main" val="20003"/>
                    </a:ext>
                  </a:extLst>
                </a:gridCol>
              </a:tblGrid>
              <a:tr h="447040">
                <a:tc>
                  <a:txBody>
                    <a:bodyPr/>
                    <a:lstStyle/>
                    <a:p>
                      <a:pPr algn="l">
                        <a:lnSpc>
                          <a:spcPct val="100000"/>
                        </a:lnSpc>
                        <a:buNone/>
                      </a:pPr>
                      <a:r>
                        <a:rPr sz="1250" b="1">
                          <a:solidFill>
                            <a:srgbClr val="FFFFFF"/>
                          </a:solidFill>
                          <a:latin typeface="Calibri"/>
                          <a:ea typeface="Calibri"/>
                          <a:cs typeface="Calibri"/>
                        </a:rPr>
                        <a:t>Assessment Task</a:t>
                      </a:r>
                    </a:p>
                  </a:txBody>
                  <a:tcPr marL="82296" marR="82296" marT="32004" marB="32004" anchor="ctr">
                    <a:solidFill>
                      <a:srgbClr val="1F3864"/>
                    </a:solidFill>
                  </a:tcPr>
                </a:tc>
                <a:tc>
                  <a:txBody>
                    <a:bodyPr/>
                    <a:lstStyle/>
                    <a:p>
                      <a:pPr algn="ctr">
                        <a:lnSpc>
                          <a:spcPct val="100000"/>
                        </a:lnSpc>
                        <a:buNone/>
                      </a:pPr>
                      <a:r>
                        <a:rPr sz="1250" b="1">
                          <a:solidFill>
                            <a:srgbClr val="FFFFFF"/>
                          </a:solidFill>
                          <a:latin typeface="Calibri"/>
                          <a:ea typeface="Calibri"/>
                          <a:cs typeface="Calibri"/>
                        </a:rPr>
                        <a:t>Weight</a:t>
                      </a:r>
                    </a:p>
                  </a:txBody>
                  <a:tcPr marL="82296" marR="82296" marT="32004" marB="32004" anchor="ctr">
                    <a:solidFill>
                      <a:srgbClr val="1F3864"/>
                    </a:solidFill>
                  </a:tcPr>
                </a:tc>
                <a:tc>
                  <a:txBody>
                    <a:bodyPr/>
                    <a:lstStyle/>
                    <a:p>
                      <a:pPr algn="l">
                        <a:lnSpc>
                          <a:spcPct val="100000"/>
                        </a:lnSpc>
                        <a:buNone/>
                      </a:pPr>
                      <a:r>
                        <a:rPr sz="1250" b="1">
                          <a:solidFill>
                            <a:srgbClr val="FFFFFF"/>
                          </a:solidFill>
                          <a:latin typeface="Calibri"/>
                          <a:ea typeface="Calibri"/>
                          <a:cs typeface="Calibri"/>
                        </a:rPr>
                        <a:t>Due Date</a:t>
                      </a:r>
                    </a:p>
                  </a:txBody>
                  <a:tcPr marL="82296" marR="82296" marT="32004" marB="32004" anchor="ctr">
                    <a:solidFill>
                      <a:srgbClr val="1F3864"/>
                    </a:solidFill>
                  </a:tcPr>
                </a:tc>
                <a:tc>
                  <a:txBody>
                    <a:bodyPr/>
                    <a:lstStyle/>
                    <a:p>
                      <a:pPr algn="ctr">
                        <a:lnSpc>
                          <a:spcPct val="100000"/>
                        </a:lnSpc>
                        <a:buNone/>
                      </a:pPr>
                      <a:r>
                        <a:rPr sz="1250" b="1">
                          <a:solidFill>
                            <a:srgbClr val="FFFFFF"/>
                          </a:solidFill>
                          <a:latin typeface="Calibri"/>
                          <a:ea typeface="Calibri"/>
                          <a:cs typeface="Calibri"/>
                        </a:rPr>
                        <a:t>Mapped CILOs</a:t>
                      </a:r>
                    </a:p>
                  </a:txBody>
                  <a:tcPr marL="82296" marR="82296" marT="32004" marB="32004" anchor="ctr">
                    <a:solidFill>
                      <a:srgbClr val="1F3864"/>
                    </a:solidFill>
                  </a:tcPr>
                </a:tc>
                <a:extLst>
                  <a:ext uri="{0D108BD9-81ED-4DB2-BD59-A6C34878D82A}">
                    <a16:rowId xmlns:a16="http://schemas.microsoft.com/office/drawing/2014/main" val="10000"/>
                  </a:ext>
                </a:extLst>
              </a:tr>
              <a:tr h="447040">
                <a:tc>
                  <a:txBody>
                    <a:bodyPr/>
                    <a:lstStyle/>
                    <a:p>
                      <a:pPr algn="l">
                        <a:lnSpc>
                          <a:spcPct val="100000"/>
                        </a:lnSpc>
                        <a:buNone/>
                      </a:pPr>
                      <a:r>
                        <a:rPr sz="1250">
                          <a:solidFill>
                            <a:srgbClr val="262626"/>
                          </a:solidFill>
                          <a:latin typeface="Calibri"/>
                          <a:ea typeface="Calibri"/>
                          <a:cs typeface="Calibri"/>
                        </a:rPr>
                        <a:t>Participation</a:t>
                      </a:r>
                    </a:p>
                  </a:txBody>
                  <a:tcPr marL="82296" marR="82296" marT="32004" marB="32004" anchor="ctr">
                    <a:solidFill>
                      <a:srgbClr val="F2F6FC"/>
                    </a:solidFill>
                  </a:tcPr>
                </a:tc>
                <a:tc>
                  <a:txBody>
                    <a:bodyPr/>
                    <a:lstStyle/>
                    <a:p>
                      <a:pPr algn="ctr">
                        <a:lnSpc>
                          <a:spcPct val="100000"/>
                        </a:lnSpc>
                        <a:buNone/>
                      </a:pPr>
                      <a:r>
                        <a:rPr sz="1250">
                          <a:solidFill>
                            <a:srgbClr val="262626"/>
                          </a:solidFill>
                          <a:latin typeface="Calibri"/>
                          <a:ea typeface="Calibri"/>
                          <a:cs typeface="Calibri"/>
                        </a:rPr>
                        <a:t>20%</a:t>
                      </a:r>
                    </a:p>
                  </a:txBody>
                  <a:tcPr marL="82296" marR="82296" marT="32004" marB="32004" anchor="ctr">
                    <a:solidFill>
                      <a:srgbClr val="F2F6FC"/>
                    </a:solidFill>
                  </a:tcPr>
                </a:tc>
                <a:tc>
                  <a:txBody>
                    <a:bodyPr/>
                    <a:lstStyle/>
                    <a:p>
                      <a:pPr algn="l">
                        <a:lnSpc>
                          <a:spcPct val="100000"/>
                        </a:lnSpc>
                        <a:buNone/>
                      </a:pPr>
                      <a:r>
                        <a:rPr sz="1250">
                          <a:solidFill>
                            <a:srgbClr val="262626"/>
                          </a:solidFill>
                          <a:latin typeface="Calibri"/>
                          <a:ea typeface="Calibri"/>
                          <a:cs typeface="Calibri"/>
                        </a:rPr>
                        <a:t>In class</a:t>
                      </a:r>
                    </a:p>
                  </a:txBody>
                  <a:tcPr marL="82296" marR="82296" marT="32004" marB="32004" anchor="ctr">
                    <a:solidFill>
                      <a:srgbClr val="F2F6FC"/>
                    </a:solidFill>
                  </a:tcPr>
                </a:tc>
                <a:tc>
                  <a:txBody>
                    <a:bodyPr/>
                    <a:lstStyle/>
                    <a:p>
                      <a:pPr algn="ctr">
                        <a:lnSpc>
                          <a:spcPct val="100000"/>
                        </a:lnSpc>
                        <a:buNone/>
                      </a:pPr>
                      <a:r>
                        <a:rPr sz="1250">
                          <a:solidFill>
                            <a:srgbClr val="262626"/>
                          </a:solidFill>
                          <a:latin typeface="Calibri"/>
                          <a:ea typeface="Calibri"/>
                          <a:cs typeface="Calibri"/>
                        </a:rPr>
                        <a:t>3, 4, 5</a:t>
                      </a:r>
                    </a:p>
                  </a:txBody>
                  <a:tcPr marL="82296" marR="82296" marT="32004" marB="32004" anchor="ctr">
                    <a:solidFill>
                      <a:srgbClr val="F2F6FC"/>
                    </a:solidFill>
                  </a:tcPr>
                </a:tc>
                <a:extLst>
                  <a:ext uri="{0D108BD9-81ED-4DB2-BD59-A6C34878D82A}">
                    <a16:rowId xmlns:a16="http://schemas.microsoft.com/office/drawing/2014/main" val="10001"/>
                  </a:ext>
                </a:extLst>
              </a:tr>
              <a:tr h="447040">
                <a:tc>
                  <a:txBody>
                    <a:bodyPr/>
                    <a:lstStyle/>
                    <a:p>
                      <a:pPr algn="l">
                        <a:lnSpc>
                          <a:spcPct val="100000"/>
                        </a:lnSpc>
                        <a:buNone/>
                      </a:pPr>
                      <a:r>
                        <a:rPr sz="1250">
                          <a:solidFill>
                            <a:srgbClr val="262626"/>
                          </a:solidFill>
                          <a:latin typeface="Calibri"/>
                          <a:ea typeface="Calibri"/>
                          <a:cs typeface="Calibri"/>
                        </a:rPr>
                        <a:t>Quizzes (4 in total)</a:t>
                      </a:r>
                    </a:p>
                  </a:txBody>
                  <a:tcPr marL="82296" marR="82296" marT="32004" marB="32004" anchor="ctr">
                    <a:solidFill>
                      <a:srgbClr val="FFFFFF"/>
                    </a:solidFill>
                  </a:tcPr>
                </a:tc>
                <a:tc>
                  <a:txBody>
                    <a:bodyPr/>
                    <a:lstStyle/>
                    <a:p>
                      <a:pPr algn="ctr">
                        <a:lnSpc>
                          <a:spcPct val="100000"/>
                        </a:lnSpc>
                        <a:buNone/>
                      </a:pPr>
                      <a:r>
                        <a:rPr sz="1250">
                          <a:solidFill>
                            <a:srgbClr val="262626"/>
                          </a:solidFill>
                          <a:latin typeface="Calibri"/>
                          <a:ea typeface="Calibri"/>
                          <a:cs typeface="Calibri"/>
                        </a:rPr>
                        <a:t>10%</a:t>
                      </a:r>
                    </a:p>
                  </a:txBody>
                  <a:tcPr marL="82296" marR="82296" marT="32004" marB="32004" anchor="ctr">
                    <a:solidFill>
                      <a:srgbClr val="FFFFFF"/>
                    </a:solidFill>
                  </a:tcPr>
                </a:tc>
                <a:tc>
                  <a:txBody>
                    <a:bodyPr/>
                    <a:lstStyle/>
                    <a:p>
                      <a:pPr algn="l">
                        <a:lnSpc>
                          <a:spcPct val="100000"/>
                        </a:lnSpc>
                        <a:buNone/>
                      </a:pPr>
                      <a:r>
                        <a:rPr sz="1250">
                          <a:solidFill>
                            <a:srgbClr val="262626"/>
                          </a:solidFill>
                          <a:latin typeface="Calibri"/>
                          <a:ea typeface="Calibri"/>
                          <a:cs typeface="Calibri"/>
                        </a:rPr>
                        <a:t>In class</a:t>
                      </a:r>
                    </a:p>
                  </a:txBody>
                  <a:tcPr marL="82296" marR="82296" marT="32004" marB="32004" anchor="ctr">
                    <a:solidFill>
                      <a:srgbClr val="FFFFFF"/>
                    </a:solidFill>
                  </a:tcPr>
                </a:tc>
                <a:tc>
                  <a:txBody>
                    <a:bodyPr/>
                    <a:lstStyle/>
                    <a:p>
                      <a:pPr algn="ctr">
                        <a:lnSpc>
                          <a:spcPct val="100000"/>
                        </a:lnSpc>
                        <a:buNone/>
                      </a:pPr>
                      <a:r>
                        <a:rPr sz="1250">
                          <a:solidFill>
                            <a:srgbClr val="262626"/>
                          </a:solidFill>
                          <a:latin typeface="Calibri"/>
                          <a:ea typeface="Calibri"/>
                          <a:cs typeface="Calibri"/>
                        </a:rPr>
                        <a:t>1, 2, 3</a:t>
                      </a:r>
                    </a:p>
                  </a:txBody>
                  <a:tcPr marL="82296" marR="82296" marT="32004" marB="32004" anchor="ctr">
                    <a:solidFill>
                      <a:srgbClr val="FFFFFF"/>
                    </a:solidFill>
                  </a:tcPr>
                </a:tc>
                <a:extLst>
                  <a:ext uri="{0D108BD9-81ED-4DB2-BD59-A6C34878D82A}">
                    <a16:rowId xmlns:a16="http://schemas.microsoft.com/office/drawing/2014/main" val="10002"/>
                  </a:ext>
                </a:extLst>
              </a:tr>
              <a:tr h="447040">
                <a:tc>
                  <a:txBody>
                    <a:bodyPr/>
                    <a:lstStyle/>
                    <a:p>
                      <a:pPr algn="l">
                        <a:lnSpc>
                          <a:spcPct val="100000"/>
                        </a:lnSpc>
                        <a:buNone/>
                      </a:pPr>
                      <a:r>
                        <a:rPr sz="1250">
                          <a:solidFill>
                            <a:srgbClr val="262626"/>
                          </a:solidFill>
                          <a:latin typeface="Calibri"/>
                          <a:ea typeface="Calibri"/>
                          <a:cs typeface="Calibri"/>
                        </a:rPr>
                        <a:t>AI news presentation (Individual)</a:t>
                      </a:r>
                    </a:p>
                  </a:txBody>
                  <a:tcPr marL="82296" marR="82296" marT="32004" marB="32004" anchor="ctr">
                    <a:solidFill>
                      <a:srgbClr val="F2F6FC"/>
                    </a:solidFill>
                  </a:tcPr>
                </a:tc>
                <a:tc>
                  <a:txBody>
                    <a:bodyPr/>
                    <a:lstStyle/>
                    <a:p>
                      <a:pPr algn="ctr">
                        <a:lnSpc>
                          <a:spcPct val="100000"/>
                        </a:lnSpc>
                        <a:buNone/>
                      </a:pPr>
                      <a:r>
                        <a:rPr sz="1250">
                          <a:solidFill>
                            <a:srgbClr val="262626"/>
                          </a:solidFill>
                          <a:latin typeface="Calibri"/>
                          <a:ea typeface="Calibri"/>
                          <a:cs typeface="Calibri"/>
                        </a:rPr>
                        <a:t>10%</a:t>
                      </a:r>
                    </a:p>
                  </a:txBody>
                  <a:tcPr marL="82296" marR="82296" marT="32004" marB="32004" anchor="ctr">
                    <a:solidFill>
                      <a:srgbClr val="F2F6FC"/>
                    </a:solidFill>
                  </a:tcPr>
                </a:tc>
                <a:tc>
                  <a:txBody>
                    <a:bodyPr/>
                    <a:lstStyle/>
                    <a:p>
                      <a:pPr algn="l">
                        <a:lnSpc>
                          <a:spcPct val="100000"/>
                        </a:lnSpc>
                        <a:buNone/>
                      </a:pPr>
                      <a:r>
                        <a:rPr sz="1250">
                          <a:solidFill>
                            <a:srgbClr val="262626"/>
                          </a:solidFill>
                          <a:latin typeface="Calibri"/>
                          <a:ea typeface="Calibri"/>
                          <a:cs typeface="Calibri"/>
                        </a:rPr>
                        <a:t>~ End of October</a:t>
                      </a:r>
                    </a:p>
                  </a:txBody>
                  <a:tcPr marL="82296" marR="82296" marT="32004" marB="32004" anchor="ctr">
                    <a:solidFill>
                      <a:srgbClr val="F2F6FC"/>
                    </a:solidFill>
                  </a:tcPr>
                </a:tc>
                <a:tc>
                  <a:txBody>
                    <a:bodyPr/>
                    <a:lstStyle/>
                    <a:p>
                      <a:pPr algn="ctr">
                        <a:lnSpc>
                          <a:spcPct val="100000"/>
                        </a:lnSpc>
                        <a:buNone/>
                      </a:pPr>
                      <a:r>
                        <a:rPr sz="1250">
                          <a:solidFill>
                            <a:srgbClr val="262626"/>
                          </a:solidFill>
                          <a:latin typeface="Calibri"/>
                          <a:ea typeface="Calibri"/>
                          <a:cs typeface="Calibri"/>
                        </a:rPr>
                        <a:t>2, 3, 4</a:t>
                      </a:r>
                    </a:p>
                  </a:txBody>
                  <a:tcPr marL="82296" marR="82296" marT="32004" marB="32004" anchor="ctr">
                    <a:solidFill>
                      <a:srgbClr val="F2F6FC"/>
                    </a:solidFill>
                  </a:tcPr>
                </a:tc>
                <a:extLst>
                  <a:ext uri="{0D108BD9-81ED-4DB2-BD59-A6C34878D82A}">
                    <a16:rowId xmlns:a16="http://schemas.microsoft.com/office/drawing/2014/main" val="10003"/>
                  </a:ext>
                </a:extLst>
              </a:tr>
              <a:tr h="447040">
                <a:tc>
                  <a:txBody>
                    <a:bodyPr/>
                    <a:lstStyle/>
                    <a:p>
                      <a:pPr algn="l">
                        <a:lnSpc>
                          <a:spcPct val="100000"/>
                        </a:lnSpc>
                        <a:buNone/>
                      </a:pPr>
                      <a:r>
                        <a:rPr sz="1250">
                          <a:solidFill>
                            <a:srgbClr val="262626"/>
                          </a:solidFill>
                          <a:latin typeface="Calibri"/>
                          <a:ea typeface="Calibri"/>
                          <a:cs typeface="Calibri"/>
                        </a:rPr>
                        <a:t>Reading response (Individual)</a:t>
                      </a:r>
                    </a:p>
                  </a:txBody>
                  <a:tcPr marL="82296" marR="82296" marT="32004" marB="32004" anchor="ctr">
                    <a:solidFill>
                      <a:srgbClr val="FFFFFF"/>
                    </a:solidFill>
                  </a:tcPr>
                </a:tc>
                <a:tc>
                  <a:txBody>
                    <a:bodyPr/>
                    <a:lstStyle/>
                    <a:p>
                      <a:pPr algn="ctr">
                        <a:lnSpc>
                          <a:spcPct val="100000"/>
                        </a:lnSpc>
                        <a:buNone/>
                      </a:pPr>
                      <a:r>
                        <a:rPr sz="1250">
                          <a:solidFill>
                            <a:srgbClr val="262626"/>
                          </a:solidFill>
                          <a:latin typeface="Calibri"/>
                          <a:ea typeface="Calibri"/>
                          <a:cs typeface="Calibri"/>
                        </a:rPr>
                        <a:t>15%</a:t>
                      </a:r>
                    </a:p>
                  </a:txBody>
                  <a:tcPr marL="82296" marR="82296" marT="32004" marB="32004" anchor="ctr">
                    <a:solidFill>
                      <a:srgbClr val="FFFFFF"/>
                    </a:solidFill>
                  </a:tcPr>
                </a:tc>
                <a:tc>
                  <a:txBody>
                    <a:bodyPr/>
                    <a:lstStyle/>
                    <a:p>
                      <a:pPr algn="l">
                        <a:lnSpc>
                          <a:spcPct val="100000"/>
                        </a:lnSpc>
                        <a:buNone/>
                      </a:pPr>
                      <a:r>
                        <a:rPr sz="1250">
                          <a:solidFill>
                            <a:srgbClr val="262626"/>
                          </a:solidFill>
                          <a:latin typeface="Calibri"/>
                          <a:ea typeface="Calibri"/>
                          <a:cs typeface="Calibri"/>
                        </a:rPr>
                        <a:t>~ Mid-October</a:t>
                      </a:r>
                    </a:p>
                  </a:txBody>
                  <a:tcPr marL="82296" marR="82296" marT="32004" marB="32004" anchor="ctr">
                    <a:solidFill>
                      <a:srgbClr val="FFFFFF"/>
                    </a:solidFill>
                  </a:tcPr>
                </a:tc>
                <a:tc>
                  <a:txBody>
                    <a:bodyPr/>
                    <a:lstStyle/>
                    <a:p>
                      <a:pPr algn="ctr">
                        <a:lnSpc>
                          <a:spcPct val="100000"/>
                        </a:lnSpc>
                        <a:buNone/>
                      </a:pPr>
                      <a:r>
                        <a:rPr sz="1250">
                          <a:solidFill>
                            <a:srgbClr val="262626"/>
                          </a:solidFill>
                          <a:latin typeface="Calibri"/>
                          <a:ea typeface="Calibri"/>
                          <a:cs typeface="Calibri"/>
                        </a:rPr>
                        <a:t>1, 2, 5</a:t>
                      </a:r>
                    </a:p>
                  </a:txBody>
                  <a:tcPr marL="82296" marR="82296" marT="32004" marB="32004" anchor="ctr">
                    <a:solidFill>
                      <a:srgbClr val="FFFFFF"/>
                    </a:solidFill>
                  </a:tcPr>
                </a:tc>
                <a:extLst>
                  <a:ext uri="{0D108BD9-81ED-4DB2-BD59-A6C34878D82A}">
                    <a16:rowId xmlns:a16="http://schemas.microsoft.com/office/drawing/2014/main" val="10004"/>
                  </a:ext>
                </a:extLst>
              </a:tr>
              <a:tr h="447040">
                <a:tc>
                  <a:txBody>
                    <a:bodyPr/>
                    <a:lstStyle/>
                    <a:p>
                      <a:pPr algn="l">
                        <a:lnSpc>
                          <a:spcPct val="100000"/>
                        </a:lnSpc>
                        <a:buNone/>
                      </a:pPr>
                      <a:r>
                        <a:rPr sz="1250">
                          <a:solidFill>
                            <a:srgbClr val="262626"/>
                          </a:solidFill>
                          <a:latin typeface="Calibri"/>
                          <a:ea typeface="Calibri"/>
                          <a:cs typeface="Calibri"/>
                        </a:rPr>
                        <a:t>Case study analysis (Individual)</a:t>
                      </a:r>
                    </a:p>
                  </a:txBody>
                  <a:tcPr marL="82296" marR="82296" marT="32004" marB="32004" anchor="ctr">
                    <a:solidFill>
                      <a:srgbClr val="F2F6FC"/>
                    </a:solidFill>
                  </a:tcPr>
                </a:tc>
                <a:tc>
                  <a:txBody>
                    <a:bodyPr/>
                    <a:lstStyle/>
                    <a:p>
                      <a:pPr algn="ctr">
                        <a:lnSpc>
                          <a:spcPct val="100000"/>
                        </a:lnSpc>
                        <a:buNone/>
                      </a:pPr>
                      <a:r>
                        <a:rPr sz="1250">
                          <a:solidFill>
                            <a:srgbClr val="262626"/>
                          </a:solidFill>
                          <a:latin typeface="Calibri"/>
                          <a:ea typeface="Calibri"/>
                          <a:cs typeface="Calibri"/>
                        </a:rPr>
                        <a:t>15%</a:t>
                      </a:r>
                    </a:p>
                  </a:txBody>
                  <a:tcPr marL="82296" marR="82296" marT="32004" marB="32004" anchor="ctr">
                    <a:solidFill>
                      <a:srgbClr val="F2F6FC"/>
                    </a:solidFill>
                  </a:tcPr>
                </a:tc>
                <a:tc>
                  <a:txBody>
                    <a:bodyPr/>
                    <a:lstStyle/>
                    <a:p>
                      <a:pPr algn="l">
                        <a:lnSpc>
                          <a:spcPct val="100000"/>
                        </a:lnSpc>
                        <a:buNone/>
                      </a:pPr>
                      <a:r>
                        <a:rPr sz="1250">
                          <a:solidFill>
                            <a:srgbClr val="262626"/>
                          </a:solidFill>
                          <a:latin typeface="Calibri"/>
                          <a:ea typeface="Calibri"/>
                          <a:cs typeface="Calibri"/>
                        </a:rPr>
                        <a:t>~ Mid-November</a:t>
                      </a:r>
                    </a:p>
                  </a:txBody>
                  <a:tcPr marL="82296" marR="82296" marT="32004" marB="32004" anchor="ctr">
                    <a:solidFill>
                      <a:srgbClr val="F2F6FC"/>
                    </a:solidFill>
                  </a:tcPr>
                </a:tc>
                <a:tc>
                  <a:txBody>
                    <a:bodyPr/>
                    <a:lstStyle/>
                    <a:p>
                      <a:pPr algn="ctr">
                        <a:lnSpc>
                          <a:spcPct val="100000"/>
                        </a:lnSpc>
                        <a:buNone/>
                      </a:pPr>
                      <a:r>
                        <a:rPr sz="1250">
                          <a:solidFill>
                            <a:srgbClr val="262626"/>
                          </a:solidFill>
                          <a:latin typeface="Calibri"/>
                          <a:ea typeface="Calibri"/>
                          <a:cs typeface="Calibri"/>
                        </a:rPr>
                        <a:t>3, 4, 5</a:t>
                      </a:r>
                    </a:p>
                  </a:txBody>
                  <a:tcPr marL="82296" marR="82296" marT="32004" marB="32004" anchor="ctr">
                    <a:solidFill>
                      <a:srgbClr val="F2F6FC"/>
                    </a:solidFill>
                  </a:tcPr>
                </a:tc>
                <a:extLst>
                  <a:ext uri="{0D108BD9-81ED-4DB2-BD59-A6C34878D82A}">
                    <a16:rowId xmlns:a16="http://schemas.microsoft.com/office/drawing/2014/main" val="10005"/>
                  </a:ext>
                </a:extLst>
              </a:tr>
              <a:tr h="447040">
                <a:tc>
                  <a:txBody>
                    <a:bodyPr/>
                    <a:lstStyle/>
                    <a:p>
                      <a:pPr algn="l">
                        <a:lnSpc>
                          <a:spcPct val="100000"/>
                        </a:lnSpc>
                        <a:buNone/>
                      </a:pPr>
                      <a:r>
                        <a:rPr sz="1250">
                          <a:solidFill>
                            <a:srgbClr val="262626"/>
                          </a:solidFill>
                          <a:latin typeface="Calibri"/>
                          <a:ea typeface="Calibri"/>
                          <a:cs typeface="Calibri"/>
                        </a:rPr>
                        <a:t>Final project report (Group)</a:t>
                      </a:r>
                    </a:p>
                  </a:txBody>
                  <a:tcPr marL="82296" marR="82296" marT="32004" marB="32004" anchor="ctr">
                    <a:solidFill>
                      <a:srgbClr val="FFFFFF"/>
                    </a:solidFill>
                  </a:tcPr>
                </a:tc>
                <a:tc>
                  <a:txBody>
                    <a:bodyPr/>
                    <a:lstStyle/>
                    <a:p>
                      <a:pPr algn="ctr">
                        <a:lnSpc>
                          <a:spcPct val="100000"/>
                        </a:lnSpc>
                        <a:buNone/>
                      </a:pPr>
                      <a:r>
                        <a:rPr sz="1250">
                          <a:solidFill>
                            <a:srgbClr val="262626"/>
                          </a:solidFill>
                          <a:latin typeface="Calibri"/>
                          <a:ea typeface="Calibri"/>
                          <a:cs typeface="Calibri"/>
                        </a:rPr>
                        <a:t>15%</a:t>
                      </a:r>
                    </a:p>
                  </a:txBody>
                  <a:tcPr marL="82296" marR="82296" marT="32004" marB="32004" anchor="ctr">
                    <a:solidFill>
                      <a:srgbClr val="FFFFFF"/>
                    </a:solidFill>
                  </a:tcPr>
                </a:tc>
                <a:tc>
                  <a:txBody>
                    <a:bodyPr/>
                    <a:lstStyle/>
                    <a:p>
                      <a:pPr algn="l">
                        <a:lnSpc>
                          <a:spcPct val="100000"/>
                        </a:lnSpc>
                        <a:buNone/>
                      </a:pPr>
                      <a:r>
                        <a:rPr sz="1250">
                          <a:solidFill>
                            <a:srgbClr val="262626"/>
                          </a:solidFill>
                          <a:latin typeface="Calibri"/>
                          <a:ea typeface="Calibri"/>
                          <a:cs typeface="Calibri"/>
                        </a:rPr>
                        <a:t>~ Early December</a:t>
                      </a:r>
                    </a:p>
                  </a:txBody>
                  <a:tcPr marL="82296" marR="82296" marT="32004" marB="32004" anchor="ctr">
                    <a:solidFill>
                      <a:srgbClr val="FFFFFF"/>
                    </a:solidFill>
                  </a:tcPr>
                </a:tc>
                <a:tc>
                  <a:txBody>
                    <a:bodyPr/>
                    <a:lstStyle/>
                    <a:p>
                      <a:pPr algn="ctr">
                        <a:lnSpc>
                          <a:spcPct val="100000"/>
                        </a:lnSpc>
                        <a:buNone/>
                      </a:pPr>
                      <a:r>
                        <a:rPr sz="1250">
                          <a:solidFill>
                            <a:srgbClr val="262626"/>
                          </a:solidFill>
                          <a:latin typeface="Calibri"/>
                          <a:ea typeface="Calibri"/>
                          <a:cs typeface="Calibri"/>
                        </a:rPr>
                        <a:t>1 – 5</a:t>
                      </a:r>
                    </a:p>
                  </a:txBody>
                  <a:tcPr marL="82296" marR="82296" marT="32004" marB="32004" anchor="ctr">
                    <a:solidFill>
                      <a:srgbClr val="FFFFFF"/>
                    </a:solidFill>
                  </a:tcPr>
                </a:tc>
                <a:extLst>
                  <a:ext uri="{0D108BD9-81ED-4DB2-BD59-A6C34878D82A}">
                    <a16:rowId xmlns:a16="http://schemas.microsoft.com/office/drawing/2014/main" val="10006"/>
                  </a:ext>
                </a:extLst>
              </a:tr>
              <a:tr h="447040">
                <a:tc>
                  <a:txBody>
                    <a:bodyPr/>
                    <a:lstStyle/>
                    <a:p>
                      <a:pPr algn="l">
                        <a:lnSpc>
                          <a:spcPct val="100000"/>
                        </a:lnSpc>
                        <a:buNone/>
                      </a:pPr>
                      <a:r>
                        <a:rPr sz="1250">
                          <a:solidFill>
                            <a:srgbClr val="262626"/>
                          </a:solidFill>
                          <a:latin typeface="Calibri"/>
                          <a:ea typeface="Calibri"/>
                          <a:cs typeface="Calibri"/>
                        </a:rPr>
                        <a:t>Final project presentation (Group)</a:t>
                      </a:r>
                    </a:p>
                  </a:txBody>
                  <a:tcPr marL="82296" marR="82296" marT="32004" marB="32004" anchor="ctr">
                    <a:solidFill>
                      <a:srgbClr val="F2F6FC"/>
                    </a:solidFill>
                  </a:tcPr>
                </a:tc>
                <a:tc>
                  <a:txBody>
                    <a:bodyPr/>
                    <a:lstStyle/>
                    <a:p>
                      <a:pPr algn="ctr">
                        <a:lnSpc>
                          <a:spcPct val="100000"/>
                        </a:lnSpc>
                        <a:buNone/>
                      </a:pPr>
                      <a:r>
                        <a:rPr sz="1250">
                          <a:solidFill>
                            <a:srgbClr val="262626"/>
                          </a:solidFill>
                          <a:latin typeface="Calibri"/>
                          <a:ea typeface="Calibri"/>
                          <a:cs typeface="Calibri"/>
                        </a:rPr>
                        <a:t>15%</a:t>
                      </a:r>
                    </a:p>
                  </a:txBody>
                  <a:tcPr marL="82296" marR="82296" marT="32004" marB="32004" anchor="ctr">
                    <a:solidFill>
                      <a:srgbClr val="F2F6FC"/>
                    </a:solidFill>
                  </a:tcPr>
                </a:tc>
                <a:tc>
                  <a:txBody>
                    <a:bodyPr/>
                    <a:lstStyle/>
                    <a:p>
                      <a:pPr algn="l">
                        <a:lnSpc>
                          <a:spcPct val="100000"/>
                        </a:lnSpc>
                        <a:buNone/>
                      </a:pPr>
                      <a:r>
                        <a:rPr sz="1250">
                          <a:solidFill>
                            <a:srgbClr val="262626"/>
                          </a:solidFill>
                          <a:latin typeface="Calibri"/>
                          <a:ea typeface="Calibri"/>
                          <a:cs typeface="Calibri"/>
                        </a:rPr>
                        <a:t>In class (Wk 12–13)</a:t>
                      </a:r>
                    </a:p>
                  </a:txBody>
                  <a:tcPr marL="82296" marR="82296" marT="32004" marB="32004" anchor="ctr">
                    <a:solidFill>
                      <a:srgbClr val="F2F6FC"/>
                    </a:solidFill>
                  </a:tcPr>
                </a:tc>
                <a:tc>
                  <a:txBody>
                    <a:bodyPr/>
                    <a:lstStyle/>
                    <a:p>
                      <a:pPr algn="ctr">
                        <a:lnSpc>
                          <a:spcPct val="100000"/>
                        </a:lnSpc>
                        <a:buNone/>
                      </a:pPr>
                      <a:r>
                        <a:rPr sz="1250">
                          <a:solidFill>
                            <a:srgbClr val="262626"/>
                          </a:solidFill>
                          <a:latin typeface="Calibri"/>
                          <a:ea typeface="Calibri"/>
                          <a:cs typeface="Calibri"/>
                        </a:rPr>
                        <a:t>1 – 5</a:t>
                      </a:r>
                    </a:p>
                  </a:txBody>
                  <a:tcPr marL="82296" marR="82296" marT="32004" marB="32004" anchor="ctr">
                    <a:solidFill>
                      <a:srgbClr val="F2F6FC"/>
                    </a:solidFill>
                  </a:tcPr>
                </a:tc>
                <a:extLst>
                  <a:ext uri="{0D108BD9-81ED-4DB2-BD59-A6C34878D82A}">
                    <a16:rowId xmlns:a16="http://schemas.microsoft.com/office/drawing/2014/main" val="10007"/>
                  </a:ext>
                </a:extLst>
              </a:tr>
              <a:tr h="447040">
                <a:tc>
                  <a:txBody>
                    <a:bodyPr/>
                    <a:lstStyle/>
                    <a:p>
                      <a:pPr algn="l">
                        <a:lnSpc>
                          <a:spcPct val="100000"/>
                        </a:lnSpc>
                        <a:buNone/>
                      </a:pPr>
                      <a:r>
                        <a:rPr sz="1250" b="1">
                          <a:solidFill>
                            <a:srgbClr val="1F3864"/>
                          </a:solidFill>
                          <a:latin typeface="Calibri"/>
                          <a:ea typeface="Calibri"/>
                          <a:cs typeface="Calibri"/>
                        </a:rPr>
                        <a:t>Total</a:t>
                      </a:r>
                    </a:p>
                  </a:txBody>
                  <a:tcPr marL="82296" marR="82296" marT="32004" marB="32004" anchor="ctr">
                    <a:solidFill>
                      <a:srgbClr val="DEEAF6"/>
                    </a:solidFill>
                  </a:tcPr>
                </a:tc>
                <a:tc>
                  <a:txBody>
                    <a:bodyPr/>
                    <a:lstStyle/>
                    <a:p>
                      <a:pPr algn="ctr">
                        <a:lnSpc>
                          <a:spcPct val="100000"/>
                        </a:lnSpc>
                        <a:buNone/>
                      </a:pPr>
                      <a:r>
                        <a:rPr sz="1250" b="1">
                          <a:solidFill>
                            <a:srgbClr val="1F3864"/>
                          </a:solidFill>
                          <a:latin typeface="Calibri"/>
                          <a:ea typeface="Calibri"/>
                          <a:cs typeface="Calibri"/>
                        </a:rPr>
                        <a:t>100%</a:t>
                      </a:r>
                    </a:p>
                  </a:txBody>
                  <a:tcPr marL="82296" marR="82296" marT="32004" marB="32004" anchor="ctr">
                    <a:solidFill>
                      <a:srgbClr val="DEEAF6"/>
                    </a:solidFill>
                  </a:tcPr>
                </a:tc>
                <a:tc>
                  <a:txBody>
                    <a:bodyPr/>
                    <a:lstStyle/>
                    <a:p>
                      <a:pPr algn="l">
                        <a:lnSpc>
                          <a:spcPct val="100000"/>
                        </a:lnSpc>
                        <a:buNone/>
                      </a:pPr>
                      <a:endParaRPr/>
                    </a:p>
                  </a:txBody>
                  <a:tcPr marL="82296" marR="82296" marT="32004" marB="32004" anchor="ctr">
                    <a:solidFill>
                      <a:srgbClr val="DEEAF6"/>
                    </a:solidFill>
                  </a:tcPr>
                </a:tc>
                <a:tc>
                  <a:txBody>
                    <a:bodyPr/>
                    <a:lstStyle/>
                    <a:p>
                      <a:pPr algn="ctr">
                        <a:lnSpc>
                          <a:spcPct val="100000"/>
                        </a:lnSpc>
                        <a:buNone/>
                      </a:pPr>
                      <a:endParaRPr/>
                    </a:p>
                  </a:txBody>
                  <a:tcPr marL="82296" marR="82296" marT="32004" marB="32004" anchor="ctr">
                    <a:solidFill>
                      <a:srgbClr val="DEEAF6"/>
                    </a:solidFill>
                  </a:tcPr>
                </a:tc>
                <a:extLst>
                  <a:ext uri="{0D108BD9-81ED-4DB2-BD59-A6C34878D82A}">
                    <a16:rowId xmlns:a16="http://schemas.microsoft.com/office/drawing/2014/main" val="10008"/>
                  </a:ext>
                </a:extLst>
              </a:tr>
            </a:tbl>
          </a:graphicData>
        </a:graphic>
      </p:graphicFrame>
      <p:sp>
        <p:nvSpPr>
          <p:cNvPr id="10" name="expanded-takeaway-9">
            <a:extLst>
              <a:ext uri="{FF2B5EF4-FFF2-40B4-BE49-F238E27FC236}">
                <a16:creationId xmlns:a16="http://schemas.microsoft.com/office/drawing/2014/main" id="{6A166092-BBD9-46E1-BF6C-51BD1F849CD6}"/>
              </a:ext>
            </a:extLst>
          </p:cNvPr>
          <p:cNvSpPr>
            <a:spLocks noGrp="1"/>
          </p:cNvSpPr>
          <p:nvPr/>
        </p:nvSpPr>
        <p:spPr>
          <a:xfrm>
            <a:off x="876300" y="5467350"/>
            <a:ext cx="10439400" cy="419100"/>
          </a:xfrm>
          <a:prstGeom prst="roundRect">
            <a:avLst>
              <a:gd name="adj" fmla="val 18182"/>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The assessment mix rewards preparation, analysis, communication, and integrated project work.</a:t>
            </a:r>
          </a:p>
        </p:txBody>
      </p:sp>
      <p:sp>
        <p:nvSpPr>
          <p:cNvPr id="12" name="v2-page-mask-9">
            <a:extLst>
              <a:ext uri="{FF2B5EF4-FFF2-40B4-BE49-F238E27FC236}">
                <a16:creationId xmlns:a16="http://schemas.microsoft.com/office/drawing/2014/main" id="{E5C9F8B3-5864-41F3-BAF7-26B1A1A0CAF9}"/>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3" name="v2-page-9">
            <a:extLst>
              <a:ext uri="{FF2B5EF4-FFF2-40B4-BE49-F238E27FC236}">
                <a16:creationId xmlns:a16="http://schemas.microsoft.com/office/drawing/2014/main" id="{9771E54A-D060-4C3D-90E1-8732F1514646}"/>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9</a:t>
            </a:r>
          </a:p>
        </p:txBody>
      </p:sp>
    </p:spTree>
    <p:extLst>
      <p:ext uri="{BB962C8B-B14F-4D97-AF65-F5344CB8AC3E}">
        <p14:creationId xmlns:p14="http://schemas.microsoft.com/office/powerpoint/2010/main" val="3503550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5C08651-FE1A-4F8D-8765-2EDF993842FC}"/>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21F0ACFC-D21F-4BA4-B2B1-8BE4B099DD15}"/>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6C69B99-482F-427A-92EC-1610A19C1B47}"/>
              </a:ext>
            </a:extLst>
          </p:cNvPr>
          <p:cNvSpPr>
            <a:spLocks noGrp="1"/>
          </p:cNvSpPr>
          <p:nvPr/>
        </p:nvSpPr>
        <p:spPr>
          <a:xfrm>
            <a:off x="896112" y="310896"/>
            <a:ext cx="10515600" cy="658368"/>
          </a:xfrm>
          <a:prstGeom prst="rect">
            <a:avLst/>
          </a:prstGeom>
          <a:noFill/>
        </p:spPr>
        <p:txBody>
          <a:bodyPr wrap="square">
            <a:spAutoFit/>
          </a:bodyPr>
          <a:lstStyle/>
          <a:p>
            <a:pPr algn="l">
              <a:buNone/>
            </a:pPr>
            <a:r>
              <a:rPr sz="2600" b="1">
                <a:solidFill>
                  <a:srgbClr val="1F3864"/>
                </a:solidFill>
                <a:latin typeface="Georgia"/>
                <a:ea typeface="Georgia"/>
                <a:cs typeface="Georgia"/>
              </a:rPr>
              <a:t>Assessment Details (1)</a:t>
            </a:r>
          </a:p>
        </p:txBody>
      </p:sp>
      <p:sp>
        <p:nvSpPr>
          <p:cNvPr id="5" name="Rectangle 4">
            <a:extLst>
              <a:ext uri="{FF2B5EF4-FFF2-40B4-BE49-F238E27FC236}">
                <a16:creationId xmlns:a16="http://schemas.microsoft.com/office/drawing/2014/main" id="{0D7FA2D6-561E-4214-A9BB-8F64E0758E0F}"/>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F7483BC9-31A9-4C9D-B335-70216771C572}"/>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Participation · Quizzes · AI News Presentation · Reading Response</a:t>
            </a:r>
          </a:p>
        </p:txBody>
      </p:sp>
      <p:sp>
        <p:nvSpPr>
          <p:cNvPr id="7" name="TextBox 6">
            <a:extLst>
              <a:ext uri="{FF2B5EF4-FFF2-40B4-BE49-F238E27FC236}">
                <a16:creationId xmlns:a16="http://schemas.microsoft.com/office/drawing/2014/main" id="{E4F46E69-C063-48D9-8EB7-CAAE34EA5052}"/>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EE5DDA77-F5B0-49C8-9BCC-59A520C7082C}"/>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10</a:t>
            </a:r>
          </a:p>
        </p:txBody>
      </p:sp>
      <p:sp>
        <p:nvSpPr>
          <p:cNvPr id="9" name="TextBox 8">
            <a:extLst>
              <a:ext uri="{FF2B5EF4-FFF2-40B4-BE49-F238E27FC236}">
                <a16:creationId xmlns:a16="http://schemas.microsoft.com/office/drawing/2014/main" id="{E7A8E066-07E7-4CC3-B04F-51EEE96CF4A9}"/>
              </a:ext>
            </a:extLst>
          </p:cNvPr>
          <p:cNvSpPr>
            <a:spLocks noGrp="1"/>
          </p:cNvSpPr>
          <p:nvPr/>
        </p:nvSpPr>
        <p:spPr>
          <a:xfrm>
            <a:off x="896112" y="1508760"/>
            <a:ext cx="10607040" cy="4572000"/>
          </a:xfrm>
          <a:prstGeom prst="rect">
            <a:avLst/>
          </a:prstGeom>
          <a:noFill/>
        </p:spPr>
        <p:txBody>
          <a:bodyPr wrap="square" anchor="t">
            <a:spAutoFit/>
          </a:bodyPr>
          <a:lstStyle/>
          <a:p>
            <a:pPr marL="285750" indent="0" algn="l">
              <a:lnSpc>
                <a:spcPct val="114000"/>
              </a:lnSpc>
              <a:spcBef>
                <a:spcPts val="0"/>
              </a:spcBef>
              <a:spcAft>
                <a:spcPts val="200"/>
              </a:spcAft>
              <a:buNone/>
            </a:pPr>
            <a:r>
              <a:rPr sz="1700" b="1" i="0" u="none">
                <a:solidFill>
                  <a:srgbClr val="1F3864"/>
                </a:solidFill>
                <a:latin typeface="Calibri"/>
                <a:ea typeface="Calibri"/>
                <a:cs typeface="Calibri"/>
              </a:rPr>
              <a:t>Participation (20%)</a:t>
            </a:r>
          </a:p>
          <a:p>
            <a:pPr marL="514350" indent="-285750" algn="l">
              <a:lnSpc>
                <a:spcPct val="114000"/>
              </a:lnSpc>
              <a:spcBef>
                <a:spcPts val="0"/>
              </a:spcBef>
              <a:spcAft>
                <a:spcPts val="800"/>
              </a:spcAft>
              <a:buClr>
                <a:srgbClr val="2E75B6"/>
              </a:buClr>
              <a:buSzPct val="100000"/>
              <a:buFont typeface="Arial"/>
              <a:buChar char="•"/>
            </a:pPr>
            <a:r>
              <a:rPr sz="1400" b="0" i="0" u="none">
                <a:solidFill>
                  <a:srgbClr val="262626"/>
                </a:solidFill>
                <a:latin typeface="Calibri"/>
                <a:ea typeface="Calibri"/>
                <a:cs typeface="Calibri"/>
              </a:rPr>
              <a:t>Attendance + engaged discussion; bring the readings and contribute regularly.</a:t>
            </a:r>
          </a:p>
          <a:p>
            <a:pPr marL="285750" indent="0" algn="l">
              <a:lnSpc>
                <a:spcPct val="114000"/>
              </a:lnSpc>
              <a:spcBef>
                <a:spcPts val="0"/>
              </a:spcBef>
              <a:spcAft>
                <a:spcPts val="200"/>
              </a:spcAft>
              <a:buNone/>
            </a:pPr>
            <a:r>
              <a:rPr sz="1700" b="1" i="0" u="none">
                <a:solidFill>
                  <a:srgbClr val="1F3864"/>
                </a:solidFill>
                <a:latin typeface="Calibri"/>
                <a:ea typeface="Calibri"/>
                <a:cs typeface="Calibri"/>
              </a:rPr>
              <a:t>Quizzes (10% — 4 in-class)</a:t>
            </a:r>
          </a:p>
          <a:p>
            <a:pPr marL="514350" indent="-285750" algn="l">
              <a:lnSpc>
                <a:spcPct val="114000"/>
              </a:lnSpc>
              <a:spcBef>
                <a:spcPts val="0"/>
              </a:spcBef>
              <a:spcAft>
                <a:spcPts val="800"/>
              </a:spcAft>
              <a:buClr>
                <a:srgbClr val="2E75B6"/>
              </a:buClr>
              <a:buSzPct val="100000"/>
              <a:buFont typeface="Arial"/>
              <a:buChar char="•"/>
            </a:pPr>
            <a:r>
              <a:rPr sz="1400" b="0" i="0" u="none">
                <a:solidFill>
                  <a:srgbClr val="262626"/>
                </a:solidFill>
                <a:latin typeface="Calibri"/>
                <a:ea typeface="Calibri"/>
                <a:cs typeface="Calibri"/>
              </a:rPr>
              <a:t>Short, based on the weekly readings; held in Weeks 4, 7, 9, and 11.</a:t>
            </a:r>
          </a:p>
          <a:p>
            <a:pPr marL="285750" indent="0" algn="l">
              <a:lnSpc>
                <a:spcPct val="114000"/>
              </a:lnSpc>
              <a:spcBef>
                <a:spcPts val="0"/>
              </a:spcBef>
              <a:spcAft>
                <a:spcPts val="200"/>
              </a:spcAft>
              <a:buNone/>
            </a:pPr>
            <a:r>
              <a:rPr sz="1700" b="1" i="0" u="none">
                <a:solidFill>
                  <a:srgbClr val="1F3864"/>
                </a:solidFill>
                <a:latin typeface="Calibri"/>
                <a:ea typeface="Calibri"/>
                <a:cs typeface="Calibri"/>
              </a:rPr>
              <a:t>AI News Presentation (10%, individual, ~ end-Oct)</a:t>
            </a:r>
          </a:p>
          <a:p>
            <a:pPr marL="514350" indent="-285750" algn="l">
              <a:lnSpc>
                <a:spcPct val="114000"/>
              </a:lnSpc>
              <a:spcBef>
                <a:spcPts val="0"/>
              </a:spcBef>
              <a:spcAft>
                <a:spcPts val="800"/>
              </a:spcAft>
              <a:buClr>
                <a:srgbClr val="2E75B6"/>
              </a:buClr>
              <a:buSzPct val="100000"/>
              <a:buFont typeface="Arial"/>
              <a:buChar char="•"/>
            </a:pPr>
            <a:r>
              <a:rPr sz="1400" b="0" i="0" u="none">
                <a:solidFill>
                  <a:srgbClr val="262626"/>
                </a:solidFill>
                <a:latin typeface="Calibri"/>
                <a:ea typeface="Calibri"/>
                <a:cs typeface="Calibri"/>
              </a:rPr>
              <a:t>Present a significant recent AI news event (5–8 min); rubric on clarity, fact accuracy, and newsworthy analysis.</a:t>
            </a:r>
          </a:p>
          <a:p>
            <a:pPr marL="285750" indent="0" algn="l">
              <a:lnSpc>
                <a:spcPct val="114000"/>
              </a:lnSpc>
              <a:spcBef>
                <a:spcPts val="0"/>
              </a:spcBef>
              <a:spcAft>
                <a:spcPts val="200"/>
              </a:spcAft>
              <a:buNone/>
            </a:pPr>
            <a:r>
              <a:rPr sz="1700" b="1" i="0" u="none">
                <a:solidFill>
                  <a:srgbClr val="1F3864"/>
                </a:solidFill>
                <a:latin typeface="Calibri"/>
                <a:ea typeface="Calibri"/>
                <a:cs typeface="Calibri"/>
              </a:rPr>
              <a:t>Reading Response (15%, individual, ~ mid-Oct)</a:t>
            </a:r>
          </a:p>
          <a:p>
            <a:pPr marL="514350" indent="-285750" algn="l">
              <a:lnSpc>
                <a:spcPct val="114000"/>
              </a:lnSpc>
              <a:spcBef>
                <a:spcPts val="0"/>
              </a:spcBef>
              <a:spcAft>
                <a:spcPts val="700"/>
              </a:spcAft>
              <a:buClr>
                <a:srgbClr val="2E75B6"/>
              </a:buClr>
              <a:buSzPct val="100000"/>
              <a:buFont typeface="Arial"/>
              <a:buChar char="•"/>
            </a:pPr>
            <a:r>
              <a:rPr sz="1400" b="0" i="0" u="none">
                <a:solidFill>
                  <a:srgbClr val="262626"/>
                </a:solidFill>
                <a:latin typeface="Calibri"/>
                <a:ea typeface="Calibri"/>
                <a:cs typeface="Calibri"/>
              </a:rPr>
              <a:t>Critical written response to one reading from the Readings Pool; rubric on clarity, use of readings, critique, and citation.</a:t>
            </a:r>
          </a:p>
        </p:txBody>
      </p:sp>
      <p:sp>
        <p:nvSpPr>
          <p:cNvPr id="10" name="expanded-takeaway-10">
            <a:extLst>
              <a:ext uri="{FF2B5EF4-FFF2-40B4-BE49-F238E27FC236}">
                <a16:creationId xmlns:a16="http://schemas.microsoft.com/office/drawing/2014/main" id="{50830A7E-6C76-475F-BBFE-3EA2851F87EE}"/>
              </a:ext>
            </a:extLst>
          </p:cNvPr>
          <p:cNvSpPr>
            <a:spLocks noGrp="1"/>
          </p:cNvSpPr>
          <p:nvPr/>
        </p:nvSpPr>
        <p:spPr>
          <a:xfrm>
            <a:off x="876300" y="5715000"/>
            <a:ext cx="10439400" cy="419100"/>
          </a:xfrm>
          <a:prstGeom prst="roundRect">
            <a:avLst>
              <a:gd name="adj" fmla="val 18182"/>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Strong work is prepared, evidence-based, concise, and explicitly connected to ethical concepts.</a:t>
            </a:r>
          </a:p>
        </p:txBody>
      </p:sp>
      <p:sp>
        <p:nvSpPr>
          <p:cNvPr id="11" name="v2-page-mask-10">
            <a:extLst>
              <a:ext uri="{FF2B5EF4-FFF2-40B4-BE49-F238E27FC236}">
                <a16:creationId xmlns:a16="http://schemas.microsoft.com/office/drawing/2014/main" id="{2D3BCCA0-1250-4D55-A8DF-0E743E3BBB42}"/>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2" name="v2-page-10">
            <a:extLst>
              <a:ext uri="{FF2B5EF4-FFF2-40B4-BE49-F238E27FC236}">
                <a16:creationId xmlns:a16="http://schemas.microsoft.com/office/drawing/2014/main" id="{5E2F36A5-2143-4B85-90F4-21ABF3B4D43F}"/>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10</a:t>
            </a:r>
          </a:p>
        </p:txBody>
      </p:sp>
    </p:spTree>
    <p:extLst>
      <p:ext uri="{BB962C8B-B14F-4D97-AF65-F5344CB8AC3E}">
        <p14:creationId xmlns:p14="http://schemas.microsoft.com/office/powerpoint/2010/main" val="147494289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9F5E9CD-F652-41CF-AA87-25F856F9E9E0}"/>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27D56D73-36A2-4F45-A507-9595DC8A1F20}"/>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0BA5B53-9A3E-4EB2-AB1B-73984CBBB7C6}"/>
              </a:ext>
            </a:extLst>
          </p:cNvPr>
          <p:cNvSpPr>
            <a:spLocks noGrp="1"/>
          </p:cNvSpPr>
          <p:nvPr/>
        </p:nvSpPr>
        <p:spPr>
          <a:xfrm>
            <a:off x="896112" y="310896"/>
            <a:ext cx="10515600" cy="658368"/>
          </a:xfrm>
          <a:prstGeom prst="rect">
            <a:avLst/>
          </a:prstGeom>
          <a:noFill/>
        </p:spPr>
        <p:txBody>
          <a:bodyPr wrap="square">
            <a:spAutoFit/>
          </a:bodyPr>
          <a:lstStyle/>
          <a:p>
            <a:pPr algn="l">
              <a:buNone/>
            </a:pPr>
            <a:r>
              <a:rPr sz="2600" b="1">
                <a:solidFill>
                  <a:srgbClr val="1F3864"/>
                </a:solidFill>
                <a:latin typeface="Georgia"/>
                <a:ea typeface="Georgia"/>
                <a:cs typeface="Georgia"/>
              </a:rPr>
              <a:t>Assessment Details (2)</a:t>
            </a:r>
          </a:p>
        </p:txBody>
      </p:sp>
      <p:sp>
        <p:nvSpPr>
          <p:cNvPr id="5" name="Rectangle 4">
            <a:extLst>
              <a:ext uri="{FF2B5EF4-FFF2-40B4-BE49-F238E27FC236}">
                <a16:creationId xmlns:a16="http://schemas.microsoft.com/office/drawing/2014/main" id="{D14C09BA-D983-4A9E-9F4F-CDFE76B8FC7F}"/>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B5D6B7A4-02E3-45E1-9AAB-37E0FC0CB203}"/>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Case Study Analysis  ·  Final Project (Report + Presentation)</a:t>
            </a:r>
          </a:p>
        </p:txBody>
      </p:sp>
      <p:sp>
        <p:nvSpPr>
          <p:cNvPr id="7" name="TextBox 6">
            <a:extLst>
              <a:ext uri="{FF2B5EF4-FFF2-40B4-BE49-F238E27FC236}">
                <a16:creationId xmlns:a16="http://schemas.microsoft.com/office/drawing/2014/main" id="{055A5B67-3489-43ED-A464-9830723ECB08}"/>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7627061C-1CB8-4F81-B469-4EF1733BD5AF}"/>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11</a:t>
            </a:r>
          </a:p>
        </p:txBody>
      </p:sp>
      <p:sp>
        <p:nvSpPr>
          <p:cNvPr id="9" name="TextBox 8">
            <a:extLst>
              <a:ext uri="{FF2B5EF4-FFF2-40B4-BE49-F238E27FC236}">
                <a16:creationId xmlns:a16="http://schemas.microsoft.com/office/drawing/2014/main" id="{EB2E95E6-664B-409A-9A81-647D957DA2CA}"/>
              </a:ext>
            </a:extLst>
          </p:cNvPr>
          <p:cNvSpPr>
            <a:spLocks noGrp="1"/>
          </p:cNvSpPr>
          <p:nvPr/>
        </p:nvSpPr>
        <p:spPr>
          <a:xfrm>
            <a:off x="896112" y="1508760"/>
            <a:ext cx="10607040" cy="4663440"/>
          </a:xfrm>
          <a:prstGeom prst="rect">
            <a:avLst/>
          </a:prstGeom>
          <a:noFill/>
        </p:spPr>
        <p:txBody>
          <a:bodyPr wrap="square" anchor="t">
            <a:spAutoFit/>
          </a:bodyPr>
          <a:lstStyle/>
          <a:p>
            <a:pPr marL="285750" indent="0" algn="l">
              <a:lnSpc>
                <a:spcPct val="114000"/>
              </a:lnSpc>
              <a:spcBef>
                <a:spcPts val="0"/>
              </a:spcBef>
              <a:spcAft>
                <a:spcPts val="200"/>
              </a:spcAft>
              <a:buNone/>
            </a:pPr>
            <a:r>
              <a:rPr sz="1700" b="1" i="0" u="none">
                <a:solidFill>
                  <a:srgbClr val="1F3864"/>
                </a:solidFill>
                <a:latin typeface="Calibri"/>
                <a:ea typeface="Calibri"/>
                <a:cs typeface="Calibri"/>
              </a:rPr>
              <a:t>Case Study Analysis (15%, individual, ~ mid-Nov)</a:t>
            </a:r>
          </a:p>
          <a:p>
            <a:pPr marL="514350" indent="-285750" algn="l">
              <a:lnSpc>
                <a:spcPct val="114000"/>
              </a:lnSpc>
              <a:spcBef>
                <a:spcPts val="0"/>
              </a:spcBef>
              <a:spcAft>
                <a:spcPts val="900"/>
              </a:spcAft>
              <a:buClr>
                <a:srgbClr val="2E75B6"/>
              </a:buClr>
              <a:buSzPct val="100000"/>
              <a:buFont typeface="Arial"/>
              <a:buChar char="•"/>
            </a:pPr>
            <a:r>
              <a:rPr sz="1400" b="0" i="0" u="none">
                <a:solidFill>
                  <a:srgbClr val="262626"/>
                </a:solidFill>
                <a:latin typeface="Calibri"/>
                <a:ea typeface="Calibri"/>
                <a:cs typeface="Calibri"/>
              </a:rPr>
              <a:t>Analyze a real-world AI ethics case from the Case Study Pool; rubric on clarity, source support &amp; fact accuracy, introduction, analysis, citation.</a:t>
            </a:r>
          </a:p>
          <a:p>
            <a:pPr marL="285750" indent="0" algn="l">
              <a:lnSpc>
                <a:spcPct val="114000"/>
              </a:lnSpc>
              <a:spcBef>
                <a:spcPts val="0"/>
              </a:spcBef>
              <a:spcAft>
                <a:spcPts val="200"/>
              </a:spcAft>
              <a:buNone/>
            </a:pPr>
            <a:r>
              <a:rPr sz="1700" b="1" i="0" u="none">
                <a:solidFill>
                  <a:srgbClr val="1F3864"/>
                </a:solidFill>
                <a:latin typeface="Calibri"/>
                <a:ea typeface="Calibri"/>
                <a:cs typeface="Calibri"/>
              </a:rPr>
              <a:t>Final Project — Report (15%, group, ~ early-Dec)</a:t>
            </a:r>
          </a:p>
          <a:p>
            <a:pPr marL="514350" indent="-285750" algn="l">
              <a:lnSpc>
                <a:spcPct val="114000"/>
              </a:lnSpc>
              <a:spcBef>
                <a:spcPts val="0"/>
              </a:spcBef>
              <a:spcAft>
                <a:spcPts val="900"/>
              </a:spcAft>
              <a:buClr>
                <a:srgbClr val="2E75B6"/>
              </a:buClr>
              <a:buSzPct val="100000"/>
              <a:buFont typeface="Arial"/>
              <a:buChar char="•"/>
            </a:pPr>
            <a:r>
              <a:rPr sz="1400" b="0" i="0" u="none">
                <a:solidFill>
                  <a:srgbClr val="262626"/>
                </a:solidFill>
                <a:latin typeface="Calibri"/>
                <a:ea typeface="Calibri"/>
                <a:cs typeface="Calibri"/>
              </a:rPr>
              <a:t>In-depth group project on an AI ethics issue; rubric on clarity &amp; organization, introduction, main body, accomplishments, recommendations, use of techniques/literature, citation.</a:t>
            </a:r>
          </a:p>
          <a:p>
            <a:pPr marL="285750" indent="0" algn="l">
              <a:lnSpc>
                <a:spcPct val="114000"/>
              </a:lnSpc>
              <a:spcBef>
                <a:spcPts val="0"/>
              </a:spcBef>
              <a:spcAft>
                <a:spcPts val="200"/>
              </a:spcAft>
              <a:buNone/>
            </a:pPr>
            <a:r>
              <a:rPr sz="1700" b="1" i="0" u="none">
                <a:solidFill>
                  <a:srgbClr val="1F3864"/>
                </a:solidFill>
                <a:latin typeface="Calibri"/>
                <a:ea typeface="Calibri"/>
                <a:cs typeface="Calibri"/>
              </a:rPr>
              <a:t>Final Project — Presentation (15%, group, Wk 12–13)</a:t>
            </a:r>
          </a:p>
          <a:p>
            <a:pPr marL="514350" indent="-285750" algn="l">
              <a:lnSpc>
                <a:spcPct val="114000"/>
              </a:lnSpc>
              <a:spcBef>
                <a:spcPts val="0"/>
              </a:spcBef>
              <a:spcAft>
                <a:spcPts val="700"/>
              </a:spcAft>
              <a:buClr>
                <a:srgbClr val="2E75B6"/>
              </a:buClr>
              <a:buSzPct val="100000"/>
              <a:buFont typeface="Arial"/>
              <a:buChar char="•"/>
            </a:pPr>
            <a:r>
              <a:rPr sz="1400" b="0" i="0" u="none">
                <a:solidFill>
                  <a:srgbClr val="262626"/>
                </a:solidFill>
                <a:latin typeface="Calibri"/>
                <a:ea typeface="Calibri"/>
                <a:cs typeface="Calibri"/>
              </a:rPr>
              <a:t>Present the project in class; rubric on demonstration, clarity, organization &amp; timing, audience engagement, slides, and Q&amp;A.</a:t>
            </a:r>
          </a:p>
        </p:txBody>
      </p:sp>
      <p:sp>
        <p:nvSpPr>
          <p:cNvPr id="10" name="expanded-takeaway-11">
            <a:extLst>
              <a:ext uri="{FF2B5EF4-FFF2-40B4-BE49-F238E27FC236}">
                <a16:creationId xmlns:a16="http://schemas.microsoft.com/office/drawing/2014/main" id="{0A6EAFF4-123E-4345-8F64-87603FFB4F42}"/>
              </a:ext>
            </a:extLst>
          </p:cNvPr>
          <p:cNvSpPr>
            <a:spLocks noGrp="1"/>
          </p:cNvSpPr>
          <p:nvPr/>
        </p:nvSpPr>
        <p:spPr>
          <a:xfrm>
            <a:off x="876300" y="5715000"/>
            <a:ext cx="10439400" cy="419100"/>
          </a:xfrm>
          <a:prstGeom prst="roundRect">
            <a:avLst>
              <a:gd name="adj" fmla="val 18182"/>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The case study diagnoses an existing problem; the final project develops and defends a response.</a:t>
            </a:r>
          </a:p>
        </p:txBody>
      </p:sp>
      <p:sp>
        <p:nvSpPr>
          <p:cNvPr id="11" name="v2-page-mask-11">
            <a:extLst>
              <a:ext uri="{FF2B5EF4-FFF2-40B4-BE49-F238E27FC236}">
                <a16:creationId xmlns:a16="http://schemas.microsoft.com/office/drawing/2014/main" id="{30207055-3C2E-47E4-BF02-18C3A1FD708C}"/>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2" name="v2-page-11">
            <a:extLst>
              <a:ext uri="{FF2B5EF4-FFF2-40B4-BE49-F238E27FC236}">
                <a16:creationId xmlns:a16="http://schemas.microsoft.com/office/drawing/2014/main" id="{E330FB89-2708-42A4-B672-0D2E12AEA1F4}"/>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11</a:t>
            </a:r>
          </a:p>
        </p:txBody>
      </p:sp>
    </p:spTree>
    <p:extLst>
      <p:ext uri="{BB962C8B-B14F-4D97-AF65-F5344CB8AC3E}">
        <p14:creationId xmlns:p14="http://schemas.microsoft.com/office/powerpoint/2010/main" val="14997117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9F73EE-FCB3-498D-BF1F-3D1BC4169984}"/>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F47A1FE1-DF61-4968-9545-562FC3877900}"/>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8424321-DD79-43D9-88A1-4296632A7E59}"/>
              </a:ext>
            </a:extLst>
          </p:cNvPr>
          <p:cNvSpPr>
            <a:spLocks noGrp="1"/>
          </p:cNvSpPr>
          <p:nvPr/>
        </p:nvSpPr>
        <p:spPr>
          <a:xfrm>
            <a:off x="896112" y="310896"/>
            <a:ext cx="10515600" cy="658368"/>
          </a:xfrm>
          <a:prstGeom prst="rect">
            <a:avLst/>
          </a:prstGeom>
          <a:noFill/>
        </p:spPr>
        <p:txBody>
          <a:bodyPr wrap="square">
            <a:spAutoFit/>
          </a:bodyPr>
          <a:lstStyle/>
          <a:p>
            <a:pPr algn="l">
              <a:buNone/>
            </a:pPr>
            <a:r>
              <a:rPr sz="2600" b="1">
                <a:solidFill>
                  <a:srgbClr val="1F3864"/>
                </a:solidFill>
                <a:latin typeface="Georgia"/>
                <a:ea typeface="Georgia"/>
                <a:cs typeface="Georgia"/>
              </a:rPr>
              <a:t>Required Texts &amp; Weekly Readings</a:t>
            </a:r>
          </a:p>
        </p:txBody>
      </p:sp>
      <p:sp>
        <p:nvSpPr>
          <p:cNvPr id="5" name="Rectangle 4">
            <a:extLst>
              <a:ext uri="{FF2B5EF4-FFF2-40B4-BE49-F238E27FC236}">
                <a16:creationId xmlns:a16="http://schemas.microsoft.com/office/drawing/2014/main" id="{82878F7E-4D31-4BA1-84A5-4DBE0605B2EF}"/>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B52581D2-6ED8-4EBE-A432-ECEC728B648B}"/>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All available in HKUST library online resources or book collections.</a:t>
            </a:r>
          </a:p>
        </p:txBody>
      </p:sp>
      <p:sp>
        <p:nvSpPr>
          <p:cNvPr id="7" name="TextBox 6">
            <a:extLst>
              <a:ext uri="{FF2B5EF4-FFF2-40B4-BE49-F238E27FC236}">
                <a16:creationId xmlns:a16="http://schemas.microsoft.com/office/drawing/2014/main" id="{25100746-3800-4504-AD67-FE6C4A299D90}"/>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BD2285CB-D89E-48B9-B1AB-DA071807C181}"/>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12</a:t>
            </a:r>
          </a:p>
        </p:txBody>
      </p:sp>
      <p:sp>
        <p:nvSpPr>
          <p:cNvPr id="9" name="TextBox 8">
            <a:extLst>
              <a:ext uri="{FF2B5EF4-FFF2-40B4-BE49-F238E27FC236}">
                <a16:creationId xmlns:a16="http://schemas.microsoft.com/office/drawing/2014/main" id="{DA623C0E-B963-485B-A2BB-64DAA3872940}"/>
              </a:ext>
            </a:extLst>
          </p:cNvPr>
          <p:cNvSpPr>
            <a:spLocks noGrp="1"/>
          </p:cNvSpPr>
          <p:nvPr/>
        </p:nvSpPr>
        <p:spPr>
          <a:xfrm>
            <a:off x="896112" y="1554480"/>
            <a:ext cx="10698480" cy="4389120"/>
          </a:xfrm>
          <a:prstGeom prst="rect">
            <a:avLst/>
          </a:prstGeom>
          <a:noFill/>
        </p:spPr>
        <p:txBody>
          <a:bodyPr wrap="square" anchor="t">
            <a:spAutoFit/>
          </a:bodyPr>
          <a:lstStyle/>
          <a:p>
            <a:pPr marL="285750" indent="-285750" algn="l">
              <a:lnSpc>
                <a:spcPct val="114000"/>
              </a:lnSpc>
              <a:spcBef>
                <a:spcPts val="0"/>
              </a:spcBef>
              <a:spcAft>
                <a:spcPts val="700"/>
              </a:spcAft>
              <a:buClr>
                <a:srgbClr val="2E75B6"/>
              </a:buClr>
              <a:buSzPct val="100000"/>
              <a:buFont typeface="Arial"/>
              <a:buChar char="•"/>
            </a:pPr>
            <a:r>
              <a:rPr sz="1500" b="1" i="0" u="none">
                <a:solidFill>
                  <a:srgbClr val="262626"/>
                </a:solidFill>
                <a:latin typeface="Calibri"/>
                <a:ea typeface="Calibri"/>
                <a:cs typeface="Calibri"/>
              </a:rPr>
              <a:t>Dignum, V. </a:t>
            </a:r>
            <a:r>
              <a:rPr sz="1500" b="0" i="1" u="none">
                <a:solidFill>
                  <a:srgbClr val="262626"/>
                </a:solidFill>
                <a:latin typeface="Calibri"/>
                <a:ea typeface="Calibri"/>
                <a:cs typeface="Calibri"/>
              </a:rPr>
              <a:t>Responsible Artificial Intelligence: How to Develop and Use AI in a Responsible Way.</a:t>
            </a:r>
            <a:r>
              <a:rPr sz="1500" b="0" i="0" u="none">
                <a:solidFill>
                  <a:srgbClr val="262626"/>
                </a:solidFill>
                <a:latin typeface="Calibri"/>
                <a:ea typeface="Calibri"/>
                <a:cs typeface="Calibri"/>
              </a:rPr>
              <a:t> Springer, 2019.</a:t>
            </a:r>
          </a:p>
          <a:p>
            <a:pPr marL="285750" indent="-285750" algn="l">
              <a:lnSpc>
                <a:spcPct val="114000"/>
              </a:lnSpc>
              <a:spcBef>
                <a:spcPts val="0"/>
              </a:spcBef>
              <a:spcAft>
                <a:spcPts val="700"/>
              </a:spcAft>
              <a:buClr>
                <a:srgbClr val="2E75B6"/>
              </a:buClr>
              <a:buSzPct val="100000"/>
              <a:buFont typeface="Arial"/>
              <a:buChar char="•"/>
            </a:pPr>
            <a:r>
              <a:rPr sz="1500" b="1" i="0" u="none">
                <a:solidFill>
                  <a:srgbClr val="262626"/>
                </a:solidFill>
                <a:latin typeface="Calibri"/>
                <a:ea typeface="Calibri"/>
                <a:cs typeface="Calibri"/>
              </a:rPr>
              <a:t>Coeckelbergh, M. </a:t>
            </a:r>
            <a:r>
              <a:rPr sz="1500" b="0" i="1" u="none">
                <a:solidFill>
                  <a:srgbClr val="262626"/>
                </a:solidFill>
                <a:latin typeface="Calibri"/>
                <a:ea typeface="Calibri"/>
                <a:cs typeface="Calibri"/>
              </a:rPr>
              <a:t>AI Ethics.</a:t>
            </a:r>
            <a:r>
              <a:rPr sz="1500" b="0" i="0" u="none">
                <a:solidFill>
                  <a:srgbClr val="262626"/>
                </a:solidFill>
                <a:latin typeface="Calibri"/>
                <a:ea typeface="Calibri"/>
                <a:cs typeface="Calibri"/>
              </a:rPr>
              <a:t> MIT Press, 2020.</a:t>
            </a:r>
          </a:p>
          <a:p>
            <a:pPr marL="285750" indent="-285750" algn="l">
              <a:lnSpc>
                <a:spcPct val="114000"/>
              </a:lnSpc>
              <a:spcBef>
                <a:spcPts val="0"/>
              </a:spcBef>
              <a:spcAft>
                <a:spcPts val="700"/>
              </a:spcAft>
              <a:buClr>
                <a:srgbClr val="2E75B6"/>
              </a:buClr>
              <a:buSzPct val="100000"/>
              <a:buFont typeface="Arial"/>
              <a:buChar char="•"/>
            </a:pPr>
            <a:r>
              <a:rPr sz="1500" b="1" i="0" u="none">
                <a:solidFill>
                  <a:srgbClr val="262626"/>
                </a:solidFill>
                <a:latin typeface="Calibri"/>
                <a:ea typeface="Calibri"/>
                <a:cs typeface="Calibri"/>
              </a:rPr>
              <a:t>Dubber, M. D., Pasquale, F. &amp; Das, S. (Eds.). </a:t>
            </a:r>
            <a:r>
              <a:rPr sz="1500" b="0" i="1" u="none">
                <a:solidFill>
                  <a:srgbClr val="262626"/>
                </a:solidFill>
                <a:latin typeface="Calibri"/>
                <a:ea typeface="Calibri"/>
                <a:cs typeface="Calibri"/>
              </a:rPr>
              <a:t>The Oxford Handbook of Ethics of AI.</a:t>
            </a:r>
            <a:r>
              <a:rPr sz="1500" b="0" i="0" u="none">
                <a:solidFill>
                  <a:srgbClr val="262626"/>
                </a:solidFill>
                <a:latin typeface="Calibri"/>
                <a:ea typeface="Calibri"/>
                <a:cs typeface="Calibri"/>
              </a:rPr>
              <a:t> Oxford University Press, 2020.</a:t>
            </a:r>
          </a:p>
          <a:p>
            <a:pPr marL="285750" indent="-285750" algn="l">
              <a:lnSpc>
                <a:spcPct val="114000"/>
              </a:lnSpc>
              <a:spcBef>
                <a:spcPts val="0"/>
              </a:spcBef>
              <a:spcAft>
                <a:spcPts val="700"/>
              </a:spcAft>
              <a:buClr>
                <a:srgbClr val="2E75B6"/>
              </a:buClr>
              <a:buSzPct val="100000"/>
              <a:buFont typeface="Arial"/>
              <a:buChar char="•"/>
            </a:pPr>
            <a:r>
              <a:rPr sz="1500" b="1" i="0" u="none">
                <a:solidFill>
                  <a:srgbClr val="262626"/>
                </a:solidFill>
                <a:latin typeface="Calibri"/>
                <a:ea typeface="Calibri"/>
                <a:cs typeface="Calibri"/>
              </a:rPr>
              <a:t>Eubanks, V. </a:t>
            </a:r>
            <a:r>
              <a:rPr sz="1500" b="0" i="1" u="none">
                <a:solidFill>
                  <a:srgbClr val="262626"/>
                </a:solidFill>
                <a:latin typeface="Calibri"/>
                <a:ea typeface="Calibri"/>
                <a:cs typeface="Calibri"/>
              </a:rPr>
              <a:t>Automating Inequality: How High-Tech Tools Profile, Police, and Punish the Poor.</a:t>
            </a:r>
            <a:r>
              <a:rPr sz="1500" b="0" i="0" u="none">
                <a:solidFill>
                  <a:srgbClr val="262626"/>
                </a:solidFill>
                <a:latin typeface="Calibri"/>
                <a:ea typeface="Calibri"/>
                <a:cs typeface="Calibri"/>
              </a:rPr>
              <a:t> St. Martin’s Press, 2018.</a:t>
            </a:r>
          </a:p>
          <a:p>
            <a:pPr marL="285750" indent="-285750" algn="l">
              <a:lnSpc>
                <a:spcPct val="114000"/>
              </a:lnSpc>
              <a:spcBef>
                <a:spcPts val="0"/>
              </a:spcBef>
              <a:spcAft>
                <a:spcPts val="700"/>
              </a:spcAft>
              <a:buClr>
                <a:srgbClr val="2E75B6"/>
              </a:buClr>
              <a:buSzPct val="100000"/>
              <a:buFont typeface="Arial"/>
              <a:buChar char="•"/>
            </a:pPr>
            <a:r>
              <a:rPr sz="1500" b="1" i="0" u="none">
                <a:solidFill>
                  <a:srgbClr val="262626"/>
                </a:solidFill>
                <a:latin typeface="Calibri"/>
                <a:ea typeface="Calibri"/>
                <a:cs typeface="Calibri"/>
              </a:rPr>
              <a:t>O’Neil, C. </a:t>
            </a:r>
            <a:r>
              <a:rPr sz="1500" b="0" i="1" u="none">
                <a:solidFill>
                  <a:srgbClr val="262626"/>
                </a:solidFill>
                <a:latin typeface="Calibri"/>
                <a:ea typeface="Calibri"/>
                <a:cs typeface="Calibri"/>
              </a:rPr>
              <a:t>Weapons of Math Destruction: How Big Data Increases Inequality and Threatens Democracy.</a:t>
            </a:r>
            <a:r>
              <a:rPr sz="1500" b="0" i="0" u="none">
                <a:solidFill>
                  <a:srgbClr val="262626"/>
                </a:solidFill>
                <a:latin typeface="Calibri"/>
                <a:ea typeface="Calibri"/>
                <a:cs typeface="Calibri"/>
              </a:rPr>
              <a:t> Crown, 2016.</a:t>
            </a:r>
          </a:p>
          <a:p>
            <a:pPr marL="285750" indent="0" algn="l">
              <a:lnSpc>
                <a:spcPct val="114000"/>
              </a:lnSpc>
              <a:spcBef>
                <a:spcPts val="1000"/>
              </a:spcBef>
              <a:spcAft>
                <a:spcPts val="700"/>
              </a:spcAft>
              <a:buNone/>
            </a:pPr>
            <a:r>
              <a:rPr sz="1400" b="0" i="1" u="none">
                <a:solidFill>
                  <a:srgbClr val="595959"/>
                </a:solidFill>
                <a:latin typeface="Calibri"/>
                <a:ea typeface="Calibri"/>
                <a:cs typeface="Calibri"/>
              </a:rPr>
              <a:t>Every week, a list of readings will be provided and released on Canvas as additional resources.</a:t>
            </a:r>
          </a:p>
        </p:txBody>
      </p:sp>
      <p:sp>
        <p:nvSpPr>
          <p:cNvPr id="10" name="expanded-takeaway-12">
            <a:extLst>
              <a:ext uri="{FF2B5EF4-FFF2-40B4-BE49-F238E27FC236}">
                <a16:creationId xmlns:a16="http://schemas.microsoft.com/office/drawing/2014/main" id="{B306B89B-D668-41A6-B438-999672BCFABC}"/>
              </a:ext>
            </a:extLst>
          </p:cNvPr>
          <p:cNvSpPr>
            <a:spLocks noGrp="1"/>
          </p:cNvSpPr>
          <p:nvPr/>
        </p:nvSpPr>
        <p:spPr>
          <a:xfrm>
            <a:off x="876300" y="5715000"/>
            <a:ext cx="10439400" cy="419100"/>
          </a:xfrm>
          <a:prstGeom prst="roundRect">
            <a:avLst>
              <a:gd name="adj" fmla="val 18182"/>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The readings combine philosophy, responsible-AI practice, mathematical harms, and social impact.</a:t>
            </a:r>
          </a:p>
        </p:txBody>
      </p:sp>
      <p:sp>
        <p:nvSpPr>
          <p:cNvPr id="11" name="v2-page-mask-12">
            <a:extLst>
              <a:ext uri="{FF2B5EF4-FFF2-40B4-BE49-F238E27FC236}">
                <a16:creationId xmlns:a16="http://schemas.microsoft.com/office/drawing/2014/main" id="{ADD1D954-9219-461E-9AC8-729D812F7CE1}"/>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2" name="v2-page-12">
            <a:extLst>
              <a:ext uri="{FF2B5EF4-FFF2-40B4-BE49-F238E27FC236}">
                <a16:creationId xmlns:a16="http://schemas.microsoft.com/office/drawing/2014/main" id="{800016E0-AADB-4484-A204-AD0923D290C5}"/>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12</a:t>
            </a:r>
          </a:p>
        </p:txBody>
      </p:sp>
    </p:spTree>
    <p:extLst>
      <p:ext uri="{BB962C8B-B14F-4D97-AF65-F5344CB8AC3E}">
        <p14:creationId xmlns:p14="http://schemas.microsoft.com/office/powerpoint/2010/main" val="21105566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FA9258C-1F20-4CF5-A073-44AB83592410}"/>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BD4EC226-83F9-4E2A-A03E-4E0CC6726558}"/>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56A23C2-F224-4E35-99CA-66F8C69F06A6}"/>
              </a:ext>
            </a:extLst>
          </p:cNvPr>
          <p:cNvSpPr>
            <a:spLocks noGrp="1"/>
          </p:cNvSpPr>
          <p:nvPr/>
        </p:nvSpPr>
        <p:spPr>
          <a:xfrm>
            <a:off x="896112" y="310896"/>
            <a:ext cx="10515600" cy="658368"/>
          </a:xfrm>
          <a:prstGeom prst="rect">
            <a:avLst/>
          </a:prstGeom>
          <a:noFill/>
        </p:spPr>
        <p:txBody>
          <a:bodyPr wrap="square">
            <a:spAutoFit/>
          </a:bodyPr>
          <a:lstStyle/>
          <a:p>
            <a:pPr algn="l">
              <a:buNone/>
            </a:pPr>
            <a:r>
              <a:rPr sz="2600" b="1">
                <a:solidFill>
                  <a:srgbClr val="1F3864"/>
                </a:solidFill>
                <a:latin typeface="Georgia"/>
                <a:ea typeface="Georgia"/>
                <a:cs typeface="Georgia"/>
              </a:rPr>
              <a:t>Academic Integrity &amp; Course AI Policy</a:t>
            </a:r>
          </a:p>
        </p:txBody>
      </p:sp>
      <p:sp>
        <p:nvSpPr>
          <p:cNvPr id="5" name="Rectangle 4">
            <a:extLst>
              <a:ext uri="{FF2B5EF4-FFF2-40B4-BE49-F238E27FC236}">
                <a16:creationId xmlns:a16="http://schemas.microsoft.com/office/drawing/2014/main" id="{F90B9C60-73B7-435B-BC5C-B6FE927C6737}"/>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5F21F95-7FD7-4E50-97E8-2CF9C00D9B6A}"/>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40190D09-BF58-451B-9EA8-1547280D801B}"/>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13</a:t>
            </a:r>
          </a:p>
        </p:txBody>
      </p:sp>
      <p:sp>
        <p:nvSpPr>
          <p:cNvPr id="8" name="TextBox 7">
            <a:extLst>
              <a:ext uri="{FF2B5EF4-FFF2-40B4-BE49-F238E27FC236}">
                <a16:creationId xmlns:a16="http://schemas.microsoft.com/office/drawing/2014/main" id="{04EF6210-60C3-4F9E-ABF4-DC436CD6C4FA}"/>
              </a:ext>
            </a:extLst>
          </p:cNvPr>
          <p:cNvSpPr>
            <a:spLocks noGrp="1"/>
          </p:cNvSpPr>
          <p:nvPr/>
        </p:nvSpPr>
        <p:spPr>
          <a:xfrm>
            <a:off x="896112" y="1463040"/>
            <a:ext cx="10607040" cy="1780487"/>
          </a:xfrm>
          <a:prstGeom prst="rect">
            <a:avLst/>
          </a:prstGeom>
          <a:noFill/>
        </p:spPr>
        <p:txBody>
          <a:bodyPr wrap="square" anchor="t">
            <a:spAutoFit/>
          </a:bodyPr>
          <a:lstStyle/>
          <a:p>
            <a:pPr marL="285750" indent="0" algn="l">
              <a:lnSpc>
                <a:spcPct val="114000"/>
              </a:lnSpc>
              <a:spcBef>
                <a:spcPts val="0"/>
              </a:spcBef>
              <a:spcAft>
                <a:spcPts val="300"/>
              </a:spcAft>
              <a:buNone/>
            </a:pPr>
            <a:r>
              <a:rPr sz="1800" b="1" i="0" u="none" dirty="0">
                <a:solidFill>
                  <a:srgbClr val="1F3864"/>
                </a:solidFill>
                <a:latin typeface="Calibri"/>
                <a:ea typeface="Calibri"/>
                <a:cs typeface="Calibri"/>
              </a:rPr>
              <a:t>Academic Integrity</a:t>
            </a:r>
          </a:p>
          <a:p>
            <a:pPr marL="514350" indent="-285750" algn="l">
              <a:lnSpc>
                <a:spcPct val="114000"/>
              </a:lnSpc>
              <a:spcBef>
                <a:spcPts val="0"/>
              </a:spcBef>
              <a:spcAft>
                <a:spcPts val="300"/>
              </a:spcAft>
              <a:buClr>
                <a:srgbClr val="2E75B6"/>
              </a:buClr>
              <a:buSzPct val="100000"/>
              <a:buFont typeface="Arial"/>
              <a:buChar char="•"/>
            </a:pPr>
            <a:r>
              <a:rPr sz="1500" b="0" i="0" u="none" dirty="0">
                <a:solidFill>
                  <a:srgbClr val="262626"/>
                </a:solidFill>
                <a:latin typeface="Calibri"/>
                <a:ea typeface="Calibri"/>
                <a:cs typeface="Calibri"/>
              </a:rPr>
              <a:t>Uphold HKUST’s </a:t>
            </a:r>
            <a:r>
              <a:rPr sz="1500" b="1" i="0" u="sng" dirty="0">
                <a:solidFill>
                  <a:srgbClr val="262626"/>
                </a:solidFill>
                <a:latin typeface="Calibri"/>
                <a:ea typeface="Calibri"/>
                <a:cs typeface="Calibri"/>
              </a:rPr>
              <a:t>Academic Honor Code</a:t>
            </a:r>
            <a:r>
              <a:rPr sz="1500" b="0" i="0" u="none" dirty="0">
                <a:solidFill>
                  <a:srgbClr val="262626"/>
                </a:solidFill>
                <a:latin typeface="Calibri"/>
                <a:ea typeface="Calibri"/>
                <a:cs typeface="Calibri"/>
              </a:rPr>
              <a:t>; the University has zero tolerance for academic misconduct.</a:t>
            </a:r>
          </a:p>
          <a:p>
            <a:pPr marL="514350" indent="-285750" algn="l">
              <a:lnSpc>
                <a:spcPct val="114000"/>
              </a:lnSpc>
              <a:spcBef>
                <a:spcPts val="0"/>
              </a:spcBef>
              <a:spcAft>
                <a:spcPts val="900"/>
              </a:spcAft>
              <a:buClr>
                <a:srgbClr val="2E75B6"/>
              </a:buClr>
              <a:buSzPct val="100000"/>
              <a:buFont typeface="Arial"/>
              <a:buChar char="•"/>
            </a:pPr>
            <a:r>
              <a:rPr sz="1500" b="0" i="0" u="none" dirty="0">
                <a:solidFill>
                  <a:srgbClr val="262626"/>
                </a:solidFill>
                <a:latin typeface="Calibri"/>
                <a:ea typeface="Calibri"/>
                <a:cs typeface="Calibri"/>
              </a:rPr>
              <a:t>Plagiarism = presenting others’ work or ideas as your own without attribution. Refer to HKUST Academic Registry guidance.</a:t>
            </a:r>
          </a:p>
          <a:p>
            <a:pPr marL="285750" indent="0" algn="l">
              <a:lnSpc>
                <a:spcPct val="114000"/>
              </a:lnSpc>
              <a:spcBef>
                <a:spcPts val="400"/>
              </a:spcBef>
              <a:spcAft>
                <a:spcPts val="300"/>
              </a:spcAft>
              <a:buNone/>
            </a:pPr>
            <a:r>
              <a:rPr sz="1800" b="1" i="0" u="none" dirty="0">
                <a:solidFill>
                  <a:srgbClr val="1F3864"/>
                </a:solidFill>
                <a:latin typeface="Calibri"/>
                <a:ea typeface="Calibri"/>
                <a:cs typeface="Calibri"/>
              </a:rPr>
              <a:t>Course AI Policy</a:t>
            </a:r>
          </a:p>
          <a:p>
            <a:pPr marL="514350" indent="-285750" algn="l">
              <a:lnSpc>
                <a:spcPct val="114000"/>
              </a:lnSpc>
              <a:spcBef>
                <a:spcPts val="0"/>
              </a:spcBef>
              <a:spcAft>
                <a:spcPts val="700"/>
              </a:spcAft>
              <a:buClr>
                <a:srgbClr val="2E75B6"/>
              </a:buClr>
              <a:buSzPct val="100000"/>
              <a:buFont typeface="Arial"/>
              <a:buChar char="•"/>
            </a:pPr>
            <a:r>
              <a:rPr sz="1500" b="0" i="0" u="none" dirty="0">
                <a:solidFill>
                  <a:srgbClr val="262626"/>
                </a:solidFill>
                <a:highlight>
                  <a:srgbClr val="FFFF00"/>
                </a:highlight>
                <a:latin typeface="Calibri"/>
                <a:ea typeface="Calibri"/>
                <a:cs typeface="Calibri"/>
              </a:rPr>
              <a:t>You may use generative AI as a </a:t>
            </a:r>
            <a:r>
              <a:rPr sz="1500" b="1" i="0" u="none" dirty="0">
                <a:solidFill>
                  <a:srgbClr val="262626"/>
                </a:solidFill>
                <a:highlight>
                  <a:srgbClr val="FFFF00"/>
                </a:highlight>
                <a:latin typeface="Calibri"/>
                <a:ea typeface="Calibri"/>
                <a:cs typeface="Calibri"/>
              </a:rPr>
              <a:t>collaborator</a:t>
            </a:r>
            <a:r>
              <a:rPr sz="1500" b="0" i="0" u="none" dirty="0">
                <a:solidFill>
                  <a:srgbClr val="262626"/>
                </a:solidFill>
                <a:latin typeface="Calibri"/>
                <a:ea typeface="Calibri"/>
                <a:cs typeface="Calibri"/>
              </a:rPr>
              <a:t> (e.g., to aid searching), but </a:t>
            </a:r>
            <a:r>
              <a:rPr sz="1500" b="1" i="0" u="sng" dirty="0">
                <a:solidFill>
                  <a:srgbClr val="262626"/>
                </a:solidFill>
                <a:latin typeface="Calibri"/>
                <a:ea typeface="Calibri"/>
                <a:cs typeface="Calibri"/>
              </a:rPr>
              <a:t>all interactions must be credited</a:t>
            </a:r>
            <a:r>
              <a:rPr sz="1500" b="0" i="0" u="none" dirty="0">
                <a:solidFill>
                  <a:srgbClr val="262626"/>
                </a:solidFill>
                <a:latin typeface="Calibri"/>
                <a:ea typeface="Calibri"/>
                <a:cs typeface="Calibri"/>
              </a:rPr>
              <a:t> in the assignment.</a:t>
            </a:r>
          </a:p>
        </p:txBody>
      </p:sp>
      <p:sp>
        <p:nvSpPr>
          <p:cNvPr id="9" name="expanded-takeaway-13">
            <a:extLst>
              <a:ext uri="{FF2B5EF4-FFF2-40B4-BE49-F238E27FC236}">
                <a16:creationId xmlns:a16="http://schemas.microsoft.com/office/drawing/2014/main" id="{7DF7CFFC-2509-4490-961B-4D0644F3696F}"/>
              </a:ext>
            </a:extLst>
          </p:cNvPr>
          <p:cNvSpPr>
            <a:spLocks noGrp="1"/>
          </p:cNvSpPr>
          <p:nvPr/>
        </p:nvSpPr>
        <p:spPr>
          <a:xfrm>
            <a:off x="876300" y="5715000"/>
            <a:ext cx="10439400" cy="419100"/>
          </a:xfrm>
          <a:prstGeom prst="roundRect">
            <a:avLst>
              <a:gd name="adj" fmla="val 18182"/>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AI may support learning only when its use is permitted, disclosed, verified, and remains your own work.</a:t>
            </a:r>
          </a:p>
        </p:txBody>
      </p:sp>
      <p:sp>
        <p:nvSpPr>
          <p:cNvPr id="10" name="v2-page-mask-13">
            <a:extLst>
              <a:ext uri="{FF2B5EF4-FFF2-40B4-BE49-F238E27FC236}">
                <a16:creationId xmlns:a16="http://schemas.microsoft.com/office/drawing/2014/main" id="{86D29D0A-388F-4BE0-9834-F8A72C664EFE}"/>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1" name="v2-page-13">
            <a:extLst>
              <a:ext uri="{FF2B5EF4-FFF2-40B4-BE49-F238E27FC236}">
                <a16:creationId xmlns:a16="http://schemas.microsoft.com/office/drawing/2014/main" id="{54800A28-8324-47A9-B43C-12029B5C9B3B}"/>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13</a:t>
            </a:r>
          </a:p>
        </p:txBody>
      </p:sp>
    </p:spTree>
    <p:extLst>
      <p:ext uri="{BB962C8B-B14F-4D97-AF65-F5344CB8AC3E}">
        <p14:creationId xmlns:p14="http://schemas.microsoft.com/office/powerpoint/2010/main" val="5332307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DC3F2BF-5D7C-4B5E-B1FD-8D7BC6AC5A4D}"/>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A3F983F9-47AF-4B0D-A671-CA03C3BAAB84}"/>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0266D72-36C8-4BBC-A23D-1E20A1A2CBD5}"/>
              </a:ext>
            </a:extLst>
          </p:cNvPr>
          <p:cNvSpPr>
            <a:spLocks noGrp="1"/>
          </p:cNvSpPr>
          <p:nvPr/>
        </p:nvSpPr>
        <p:spPr>
          <a:xfrm>
            <a:off x="896112" y="310896"/>
            <a:ext cx="10515600" cy="658368"/>
          </a:xfrm>
          <a:prstGeom prst="rect">
            <a:avLst/>
          </a:prstGeom>
          <a:noFill/>
        </p:spPr>
        <p:txBody>
          <a:bodyPr wrap="square">
            <a:spAutoFit/>
          </a:bodyPr>
          <a:lstStyle/>
          <a:p>
            <a:pPr algn="l">
              <a:buNone/>
            </a:pPr>
            <a:r>
              <a:rPr sz="2600" b="1">
                <a:solidFill>
                  <a:srgbClr val="1F3864"/>
                </a:solidFill>
                <a:latin typeface="Georgia"/>
                <a:ea typeface="Georgia"/>
                <a:cs typeface="Georgia"/>
              </a:rPr>
              <a:t>Logistics, Communication &amp; How to Succeed</a:t>
            </a:r>
          </a:p>
        </p:txBody>
      </p:sp>
      <p:sp>
        <p:nvSpPr>
          <p:cNvPr id="5" name="Rectangle 4">
            <a:extLst>
              <a:ext uri="{FF2B5EF4-FFF2-40B4-BE49-F238E27FC236}">
                <a16:creationId xmlns:a16="http://schemas.microsoft.com/office/drawing/2014/main" id="{C30AF94A-5249-4408-A936-4C8B5460FC15}"/>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020F184-414E-4FE3-9396-1CBC2A25EF5C}"/>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9C8D143B-0DD9-46A3-8A67-D9DF7DBA1494}"/>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14</a:t>
            </a:r>
          </a:p>
        </p:txBody>
      </p:sp>
      <p:sp>
        <p:nvSpPr>
          <p:cNvPr id="8" name="TextBox 7">
            <a:extLst>
              <a:ext uri="{FF2B5EF4-FFF2-40B4-BE49-F238E27FC236}">
                <a16:creationId xmlns:a16="http://schemas.microsoft.com/office/drawing/2014/main" id="{C67E2D21-E7AB-464B-94A0-F6C2DE71A0AE}"/>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4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Canvas is the hub: </a:t>
            </a:r>
            <a:r>
              <a:rPr sz="1600" b="0" i="0" u="none">
                <a:solidFill>
                  <a:srgbClr val="262626"/>
                </a:solidFill>
                <a:latin typeface="Calibri"/>
                <a:ea typeface="Calibri"/>
                <a:cs typeface="Calibri"/>
              </a:rPr>
              <a:t>readings, announcements, grades, and submissions.</a:t>
            </a:r>
          </a:p>
          <a:p>
            <a:pPr marL="285750" indent="-285750" algn="l">
              <a:lnSpc>
                <a:spcPct val="114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Office hours: </a:t>
            </a:r>
            <a:r>
              <a:rPr sz="1600" b="0" i="0" u="none">
                <a:solidFill>
                  <a:srgbClr val="262626"/>
                </a:solidFill>
                <a:latin typeface="Calibri"/>
                <a:ea typeface="Calibri"/>
                <a:cs typeface="Calibri"/>
              </a:rPr>
              <a:t>TBD — email </a:t>
            </a:r>
            <a:r>
              <a:rPr sz="1600" b="0" i="0" u="sng">
                <a:solidFill>
                  <a:srgbClr val="262626"/>
                </a:solidFill>
                <a:latin typeface="Calibri"/>
                <a:ea typeface="Calibri"/>
                <a:cs typeface="Calibri"/>
              </a:rPr>
              <a:t>siruihan@ust.hk</a:t>
            </a:r>
            <a:r>
              <a:rPr sz="1600" b="0" i="0" u="none">
                <a:solidFill>
                  <a:srgbClr val="262626"/>
                </a:solidFill>
                <a:latin typeface="Calibri"/>
                <a:ea typeface="Calibri"/>
                <a:cs typeface="Calibri"/>
              </a:rPr>
              <a:t> (~2 business days reply).</a:t>
            </a:r>
          </a:p>
          <a:p>
            <a:pPr marL="285750" indent="-285750" algn="l">
              <a:lnSpc>
                <a:spcPct val="114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Late work: </a:t>
            </a:r>
            <a:r>
              <a:rPr sz="1600" b="0" i="0" u="none">
                <a:solidFill>
                  <a:srgbClr val="262626"/>
                </a:solidFill>
                <a:latin typeface="Calibri"/>
                <a:ea typeface="Calibri"/>
                <a:cs typeface="Calibri"/>
              </a:rPr>
              <a:t>not accepted without prior arrangement and supporting documents.</a:t>
            </a:r>
          </a:p>
          <a:p>
            <a:pPr marL="285750" indent="-285750" algn="l">
              <a:lnSpc>
                <a:spcPct val="114000"/>
              </a:lnSpc>
              <a:spcBef>
                <a:spcPts val="800"/>
              </a:spcBef>
              <a:spcAft>
                <a:spcPts val="300"/>
              </a:spcAft>
              <a:buClr>
                <a:srgbClr val="2E75B6"/>
              </a:buClr>
              <a:buSzPct val="100000"/>
              <a:buFont typeface="Arial"/>
              <a:buChar char="•"/>
            </a:pPr>
            <a:r>
              <a:rPr sz="1600" b="1" i="0" u="none">
                <a:solidFill>
                  <a:srgbClr val="1F3864"/>
                </a:solidFill>
                <a:latin typeface="Calibri"/>
                <a:ea typeface="Calibri"/>
                <a:cs typeface="Calibri"/>
              </a:rPr>
              <a:t>How to succeed:</a:t>
            </a:r>
          </a:p>
          <a:p>
            <a:pPr marL="514350" indent="-285750" algn="l">
              <a:lnSpc>
                <a:spcPct val="114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Do the weekly readings </a:t>
            </a:r>
            <a:r>
              <a:rPr sz="1500" b="1" i="0" u="sng">
                <a:solidFill>
                  <a:srgbClr val="262626"/>
                </a:solidFill>
                <a:latin typeface="Calibri"/>
                <a:ea typeface="Calibri"/>
                <a:cs typeface="Calibri"/>
              </a:rPr>
              <a:t>before</a:t>
            </a:r>
            <a:r>
              <a:rPr sz="1500" b="0" i="0" u="none">
                <a:solidFill>
                  <a:srgbClr val="262626"/>
                </a:solidFill>
                <a:latin typeface="Calibri"/>
                <a:ea typeface="Calibri"/>
                <a:cs typeface="Calibri"/>
              </a:rPr>
              <a:t> class.</a:t>
            </a:r>
          </a:p>
          <a:p>
            <a:pPr marL="514350" indent="-285750" algn="l">
              <a:lnSpc>
                <a:spcPct val="114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Speak up in discussions — participation counts </a:t>
            </a:r>
            <a:r>
              <a:rPr sz="1500" b="1" i="0" u="sng">
                <a:solidFill>
                  <a:srgbClr val="262626"/>
                </a:solidFill>
                <a:latin typeface="Calibri"/>
                <a:ea typeface="Calibri"/>
                <a:cs typeface="Calibri"/>
              </a:rPr>
              <a:t>20%</a:t>
            </a:r>
            <a:r>
              <a:rPr sz="1500" b="0" i="0" u="none">
                <a:solidFill>
                  <a:srgbClr val="262626"/>
                </a:solidFill>
                <a:latin typeface="Calibri"/>
                <a:ea typeface="Calibri"/>
                <a:cs typeface="Calibri"/>
              </a:rPr>
              <a:t>.</a:t>
            </a:r>
          </a:p>
          <a:p>
            <a:pPr marL="514350" indent="-285750" algn="l">
              <a:lnSpc>
                <a:spcPct val="114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Start the final project early; form your group early.</a:t>
            </a:r>
          </a:p>
          <a:p>
            <a:pPr marL="514350" indent="-285750" algn="l">
              <a:lnSpc>
                <a:spcPct val="114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Build your own ethical voice over the term.</a:t>
            </a:r>
          </a:p>
        </p:txBody>
      </p:sp>
      <p:sp>
        <p:nvSpPr>
          <p:cNvPr id="9" name="expanded-takeaway-14">
            <a:extLst>
              <a:ext uri="{FF2B5EF4-FFF2-40B4-BE49-F238E27FC236}">
                <a16:creationId xmlns:a16="http://schemas.microsoft.com/office/drawing/2014/main" id="{E3D0A335-2683-4BCD-8010-56086DF7475F}"/>
              </a:ext>
            </a:extLst>
          </p:cNvPr>
          <p:cNvSpPr>
            <a:spLocks noGrp="1"/>
          </p:cNvSpPr>
          <p:nvPr/>
        </p:nvSpPr>
        <p:spPr>
          <a:xfrm>
            <a:off x="876300" y="5715000"/>
            <a:ext cx="10439400" cy="419100"/>
          </a:xfrm>
          <a:prstGeom prst="roundRect">
            <a:avLst>
              <a:gd name="adj" fmla="val 18182"/>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A reliable weekly rhythm is simple: read, contribute, reflect, and ask for help early.</a:t>
            </a:r>
          </a:p>
        </p:txBody>
      </p:sp>
      <p:sp>
        <p:nvSpPr>
          <p:cNvPr id="10" name="v2-page-mask-14">
            <a:extLst>
              <a:ext uri="{FF2B5EF4-FFF2-40B4-BE49-F238E27FC236}">
                <a16:creationId xmlns:a16="http://schemas.microsoft.com/office/drawing/2014/main" id="{0FF052BC-6AD6-4083-BE6D-4F2758761F79}"/>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1" name="v2-page-14">
            <a:extLst>
              <a:ext uri="{FF2B5EF4-FFF2-40B4-BE49-F238E27FC236}">
                <a16:creationId xmlns:a16="http://schemas.microsoft.com/office/drawing/2014/main" id="{AFAB9D4B-6BEA-4EAC-8282-020253F30FE0}"/>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14</a:t>
            </a:r>
          </a:p>
        </p:txBody>
      </p:sp>
    </p:spTree>
    <p:extLst>
      <p:ext uri="{BB962C8B-B14F-4D97-AF65-F5344CB8AC3E}">
        <p14:creationId xmlns:p14="http://schemas.microsoft.com/office/powerpoint/2010/main" val="8861003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D7F2032-AF0D-410F-A931-E21CF8EF2231}"/>
              </a:ext>
            </a:extLst>
          </p:cNvPr>
          <p:cNvSpPr>
            <a:spLocks noGrp="1"/>
          </p:cNvSpPr>
          <p:nvPr/>
        </p:nvSpPr>
        <p:spPr>
          <a:xfrm>
            <a:off x="0" y="0"/>
            <a:ext cx="228600"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3223A2F4-09E9-459E-A892-268791A5D580}"/>
              </a:ext>
            </a:extLst>
          </p:cNvPr>
          <p:cNvSpPr>
            <a:spLocks noGrp="1"/>
          </p:cNvSpPr>
          <p:nvPr/>
        </p:nvSpPr>
        <p:spPr>
          <a:xfrm>
            <a:off x="11430000" y="457200"/>
            <a:ext cx="274320" cy="1097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ectangle 3">
            <a:extLst>
              <a:ext uri="{FF2B5EF4-FFF2-40B4-BE49-F238E27FC236}">
                <a16:creationId xmlns:a16="http://schemas.microsoft.com/office/drawing/2014/main" id="{1DDE92D6-E78F-487A-B333-C25AC95EFE48}"/>
              </a:ext>
            </a:extLst>
          </p:cNvPr>
          <p:cNvSpPr>
            <a:spLocks noGrp="1"/>
          </p:cNvSpPr>
          <p:nvPr/>
        </p:nvSpPr>
        <p:spPr>
          <a:xfrm>
            <a:off x="11430000" y="914400"/>
            <a:ext cx="274320" cy="10972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B7216BDD-35B6-4C5E-B969-353CBB2F35ED}"/>
              </a:ext>
            </a:extLst>
          </p:cNvPr>
          <p:cNvSpPr>
            <a:spLocks noGrp="1"/>
          </p:cNvSpPr>
          <p:nvPr/>
        </p:nvSpPr>
        <p:spPr>
          <a:xfrm>
            <a:off x="11430000" y="1371600"/>
            <a:ext cx="274320" cy="1097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805E595-C707-43F4-BFEC-B96A161A0982}"/>
              </a:ext>
            </a:extLst>
          </p:cNvPr>
          <p:cNvSpPr>
            <a:spLocks noGrp="1"/>
          </p:cNvSpPr>
          <p:nvPr/>
        </p:nvSpPr>
        <p:spPr>
          <a:xfrm>
            <a:off x="1051560" y="2057400"/>
            <a:ext cx="10058400" cy="457200"/>
          </a:xfrm>
          <a:prstGeom prst="rect">
            <a:avLst/>
          </a:prstGeom>
          <a:noFill/>
        </p:spPr>
        <p:txBody>
          <a:bodyPr wrap="square">
            <a:spAutoFit/>
          </a:bodyPr>
          <a:lstStyle/>
          <a:p>
            <a:r>
              <a:rPr sz="1500" b="1">
                <a:solidFill>
                  <a:srgbClr val="2E75B6"/>
                </a:solidFill>
                <a:latin typeface="Calibri"/>
                <a:ea typeface="Calibri"/>
                <a:cs typeface="Calibri"/>
              </a:rPr>
              <a:t>PART B  ·  LECTURE 1</a:t>
            </a:r>
          </a:p>
        </p:txBody>
      </p:sp>
      <p:sp>
        <p:nvSpPr>
          <p:cNvPr id="7" name="TextBox 6">
            <a:extLst>
              <a:ext uri="{FF2B5EF4-FFF2-40B4-BE49-F238E27FC236}">
                <a16:creationId xmlns:a16="http://schemas.microsoft.com/office/drawing/2014/main" id="{9B819AAF-953F-4FBA-922D-8B57D9902F5D}"/>
              </a:ext>
            </a:extLst>
          </p:cNvPr>
          <p:cNvSpPr>
            <a:spLocks noGrp="1"/>
          </p:cNvSpPr>
          <p:nvPr/>
        </p:nvSpPr>
        <p:spPr>
          <a:xfrm>
            <a:off x="1024128" y="2514600"/>
            <a:ext cx="10424160" cy="1188720"/>
          </a:xfrm>
          <a:prstGeom prst="rect">
            <a:avLst/>
          </a:prstGeom>
          <a:noFill/>
        </p:spPr>
        <p:txBody>
          <a:bodyPr wrap="square">
            <a:spAutoFit/>
          </a:bodyPr>
          <a:lstStyle/>
          <a:p>
            <a:r>
              <a:rPr sz="4000" b="1">
                <a:solidFill>
                  <a:srgbClr val="1F3864"/>
                </a:solidFill>
                <a:latin typeface="Georgia"/>
                <a:ea typeface="Georgia"/>
                <a:cs typeface="Georgia"/>
              </a:rPr>
              <a:t>Introduction to AI Ethics</a:t>
            </a:r>
          </a:p>
        </p:txBody>
      </p:sp>
      <p:sp>
        <p:nvSpPr>
          <p:cNvPr id="8" name="Rectangle 7">
            <a:extLst>
              <a:ext uri="{FF2B5EF4-FFF2-40B4-BE49-F238E27FC236}">
                <a16:creationId xmlns:a16="http://schemas.microsoft.com/office/drawing/2014/main" id="{43E8BD86-676B-41E5-931D-1D5CA031C015}"/>
              </a:ext>
            </a:extLst>
          </p:cNvPr>
          <p:cNvSpPr>
            <a:spLocks noGrp="1"/>
          </p:cNvSpPr>
          <p:nvPr/>
        </p:nvSpPr>
        <p:spPr>
          <a:xfrm>
            <a:off x="1042415" y="3703320"/>
            <a:ext cx="2926080" cy="54864"/>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506BA140-4DC4-4216-91A3-1E76AC198DF6}"/>
              </a:ext>
            </a:extLst>
          </p:cNvPr>
          <p:cNvSpPr>
            <a:spLocks noGrp="1"/>
          </p:cNvSpPr>
          <p:nvPr/>
        </p:nvSpPr>
        <p:spPr>
          <a:xfrm>
            <a:off x="1042415" y="3886200"/>
            <a:ext cx="10058400" cy="640080"/>
          </a:xfrm>
          <a:prstGeom prst="rect">
            <a:avLst/>
          </a:prstGeom>
          <a:noFill/>
        </p:spPr>
        <p:txBody>
          <a:bodyPr wrap="square">
            <a:spAutoFit/>
          </a:bodyPr>
          <a:lstStyle/>
          <a:p>
            <a:r>
              <a:rPr sz="1700" i="1">
                <a:solidFill>
                  <a:srgbClr val="595959"/>
                </a:solidFill>
                <a:latin typeface="Calibri"/>
                <a:ea typeface="Calibri"/>
                <a:cs typeface="Calibri"/>
              </a:rPr>
              <a:t>What is AI, what is ethics, and why does it matter now?</a:t>
            </a:r>
          </a:p>
        </p:txBody>
      </p:sp>
      <p:sp>
        <p:nvSpPr>
          <p:cNvPr id="10" name="TextBox 9">
            <a:extLst>
              <a:ext uri="{FF2B5EF4-FFF2-40B4-BE49-F238E27FC236}">
                <a16:creationId xmlns:a16="http://schemas.microsoft.com/office/drawing/2014/main" id="{0623E6A5-76DD-41B5-805A-85CD5BD6B862}"/>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11" name="TextBox 10">
            <a:extLst>
              <a:ext uri="{FF2B5EF4-FFF2-40B4-BE49-F238E27FC236}">
                <a16:creationId xmlns:a16="http://schemas.microsoft.com/office/drawing/2014/main" id="{E13F676A-EB3A-43AF-8DD6-0DEAC1E64F2C}"/>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15</a:t>
            </a:r>
          </a:p>
        </p:txBody>
      </p:sp>
      <p:sp>
        <p:nvSpPr>
          <p:cNvPr id="17" name="expanded-takeaway-15">
            <a:extLst>
              <a:ext uri="{FF2B5EF4-FFF2-40B4-BE49-F238E27FC236}">
                <a16:creationId xmlns:a16="http://schemas.microsoft.com/office/drawing/2014/main" id="{43436CF7-0115-4BC7-93DD-559A52A78E80}"/>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To judge AI responsibly, we need to understand both the technology and the values it affects.</a:t>
            </a:r>
          </a:p>
        </p:txBody>
      </p:sp>
      <p:sp>
        <p:nvSpPr>
          <p:cNvPr id="18" name="v2-page-mask-15">
            <a:extLst>
              <a:ext uri="{FF2B5EF4-FFF2-40B4-BE49-F238E27FC236}">
                <a16:creationId xmlns:a16="http://schemas.microsoft.com/office/drawing/2014/main" id="{8B92DAB4-B6BF-4AC0-AF9C-0AF28F48F35E}"/>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15">
            <a:extLst>
              <a:ext uri="{FF2B5EF4-FFF2-40B4-BE49-F238E27FC236}">
                <a16:creationId xmlns:a16="http://schemas.microsoft.com/office/drawing/2014/main" id="{F2E9361D-F271-4325-906F-E3702FA1B05B}"/>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15</a:t>
            </a:r>
          </a:p>
        </p:txBody>
      </p:sp>
    </p:spTree>
    <p:extLst>
      <p:ext uri="{BB962C8B-B14F-4D97-AF65-F5344CB8AC3E}">
        <p14:creationId xmlns:p14="http://schemas.microsoft.com/office/powerpoint/2010/main" val="9323169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94FC35D-B5B9-4447-8F15-D0B691375287}"/>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49512B9F-E7A5-4C8A-9CD3-7CC082B579C6}"/>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17A1C66C-D00B-4733-B525-F9F9F45CCBD2}"/>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Lecture 1 Outline</a:t>
            </a:r>
          </a:p>
        </p:txBody>
      </p:sp>
      <p:sp>
        <p:nvSpPr>
          <p:cNvPr id="5" name="Rectangle 4">
            <a:extLst>
              <a:ext uri="{FF2B5EF4-FFF2-40B4-BE49-F238E27FC236}">
                <a16:creationId xmlns:a16="http://schemas.microsoft.com/office/drawing/2014/main" id="{FF203DEC-8814-4E9E-987E-4C1E8253B086}"/>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C503787-8AF5-48D8-802D-B2E81AD000BD}"/>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Today's roadmap — seven sections.</a:t>
            </a:r>
          </a:p>
        </p:txBody>
      </p:sp>
      <p:sp>
        <p:nvSpPr>
          <p:cNvPr id="7" name="TextBox 6">
            <a:extLst>
              <a:ext uri="{FF2B5EF4-FFF2-40B4-BE49-F238E27FC236}">
                <a16:creationId xmlns:a16="http://schemas.microsoft.com/office/drawing/2014/main" id="{4083574D-FFF0-415A-93FB-4F41D2217467}"/>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26722D5F-B1F3-4BAB-9437-1DE6D634D3AE}"/>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16</a:t>
            </a:r>
          </a:p>
        </p:txBody>
      </p:sp>
      <p:sp>
        <p:nvSpPr>
          <p:cNvPr id="9" name="TextBox 8">
            <a:extLst>
              <a:ext uri="{FF2B5EF4-FFF2-40B4-BE49-F238E27FC236}">
                <a16:creationId xmlns:a16="http://schemas.microsoft.com/office/drawing/2014/main" id="{1884D724-99E4-49CA-BFB3-6E1CBDA3DCA5}"/>
              </a:ext>
            </a:extLst>
          </p:cNvPr>
          <p:cNvSpPr>
            <a:spLocks noGrp="1"/>
          </p:cNvSpPr>
          <p:nvPr/>
        </p:nvSpPr>
        <p:spPr>
          <a:xfrm>
            <a:off x="896112" y="1691640"/>
            <a:ext cx="5349240" cy="4572000"/>
          </a:xfrm>
          <a:prstGeom prst="rect">
            <a:avLst/>
          </a:prstGeom>
          <a:noFill/>
        </p:spPr>
        <p:txBody>
          <a:bodyPr wrap="square" anchor="t">
            <a:spAutoFit/>
          </a:bodyPr>
          <a:lstStyle/>
          <a:p>
            <a:pPr marL="285750" indent="0" algn="l">
              <a:lnSpc>
                <a:spcPct val="110000"/>
              </a:lnSpc>
              <a:spcBef>
                <a:spcPts val="0"/>
              </a:spcBef>
              <a:spcAft>
                <a:spcPts val="1200"/>
              </a:spcAft>
              <a:buNone/>
            </a:pPr>
            <a:r>
              <a:rPr sz="2000" b="1" i="0" u="none">
                <a:solidFill>
                  <a:srgbClr val="2E75B6"/>
                </a:solidFill>
                <a:latin typeface="Calibri"/>
                <a:ea typeface="Calibri"/>
                <a:cs typeface="Calibri"/>
              </a:rPr>
              <a:t>01   </a:t>
            </a:r>
            <a:r>
              <a:rPr sz="1700" b="1" i="0" u="none">
                <a:solidFill>
                  <a:srgbClr val="1F3864"/>
                </a:solidFill>
                <a:latin typeface="Calibri"/>
                <a:ea typeface="Calibri"/>
                <a:cs typeface="Calibri"/>
              </a:rPr>
              <a:t>What is AI?</a:t>
            </a:r>
            <a:r>
              <a:rPr sz="1300" b="0" i="0" u="none">
                <a:solidFill>
                  <a:srgbClr val="595959"/>
                </a:solidFill>
                <a:latin typeface="Calibri"/>
                <a:ea typeface="Calibri"/>
                <a:cs typeface="Calibri"/>
              </a:rPr>
              <a:t>  —  definitions, history, how modern AI works</a:t>
            </a:r>
          </a:p>
          <a:p>
            <a:pPr marL="285750" indent="0" algn="l">
              <a:lnSpc>
                <a:spcPct val="110000"/>
              </a:lnSpc>
              <a:spcBef>
                <a:spcPts val="0"/>
              </a:spcBef>
              <a:spcAft>
                <a:spcPts val="1200"/>
              </a:spcAft>
              <a:buNone/>
            </a:pPr>
            <a:r>
              <a:rPr sz="2000" b="1" i="0" u="none">
                <a:solidFill>
                  <a:srgbClr val="2E75B6"/>
                </a:solidFill>
                <a:latin typeface="Calibri"/>
                <a:ea typeface="Calibri"/>
                <a:cs typeface="Calibri"/>
              </a:rPr>
              <a:t>02   </a:t>
            </a:r>
            <a:r>
              <a:rPr sz="1700" b="1" i="0" u="none">
                <a:solidFill>
                  <a:srgbClr val="1F3864"/>
                </a:solidFill>
                <a:latin typeface="Calibri"/>
                <a:ea typeface="Calibri"/>
                <a:cs typeface="Calibri"/>
              </a:rPr>
              <a:t>What is ethics?</a:t>
            </a:r>
            <a:r>
              <a:rPr sz="1300" b="0" i="0" u="none">
                <a:solidFill>
                  <a:srgbClr val="595959"/>
                </a:solidFill>
                <a:latin typeface="Calibri"/>
                <a:ea typeface="Calibri"/>
                <a:cs typeface="Calibri"/>
              </a:rPr>
              <a:t>  —  ethics vs law; major ethical theories</a:t>
            </a:r>
          </a:p>
          <a:p>
            <a:pPr marL="285750" indent="0" algn="l">
              <a:lnSpc>
                <a:spcPct val="110000"/>
              </a:lnSpc>
              <a:spcBef>
                <a:spcPts val="0"/>
              </a:spcBef>
              <a:spcAft>
                <a:spcPts val="1200"/>
              </a:spcAft>
              <a:buNone/>
            </a:pPr>
            <a:r>
              <a:rPr sz="2000" b="1" i="0" u="none">
                <a:solidFill>
                  <a:srgbClr val="2E75B6"/>
                </a:solidFill>
                <a:latin typeface="Calibri"/>
                <a:ea typeface="Calibri"/>
                <a:cs typeface="Calibri"/>
              </a:rPr>
              <a:t>03   </a:t>
            </a:r>
            <a:r>
              <a:rPr sz="1700" b="1" i="0" u="none">
                <a:solidFill>
                  <a:srgbClr val="1F3864"/>
                </a:solidFill>
                <a:latin typeface="Calibri"/>
                <a:ea typeface="Calibri"/>
                <a:cs typeface="Calibri"/>
              </a:rPr>
              <a:t>What is AI ethics &amp; why now?</a:t>
            </a:r>
            <a:r>
              <a:rPr sz="1300" b="0" i="0" u="none">
                <a:solidFill>
                  <a:srgbClr val="595959"/>
                </a:solidFill>
                <a:latin typeface="Calibri"/>
                <a:ea typeface="Calibri"/>
                <a:cs typeface="Calibri"/>
              </a:rPr>
              <a:t>  —  scope, urgency, actors</a:t>
            </a:r>
          </a:p>
          <a:p>
            <a:pPr marL="285750" indent="0" algn="l">
              <a:lnSpc>
                <a:spcPct val="110000"/>
              </a:lnSpc>
              <a:spcBef>
                <a:spcPts val="0"/>
              </a:spcBef>
              <a:spcAft>
                <a:spcPts val="1200"/>
              </a:spcAft>
              <a:buNone/>
            </a:pPr>
            <a:r>
              <a:rPr sz="2000" b="1" i="0" u="none">
                <a:solidFill>
                  <a:srgbClr val="2E75B6"/>
                </a:solidFill>
                <a:latin typeface="Calibri"/>
                <a:ea typeface="Calibri"/>
                <a:cs typeface="Calibri"/>
              </a:rPr>
              <a:t>04   </a:t>
            </a:r>
            <a:r>
              <a:rPr sz="1700" b="1" i="0" u="none">
                <a:solidFill>
                  <a:srgbClr val="1F3864"/>
                </a:solidFill>
                <a:latin typeface="Calibri"/>
                <a:ea typeface="Calibri"/>
                <a:cs typeface="Calibri"/>
              </a:rPr>
              <a:t>Key AI ethics issues</a:t>
            </a:r>
            <a:r>
              <a:rPr sz="1300" b="0" i="0" u="none">
                <a:solidFill>
                  <a:srgbClr val="595959"/>
                </a:solidFill>
                <a:latin typeface="Calibri"/>
                <a:ea typeface="Calibri"/>
                <a:cs typeface="Calibri"/>
              </a:rPr>
              <a:t>  —  fairness, privacy, transparency, accountability, safety, impact</a:t>
            </a:r>
          </a:p>
        </p:txBody>
      </p:sp>
      <p:sp>
        <p:nvSpPr>
          <p:cNvPr id="10" name="TextBox 9">
            <a:extLst>
              <a:ext uri="{FF2B5EF4-FFF2-40B4-BE49-F238E27FC236}">
                <a16:creationId xmlns:a16="http://schemas.microsoft.com/office/drawing/2014/main" id="{D6BA0784-E6FF-4672-8938-A166E146A9B9}"/>
              </a:ext>
            </a:extLst>
          </p:cNvPr>
          <p:cNvSpPr>
            <a:spLocks noGrp="1"/>
          </p:cNvSpPr>
          <p:nvPr/>
        </p:nvSpPr>
        <p:spPr>
          <a:xfrm>
            <a:off x="6446520" y="1691640"/>
            <a:ext cx="5349240" cy="4572000"/>
          </a:xfrm>
          <a:prstGeom prst="rect">
            <a:avLst/>
          </a:prstGeom>
          <a:noFill/>
        </p:spPr>
        <p:txBody>
          <a:bodyPr wrap="square" anchor="t">
            <a:spAutoFit/>
          </a:bodyPr>
          <a:lstStyle/>
          <a:p>
            <a:pPr marL="285750" indent="0" algn="l">
              <a:lnSpc>
                <a:spcPct val="110000"/>
              </a:lnSpc>
              <a:spcBef>
                <a:spcPts val="0"/>
              </a:spcBef>
              <a:spcAft>
                <a:spcPts val="1200"/>
              </a:spcAft>
              <a:buNone/>
            </a:pPr>
            <a:r>
              <a:rPr sz="2000" b="1" i="0" u="none">
                <a:solidFill>
                  <a:srgbClr val="2E75B6"/>
                </a:solidFill>
                <a:latin typeface="Calibri"/>
                <a:ea typeface="Calibri"/>
                <a:cs typeface="Calibri"/>
              </a:rPr>
              <a:t>05   </a:t>
            </a:r>
            <a:r>
              <a:rPr sz="1700" b="1" i="0" u="none">
                <a:solidFill>
                  <a:srgbClr val="1F3864"/>
                </a:solidFill>
                <a:latin typeface="Calibri"/>
                <a:ea typeface="Calibri"/>
                <a:cs typeface="Calibri"/>
              </a:rPr>
              <a:t>Case studies</a:t>
            </a:r>
            <a:r>
              <a:rPr sz="1300" b="0" i="0" u="none">
                <a:solidFill>
                  <a:srgbClr val="595959"/>
                </a:solidFill>
                <a:latin typeface="Calibri"/>
                <a:ea typeface="Calibri"/>
                <a:cs typeface="Calibri"/>
              </a:rPr>
              <a:t>  —  criminal justice, public services, hiring, surveillance, deepfakes</a:t>
            </a:r>
          </a:p>
          <a:p>
            <a:pPr marL="285750" indent="0" algn="l">
              <a:lnSpc>
                <a:spcPct val="110000"/>
              </a:lnSpc>
              <a:spcBef>
                <a:spcPts val="0"/>
              </a:spcBef>
              <a:spcAft>
                <a:spcPts val="1200"/>
              </a:spcAft>
              <a:buNone/>
            </a:pPr>
            <a:r>
              <a:rPr sz="2000" b="1" i="0" u="none">
                <a:solidFill>
                  <a:srgbClr val="2E75B6"/>
                </a:solidFill>
                <a:latin typeface="Calibri"/>
                <a:ea typeface="Calibri"/>
                <a:cs typeface="Calibri"/>
              </a:rPr>
              <a:t>06   </a:t>
            </a:r>
            <a:r>
              <a:rPr sz="1700" b="1" i="0" u="none">
                <a:solidFill>
                  <a:srgbClr val="1F3864"/>
                </a:solidFill>
                <a:latin typeface="Calibri"/>
                <a:ea typeface="Calibri"/>
                <a:cs typeface="Calibri"/>
              </a:rPr>
              <a:t>Frameworks &amp; decision-making</a:t>
            </a:r>
            <a:r>
              <a:rPr sz="1300" b="0" i="0" u="none">
                <a:solidFill>
                  <a:srgbClr val="595959"/>
                </a:solidFill>
                <a:latin typeface="Calibri"/>
                <a:ea typeface="Calibri"/>
                <a:cs typeface="Calibri"/>
              </a:rPr>
              <a:t>  —  Responsible AI, principles, trade-offs, a method</a:t>
            </a:r>
          </a:p>
          <a:p>
            <a:pPr marL="285750" indent="0" algn="l">
              <a:lnSpc>
                <a:spcPct val="110000"/>
              </a:lnSpc>
              <a:spcBef>
                <a:spcPts val="0"/>
              </a:spcBef>
              <a:spcAft>
                <a:spcPts val="1200"/>
              </a:spcAft>
              <a:buNone/>
            </a:pPr>
            <a:r>
              <a:rPr sz="2000" b="1" i="0" u="none">
                <a:solidFill>
                  <a:srgbClr val="2E75B6"/>
                </a:solidFill>
                <a:latin typeface="Calibri"/>
                <a:ea typeface="Calibri"/>
                <a:cs typeface="Calibri"/>
              </a:rPr>
              <a:t>07   </a:t>
            </a:r>
            <a:r>
              <a:rPr sz="1700" b="1" i="0" u="none">
                <a:solidFill>
                  <a:srgbClr val="1F3864"/>
                </a:solidFill>
                <a:latin typeface="Calibri"/>
                <a:ea typeface="Calibri"/>
                <a:cs typeface="Calibri"/>
              </a:rPr>
              <a:t>Wrap-up</a:t>
            </a:r>
            <a:r>
              <a:rPr sz="1300" b="0" i="0" u="none">
                <a:solidFill>
                  <a:srgbClr val="595959"/>
                </a:solidFill>
                <a:latin typeface="Calibri"/>
                <a:ea typeface="Calibri"/>
                <a:cs typeface="Calibri"/>
              </a:rPr>
              <a:t>  —  takeaways, reading, next lecture, Q&amp;A</a:t>
            </a:r>
          </a:p>
        </p:txBody>
      </p:sp>
      <p:sp>
        <p:nvSpPr>
          <p:cNvPr id="11" name="expanded-arrow-16-1">
            <a:extLst>
              <a:ext uri="{FF2B5EF4-FFF2-40B4-BE49-F238E27FC236}">
                <a16:creationId xmlns:a16="http://schemas.microsoft.com/office/drawing/2014/main" id="{FE78D5AE-C427-46A7-98E5-059C0F0B9E19}"/>
              </a:ext>
            </a:extLst>
          </p:cNvPr>
          <p:cNvSpPr>
            <a:spLocks noGrp="1"/>
          </p:cNvSpPr>
          <p:nvPr/>
        </p:nvSpPr>
        <p:spPr>
          <a:xfrm>
            <a:off x="4772025" y="4872038"/>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16-2">
            <a:extLst>
              <a:ext uri="{FF2B5EF4-FFF2-40B4-BE49-F238E27FC236}">
                <a16:creationId xmlns:a16="http://schemas.microsoft.com/office/drawing/2014/main" id="{D3333552-8CFC-4475-9623-2DEBEFA33D1D}"/>
              </a:ext>
            </a:extLst>
          </p:cNvPr>
          <p:cNvSpPr>
            <a:spLocks noGrp="1"/>
          </p:cNvSpPr>
          <p:nvPr/>
        </p:nvSpPr>
        <p:spPr>
          <a:xfrm>
            <a:off x="7153275" y="4872038"/>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16-1">
            <a:extLst>
              <a:ext uri="{FF2B5EF4-FFF2-40B4-BE49-F238E27FC236}">
                <a16:creationId xmlns:a16="http://schemas.microsoft.com/office/drawing/2014/main" id="{943A6BF8-A1DC-4E9A-B218-5825D6D06C58}"/>
              </a:ext>
            </a:extLst>
          </p:cNvPr>
          <p:cNvSpPr>
            <a:spLocks noGrp="1"/>
          </p:cNvSpPr>
          <p:nvPr/>
        </p:nvSpPr>
        <p:spPr>
          <a:xfrm>
            <a:off x="26193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DEFINE</a:t>
            </a:r>
          </a:p>
        </p:txBody>
      </p:sp>
      <p:sp>
        <p:nvSpPr>
          <p:cNvPr id="14" name="expanded-node-16-2">
            <a:extLst>
              <a:ext uri="{FF2B5EF4-FFF2-40B4-BE49-F238E27FC236}">
                <a16:creationId xmlns:a16="http://schemas.microsoft.com/office/drawing/2014/main" id="{C5A8E06F-3281-4B28-860C-349568AEF735}"/>
              </a:ext>
            </a:extLst>
          </p:cNvPr>
          <p:cNvSpPr>
            <a:spLocks noGrp="1"/>
          </p:cNvSpPr>
          <p:nvPr/>
        </p:nvSpPr>
        <p:spPr>
          <a:xfrm>
            <a:off x="5000625"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EVALUATE</a:t>
            </a:r>
          </a:p>
        </p:txBody>
      </p:sp>
      <p:sp>
        <p:nvSpPr>
          <p:cNvPr id="15" name="expanded-node-16-3">
            <a:extLst>
              <a:ext uri="{FF2B5EF4-FFF2-40B4-BE49-F238E27FC236}">
                <a16:creationId xmlns:a16="http://schemas.microsoft.com/office/drawing/2014/main" id="{57B0982F-FB18-4D22-A9CA-69A0681298C3}"/>
              </a:ext>
            </a:extLst>
          </p:cNvPr>
          <p:cNvSpPr>
            <a:spLocks noGrp="1"/>
          </p:cNvSpPr>
          <p:nvPr/>
        </p:nvSpPr>
        <p:spPr>
          <a:xfrm>
            <a:off x="73818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APPLY</a:t>
            </a:r>
          </a:p>
        </p:txBody>
      </p:sp>
      <p:sp>
        <p:nvSpPr>
          <p:cNvPr id="16" name="expanded-takeaway-16">
            <a:extLst>
              <a:ext uri="{FF2B5EF4-FFF2-40B4-BE49-F238E27FC236}">
                <a16:creationId xmlns:a16="http://schemas.microsoft.com/office/drawing/2014/main" id="{7689DE4B-0613-43F6-B64B-2C1CFBC29FCC}"/>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The lecture progresses from definition to evaluation, cases, and practical decision-making.</a:t>
            </a:r>
          </a:p>
        </p:txBody>
      </p:sp>
      <p:sp>
        <p:nvSpPr>
          <p:cNvPr id="17" name="v2-page-mask-16">
            <a:extLst>
              <a:ext uri="{FF2B5EF4-FFF2-40B4-BE49-F238E27FC236}">
                <a16:creationId xmlns:a16="http://schemas.microsoft.com/office/drawing/2014/main" id="{152F7F1D-2948-4932-B02E-167F416F467A}"/>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8" name="v2-page-16">
            <a:extLst>
              <a:ext uri="{FF2B5EF4-FFF2-40B4-BE49-F238E27FC236}">
                <a16:creationId xmlns:a16="http://schemas.microsoft.com/office/drawing/2014/main" id="{D647BF55-FC3F-45E9-A4B7-9482C562FEBA}"/>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16</a:t>
            </a:r>
          </a:p>
        </p:txBody>
      </p:sp>
    </p:spTree>
    <p:extLst>
      <p:ext uri="{BB962C8B-B14F-4D97-AF65-F5344CB8AC3E}">
        <p14:creationId xmlns:p14="http://schemas.microsoft.com/office/powerpoint/2010/main" val="11540525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v2-background">
            <a:extLst>
              <a:ext uri="{FF2B5EF4-FFF2-40B4-BE49-F238E27FC236}">
                <a16:creationId xmlns:a16="http://schemas.microsoft.com/office/drawing/2014/main" id="{506E6E42-E45F-4877-A87D-CD99080722AC}"/>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zh-CN" altLang="en-US"/>
          </a:p>
        </p:txBody>
      </p:sp>
      <p:sp>
        <p:nvSpPr>
          <p:cNvPr id="2" name="v2-title-rail">
            <a:extLst>
              <a:ext uri="{FF2B5EF4-FFF2-40B4-BE49-F238E27FC236}">
                <a16:creationId xmlns:a16="http://schemas.microsoft.com/office/drawing/2014/main" id="{95F18617-A971-493B-843D-570204D382CA}"/>
              </a:ext>
            </a:extLst>
          </p:cNvPr>
          <p:cNvSpPr>
            <a:spLocks noGrp="1"/>
          </p:cNvSpPr>
          <p:nvPr/>
        </p:nvSpPr>
        <p:spPr>
          <a:xfrm>
            <a:off x="628650" y="400050"/>
            <a:ext cx="95250" cy="476250"/>
          </a:xfrm>
          <a:prstGeom prst="rect">
            <a:avLst/>
          </a:prstGeom>
          <a:solidFill>
            <a:srgbClr val="1F3B6D"/>
          </a:solidFill>
          <a:ln w="0">
            <a:solidFill>
              <a:srgbClr val="1F3B6D"/>
            </a:solidFill>
            <a:prstDash val="solid"/>
          </a:ln>
        </p:spPr>
        <p:txBody>
          <a:bodyPr/>
          <a:lstStyle/>
          <a:p>
            <a:endParaRPr lang="zh-CN" altLang="en-US"/>
          </a:p>
        </p:txBody>
      </p:sp>
      <p:sp>
        <p:nvSpPr>
          <p:cNvPr id="3" name="v2-title">
            <a:extLst>
              <a:ext uri="{FF2B5EF4-FFF2-40B4-BE49-F238E27FC236}">
                <a16:creationId xmlns:a16="http://schemas.microsoft.com/office/drawing/2014/main" id="{481C79E2-A96C-4E55-92CC-9542506DD9DE}"/>
              </a:ext>
            </a:extLst>
          </p:cNvPr>
          <p:cNvSpPr>
            <a:spLocks noGrp="1"/>
          </p:cNvSpPr>
          <p:nvPr/>
        </p:nvSpPr>
        <p:spPr>
          <a:xfrm>
            <a:off x="981075" y="361950"/>
            <a:ext cx="10287000" cy="552450"/>
          </a:xfrm>
          <a:prstGeom prst="rect">
            <a:avLst/>
          </a:prstGeom>
          <a:noFill/>
          <a:ln w="0">
            <a:noFill/>
            <a:prstDash val="solid"/>
          </a:ln>
        </p:spPr>
        <p:txBody>
          <a:bodyPr/>
          <a:lstStyle/>
          <a:p>
            <a:pPr>
              <a:defRPr sz="2550" b="1">
                <a:solidFill>
                  <a:srgbClr val="1F3B6D"/>
                </a:solidFill>
              </a:defRPr>
            </a:pPr>
            <a:r>
              <a:rPr sz="2550" b="1">
                <a:solidFill>
                  <a:srgbClr val="1F3B6D"/>
                </a:solidFill>
              </a:rPr>
              <a:t>Lecture 1 Learning Objectives</a:t>
            </a:r>
          </a:p>
        </p:txBody>
      </p:sp>
      <p:sp>
        <p:nvSpPr>
          <p:cNvPr id="4" name="v2-rule">
            <a:extLst>
              <a:ext uri="{FF2B5EF4-FFF2-40B4-BE49-F238E27FC236}">
                <a16:creationId xmlns:a16="http://schemas.microsoft.com/office/drawing/2014/main" id="{F1D4A2AA-DC65-467B-BE95-13A181AE75BF}"/>
              </a:ext>
            </a:extLst>
          </p:cNvPr>
          <p:cNvSpPr>
            <a:spLocks noGrp="1"/>
          </p:cNvSpPr>
          <p:nvPr/>
        </p:nvSpPr>
        <p:spPr>
          <a:xfrm>
            <a:off x="638175" y="1000125"/>
            <a:ext cx="10972800" cy="28575"/>
          </a:xfrm>
          <a:prstGeom prst="rect">
            <a:avLst/>
          </a:prstGeom>
          <a:solidFill>
            <a:srgbClr val="2D78B9"/>
          </a:solidFill>
          <a:ln w="0">
            <a:solidFill>
              <a:srgbClr val="2D78B9"/>
            </a:solidFill>
            <a:prstDash val="solid"/>
          </a:ln>
        </p:spPr>
        <p:txBody>
          <a:bodyPr/>
          <a:lstStyle/>
          <a:p>
            <a:endParaRPr lang="zh-CN" altLang="en-US"/>
          </a:p>
        </p:txBody>
      </p:sp>
      <p:sp>
        <p:nvSpPr>
          <p:cNvPr id="5" name="v2-subtitle">
            <a:extLst>
              <a:ext uri="{FF2B5EF4-FFF2-40B4-BE49-F238E27FC236}">
                <a16:creationId xmlns:a16="http://schemas.microsoft.com/office/drawing/2014/main" id="{8635BDBC-451A-493F-ADE6-32B0980A4A36}"/>
              </a:ext>
            </a:extLst>
          </p:cNvPr>
          <p:cNvSpPr>
            <a:spLocks noGrp="1"/>
          </p:cNvSpPr>
          <p:nvPr/>
        </p:nvSpPr>
        <p:spPr>
          <a:xfrm>
            <a:off x="981075" y="1104900"/>
            <a:ext cx="10287000" cy="323850"/>
          </a:xfrm>
          <a:prstGeom prst="rect">
            <a:avLst/>
          </a:prstGeom>
          <a:noFill/>
          <a:ln w="0">
            <a:noFill/>
            <a:prstDash val="solid"/>
          </a:ln>
        </p:spPr>
        <p:txBody>
          <a:bodyPr/>
          <a:lstStyle/>
          <a:p>
            <a:pPr>
              <a:defRPr sz="1275" i="1">
                <a:solidFill>
                  <a:srgbClr val="5B6670"/>
                </a:solidFill>
              </a:defRPr>
            </a:pPr>
            <a:r>
              <a:rPr sz="1275" i="1">
                <a:solidFill>
                  <a:srgbClr val="5B6670"/>
                </a:solidFill>
              </a:rPr>
              <a:t>By the end of this session, you should be able to…</a:t>
            </a:r>
          </a:p>
        </p:txBody>
      </p:sp>
      <p:sp>
        <p:nvSpPr>
          <p:cNvPr id="6" name="v2-accent">
            <a:extLst>
              <a:ext uri="{FF2B5EF4-FFF2-40B4-BE49-F238E27FC236}">
                <a16:creationId xmlns:a16="http://schemas.microsoft.com/office/drawing/2014/main" id="{3B491BE6-9966-4CAB-B0AE-CD4F5C4E7A24}"/>
              </a:ext>
            </a:extLst>
          </p:cNvPr>
          <p:cNvSpPr>
            <a:spLocks noGrp="1"/>
          </p:cNvSpPr>
          <p:nvPr/>
        </p:nvSpPr>
        <p:spPr>
          <a:xfrm>
            <a:off x="11687175" y="304800"/>
            <a:ext cx="266700" cy="266700"/>
          </a:xfrm>
          <a:prstGeom prst="rect">
            <a:avLst/>
          </a:prstGeom>
          <a:solidFill>
            <a:srgbClr val="2D78B9"/>
          </a:solidFill>
          <a:ln w="0">
            <a:solidFill>
              <a:srgbClr val="2D78B9"/>
            </a:solidFill>
            <a:prstDash val="solid"/>
          </a:ln>
        </p:spPr>
        <p:txBody>
          <a:bodyPr/>
          <a:lstStyle/>
          <a:p>
            <a:endParaRPr lang="zh-CN" altLang="en-US"/>
          </a:p>
        </p:txBody>
      </p:sp>
      <p:sp>
        <p:nvSpPr>
          <p:cNvPr id="7" name="v2-footer">
            <a:extLst>
              <a:ext uri="{FF2B5EF4-FFF2-40B4-BE49-F238E27FC236}">
                <a16:creationId xmlns:a16="http://schemas.microsoft.com/office/drawing/2014/main" id="{204ABB25-093B-4373-9CC4-E00B1AF9997F}"/>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sp>
        <p:nvSpPr>
          <p:cNvPr id="8" name="obj-0-bg">
            <a:extLst>
              <a:ext uri="{FF2B5EF4-FFF2-40B4-BE49-F238E27FC236}">
                <a16:creationId xmlns:a16="http://schemas.microsoft.com/office/drawing/2014/main" id="{31D6B9A5-3668-4B57-8937-BB68CC305EA7}"/>
              </a:ext>
            </a:extLst>
          </p:cNvPr>
          <p:cNvSpPr>
            <a:spLocks noGrp="1"/>
          </p:cNvSpPr>
          <p:nvPr/>
        </p:nvSpPr>
        <p:spPr>
          <a:xfrm>
            <a:off x="1000125" y="1666875"/>
            <a:ext cx="4810125" cy="1381125"/>
          </a:xfrm>
          <a:prstGeom prst="roundRect">
            <a:avLst>
              <a:gd name="adj" fmla="val 5517"/>
            </a:avLst>
          </a:prstGeom>
          <a:solidFill>
            <a:srgbClr val="F8FBFE"/>
          </a:solidFill>
          <a:ln w="11430">
            <a:solidFill>
              <a:srgbClr val="2D78B9"/>
            </a:solidFill>
            <a:prstDash val="solid"/>
          </a:ln>
        </p:spPr>
        <p:txBody>
          <a:bodyPr/>
          <a:lstStyle/>
          <a:p>
            <a:endParaRPr lang="zh-CN" altLang="en-US"/>
          </a:p>
        </p:txBody>
      </p:sp>
      <p:sp>
        <p:nvSpPr>
          <p:cNvPr id="9" name="obj-0-title">
            <a:extLst>
              <a:ext uri="{FF2B5EF4-FFF2-40B4-BE49-F238E27FC236}">
                <a16:creationId xmlns:a16="http://schemas.microsoft.com/office/drawing/2014/main" id="{7749A416-D4F8-4FDD-ABB9-0B03FEA871A3}"/>
              </a:ext>
            </a:extLst>
          </p:cNvPr>
          <p:cNvSpPr>
            <a:spLocks noGrp="1"/>
          </p:cNvSpPr>
          <p:nvPr/>
        </p:nvSpPr>
        <p:spPr>
          <a:xfrm>
            <a:off x="1171575" y="1800225"/>
            <a:ext cx="4467225" cy="285750"/>
          </a:xfrm>
          <a:prstGeom prst="rect">
            <a:avLst/>
          </a:prstGeom>
          <a:noFill/>
          <a:ln w="0">
            <a:noFill/>
            <a:prstDash val="solid"/>
          </a:ln>
        </p:spPr>
        <p:txBody>
          <a:bodyPr/>
          <a:lstStyle/>
          <a:p>
            <a:pPr>
              <a:defRPr sz="1350" b="1">
                <a:solidFill>
                  <a:srgbClr val="2D78B9"/>
                </a:solidFill>
              </a:defRPr>
            </a:pPr>
            <a:r>
              <a:rPr sz="1350" b="1">
                <a:solidFill>
                  <a:srgbClr val="2D78B9"/>
                </a:solidFill>
              </a:rPr>
              <a:t>DISTINGUISH</a:t>
            </a:r>
          </a:p>
        </p:txBody>
      </p:sp>
      <p:sp>
        <p:nvSpPr>
          <p:cNvPr id="10" name="obj-0-body">
            <a:extLst>
              <a:ext uri="{FF2B5EF4-FFF2-40B4-BE49-F238E27FC236}">
                <a16:creationId xmlns:a16="http://schemas.microsoft.com/office/drawing/2014/main" id="{50E061FC-18B9-483E-834A-18257249B518}"/>
              </a:ext>
            </a:extLst>
          </p:cNvPr>
          <p:cNvSpPr>
            <a:spLocks noGrp="1"/>
          </p:cNvSpPr>
          <p:nvPr/>
        </p:nvSpPr>
        <p:spPr>
          <a:xfrm>
            <a:off x="1171575" y="2124075"/>
            <a:ext cx="4467225" cy="809625"/>
          </a:xfrm>
          <a:prstGeom prst="rect">
            <a:avLst/>
          </a:prstGeom>
          <a:noFill/>
          <a:ln w="0">
            <a:noFill/>
            <a:prstDash val="solid"/>
          </a:ln>
        </p:spPr>
        <p:txBody>
          <a:bodyPr/>
          <a:lstStyle/>
          <a:p>
            <a:pPr>
              <a:defRPr sz="1200">
                <a:solidFill>
                  <a:srgbClr val="263442"/>
                </a:solidFill>
              </a:defRPr>
            </a:pPr>
            <a:r>
              <a:rPr sz="1200">
                <a:solidFill>
                  <a:srgbClr val="263442"/>
                </a:solidFill>
              </a:rPr>
              <a:t>descriptive, normative, and technical questions</a:t>
            </a:r>
          </a:p>
        </p:txBody>
      </p:sp>
      <p:sp>
        <p:nvSpPr>
          <p:cNvPr id="11" name="obj-1-bg">
            <a:extLst>
              <a:ext uri="{FF2B5EF4-FFF2-40B4-BE49-F238E27FC236}">
                <a16:creationId xmlns:a16="http://schemas.microsoft.com/office/drawing/2014/main" id="{C052F451-5853-45D7-B07B-177BC824587F}"/>
              </a:ext>
            </a:extLst>
          </p:cNvPr>
          <p:cNvSpPr>
            <a:spLocks noGrp="1"/>
          </p:cNvSpPr>
          <p:nvPr/>
        </p:nvSpPr>
        <p:spPr>
          <a:xfrm>
            <a:off x="6143625" y="1666875"/>
            <a:ext cx="4810125" cy="1381125"/>
          </a:xfrm>
          <a:prstGeom prst="roundRect">
            <a:avLst>
              <a:gd name="adj" fmla="val 5517"/>
            </a:avLst>
          </a:prstGeom>
          <a:solidFill>
            <a:srgbClr val="F8FBFE"/>
          </a:solidFill>
          <a:ln w="11430">
            <a:solidFill>
              <a:srgbClr val="2D78B9"/>
            </a:solidFill>
            <a:prstDash val="solid"/>
          </a:ln>
        </p:spPr>
        <p:txBody>
          <a:bodyPr/>
          <a:lstStyle/>
          <a:p>
            <a:endParaRPr lang="zh-CN" altLang="en-US"/>
          </a:p>
        </p:txBody>
      </p:sp>
      <p:sp>
        <p:nvSpPr>
          <p:cNvPr id="12" name="obj-1-title">
            <a:extLst>
              <a:ext uri="{FF2B5EF4-FFF2-40B4-BE49-F238E27FC236}">
                <a16:creationId xmlns:a16="http://schemas.microsoft.com/office/drawing/2014/main" id="{49359651-4ABE-48D4-8EA5-3C53CB63F0DD}"/>
              </a:ext>
            </a:extLst>
          </p:cNvPr>
          <p:cNvSpPr>
            <a:spLocks noGrp="1"/>
          </p:cNvSpPr>
          <p:nvPr/>
        </p:nvSpPr>
        <p:spPr>
          <a:xfrm>
            <a:off x="6315075" y="1800225"/>
            <a:ext cx="4467225" cy="285750"/>
          </a:xfrm>
          <a:prstGeom prst="rect">
            <a:avLst/>
          </a:prstGeom>
          <a:noFill/>
          <a:ln w="0">
            <a:noFill/>
            <a:prstDash val="solid"/>
          </a:ln>
        </p:spPr>
        <p:txBody>
          <a:bodyPr/>
          <a:lstStyle/>
          <a:p>
            <a:pPr>
              <a:defRPr sz="1350" b="1">
                <a:solidFill>
                  <a:srgbClr val="2D78B9"/>
                </a:solidFill>
              </a:defRPr>
            </a:pPr>
            <a:r>
              <a:rPr sz="1350" b="1">
                <a:solidFill>
                  <a:srgbClr val="2D78B9"/>
                </a:solidFill>
              </a:rPr>
              <a:t>APPLY</a:t>
            </a:r>
          </a:p>
        </p:txBody>
      </p:sp>
      <p:sp>
        <p:nvSpPr>
          <p:cNvPr id="13" name="obj-1-body">
            <a:extLst>
              <a:ext uri="{FF2B5EF4-FFF2-40B4-BE49-F238E27FC236}">
                <a16:creationId xmlns:a16="http://schemas.microsoft.com/office/drawing/2014/main" id="{C5D994B2-73AD-4075-AF05-DE3420ED8E73}"/>
              </a:ext>
            </a:extLst>
          </p:cNvPr>
          <p:cNvSpPr>
            <a:spLocks noGrp="1"/>
          </p:cNvSpPr>
          <p:nvPr/>
        </p:nvSpPr>
        <p:spPr>
          <a:xfrm>
            <a:off x="6315075" y="2124075"/>
            <a:ext cx="4467225" cy="809625"/>
          </a:xfrm>
          <a:prstGeom prst="rect">
            <a:avLst/>
          </a:prstGeom>
          <a:noFill/>
          <a:ln w="0">
            <a:noFill/>
            <a:prstDash val="solid"/>
          </a:ln>
        </p:spPr>
        <p:txBody>
          <a:bodyPr/>
          <a:lstStyle/>
          <a:p>
            <a:pPr>
              <a:defRPr sz="1200">
                <a:solidFill>
                  <a:srgbClr val="263442"/>
                </a:solidFill>
              </a:defRPr>
            </a:pPr>
            <a:r>
              <a:rPr sz="1200">
                <a:solidFill>
                  <a:srgbClr val="263442"/>
                </a:solidFill>
              </a:rPr>
              <a:t>multiple ethical lenses to the same case</a:t>
            </a:r>
          </a:p>
        </p:txBody>
      </p:sp>
      <p:sp>
        <p:nvSpPr>
          <p:cNvPr id="14" name="obj-2-bg">
            <a:extLst>
              <a:ext uri="{FF2B5EF4-FFF2-40B4-BE49-F238E27FC236}">
                <a16:creationId xmlns:a16="http://schemas.microsoft.com/office/drawing/2014/main" id="{ABB67343-8685-4B80-BD67-BFC7C5D17B7C}"/>
              </a:ext>
            </a:extLst>
          </p:cNvPr>
          <p:cNvSpPr>
            <a:spLocks noGrp="1"/>
          </p:cNvSpPr>
          <p:nvPr/>
        </p:nvSpPr>
        <p:spPr>
          <a:xfrm>
            <a:off x="1000125" y="3381375"/>
            <a:ext cx="4810125" cy="1381125"/>
          </a:xfrm>
          <a:prstGeom prst="roundRect">
            <a:avLst>
              <a:gd name="adj" fmla="val 5517"/>
            </a:avLst>
          </a:prstGeom>
          <a:solidFill>
            <a:srgbClr val="F8FBFE"/>
          </a:solidFill>
          <a:ln w="11430">
            <a:solidFill>
              <a:srgbClr val="2D78B9"/>
            </a:solidFill>
            <a:prstDash val="solid"/>
          </a:ln>
        </p:spPr>
        <p:txBody>
          <a:bodyPr/>
          <a:lstStyle/>
          <a:p>
            <a:endParaRPr lang="zh-CN" altLang="en-US"/>
          </a:p>
        </p:txBody>
      </p:sp>
      <p:sp>
        <p:nvSpPr>
          <p:cNvPr id="15" name="obj-2-title">
            <a:extLst>
              <a:ext uri="{FF2B5EF4-FFF2-40B4-BE49-F238E27FC236}">
                <a16:creationId xmlns:a16="http://schemas.microsoft.com/office/drawing/2014/main" id="{FBD77164-8D8B-492B-B12D-D79DEA0FFDAD}"/>
              </a:ext>
            </a:extLst>
          </p:cNvPr>
          <p:cNvSpPr>
            <a:spLocks noGrp="1"/>
          </p:cNvSpPr>
          <p:nvPr/>
        </p:nvSpPr>
        <p:spPr>
          <a:xfrm>
            <a:off x="1171575" y="3514725"/>
            <a:ext cx="4467225" cy="285750"/>
          </a:xfrm>
          <a:prstGeom prst="rect">
            <a:avLst/>
          </a:prstGeom>
          <a:noFill/>
          <a:ln w="0">
            <a:noFill/>
            <a:prstDash val="solid"/>
          </a:ln>
        </p:spPr>
        <p:txBody>
          <a:bodyPr/>
          <a:lstStyle/>
          <a:p>
            <a:pPr>
              <a:defRPr sz="1350" b="1">
                <a:solidFill>
                  <a:srgbClr val="2D78B9"/>
                </a:solidFill>
              </a:defRPr>
            </a:pPr>
            <a:r>
              <a:rPr sz="1350" b="1">
                <a:solidFill>
                  <a:srgbClr val="2D78B9"/>
                </a:solidFill>
              </a:rPr>
              <a:t>MAP</a:t>
            </a:r>
          </a:p>
        </p:txBody>
      </p:sp>
      <p:sp>
        <p:nvSpPr>
          <p:cNvPr id="16" name="obj-2-body">
            <a:extLst>
              <a:ext uri="{FF2B5EF4-FFF2-40B4-BE49-F238E27FC236}">
                <a16:creationId xmlns:a16="http://schemas.microsoft.com/office/drawing/2014/main" id="{45C5892B-A683-4926-AB8F-ACBDAD17F51C}"/>
              </a:ext>
            </a:extLst>
          </p:cNvPr>
          <p:cNvSpPr>
            <a:spLocks noGrp="1"/>
          </p:cNvSpPr>
          <p:nvPr/>
        </p:nvSpPr>
        <p:spPr>
          <a:xfrm>
            <a:off x="1171575" y="3838575"/>
            <a:ext cx="4467225" cy="809625"/>
          </a:xfrm>
          <a:prstGeom prst="rect">
            <a:avLst/>
          </a:prstGeom>
          <a:noFill/>
          <a:ln w="0">
            <a:noFill/>
            <a:prstDash val="solid"/>
          </a:ln>
        </p:spPr>
        <p:txBody>
          <a:bodyPr/>
          <a:lstStyle/>
          <a:p>
            <a:pPr>
              <a:defRPr sz="1200">
                <a:solidFill>
                  <a:srgbClr val="263442"/>
                </a:solidFill>
              </a:defRPr>
            </a:pPr>
            <a:r>
              <a:rPr sz="1200">
                <a:solidFill>
                  <a:srgbClr val="263442"/>
                </a:solidFill>
              </a:rPr>
              <a:t>stakeholders, values, benefits, and harms</a:t>
            </a:r>
          </a:p>
        </p:txBody>
      </p:sp>
      <p:sp>
        <p:nvSpPr>
          <p:cNvPr id="17" name="obj-3-bg">
            <a:extLst>
              <a:ext uri="{FF2B5EF4-FFF2-40B4-BE49-F238E27FC236}">
                <a16:creationId xmlns:a16="http://schemas.microsoft.com/office/drawing/2014/main" id="{2BF8BF35-19E0-426D-95A5-9966FA605B5D}"/>
              </a:ext>
            </a:extLst>
          </p:cNvPr>
          <p:cNvSpPr>
            <a:spLocks noGrp="1"/>
          </p:cNvSpPr>
          <p:nvPr/>
        </p:nvSpPr>
        <p:spPr>
          <a:xfrm>
            <a:off x="6143625" y="3381375"/>
            <a:ext cx="4810125" cy="1381125"/>
          </a:xfrm>
          <a:prstGeom prst="roundRect">
            <a:avLst>
              <a:gd name="adj" fmla="val 5517"/>
            </a:avLst>
          </a:prstGeom>
          <a:solidFill>
            <a:srgbClr val="F8FBFE"/>
          </a:solidFill>
          <a:ln w="11430">
            <a:solidFill>
              <a:srgbClr val="2D78B9"/>
            </a:solidFill>
            <a:prstDash val="solid"/>
          </a:ln>
        </p:spPr>
        <p:txBody>
          <a:bodyPr/>
          <a:lstStyle/>
          <a:p>
            <a:endParaRPr lang="zh-CN" altLang="en-US"/>
          </a:p>
        </p:txBody>
      </p:sp>
      <p:sp>
        <p:nvSpPr>
          <p:cNvPr id="18" name="obj-3-title">
            <a:extLst>
              <a:ext uri="{FF2B5EF4-FFF2-40B4-BE49-F238E27FC236}">
                <a16:creationId xmlns:a16="http://schemas.microsoft.com/office/drawing/2014/main" id="{5A4DAD4C-3FD5-4F27-ADA5-8D5B8AA514BF}"/>
              </a:ext>
            </a:extLst>
          </p:cNvPr>
          <p:cNvSpPr>
            <a:spLocks noGrp="1"/>
          </p:cNvSpPr>
          <p:nvPr/>
        </p:nvSpPr>
        <p:spPr>
          <a:xfrm>
            <a:off x="6315075" y="3514725"/>
            <a:ext cx="4467225" cy="285750"/>
          </a:xfrm>
          <a:prstGeom prst="rect">
            <a:avLst/>
          </a:prstGeom>
          <a:noFill/>
          <a:ln w="0">
            <a:noFill/>
            <a:prstDash val="solid"/>
          </a:ln>
        </p:spPr>
        <p:txBody>
          <a:bodyPr/>
          <a:lstStyle/>
          <a:p>
            <a:pPr>
              <a:defRPr sz="1350" b="1">
                <a:solidFill>
                  <a:srgbClr val="2D78B9"/>
                </a:solidFill>
              </a:defRPr>
            </a:pPr>
            <a:r>
              <a:rPr sz="1350" b="1">
                <a:solidFill>
                  <a:srgbClr val="2D78B9"/>
                </a:solidFill>
              </a:rPr>
              <a:t>JUSTIFY</a:t>
            </a:r>
          </a:p>
        </p:txBody>
      </p:sp>
      <p:sp>
        <p:nvSpPr>
          <p:cNvPr id="19" name="obj-3-body">
            <a:extLst>
              <a:ext uri="{FF2B5EF4-FFF2-40B4-BE49-F238E27FC236}">
                <a16:creationId xmlns:a16="http://schemas.microsoft.com/office/drawing/2014/main" id="{B61991DB-A73D-4AA9-B105-EE3FDC1254A5}"/>
              </a:ext>
            </a:extLst>
          </p:cNvPr>
          <p:cNvSpPr>
            <a:spLocks noGrp="1"/>
          </p:cNvSpPr>
          <p:nvPr/>
        </p:nvSpPr>
        <p:spPr>
          <a:xfrm>
            <a:off x="6315075" y="3838575"/>
            <a:ext cx="4467225" cy="809625"/>
          </a:xfrm>
          <a:prstGeom prst="rect">
            <a:avLst/>
          </a:prstGeom>
          <a:noFill/>
          <a:ln w="0">
            <a:noFill/>
            <a:prstDash val="solid"/>
          </a:ln>
        </p:spPr>
        <p:txBody>
          <a:bodyPr/>
          <a:lstStyle/>
          <a:p>
            <a:pPr>
              <a:defRPr sz="1200">
                <a:solidFill>
                  <a:srgbClr val="263442"/>
                </a:solidFill>
              </a:defRPr>
            </a:pPr>
            <a:r>
              <a:rPr sz="1200">
                <a:solidFill>
                  <a:srgbClr val="263442"/>
                </a:solidFill>
              </a:rPr>
              <a:t>a provisional decision and safeguards</a:t>
            </a:r>
          </a:p>
        </p:txBody>
      </p:sp>
      <p:sp>
        <p:nvSpPr>
          <p:cNvPr id="20" name="v2-takeaway">
            <a:extLst>
              <a:ext uri="{FF2B5EF4-FFF2-40B4-BE49-F238E27FC236}">
                <a16:creationId xmlns:a16="http://schemas.microsoft.com/office/drawing/2014/main" id="{BBA2111A-9C28-4711-BEC7-F91E99C2E631}"/>
              </a:ext>
            </a:extLst>
          </p:cNvPr>
          <p:cNvSpPr>
            <a:spLocks noGrp="1"/>
          </p:cNvSpPr>
          <p:nvPr/>
        </p:nvSpPr>
        <p:spPr>
          <a:xfrm>
            <a:off x="876300" y="575310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defRPr sz="1200" b="1">
                <a:solidFill>
                  <a:srgbClr val="1F3B6D"/>
                </a:solidFill>
              </a:defRPr>
            </a:pPr>
            <a:r>
              <a:rPr sz="1200" b="1">
                <a:solidFill>
                  <a:srgbClr val="1F3B6D"/>
                </a:solidFill>
              </a:rPr>
              <a:t>Ethical competence means moving from recognition to reasoned action.</a:t>
            </a:r>
          </a:p>
        </p:txBody>
      </p:sp>
      <p:sp>
        <p:nvSpPr>
          <p:cNvPr id="21" name="v2-page-mask-17">
            <a:extLst>
              <a:ext uri="{FF2B5EF4-FFF2-40B4-BE49-F238E27FC236}">
                <a16:creationId xmlns:a16="http://schemas.microsoft.com/office/drawing/2014/main" id="{48CE7E86-FEC7-41EE-BF1D-D57360CB29EB}"/>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22" name="v2-page-17">
            <a:extLst>
              <a:ext uri="{FF2B5EF4-FFF2-40B4-BE49-F238E27FC236}">
                <a16:creationId xmlns:a16="http://schemas.microsoft.com/office/drawing/2014/main" id="{2528704B-1421-4C9E-841A-2F5F9A7ABF3C}"/>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17</a:t>
            </a:r>
          </a:p>
        </p:txBody>
      </p:sp>
    </p:spTree>
    <p:extLst>
      <p:ext uri="{BB962C8B-B14F-4D97-AF65-F5344CB8AC3E}">
        <p14:creationId xmlns:p14="http://schemas.microsoft.com/office/powerpoint/2010/main" val="17346889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v2-background">
            <a:extLst>
              <a:ext uri="{FF2B5EF4-FFF2-40B4-BE49-F238E27FC236}">
                <a16:creationId xmlns:a16="http://schemas.microsoft.com/office/drawing/2014/main" id="{9C114E0B-C5E0-470C-99CA-84AA3CB78CA1}"/>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zh-CN" altLang="en-US"/>
          </a:p>
        </p:txBody>
      </p:sp>
      <p:sp>
        <p:nvSpPr>
          <p:cNvPr id="2" name="v2-title-rail">
            <a:extLst>
              <a:ext uri="{FF2B5EF4-FFF2-40B4-BE49-F238E27FC236}">
                <a16:creationId xmlns:a16="http://schemas.microsoft.com/office/drawing/2014/main" id="{CC971FFC-A7AC-454D-B165-2F58044E8025}"/>
              </a:ext>
            </a:extLst>
          </p:cNvPr>
          <p:cNvSpPr>
            <a:spLocks noGrp="1"/>
          </p:cNvSpPr>
          <p:nvPr/>
        </p:nvSpPr>
        <p:spPr>
          <a:xfrm>
            <a:off x="628650" y="400050"/>
            <a:ext cx="95250" cy="476250"/>
          </a:xfrm>
          <a:prstGeom prst="rect">
            <a:avLst/>
          </a:prstGeom>
          <a:solidFill>
            <a:srgbClr val="1F3B6D"/>
          </a:solidFill>
          <a:ln w="0">
            <a:solidFill>
              <a:srgbClr val="1F3B6D"/>
            </a:solidFill>
            <a:prstDash val="solid"/>
          </a:ln>
        </p:spPr>
        <p:txBody>
          <a:bodyPr/>
          <a:lstStyle/>
          <a:p>
            <a:endParaRPr lang="zh-CN" altLang="en-US"/>
          </a:p>
        </p:txBody>
      </p:sp>
      <p:sp>
        <p:nvSpPr>
          <p:cNvPr id="3" name="v2-title">
            <a:extLst>
              <a:ext uri="{FF2B5EF4-FFF2-40B4-BE49-F238E27FC236}">
                <a16:creationId xmlns:a16="http://schemas.microsoft.com/office/drawing/2014/main" id="{D3CE3AA2-8048-43D4-ABE5-5917DE738107}"/>
              </a:ext>
            </a:extLst>
          </p:cNvPr>
          <p:cNvSpPr>
            <a:spLocks noGrp="1"/>
          </p:cNvSpPr>
          <p:nvPr/>
        </p:nvSpPr>
        <p:spPr>
          <a:xfrm>
            <a:off x="981075" y="361950"/>
            <a:ext cx="10287000" cy="552450"/>
          </a:xfrm>
          <a:prstGeom prst="rect">
            <a:avLst/>
          </a:prstGeom>
          <a:noFill/>
          <a:ln w="0">
            <a:noFill/>
            <a:prstDash val="solid"/>
          </a:ln>
        </p:spPr>
        <p:txBody>
          <a:bodyPr/>
          <a:lstStyle/>
          <a:p>
            <a:pPr>
              <a:defRPr sz="2550" b="1">
                <a:solidFill>
                  <a:srgbClr val="1F3B6D"/>
                </a:solidFill>
              </a:defRPr>
            </a:pPr>
            <a:r>
              <a:rPr sz="2550" b="1">
                <a:solidFill>
                  <a:srgbClr val="1F3B6D"/>
                </a:solidFill>
              </a:rPr>
              <a:t>Opening Poll: Where Did AI Decide for You Today?</a:t>
            </a:r>
          </a:p>
        </p:txBody>
      </p:sp>
      <p:sp>
        <p:nvSpPr>
          <p:cNvPr id="4" name="v2-rule">
            <a:extLst>
              <a:ext uri="{FF2B5EF4-FFF2-40B4-BE49-F238E27FC236}">
                <a16:creationId xmlns:a16="http://schemas.microsoft.com/office/drawing/2014/main" id="{F374F9BA-C4D4-45ED-8983-E1DEA6327241}"/>
              </a:ext>
            </a:extLst>
          </p:cNvPr>
          <p:cNvSpPr>
            <a:spLocks noGrp="1"/>
          </p:cNvSpPr>
          <p:nvPr/>
        </p:nvSpPr>
        <p:spPr>
          <a:xfrm>
            <a:off x="638175" y="1000125"/>
            <a:ext cx="10972800" cy="28575"/>
          </a:xfrm>
          <a:prstGeom prst="rect">
            <a:avLst/>
          </a:prstGeom>
          <a:solidFill>
            <a:srgbClr val="2D78B9"/>
          </a:solidFill>
          <a:ln w="0">
            <a:solidFill>
              <a:srgbClr val="2D78B9"/>
            </a:solidFill>
            <a:prstDash val="solid"/>
          </a:ln>
        </p:spPr>
        <p:txBody>
          <a:bodyPr/>
          <a:lstStyle/>
          <a:p>
            <a:endParaRPr lang="zh-CN" altLang="en-US"/>
          </a:p>
        </p:txBody>
      </p:sp>
      <p:sp>
        <p:nvSpPr>
          <p:cNvPr id="5" name="v2-subtitle">
            <a:extLst>
              <a:ext uri="{FF2B5EF4-FFF2-40B4-BE49-F238E27FC236}">
                <a16:creationId xmlns:a16="http://schemas.microsoft.com/office/drawing/2014/main" id="{03A99DFC-B0A2-4D46-9173-B86AE6269CA8}"/>
              </a:ext>
            </a:extLst>
          </p:cNvPr>
          <p:cNvSpPr>
            <a:spLocks noGrp="1"/>
          </p:cNvSpPr>
          <p:nvPr/>
        </p:nvSpPr>
        <p:spPr>
          <a:xfrm>
            <a:off x="981075" y="1104900"/>
            <a:ext cx="10287000" cy="323850"/>
          </a:xfrm>
          <a:prstGeom prst="rect">
            <a:avLst/>
          </a:prstGeom>
          <a:noFill/>
          <a:ln w="0">
            <a:noFill/>
            <a:prstDash val="solid"/>
          </a:ln>
        </p:spPr>
        <p:txBody>
          <a:bodyPr/>
          <a:lstStyle/>
          <a:p>
            <a:pPr>
              <a:defRPr sz="1275" i="1">
                <a:solidFill>
                  <a:srgbClr val="5B6670"/>
                </a:solidFill>
              </a:defRPr>
            </a:pPr>
            <a:r>
              <a:rPr sz="1275" i="1">
                <a:solidFill>
                  <a:srgbClr val="5B6670"/>
                </a:solidFill>
              </a:rPr>
              <a:t>Think individually for 30 seconds, then compare with a partner.</a:t>
            </a:r>
          </a:p>
        </p:txBody>
      </p:sp>
      <p:sp>
        <p:nvSpPr>
          <p:cNvPr id="6" name="v2-accent">
            <a:extLst>
              <a:ext uri="{FF2B5EF4-FFF2-40B4-BE49-F238E27FC236}">
                <a16:creationId xmlns:a16="http://schemas.microsoft.com/office/drawing/2014/main" id="{5D82D2C4-9630-4B9A-8DFF-C7B9439CC933}"/>
              </a:ext>
            </a:extLst>
          </p:cNvPr>
          <p:cNvSpPr>
            <a:spLocks noGrp="1"/>
          </p:cNvSpPr>
          <p:nvPr/>
        </p:nvSpPr>
        <p:spPr>
          <a:xfrm>
            <a:off x="11687175" y="304800"/>
            <a:ext cx="266700" cy="266700"/>
          </a:xfrm>
          <a:prstGeom prst="rect">
            <a:avLst/>
          </a:prstGeom>
          <a:solidFill>
            <a:srgbClr val="2D78B9"/>
          </a:solidFill>
          <a:ln w="0">
            <a:solidFill>
              <a:srgbClr val="2D78B9"/>
            </a:solidFill>
            <a:prstDash val="solid"/>
          </a:ln>
        </p:spPr>
        <p:txBody>
          <a:bodyPr/>
          <a:lstStyle/>
          <a:p>
            <a:endParaRPr lang="zh-CN" altLang="en-US"/>
          </a:p>
        </p:txBody>
      </p:sp>
      <p:sp>
        <p:nvSpPr>
          <p:cNvPr id="7" name="v2-footer">
            <a:extLst>
              <a:ext uri="{FF2B5EF4-FFF2-40B4-BE49-F238E27FC236}">
                <a16:creationId xmlns:a16="http://schemas.microsoft.com/office/drawing/2014/main" id="{0A00F50A-95CC-4A81-96DE-E66CCCAF4604}"/>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sp>
        <p:nvSpPr>
          <p:cNvPr id="8" name="poll-0">
            <a:extLst>
              <a:ext uri="{FF2B5EF4-FFF2-40B4-BE49-F238E27FC236}">
                <a16:creationId xmlns:a16="http://schemas.microsoft.com/office/drawing/2014/main" id="{6DBA5387-EFFA-49D1-9FE0-C38416FD3808}"/>
              </a:ext>
            </a:extLst>
          </p:cNvPr>
          <p:cNvSpPr>
            <a:spLocks noGrp="1"/>
          </p:cNvSpPr>
          <p:nvPr/>
        </p:nvSpPr>
        <p:spPr>
          <a:xfrm>
            <a:off x="1000125" y="1809750"/>
            <a:ext cx="3048000" cy="952500"/>
          </a:xfrm>
          <a:prstGeom prst="roundRect">
            <a:avLst>
              <a:gd name="adj" fmla="val 8000"/>
            </a:avLst>
          </a:prstGeom>
          <a:solidFill>
            <a:srgbClr val="EAF3FB"/>
          </a:solidFill>
          <a:ln w="11430">
            <a:solidFill>
              <a:srgbClr val="5B9BD5"/>
            </a:solidFill>
            <a:prstDash val="solid"/>
          </a:ln>
        </p:spPr>
        <p:txBody>
          <a:bodyPr anchor="ctr"/>
          <a:lstStyle/>
          <a:p>
            <a:pPr algn="ctr">
              <a:defRPr sz="1350" b="1">
                <a:solidFill>
                  <a:srgbClr val="1F3B6D"/>
                </a:solidFill>
              </a:defRPr>
            </a:pPr>
            <a:r>
              <a:rPr sz="1350" b="1">
                <a:solidFill>
                  <a:srgbClr val="1F3B6D"/>
                </a:solidFill>
              </a:rPr>
              <a:t>MEDIA</a:t>
            </a:r>
          </a:p>
        </p:txBody>
      </p:sp>
      <p:sp>
        <p:nvSpPr>
          <p:cNvPr id="9" name="poll-1">
            <a:extLst>
              <a:ext uri="{FF2B5EF4-FFF2-40B4-BE49-F238E27FC236}">
                <a16:creationId xmlns:a16="http://schemas.microsoft.com/office/drawing/2014/main" id="{451EF276-0401-423E-B12A-48B166653BDB}"/>
              </a:ext>
            </a:extLst>
          </p:cNvPr>
          <p:cNvSpPr>
            <a:spLocks noGrp="1"/>
          </p:cNvSpPr>
          <p:nvPr/>
        </p:nvSpPr>
        <p:spPr>
          <a:xfrm>
            <a:off x="4429125" y="1809750"/>
            <a:ext cx="3048000" cy="952500"/>
          </a:xfrm>
          <a:prstGeom prst="roundRect">
            <a:avLst>
              <a:gd name="adj" fmla="val 8000"/>
            </a:avLst>
          </a:prstGeom>
          <a:solidFill>
            <a:srgbClr val="F5FAFE"/>
          </a:solidFill>
          <a:ln w="11430">
            <a:solidFill>
              <a:srgbClr val="5B9BD5"/>
            </a:solidFill>
            <a:prstDash val="solid"/>
          </a:ln>
        </p:spPr>
        <p:txBody>
          <a:bodyPr anchor="ctr"/>
          <a:lstStyle/>
          <a:p>
            <a:pPr algn="ctr">
              <a:defRPr sz="1350" b="1">
                <a:solidFill>
                  <a:srgbClr val="2D78B9"/>
                </a:solidFill>
              </a:defRPr>
            </a:pPr>
            <a:r>
              <a:rPr sz="1350" b="1">
                <a:solidFill>
                  <a:srgbClr val="2D78B9"/>
                </a:solidFill>
              </a:rPr>
              <a:t>FINANCE</a:t>
            </a:r>
          </a:p>
        </p:txBody>
      </p:sp>
      <p:sp>
        <p:nvSpPr>
          <p:cNvPr id="10" name="poll-2">
            <a:extLst>
              <a:ext uri="{FF2B5EF4-FFF2-40B4-BE49-F238E27FC236}">
                <a16:creationId xmlns:a16="http://schemas.microsoft.com/office/drawing/2014/main" id="{3DD48B82-1DBD-48C0-A646-337FA82A3531}"/>
              </a:ext>
            </a:extLst>
          </p:cNvPr>
          <p:cNvSpPr>
            <a:spLocks noGrp="1"/>
          </p:cNvSpPr>
          <p:nvPr/>
        </p:nvSpPr>
        <p:spPr>
          <a:xfrm>
            <a:off x="7858125" y="1809750"/>
            <a:ext cx="3048000" cy="952500"/>
          </a:xfrm>
          <a:prstGeom prst="roundRect">
            <a:avLst>
              <a:gd name="adj" fmla="val 8000"/>
            </a:avLst>
          </a:prstGeom>
          <a:solidFill>
            <a:srgbClr val="EAF3FB"/>
          </a:solidFill>
          <a:ln w="11430">
            <a:solidFill>
              <a:srgbClr val="5B9BD5"/>
            </a:solidFill>
            <a:prstDash val="solid"/>
          </a:ln>
        </p:spPr>
        <p:txBody>
          <a:bodyPr anchor="ctr"/>
          <a:lstStyle/>
          <a:p>
            <a:pPr algn="ctr">
              <a:defRPr sz="1350" b="1">
                <a:solidFill>
                  <a:srgbClr val="1F3B6D"/>
                </a:solidFill>
              </a:defRPr>
            </a:pPr>
            <a:r>
              <a:rPr sz="1350" b="1">
                <a:solidFill>
                  <a:srgbClr val="1F3B6D"/>
                </a:solidFill>
              </a:rPr>
              <a:t>EDUCATION</a:t>
            </a:r>
          </a:p>
        </p:txBody>
      </p:sp>
      <p:sp>
        <p:nvSpPr>
          <p:cNvPr id="11" name="poll-3">
            <a:extLst>
              <a:ext uri="{FF2B5EF4-FFF2-40B4-BE49-F238E27FC236}">
                <a16:creationId xmlns:a16="http://schemas.microsoft.com/office/drawing/2014/main" id="{ADE212AC-371F-441D-AC88-990476503947}"/>
              </a:ext>
            </a:extLst>
          </p:cNvPr>
          <p:cNvSpPr>
            <a:spLocks noGrp="1"/>
          </p:cNvSpPr>
          <p:nvPr/>
        </p:nvSpPr>
        <p:spPr>
          <a:xfrm>
            <a:off x="1000125" y="3190875"/>
            <a:ext cx="3048000" cy="952500"/>
          </a:xfrm>
          <a:prstGeom prst="roundRect">
            <a:avLst>
              <a:gd name="adj" fmla="val 8000"/>
            </a:avLst>
          </a:prstGeom>
          <a:solidFill>
            <a:srgbClr val="F5FAFE"/>
          </a:solidFill>
          <a:ln w="11430">
            <a:solidFill>
              <a:srgbClr val="5B9BD5"/>
            </a:solidFill>
            <a:prstDash val="solid"/>
          </a:ln>
        </p:spPr>
        <p:txBody>
          <a:bodyPr anchor="ctr"/>
          <a:lstStyle/>
          <a:p>
            <a:pPr algn="ctr">
              <a:defRPr sz="1350" b="1">
                <a:solidFill>
                  <a:srgbClr val="2D78B9"/>
                </a:solidFill>
              </a:defRPr>
            </a:pPr>
            <a:r>
              <a:rPr sz="1350" b="1">
                <a:solidFill>
                  <a:srgbClr val="2D78B9"/>
                </a:solidFill>
              </a:rPr>
              <a:t>MOBILITY</a:t>
            </a:r>
          </a:p>
        </p:txBody>
      </p:sp>
      <p:sp>
        <p:nvSpPr>
          <p:cNvPr id="12" name="poll-4">
            <a:extLst>
              <a:ext uri="{FF2B5EF4-FFF2-40B4-BE49-F238E27FC236}">
                <a16:creationId xmlns:a16="http://schemas.microsoft.com/office/drawing/2014/main" id="{65944223-4FEB-4B9A-8924-96FEBDDC71E5}"/>
              </a:ext>
            </a:extLst>
          </p:cNvPr>
          <p:cNvSpPr>
            <a:spLocks noGrp="1"/>
          </p:cNvSpPr>
          <p:nvPr/>
        </p:nvSpPr>
        <p:spPr>
          <a:xfrm>
            <a:off x="4429125" y="3190875"/>
            <a:ext cx="3048000" cy="952500"/>
          </a:xfrm>
          <a:prstGeom prst="roundRect">
            <a:avLst>
              <a:gd name="adj" fmla="val 8000"/>
            </a:avLst>
          </a:prstGeom>
          <a:solidFill>
            <a:srgbClr val="EAF3FB"/>
          </a:solidFill>
          <a:ln w="11430">
            <a:solidFill>
              <a:srgbClr val="5B9BD5"/>
            </a:solidFill>
            <a:prstDash val="solid"/>
          </a:ln>
        </p:spPr>
        <p:txBody>
          <a:bodyPr anchor="ctr"/>
          <a:lstStyle/>
          <a:p>
            <a:pPr algn="ctr">
              <a:defRPr sz="1350" b="1">
                <a:solidFill>
                  <a:srgbClr val="1F3B6D"/>
                </a:solidFill>
              </a:defRPr>
            </a:pPr>
            <a:r>
              <a:rPr sz="1350" b="1">
                <a:solidFill>
                  <a:srgbClr val="1F3B6D"/>
                </a:solidFill>
              </a:rPr>
              <a:t>HEALTH</a:t>
            </a:r>
          </a:p>
        </p:txBody>
      </p:sp>
      <p:sp>
        <p:nvSpPr>
          <p:cNvPr id="13" name="poll-5">
            <a:extLst>
              <a:ext uri="{FF2B5EF4-FFF2-40B4-BE49-F238E27FC236}">
                <a16:creationId xmlns:a16="http://schemas.microsoft.com/office/drawing/2014/main" id="{D2091169-9385-4C10-B691-83198667269B}"/>
              </a:ext>
            </a:extLst>
          </p:cNvPr>
          <p:cNvSpPr>
            <a:spLocks noGrp="1"/>
          </p:cNvSpPr>
          <p:nvPr/>
        </p:nvSpPr>
        <p:spPr>
          <a:xfrm>
            <a:off x="7858125" y="3190875"/>
            <a:ext cx="3048000" cy="952500"/>
          </a:xfrm>
          <a:prstGeom prst="roundRect">
            <a:avLst>
              <a:gd name="adj" fmla="val 8000"/>
            </a:avLst>
          </a:prstGeom>
          <a:solidFill>
            <a:srgbClr val="F5FAFE"/>
          </a:solidFill>
          <a:ln w="11430">
            <a:solidFill>
              <a:srgbClr val="5B9BD5"/>
            </a:solidFill>
            <a:prstDash val="solid"/>
          </a:ln>
        </p:spPr>
        <p:txBody>
          <a:bodyPr anchor="ctr"/>
          <a:lstStyle/>
          <a:p>
            <a:pPr algn="ctr">
              <a:defRPr sz="1350" b="1">
                <a:solidFill>
                  <a:srgbClr val="2D78B9"/>
                </a:solidFill>
              </a:defRPr>
            </a:pPr>
            <a:r>
              <a:rPr sz="1350" b="1">
                <a:solidFill>
                  <a:srgbClr val="2D78B9"/>
                </a:solidFill>
              </a:rPr>
              <a:t>PUBLIC SERVICES</a:t>
            </a:r>
          </a:p>
        </p:txBody>
      </p:sp>
      <p:sp>
        <p:nvSpPr>
          <p:cNvPr id="14" name="v2-takeaway">
            <a:extLst>
              <a:ext uri="{FF2B5EF4-FFF2-40B4-BE49-F238E27FC236}">
                <a16:creationId xmlns:a16="http://schemas.microsoft.com/office/drawing/2014/main" id="{FE639706-1CA6-4E20-926E-C0964206C4E4}"/>
              </a:ext>
            </a:extLst>
          </p:cNvPr>
          <p:cNvSpPr>
            <a:spLocks noGrp="1"/>
          </p:cNvSpPr>
          <p:nvPr/>
        </p:nvSpPr>
        <p:spPr>
          <a:xfrm>
            <a:off x="876300" y="575310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defRPr sz="1200" b="1">
                <a:solidFill>
                  <a:srgbClr val="1F3B6D"/>
                </a:solidFill>
              </a:defRPr>
            </a:pPr>
            <a:r>
              <a:rPr sz="1200" b="1">
                <a:solidFill>
                  <a:srgbClr val="1F3B6D"/>
                </a:solidFill>
              </a:rPr>
              <a:t>Name the decision, the data it may use, and one person who could be affected.</a:t>
            </a:r>
          </a:p>
        </p:txBody>
      </p:sp>
      <p:sp>
        <p:nvSpPr>
          <p:cNvPr id="15" name="v2-page-mask-18">
            <a:extLst>
              <a:ext uri="{FF2B5EF4-FFF2-40B4-BE49-F238E27FC236}">
                <a16:creationId xmlns:a16="http://schemas.microsoft.com/office/drawing/2014/main" id="{C70BB533-E844-4EF2-AEB4-4B9D66D2DCF3}"/>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6" name="v2-page-18">
            <a:extLst>
              <a:ext uri="{FF2B5EF4-FFF2-40B4-BE49-F238E27FC236}">
                <a16:creationId xmlns:a16="http://schemas.microsoft.com/office/drawing/2014/main" id="{2FC14B41-4DA4-412A-8EDE-D72E77639250}"/>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18</a:t>
            </a:r>
          </a:p>
        </p:txBody>
      </p:sp>
    </p:spTree>
    <p:extLst>
      <p:ext uri="{BB962C8B-B14F-4D97-AF65-F5344CB8AC3E}">
        <p14:creationId xmlns:p14="http://schemas.microsoft.com/office/powerpoint/2010/main" val="1411108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78AA9E7-955A-4C69-B7B6-7FC88DD46E91}"/>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A1BFAFF5-17B3-4606-8F7A-09C1BB307F76}"/>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8BDF7EB-278C-440F-9828-419C61329420}"/>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What is Artificial Intelligence?</a:t>
            </a:r>
          </a:p>
        </p:txBody>
      </p:sp>
      <p:sp>
        <p:nvSpPr>
          <p:cNvPr id="5" name="Rectangle 4">
            <a:extLst>
              <a:ext uri="{FF2B5EF4-FFF2-40B4-BE49-F238E27FC236}">
                <a16:creationId xmlns:a16="http://schemas.microsoft.com/office/drawing/2014/main" id="{878E6DF0-1AC6-4429-82F6-FF636E814751}"/>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F2E9077B-ACA4-496E-9B6B-3A4A3B32F476}"/>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02300581-469C-4B63-A0F5-D1136E560118}"/>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17</a:t>
            </a:r>
          </a:p>
        </p:txBody>
      </p:sp>
      <p:sp>
        <p:nvSpPr>
          <p:cNvPr id="8" name="TextBox 7">
            <a:extLst>
              <a:ext uri="{FF2B5EF4-FFF2-40B4-BE49-F238E27FC236}">
                <a16:creationId xmlns:a16="http://schemas.microsoft.com/office/drawing/2014/main" id="{42CBF611-1CAF-4D49-BE3B-EB5C023538D1}"/>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1" i="0" u="none">
                <a:solidFill>
                  <a:srgbClr val="262626"/>
                </a:solidFill>
                <a:latin typeface="Calibri"/>
                <a:ea typeface="Calibri"/>
                <a:cs typeface="Calibri"/>
              </a:rPr>
              <a:t>Popular sense: </a:t>
            </a:r>
            <a:r>
              <a:rPr sz="1700" b="0" i="0" u="none">
                <a:solidFill>
                  <a:srgbClr val="262626"/>
                </a:solidFill>
                <a:latin typeface="Calibri"/>
                <a:ea typeface="Calibri"/>
                <a:cs typeface="Calibri"/>
              </a:rPr>
              <a:t>machines performing tasks that typically require human intelligence.</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262626"/>
                </a:solidFill>
                <a:latin typeface="Calibri"/>
                <a:ea typeface="Calibri"/>
                <a:cs typeface="Calibri"/>
              </a:rPr>
              <a:t>Technical sense (Russell &amp; Norvig): </a:t>
            </a:r>
            <a:r>
              <a:rPr sz="1700" b="0" i="0" u="none">
                <a:solidFill>
                  <a:srgbClr val="262626"/>
                </a:solidFill>
                <a:latin typeface="Calibri"/>
                <a:ea typeface="Calibri"/>
                <a:cs typeface="Calibri"/>
              </a:rPr>
              <a:t>the study of </a:t>
            </a:r>
            <a:r>
              <a:rPr sz="1700" b="1" i="0" u="sng">
                <a:solidFill>
                  <a:srgbClr val="262626"/>
                </a:solidFill>
                <a:latin typeface="Calibri"/>
                <a:ea typeface="Calibri"/>
                <a:cs typeface="Calibri"/>
              </a:rPr>
              <a:t>rational agents</a:t>
            </a:r>
            <a:r>
              <a:rPr sz="1700" b="0" i="0" u="none">
                <a:solidFill>
                  <a:srgbClr val="262626"/>
                </a:solidFill>
                <a:latin typeface="Calibri"/>
                <a:ea typeface="Calibri"/>
                <a:cs typeface="Calibri"/>
              </a:rPr>
              <a:t> that perceive and act.</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1F3864"/>
                </a:solidFill>
                <a:latin typeface="Calibri"/>
                <a:ea typeface="Calibri"/>
                <a:cs typeface="Calibri"/>
              </a:rPr>
              <a:t>Narrow (weak) AI: </a:t>
            </a:r>
            <a:r>
              <a:rPr sz="1700" b="0" i="0" u="none">
                <a:solidFill>
                  <a:srgbClr val="262626"/>
                </a:solidFill>
                <a:latin typeface="Calibri"/>
                <a:ea typeface="Calibri"/>
                <a:cs typeface="Calibri"/>
              </a:rPr>
              <a:t>task-specific systems — spam filters, face ID, translation.</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1F3864"/>
                </a:solidFill>
                <a:latin typeface="Calibri"/>
                <a:ea typeface="Calibri"/>
                <a:cs typeface="Calibri"/>
              </a:rPr>
              <a:t>General (strong) AI: </a:t>
            </a:r>
            <a:r>
              <a:rPr sz="1700" b="0" i="0" u="none">
                <a:solidFill>
                  <a:srgbClr val="262626"/>
                </a:solidFill>
                <a:latin typeface="Calibri"/>
                <a:ea typeface="Calibri"/>
                <a:cs typeface="Calibri"/>
              </a:rPr>
              <a:t>human-level ability across domains. </a:t>
            </a:r>
            <a:r>
              <a:rPr sz="1700" b="0" i="1" u="none">
                <a:solidFill>
                  <a:srgbClr val="595959"/>
                </a:solidFill>
                <a:latin typeface="Calibri"/>
                <a:ea typeface="Calibri"/>
                <a:cs typeface="Calibri"/>
              </a:rPr>
              <a:t>We are far from AGI today.</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262626"/>
                </a:solidFill>
                <a:latin typeface="Calibri"/>
                <a:ea typeface="Calibri"/>
                <a:cs typeface="Calibri"/>
              </a:rPr>
              <a:t>Today’s AI ≈ </a:t>
            </a:r>
            <a:r>
              <a:rPr sz="1700" b="1" i="0" u="sng">
                <a:solidFill>
                  <a:srgbClr val="262626"/>
                </a:solidFill>
                <a:latin typeface="Calibri"/>
                <a:ea typeface="Calibri"/>
                <a:cs typeface="Calibri"/>
              </a:rPr>
              <a:t>pattern recognition from data at scale</a:t>
            </a:r>
            <a:r>
              <a:rPr sz="1700" b="0" i="0" u="none">
                <a:solidFill>
                  <a:srgbClr val="262626"/>
                </a:solidFill>
                <a:latin typeface="Calibri"/>
                <a:ea typeface="Calibri"/>
                <a:cs typeface="Calibri"/>
              </a:rPr>
              <a:t> — not “thinking” in the human sense.</a:t>
            </a:r>
          </a:p>
        </p:txBody>
      </p:sp>
      <p:sp>
        <p:nvSpPr>
          <p:cNvPr id="9" name="expanded-arrow-17-1">
            <a:extLst>
              <a:ext uri="{FF2B5EF4-FFF2-40B4-BE49-F238E27FC236}">
                <a16:creationId xmlns:a16="http://schemas.microsoft.com/office/drawing/2014/main" id="{0DBF3B5D-8B73-4E34-951B-C0A695F30FFF}"/>
              </a:ext>
            </a:extLst>
          </p:cNvPr>
          <p:cNvSpPr>
            <a:spLocks noGrp="1"/>
          </p:cNvSpPr>
          <p:nvPr/>
        </p:nvSpPr>
        <p:spPr>
          <a:xfrm>
            <a:off x="4772025" y="4652963"/>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17-2">
            <a:extLst>
              <a:ext uri="{FF2B5EF4-FFF2-40B4-BE49-F238E27FC236}">
                <a16:creationId xmlns:a16="http://schemas.microsoft.com/office/drawing/2014/main" id="{5916187B-D6DD-4E11-8B92-FD6E9BF5A568}"/>
              </a:ext>
            </a:extLst>
          </p:cNvPr>
          <p:cNvSpPr>
            <a:spLocks noGrp="1"/>
          </p:cNvSpPr>
          <p:nvPr/>
        </p:nvSpPr>
        <p:spPr>
          <a:xfrm>
            <a:off x="7153275"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node-17-1">
            <a:extLst>
              <a:ext uri="{FF2B5EF4-FFF2-40B4-BE49-F238E27FC236}">
                <a16:creationId xmlns:a16="http://schemas.microsoft.com/office/drawing/2014/main" id="{B77AAA39-D41F-4A2F-A3F8-B6C3294A47B4}"/>
              </a:ext>
            </a:extLst>
          </p:cNvPr>
          <p:cNvSpPr>
            <a:spLocks noGrp="1"/>
          </p:cNvSpPr>
          <p:nvPr/>
        </p:nvSpPr>
        <p:spPr>
          <a:xfrm>
            <a:off x="26193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RULES</a:t>
            </a:r>
          </a:p>
        </p:txBody>
      </p:sp>
      <p:sp>
        <p:nvSpPr>
          <p:cNvPr id="12" name="expanded-node-17-2">
            <a:extLst>
              <a:ext uri="{FF2B5EF4-FFF2-40B4-BE49-F238E27FC236}">
                <a16:creationId xmlns:a16="http://schemas.microsoft.com/office/drawing/2014/main" id="{EF81E432-1E55-4174-A0BA-AF93411F9E3C}"/>
              </a:ext>
            </a:extLst>
          </p:cNvPr>
          <p:cNvSpPr>
            <a:spLocks noGrp="1"/>
          </p:cNvSpPr>
          <p:nvPr/>
        </p:nvSpPr>
        <p:spPr>
          <a:xfrm>
            <a:off x="5000625"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MACHINE LEARNING</a:t>
            </a:r>
          </a:p>
        </p:txBody>
      </p:sp>
      <p:sp>
        <p:nvSpPr>
          <p:cNvPr id="13" name="expanded-node-17-3">
            <a:extLst>
              <a:ext uri="{FF2B5EF4-FFF2-40B4-BE49-F238E27FC236}">
                <a16:creationId xmlns:a16="http://schemas.microsoft.com/office/drawing/2014/main" id="{C8015B0B-3BDF-4AEC-8FD9-88033577E01C}"/>
              </a:ext>
            </a:extLst>
          </p:cNvPr>
          <p:cNvSpPr>
            <a:spLocks noGrp="1"/>
          </p:cNvSpPr>
          <p:nvPr/>
        </p:nvSpPr>
        <p:spPr>
          <a:xfrm>
            <a:off x="73818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GENERATIVE AI</a:t>
            </a:r>
          </a:p>
        </p:txBody>
      </p:sp>
      <p:sp>
        <p:nvSpPr>
          <p:cNvPr id="14" name="expanded-takeaway-17">
            <a:extLst>
              <a:ext uri="{FF2B5EF4-FFF2-40B4-BE49-F238E27FC236}">
                <a16:creationId xmlns:a16="http://schemas.microsoft.com/office/drawing/2014/main" id="{49F503B5-7B78-4EFE-8389-33C0853419BC}"/>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Most current AI learns patterns for specific tasks; fluent or capable behavior is not human understanding.</a:t>
            </a:r>
          </a:p>
        </p:txBody>
      </p:sp>
      <p:sp>
        <p:nvSpPr>
          <p:cNvPr id="15" name="v2-page-mask-19">
            <a:extLst>
              <a:ext uri="{FF2B5EF4-FFF2-40B4-BE49-F238E27FC236}">
                <a16:creationId xmlns:a16="http://schemas.microsoft.com/office/drawing/2014/main" id="{34F230E5-C1A4-4910-9A81-9F751992E072}"/>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6" name="v2-page-19">
            <a:extLst>
              <a:ext uri="{FF2B5EF4-FFF2-40B4-BE49-F238E27FC236}">
                <a16:creationId xmlns:a16="http://schemas.microsoft.com/office/drawing/2014/main" id="{82F82B73-30AE-4940-A89C-094D9DED3EBD}"/>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19</a:t>
            </a:r>
          </a:p>
        </p:txBody>
      </p:sp>
    </p:spTree>
    <p:extLst>
      <p:ext uri="{BB962C8B-B14F-4D97-AF65-F5344CB8AC3E}">
        <p14:creationId xmlns:p14="http://schemas.microsoft.com/office/powerpoint/2010/main" val="11590936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E70E249-A099-4AA6-81CC-1D0609D28144}"/>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271BFF29-6043-4587-8E27-B09FDB57B7F4}"/>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9E403CF3-605A-4BD6-BF58-D503CBFE18D5}"/>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A Brief History of AI</a:t>
            </a:r>
          </a:p>
        </p:txBody>
      </p:sp>
      <p:sp>
        <p:nvSpPr>
          <p:cNvPr id="5" name="Rectangle 4">
            <a:extLst>
              <a:ext uri="{FF2B5EF4-FFF2-40B4-BE49-F238E27FC236}">
                <a16:creationId xmlns:a16="http://schemas.microsoft.com/office/drawing/2014/main" id="{D5F61D03-216B-47B0-B62F-FED00252AC0C}"/>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B6FA8DDE-88FA-493B-81C7-B2244C0A0F28}"/>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AI is not new — but data + compute + methods made it explode.</a:t>
            </a:r>
          </a:p>
        </p:txBody>
      </p:sp>
      <p:sp>
        <p:nvSpPr>
          <p:cNvPr id="7" name="TextBox 6">
            <a:extLst>
              <a:ext uri="{FF2B5EF4-FFF2-40B4-BE49-F238E27FC236}">
                <a16:creationId xmlns:a16="http://schemas.microsoft.com/office/drawing/2014/main" id="{7BA50668-59B3-4427-A2D7-30F4B0C44076}"/>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6C9EE852-71E6-4DDD-B02D-51EACA54A87A}"/>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18</a:t>
            </a:r>
          </a:p>
        </p:txBody>
      </p:sp>
      <p:sp>
        <p:nvSpPr>
          <p:cNvPr id="9" name="TextBox 8">
            <a:extLst>
              <a:ext uri="{FF2B5EF4-FFF2-40B4-BE49-F238E27FC236}">
                <a16:creationId xmlns:a16="http://schemas.microsoft.com/office/drawing/2014/main" id="{4216B657-0875-41CE-8F5A-0DC042CFBAC1}"/>
              </a:ext>
            </a:extLst>
          </p:cNvPr>
          <p:cNvSpPr>
            <a:spLocks noGrp="1"/>
          </p:cNvSpPr>
          <p:nvPr/>
        </p:nvSpPr>
        <p:spPr>
          <a:xfrm>
            <a:off x="896112" y="150876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1950  </a:t>
            </a:r>
            <a:r>
              <a:rPr sz="1600" b="0" i="0" u="none">
                <a:solidFill>
                  <a:srgbClr val="262626"/>
                </a:solidFill>
                <a:latin typeface="Calibri"/>
                <a:ea typeface="Calibri"/>
                <a:cs typeface="Calibri"/>
              </a:rPr>
              <a:t>Turing Test — can a machine imitate human conversation?</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1956  </a:t>
            </a:r>
            <a:r>
              <a:rPr sz="1600" b="0" i="0" u="none">
                <a:solidFill>
                  <a:srgbClr val="262626"/>
                </a:solidFill>
                <a:latin typeface="Calibri"/>
                <a:ea typeface="Calibri"/>
                <a:cs typeface="Calibri"/>
              </a:rPr>
              <a:t>Dartmouth Workshop — the term “AI” is coined.</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1970s–80s  </a:t>
            </a:r>
            <a:r>
              <a:rPr sz="1600" b="0" i="0" u="none">
                <a:solidFill>
                  <a:srgbClr val="262626"/>
                </a:solidFill>
                <a:latin typeface="Calibri"/>
                <a:ea typeface="Calibri"/>
                <a:cs typeface="Calibri"/>
              </a:rPr>
              <a:t>Symbolic AI &amp; expert systems, then two “AI winters.”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2000s  </a:t>
            </a:r>
            <a:r>
              <a:rPr sz="1600" b="0" i="0" u="none">
                <a:solidFill>
                  <a:srgbClr val="262626"/>
                </a:solidFill>
                <a:latin typeface="Calibri"/>
                <a:ea typeface="Calibri"/>
                <a:cs typeface="Calibri"/>
              </a:rPr>
              <a:t>Machine learning rises as data and compute grow.</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2012  </a:t>
            </a:r>
            <a:r>
              <a:rPr sz="1600" b="0" i="0" u="none">
                <a:solidFill>
                  <a:srgbClr val="262626"/>
                </a:solidFill>
                <a:latin typeface="Calibri"/>
                <a:ea typeface="Calibri"/>
                <a:cs typeface="Calibri"/>
              </a:rPr>
              <a:t>Deep learning breakthrough (ImageNet).</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2016  </a:t>
            </a:r>
            <a:r>
              <a:rPr sz="1600" b="0" i="0" u="none">
                <a:solidFill>
                  <a:srgbClr val="262626"/>
                </a:solidFill>
                <a:latin typeface="Calibri"/>
                <a:ea typeface="Calibri"/>
                <a:cs typeface="Calibri"/>
              </a:rPr>
              <a:t>AlphaGo beats the world Go champion.</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2020s  </a:t>
            </a:r>
            <a:r>
              <a:rPr sz="1600" b="0" i="0" u="none">
                <a:solidFill>
                  <a:srgbClr val="262626"/>
                </a:solidFill>
                <a:latin typeface="Calibri"/>
                <a:ea typeface="Calibri"/>
                <a:cs typeface="Calibri"/>
              </a:rPr>
              <a:t>Generative AI &amp; LLMs (GPT, diffusion) — fluent text, images, code.</a:t>
            </a:r>
          </a:p>
        </p:txBody>
      </p:sp>
      <p:sp>
        <p:nvSpPr>
          <p:cNvPr id="10" name="expanded-arrow-18-1">
            <a:extLst>
              <a:ext uri="{FF2B5EF4-FFF2-40B4-BE49-F238E27FC236}">
                <a16:creationId xmlns:a16="http://schemas.microsoft.com/office/drawing/2014/main" id="{6FAA1FAF-CC24-4FB4-82CB-3260938D089C}"/>
              </a:ext>
            </a:extLst>
          </p:cNvPr>
          <p:cNvSpPr>
            <a:spLocks noGrp="1"/>
          </p:cNvSpPr>
          <p:nvPr/>
        </p:nvSpPr>
        <p:spPr>
          <a:xfrm>
            <a:off x="3581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18-2">
            <a:extLst>
              <a:ext uri="{FF2B5EF4-FFF2-40B4-BE49-F238E27FC236}">
                <a16:creationId xmlns:a16="http://schemas.microsoft.com/office/drawing/2014/main" id="{3BAF22D9-2E61-4A94-94E7-E85FBC74F172}"/>
              </a:ext>
            </a:extLst>
          </p:cNvPr>
          <p:cNvSpPr>
            <a:spLocks noGrp="1"/>
          </p:cNvSpPr>
          <p:nvPr/>
        </p:nvSpPr>
        <p:spPr>
          <a:xfrm>
            <a:off x="5962650"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18-3">
            <a:extLst>
              <a:ext uri="{FF2B5EF4-FFF2-40B4-BE49-F238E27FC236}">
                <a16:creationId xmlns:a16="http://schemas.microsoft.com/office/drawing/2014/main" id="{25D8B0EB-FCE3-4A42-82D2-640A36C19160}"/>
              </a:ext>
            </a:extLst>
          </p:cNvPr>
          <p:cNvSpPr>
            <a:spLocks noGrp="1"/>
          </p:cNvSpPr>
          <p:nvPr/>
        </p:nvSpPr>
        <p:spPr>
          <a:xfrm>
            <a:off x="8343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18-1">
            <a:extLst>
              <a:ext uri="{FF2B5EF4-FFF2-40B4-BE49-F238E27FC236}">
                <a16:creationId xmlns:a16="http://schemas.microsoft.com/office/drawing/2014/main" id="{05D2CD46-C535-4C00-8186-D7605CFACFBE}"/>
              </a:ext>
            </a:extLst>
          </p:cNvPr>
          <p:cNvSpPr>
            <a:spLocks noGrp="1"/>
          </p:cNvSpPr>
          <p:nvPr/>
        </p:nvSpPr>
        <p:spPr>
          <a:xfrm>
            <a:off x="14287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1950s</a:t>
            </a:r>
          </a:p>
        </p:txBody>
      </p:sp>
      <p:sp>
        <p:nvSpPr>
          <p:cNvPr id="14" name="expanded-node-18-2">
            <a:extLst>
              <a:ext uri="{FF2B5EF4-FFF2-40B4-BE49-F238E27FC236}">
                <a16:creationId xmlns:a16="http://schemas.microsoft.com/office/drawing/2014/main" id="{16856189-D27B-43FE-BDF8-EAB1EF926770}"/>
              </a:ext>
            </a:extLst>
          </p:cNvPr>
          <p:cNvSpPr>
            <a:spLocks noGrp="1"/>
          </p:cNvSpPr>
          <p:nvPr/>
        </p:nvSpPr>
        <p:spPr>
          <a:xfrm>
            <a:off x="38100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AI WINTERS</a:t>
            </a:r>
          </a:p>
        </p:txBody>
      </p:sp>
      <p:sp>
        <p:nvSpPr>
          <p:cNvPr id="15" name="expanded-node-18-3">
            <a:extLst>
              <a:ext uri="{FF2B5EF4-FFF2-40B4-BE49-F238E27FC236}">
                <a16:creationId xmlns:a16="http://schemas.microsoft.com/office/drawing/2014/main" id="{79C36500-F0AE-483C-87EB-43B7FAE03547}"/>
              </a:ext>
            </a:extLst>
          </p:cNvPr>
          <p:cNvSpPr>
            <a:spLocks noGrp="1"/>
          </p:cNvSpPr>
          <p:nvPr/>
        </p:nvSpPr>
        <p:spPr>
          <a:xfrm>
            <a:off x="61912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DEEP LEARNING</a:t>
            </a:r>
          </a:p>
        </p:txBody>
      </p:sp>
      <p:sp>
        <p:nvSpPr>
          <p:cNvPr id="16" name="expanded-node-18-4">
            <a:extLst>
              <a:ext uri="{FF2B5EF4-FFF2-40B4-BE49-F238E27FC236}">
                <a16:creationId xmlns:a16="http://schemas.microsoft.com/office/drawing/2014/main" id="{50AC7215-5E2D-471B-BF4F-52818CE46863}"/>
              </a:ext>
            </a:extLst>
          </p:cNvPr>
          <p:cNvSpPr>
            <a:spLocks noGrp="1"/>
          </p:cNvSpPr>
          <p:nvPr/>
        </p:nvSpPr>
        <p:spPr>
          <a:xfrm>
            <a:off x="85725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GENERATIVE AI</a:t>
            </a:r>
          </a:p>
        </p:txBody>
      </p:sp>
      <p:sp>
        <p:nvSpPr>
          <p:cNvPr id="17" name="expanded-takeaway-18">
            <a:extLst>
              <a:ext uri="{FF2B5EF4-FFF2-40B4-BE49-F238E27FC236}">
                <a16:creationId xmlns:a16="http://schemas.microsoft.com/office/drawing/2014/main" id="{D0A407EA-1922-41A8-AB23-FEAE8666E0D9}"/>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AI history repeatedly cycles through optimism, technical limits, and renewed progress driven by new methods and resources.</a:t>
            </a:r>
          </a:p>
        </p:txBody>
      </p:sp>
      <p:sp>
        <p:nvSpPr>
          <p:cNvPr id="18" name="v2-page-mask-20">
            <a:extLst>
              <a:ext uri="{FF2B5EF4-FFF2-40B4-BE49-F238E27FC236}">
                <a16:creationId xmlns:a16="http://schemas.microsoft.com/office/drawing/2014/main" id="{51B728DE-2726-46A2-92DF-F3CEBFF0940C}"/>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20">
            <a:extLst>
              <a:ext uri="{FF2B5EF4-FFF2-40B4-BE49-F238E27FC236}">
                <a16:creationId xmlns:a16="http://schemas.microsoft.com/office/drawing/2014/main" id="{E2E0BFD5-24C9-4DC5-9E79-FB088D4D74EF}"/>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20</a:t>
            </a:r>
          </a:p>
        </p:txBody>
      </p:sp>
    </p:spTree>
    <p:extLst>
      <p:ext uri="{BB962C8B-B14F-4D97-AF65-F5344CB8AC3E}">
        <p14:creationId xmlns:p14="http://schemas.microsoft.com/office/powerpoint/2010/main" val="1586176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v2-background">
            <a:extLst>
              <a:ext uri="{FF2B5EF4-FFF2-40B4-BE49-F238E27FC236}">
                <a16:creationId xmlns:a16="http://schemas.microsoft.com/office/drawing/2014/main" id="{E0FEC04D-18E6-477B-B92D-E101927E17A6}"/>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zh-CN" altLang="en-US"/>
          </a:p>
        </p:txBody>
      </p:sp>
      <p:sp>
        <p:nvSpPr>
          <p:cNvPr id="2" name="v2-title-rail">
            <a:extLst>
              <a:ext uri="{FF2B5EF4-FFF2-40B4-BE49-F238E27FC236}">
                <a16:creationId xmlns:a16="http://schemas.microsoft.com/office/drawing/2014/main" id="{EF5759B1-2A4F-4844-89D6-DDFE9F4D1078}"/>
              </a:ext>
            </a:extLst>
          </p:cNvPr>
          <p:cNvSpPr>
            <a:spLocks noGrp="1"/>
          </p:cNvSpPr>
          <p:nvPr/>
        </p:nvSpPr>
        <p:spPr>
          <a:xfrm>
            <a:off x="628650" y="400050"/>
            <a:ext cx="95250" cy="476250"/>
          </a:xfrm>
          <a:prstGeom prst="rect">
            <a:avLst/>
          </a:prstGeom>
          <a:solidFill>
            <a:srgbClr val="1F3B6D"/>
          </a:solidFill>
          <a:ln w="0">
            <a:solidFill>
              <a:srgbClr val="1F3B6D"/>
            </a:solidFill>
            <a:prstDash val="solid"/>
          </a:ln>
        </p:spPr>
        <p:txBody>
          <a:bodyPr/>
          <a:lstStyle/>
          <a:p>
            <a:endParaRPr lang="zh-CN" altLang="en-US"/>
          </a:p>
        </p:txBody>
      </p:sp>
      <p:sp>
        <p:nvSpPr>
          <p:cNvPr id="3" name="v2-title">
            <a:extLst>
              <a:ext uri="{FF2B5EF4-FFF2-40B4-BE49-F238E27FC236}">
                <a16:creationId xmlns:a16="http://schemas.microsoft.com/office/drawing/2014/main" id="{ABD85B61-D98D-4F75-9B7B-984766363FA9}"/>
              </a:ext>
            </a:extLst>
          </p:cNvPr>
          <p:cNvSpPr>
            <a:spLocks noGrp="1"/>
          </p:cNvSpPr>
          <p:nvPr/>
        </p:nvSpPr>
        <p:spPr>
          <a:xfrm>
            <a:off x="981075" y="361950"/>
            <a:ext cx="10287000" cy="552450"/>
          </a:xfrm>
          <a:prstGeom prst="rect">
            <a:avLst/>
          </a:prstGeom>
          <a:noFill/>
          <a:ln w="0">
            <a:noFill/>
            <a:prstDash val="solid"/>
          </a:ln>
        </p:spPr>
        <p:txBody>
          <a:bodyPr/>
          <a:lstStyle/>
          <a:p>
            <a:pPr>
              <a:defRPr sz="2550" b="1">
                <a:solidFill>
                  <a:srgbClr val="1F3B6D"/>
                </a:solidFill>
              </a:defRPr>
            </a:pPr>
            <a:r>
              <a:rPr sz="2550" b="1">
                <a:solidFill>
                  <a:srgbClr val="1F3B6D"/>
                </a:solidFill>
              </a:rPr>
              <a:t>AI History Is Also a History of Expectations</a:t>
            </a:r>
          </a:p>
        </p:txBody>
      </p:sp>
      <p:sp>
        <p:nvSpPr>
          <p:cNvPr id="4" name="v2-rule">
            <a:extLst>
              <a:ext uri="{FF2B5EF4-FFF2-40B4-BE49-F238E27FC236}">
                <a16:creationId xmlns:a16="http://schemas.microsoft.com/office/drawing/2014/main" id="{3599C945-ECA1-4CA3-9D14-A457C7CDA22A}"/>
              </a:ext>
            </a:extLst>
          </p:cNvPr>
          <p:cNvSpPr>
            <a:spLocks noGrp="1"/>
          </p:cNvSpPr>
          <p:nvPr/>
        </p:nvSpPr>
        <p:spPr>
          <a:xfrm>
            <a:off x="638175" y="1000125"/>
            <a:ext cx="10972800" cy="28575"/>
          </a:xfrm>
          <a:prstGeom prst="rect">
            <a:avLst/>
          </a:prstGeom>
          <a:solidFill>
            <a:srgbClr val="2D78B9"/>
          </a:solidFill>
          <a:ln w="0">
            <a:solidFill>
              <a:srgbClr val="2D78B9"/>
            </a:solidFill>
            <a:prstDash val="solid"/>
          </a:ln>
        </p:spPr>
        <p:txBody>
          <a:bodyPr/>
          <a:lstStyle/>
          <a:p>
            <a:endParaRPr lang="zh-CN" altLang="en-US"/>
          </a:p>
        </p:txBody>
      </p:sp>
      <p:sp>
        <p:nvSpPr>
          <p:cNvPr id="5" name="v2-subtitle">
            <a:extLst>
              <a:ext uri="{FF2B5EF4-FFF2-40B4-BE49-F238E27FC236}">
                <a16:creationId xmlns:a16="http://schemas.microsoft.com/office/drawing/2014/main" id="{D98C639C-6185-411D-8F6A-BD5194F7404F}"/>
              </a:ext>
            </a:extLst>
          </p:cNvPr>
          <p:cNvSpPr>
            <a:spLocks noGrp="1"/>
          </p:cNvSpPr>
          <p:nvPr/>
        </p:nvSpPr>
        <p:spPr>
          <a:xfrm>
            <a:off x="981075" y="1104900"/>
            <a:ext cx="10287000" cy="323850"/>
          </a:xfrm>
          <a:prstGeom prst="rect">
            <a:avLst/>
          </a:prstGeom>
          <a:noFill/>
          <a:ln w="0">
            <a:noFill/>
            <a:prstDash val="solid"/>
          </a:ln>
        </p:spPr>
        <p:txBody>
          <a:bodyPr/>
          <a:lstStyle/>
          <a:p>
            <a:pPr>
              <a:defRPr sz="1275" i="1">
                <a:solidFill>
                  <a:srgbClr val="5B6670"/>
                </a:solidFill>
              </a:defRPr>
            </a:pPr>
            <a:r>
              <a:rPr sz="1275" i="1">
                <a:solidFill>
                  <a:srgbClr val="5B6670"/>
                </a:solidFill>
              </a:rPr>
              <a:t>Capability changed—but so did the stories society told about AI.</a:t>
            </a:r>
          </a:p>
        </p:txBody>
      </p:sp>
      <p:sp>
        <p:nvSpPr>
          <p:cNvPr id="6" name="v2-accent">
            <a:extLst>
              <a:ext uri="{FF2B5EF4-FFF2-40B4-BE49-F238E27FC236}">
                <a16:creationId xmlns:a16="http://schemas.microsoft.com/office/drawing/2014/main" id="{14EDBEAA-B68E-4C83-A420-A3DCC570B420}"/>
              </a:ext>
            </a:extLst>
          </p:cNvPr>
          <p:cNvSpPr>
            <a:spLocks noGrp="1"/>
          </p:cNvSpPr>
          <p:nvPr/>
        </p:nvSpPr>
        <p:spPr>
          <a:xfrm>
            <a:off x="11687175" y="304800"/>
            <a:ext cx="266700" cy="266700"/>
          </a:xfrm>
          <a:prstGeom prst="rect">
            <a:avLst/>
          </a:prstGeom>
          <a:solidFill>
            <a:srgbClr val="2D78B9"/>
          </a:solidFill>
          <a:ln w="0">
            <a:solidFill>
              <a:srgbClr val="2D78B9"/>
            </a:solidFill>
            <a:prstDash val="solid"/>
          </a:ln>
        </p:spPr>
        <p:txBody>
          <a:bodyPr/>
          <a:lstStyle/>
          <a:p>
            <a:endParaRPr lang="zh-CN" altLang="en-US"/>
          </a:p>
        </p:txBody>
      </p:sp>
      <p:sp>
        <p:nvSpPr>
          <p:cNvPr id="7" name="v2-footer">
            <a:extLst>
              <a:ext uri="{FF2B5EF4-FFF2-40B4-BE49-F238E27FC236}">
                <a16:creationId xmlns:a16="http://schemas.microsoft.com/office/drawing/2014/main" id="{097B5D14-CDF2-4B6D-802D-8925F8EED1F3}"/>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pic>
        <p:nvPicPr>
          <p:cNvPr id="27" name="图片 26"/>
          <p:cNvPicPr>
            <a:picLocks noChangeAspect="1"/>
          </p:cNvPicPr>
          <p:nvPr/>
        </p:nvPicPr>
        <p:blipFill>
          <a:blip r:embed="rId3"/>
          <a:srcRect l="34374" t="-278" b="278"/>
          <a:stretch>
            <a:fillRect/>
          </a:stretch>
        </p:blipFill>
        <p:spPr>
          <a:xfrm>
            <a:off x="7239000" y="1571625"/>
            <a:ext cx="4000500" cy="3429000"/>
          </a:xfrm>
          <a:prstGeom prst="roundRect">
            <a:avLst>
              <a:gd name="adj" fmla="val 3333"/>
            </a:avLst>
          </a:prstGeom>
        </p:spPr>
      </p:pic>
      <p:sp>
        <p:nvSpPr>
          <p:cNvPr id="9" name="hist-dot-0">
            <a:extLst>
              <a:ext uri="{FF2B5EF4-FFF2-40B4-BE49-F238E27FC236}">
                <a16:creationId xmlns:a16="http://schemas.microsoft.com/office/drawing/2014/main" id="{6CDF2AB0-67D4-4B65-8F31-8429D63B0A89}"/>
              </a:ext>
            </a:extLst>
          </p:cNvPr>
          <p:cNvSpPr>
            <a:spLocks noGrp="1"/>
          </p:cNvSpPr>
          <p:nvPr/>
        </p:nvSpPr>
        <p:spPr>
          <a:xfrm>
            <a:off x="1095375" y="1619250"/>
            <a:ext cx="361950" cy="361950"/>
          </a:xfrm>
          <a:prstGeom prst="ellipse">
            <a:avLst/>
          </a:prstGeom>
          <a:solidFill>
            <a:srgbClr val="2D78B9"/>
          </a:solidFill>
          <a:ln w="0">
            <a:solidFill>
              <a:srgbClr val="2D78B9"/>
            </a:solidFill>
            <a:prstDash val="solid"/>
          </a:ln>
        </p:spPr>
        <p:txBody>
          <a:bodyPr anchor="ctr"/>
          <a:lstStyle/>
          <a:p>
            <a:pPr algn="ctr">
              <a:defRPr sz="1200" b="1">
                <a:solidFill>
                  <a:srgbClr val="FFFFFF"/>
                </a:solidFill>
              </a:defRPr>
            </a:pPr>
            <a:r>
              <a:rPr sz="1200" b="1">
                <a:solidFill>
                  <a:srgbClr val="FFFFFF"/>
                </a:solidFill>
              </a:rPr>
              <a:t>1</a:t>
            </a:r>
          </a:p>
        </p:txBody>
      </p:sp>
      <p:sp>
        <p:nvSpPr>
          <p:cNvPr id="10" name="hist-text-0">
            <a:extLst>
              <a:ext uri="{FF2B5EF4-FFF2-40B4-BE49-F238E27FC236}">
                <a16:creationId xmlns:a16="http://schemas.microsoft.com/office/drawing/2014/main" id="{956408EB-773A-4286-8A4E-BDABAC8EA150}"/>
              </a:ext>
            </a:extLst>
          </p:cNvPr>
          <p:cNvSpPr>
            <a:spLocks noGrp="1"/>
          </p:cNvSpPr>
          <p:nvPr/>
        </p:nvSpPr>
        <p:spPr>
          <a:xfrm>
            <a:off x="1619250" y="1581150"/>
            <a:ext cx="5095875" cy="523875"/>
          </a:xfrm>
          <a:prstGeom prst="rect">
            <a:avLst/>
          </a:prstGeom>
          <a:noFill/>
          <a:ln w="0">
            <a:noFill/>
            <a:prstDash val="solid"/>
          </a:ln>
        </p:spPr>
        <p:txBody>
          <a:bodyPr/>
          <a:lstStyle/>
          <a:p>
            <a:pPr>
              <a:defRPr sz="1350">
                <a:solidFill>
                  <a:srgbClr val="263442"/>
                </a:solidFill>
              </a:defRPr>
            </a:pPr>
            <a:r>
              <a:rPr sz="1350">
                <a:solidFill>
                  <a:srgbClr val="263442"/>
                </a:solidFill>
              </a:rPr>
              <a:t>1950s  Foundational questions and symbolic ambition</a:t>
            </a:r>
          </a:p>
        </p:txBody>
      </p:sp>
      <p:sp>
        <p:nvSpPr>
          <p:cNvPr id="11" name="hist-dot-1">
            <a:extLst>
              <a:ext uri="{FF2B5EF4-FFF2-40B4-BE49-F238E27FC236}">
                <a16:creationId xmlns:a16="http://schemas.microsoft.com/office/drawing/2014/main" id="{E76572E9-41C5-4537-82C2-52189C649728}"/>
              </a:ext>
            </a:extLst>
          </p:cNvPr>
          <p:cNvSpPr>
            <a:spLocks noGrp="1"/>
          </p:cNvSpPr>
          <p:nvPr/>
        </p:nvSpPr>
        <p:spPr>
          <a:xfrm>
            <a:off x="1095375" y="2495550"/>
            <a:ext cx="361950" cy="361950"/>
          </a:xfrm>
          <a:prstGeom prst="ellipse">
            <a:avLst/>
          </a:prstGeom>
          <a:solidFill>
            <a:srgbClr val="2D78B9"/>
          </a:solidFill>
          <a:ln w="0">
            <a:solidFill>
              <a:srgbClr val="2D78B9"/>
            </a:solidFill>
            <a:prstDash val="solid"/>
          </a:ln>
        </p:spPr>
        <p:txBody>
          <a:bodyPr anchor="ctr"/>
          <a:lstStyle/>
          <a:p>
            <a:pPr algn="ctr">
              <a:defRPr sz="1200" b="1">
                <a:solidFill>
                  <a:srgbClr val="FFFFFF"/>
                </a:solidFill>
              </a:defRPr>
            </a:pPr>
            <a:r>
              <a:rPr sz="1200" b="1">
                <a:solidFill>
                  <a:srgbClr val="FFFFFF"/>
                </a:solidFill>
              </a:rPr>
              <a:t>2</a:t>
            </a:r>
          </a:p>
        </p:txBody>
      </p:sp>
      <p:sp>
        <p:nvSpPr>
          <p:cNvPr id="12" name="hist-text-1">
            <a:extLst>
              <a:ext uri="{FF2B5EF4-FFF2-40B4-BE49-F238E27FC236}">
                <a16:creationId xmlns:a16="http://schemas.microsoft.com/office/drawing/2014/main" id="{F908BF13-9EAB-4E2D-80C5-F36362E29063}"/>
              </a:ext>
            </a:extLst>
          </p:cNvPr>
          <p:cNvSpPr>
            <a:spLocks noGrp="1"/>
          </p:cNvSpPr>
          <p:nvPr/>
        </p:nvSpPr>
        <p:spPr>
          <a:xfrm>
            <a:off x="1619250" y="2457450"/>
            <a:ext cx="5095875" cy="523875"/>
          </a:xfrm>
          <a:prstGeom prst="rect">
            <a:avLst/>
          </a:prstGeom>
          <a:noFill/>
          <a:ln w="0">
            <a:noFill/>
            <a:prstDash val="solid"/>
          </a:ln>
        </p:spPr>
        <p:txBody>
          <a:bodyPr/>
          <a:lstStyle/>
          <a:p>
            <a:pPr>
              <a:defRPr sz="1350">
                <a:solidFill>
                  <a:srgbClr val="263442"/>
                </a:solidFill>
              </a:defRPr>
            </a:pPr>
            <a:r>
              <a:rPr sz="1350">
                <a:solidFill>
                  <a:srgbClr val="263442"/>
                </a:solidFill>
              </a:rPr>
              <a:t>1970s–90s  AI winters expose limits in data, compute, and methods</a:t>
            </a:r>
          </a:p>
        </p:txBody>
      </p:sp>
      <p:sp>
        <p:nvSpPr>
          <p:cNvPr id="13" name="hist-dot-2">
            <a:extLst>
              <a:ext uri="{FF2B5EF4-FFF2-40B4-BE49-F238E27FC236}">
                <a16:creationId xmlns:a16="http://schemas.microsoft.com/office/drawing/2014/main" id="{E434BD7F-ADBB-4C50-A1E7-D16F909A2C14}"/>
              </a:ext>
            </a:extLst>
          </p:cNvPr>
          <p:cNvSpPr>
            <a:spLocks noGrp="1"/>
          </p:cNvSpPr>
          <p:nvPr/>
        </p:nvSpPr>
        <p:spPr>
          <a:xfrm>
            <a:off x="1095375" y="3371850"/>
            <a:ext cx="361950" cy="361950"/>
          </a:xfrm>
          <a:prstGeom prst="ellipse">
            <a:avLst/>
          </a:prstGeom>
          <a:solidFill>
            <a:srgbClr val="2D78B9"/>
          </a:solidFill>
          <a:ln w="0">
            <a:solidFill>
              <a:srgbClr val="2D78B9"/>
            </a:solidFill>
            <a:prstDash val="solid"/>
          </a:ln>
        </p:spPr>
        <p:txBody>
          <a:bodyPr anchor="ctr"/>
          <a:lstStyle/>
          <a:p>
            <a:pPr algn="ctr">
              <a:defRPr sz="1200" b="1">
                <a:solidFill>
                  <a:srgbClr val="FFFFFF"/>
                </a:solidFill>
              </a:defRPr>
            </a:pPr>
            <a:r>
              <a:rPr sz="1200" b="1">
                <a:solidFill>
                  <a:srgbClr val="FFFFFF"/>
                </a:solidFill>
              </a:rPr>
              <a:t>3</a:t>
            </a:r>
          </a:p>
        </p:txBody>
      </p:sp>
      <p:sp>
        <p:nvSpPr>
          <p:cNvPr id="14" name="hist-text-2">
            <a:extLst>
              <a:ext uri="{FF2B5EF4-FFF2-40B4-BE49-F238E27FC236}">
                <a16:creationId xmlns:a16="http://schemas.microsoft.com/office/drawing/2014/main" id="{12060AEF-286B-4480-B671-E0F994F814D2}"/>
              </a:ext>
            </a:extLst>
          </p:cNvPr>
          <p:cNvSpPr>
            <a:spLocks noGrp="1"/>
          </p:cNvSpPr>
          <p:nvPr/>
        </p:nvSpPr>
        <p:spPr>
          <a:xfrm>
            <a:off x="1619250" y="3333750"/>
            <a:ext cx="5095875" cy="523875"/>
          </a:xfrm>
          <a:prstGeom prst="rect">
            <a:avLst/>
          </a:prstGeom>
          <a:noFill/>
          <a:ln w="0">
            <a:noFill/>
            <a:prstDash val="solid"/>
          </a:ln>
        </p:spPr>
        <p:txBody>
          <a:bodyPr/>
          <a:lstStyle/>
          <a:p>
            <a:pPr>
              <a:defRPr sz="1350">
                <a:solidFill>
                  <a:srgbClr val="263442"/>
                </a:solidFill>
              </a:defRPr>
            </a:pPr>
            <a:r>
              <a:rPr sz="1350">
                <a:solidFill>
                  <a:srgbClr val="263442"/>
                </a:solidFill>
              </a:rPr>
              <a:t>2010s  Deep learning scales pattern recognition</a:t>
            </a:r>
          </a:p>
        </p:txBody>
      </p:sp>
      <p:sp>
        <p:nvSpPr>
          <p:cNvPr id="15" name="hist-dot-3">
            <a:extLst>
              <a:ext uri="{FF2B5EF4-FFF2-40B4-BE49-F238E27FC236}">
                <a16:creationId xmlns:a16="http://schemas.microsoft.com/office/drawing/2014/main" id="{1EE0606F-A620-4B2D-BA01-238B0DA4E390}"/>
              </a:ext>
            </a:extLst>
          </p:cNvPr>
          <p:cNvSpPr>
            <a:spLocks noGrp="1"/>
          </p:cNvSpPr>
          <p:nvPr/>
        </p:nvSpPr>
        <p:spPr>
          <a:xfrm>
            <a:off x="1095375" y="4248150"/>
            <a:ext cx="361950" cy="361950"/>
          </a:xfrm>
          <a:prstGeom prst="ellipse">
            <a:avLst/>
          </a:prstGeom>
          <a:solidFill>
            <a:srgbClr val="2D78B9"/>
          </a:solidFill>
          <a:ln w="0">
            <a:solidFill>
              <a:srgbClr val="2D78B9"/>
            </a:solidFill>
            <a:prstDash val="solid"/>
          </a:ln>
        </p:spPr>
        <p:txBody>
          <a:bodyPr anchor="ctr"/>
          <a:lstStyle/>
          <a:p>
            <a:pPr algn="ctr">
              <a:defRPr sz="1200" b="1">
                <a:solidFill>
                  <a:srgbClr val="FFFFFF"/>
                </a:solidFill>
              </a:defRPr>
            </a:pPr>
            <a:r>
              <a:rPr sz="1200" b="1">
                <a:solidFill>
                  <a:srgbClr val="FFFFFF"/>
                </a:solidFill>
              </a:rPr>
              <a:t>4</a:t>
            </a:r>
          </a:p>
        </p:txBody>
      </p:sp>
      <p:sp>
        <p:nvSpPr>
          <p:cNvPr id="16" name="hist-text-3">
            <a:extLst>
              <a:ext uri="{FF2B5EF4-FFF2-40B4-BE49-F238E27FC236}">
                <a16:creationId xmlns:a16="http://schemas.microsoft.com/office/drawing/2014/main" id="{0ED6975F-E1CC-48BB-B726-B7DA63781E82}"/>
              </a:ext>
            </a:extLst>
          </p:cNvPr>
          <p:cNvSpPr>
            <a:spLocks noGrp="1"/>
          </p:cNvSpPr>
          <p:nvPr/>
        </p:nvSpPr>
        <p:spPr>
          <a:xfrm>
            <a:off x="1619250" y="4210050"/>
            <a:ext cx="5095875" cy="523875"/>
          </a:xfrm>
          <a:prstGeom prst="rect">
            <a:avLst/>
          </a:prstGeom>
          <a:noFill/>
          <a:ln w="0">
            <a:noFill/>
            <a:prstDash val="solid"/>
          </a:ln>
        </p:spPr>
        <p:txBody>
          <a:bodyPr/>
          <a:lstStyle/>
          <a:p>
            <a:pPr>
              <a:defRPr sz="1350">
                <a:solidFill>
                  <a:srgbClr val="263442"/>
                </a:solidFill>
              </a:defRPr>
            </a:pPr>
            <a:r>
              <a:rPr sz="1350">
                <a:solidFill>
                  <a:srgbClr val="263442"/>
                </a:solidFill>
              </a:rPr>
              <a:t>2020s  Generative AI expands access—and expectations</a:t>
            </a:r>
          </a:p>
        </p:txBody>
      </p:sp>
      <p:sp>
        <p:nvSpPr>
          <p:cNvPr id="17" name="v2-takeaway">
            <a:extLst>
              <a:ext uri="{FF2B5EF4-FFF2-40B4-BE49-F238E27FC236}">
                <a16:creationId xmlns:a16="http://schemas.microsoft.com/office/drawing/2014/main" id="{14F463F9-9FFC-4E21-A7EB-F89F6B3C4F6A}"/>
              </a:ext>
            </a:extLst>
          </p:cNvPr>
          <p:cNvSpPr>
            <a:spLocks noGrp="1"/>
          </p:cNvSpPr>
          <p:nvPr/>
        </p:nvSpPr>
        <p:spPr>
          <a:xfrm>
            <a:off x="876300" y="575310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defRPr sz="1200" b="1">
                <a:solidFill>
                  <a:srgbClr val="1F3B6D"/>
                </a:solidFill>
              </a:defRPr>
            </a:pPr>
            <a:r>
              <a:rPr sz="1200" b="1">
                <a:solidFill>
                  <a:srgbClr val="1F3B6D"/>
                </a:solidFill>
              </a:rPr>
              <a:t>Ethical analysis should separate demonstrated capability from hype, projection, and institutional incentives.</a:t>
            </a:r>
          </a:p>
        </p:txBody>
      </p:sp>
      <p:sp>
        <p:nvSpPr>
          <p:cNvPr id="18" name="v2-page-mask-21">
            <a:extLst>
              <a:ext uri="{FF2B5EF4-FFF2-40B4-BE49-F238E27FC236}">
                <a16:creationId xmlns:a16="http://schemas.microsoft.com/office/drawing/2014/main" id="{EE877475-BB59-4B01-8AC5-0E68F32C38A5}"/>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21">
            <a:extLst>
              <a:ext uri="{FF2B5EF4-FFF2-40B4-BE49-F238E27FC236}">
                <a16:creationId xmlns:a16="http://schemas.microsoft.com/office/drawing/2014/main" id="{8438585D-770B-4B55-912F-B4F8CD273165}"/>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21</a:t>
            </a:r>
          </a:p>
        </p:txBody>
      </p:sp>
    </p:spTree>
    <p:extLst>
      <p:ext uri="{BB962C8B-B14F-4D97-AF65-F5344CB8AC3E}">
        <p14:creationId xmlns:p14="http://schemas.microsoft.com/office/powerpoint/2010/main" val="12994216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F5FE745-095C-475C-9340-45EAFE1A249A}"/>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51A39323-6DB5-4741-A210-84369DFA6ABA}"/>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F4ED450D-1D51-44C3-80EB-00F158CAD990}"/>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How Modern AI Works</a:t>
            </a:r>
          </a:p>
        </p:txBody>
      </p:sp>
      <p:sp>
        <p:nvSpPr>
          <p:cNvPr id="5" name="Rectangle 4">
            <a:extLst>
              <a:ext uri="{FF2B5EF4-FFF2-40B4-BE49-F238E27FC236}">
                <a16:creationId xmlns:a16="http://schemas.microsoft.com/office/drawing/2014/main" id="{F17E7A00-1384-48CF-BABB-FE0BBD1EB2F3}"/>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D62A6B0-803B-4AB7-89B1-620A3141980C}"/>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A non-technical look at the loop — and why ethics issues arise.</a:t>
            </a:r>
          </a:p>
        </p:txBody>
      </p:sp>
      <p:sp>
        <p:nvSpPr>
          <p:cNvPr id="7" name="TextBox 6">
            <a:extLst>
              <a:ext uri="{FF2B5EF4-FFF2-40B4-BE49-F238E27FC236}">
                <a16:creationId xmlns:a16="http://schemas.microsoft.com/office/drawing/2014/main" id="{F1DC56F6-2F44-4367-BD25-1F525AFDA699}"/>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F9622A77-7961-4008-8997-0907BBD2B22A}"/>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19</a:t>
            </a:r>
          </a:p>
        </p:txBody>
      </p:sp>
      <p:sp>
        <p:nvSpPr>
          <p:cNvPr id="9" name="TextBox 8">
            <a:extLst>
              <a:ext uri="{FF2B5EF4-FFF2-40B4-BE49-F238E27FC236}">
                <a16:creationId xmlns:a16="http://schemas.microsoft.com/office/drawing/2014/main" id="{65AF430D-43CE-4298-9A49-E37222601692}"/>
              </a:ext>
            </a:extLst>
          </p:cNvPr>
          <p:cNvSpPr>
            <a:spLocks noGrp="1"/>
          </p:cNvSpPr>
          <p:nvPr/>
        </p:nvSpPr>
        <p:spPr>
          <a:xfrm>
            <a:off x="896112" y="1554480"/>
            <a:ext cx="10607040" cy="4572000"/>
          </a:xfrm>
          <a:prstGeom prst="rect">
            <a:avLst/>
          </a:prstGeom>
          <a:noFill/>
        </p:spPr>
        <p:txBody>
          <a:bodyPr wrap="square" anchor="t">
            <a:spAutoFit/>
          </a:bodyPr>
          <a:lstStyle/>
          <a:p>
            <a:pPr marL="285750" indent="0" algn="l">
              <a:lnSpc>
                <a:spcPct val="116000"/>
              </a:lnSpc>
              <a:spcBef>
                <a:spcPts val="0"/>
              </a:spcBef>
              <a:spcAft>
                <a:spcPts val="400"/>
              </a:spcAft>
              <a:buNone/>
            </a:pPr>
            <a:r>
              <a:rPr sz="1700" b="1" i="0" u="none">
                <a:solidFill>
                  <a:srgbClr val="1F3864"/>
                </a:solidFill>
                <a:latin typeface="Calibri"/>
                <a:ea typeface="Calibri"/>
                <a:cs typeface="Calibri"/>
              </a:rPr>
              <a:t>The machine-learning loop</a:t>
            </a:r>
          </a:p>
          <a:p>
            <a:pPr marL="285750" indent="0" algn="l">
              <a:lnSpc>
                <a:spcPct val="116000"/>
              </a:lnSpc>
              <a:spcBef>
                <a:spcPts val="0"/>
              </a:spcBef>
              <a:spcAft>
                <a:spcPts val="800"/>
              </a:spcAft>
              <a:buNone/>
            </a:pPr>
            <a:r>
              <a:rPr sz="1500" b="1" i="0" u="none">
                <a:solidFill>
                  <a:srgbClr val="1F3864"/>
                </a:solidFill>
                <a:latin typeface="Calibri"/>
                <a:ea typeface="Calibri"/>
                <a:cs typeface="Calibri"/>
              </a:rPr>
              <a:t>Data (collected, labeled)  →  Training  →  Prediction/Generation  →  Deployment</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The model </a:t>
            </a:r>
            <a:r>
              <a:rPr sz="1600" b="1" i="0" u="sng">
                <a:solidFill>
                  <a:srgbClr val="262626"/>
                </a:solidFill>
                <a:latin typeface="Calibri"/>
                <a:ea typeface="Calibri"/>
                <a:cs typeface="Calibri"/>
              </a:rPr>
              <a:t>reflects its data</a:t>
            </a:r>
            <a:r>
              <a:rPr sz="1600" b="0" i="0" u="none">
                <a:solidFill>
                  <a:srgbClr val="262626"/>
                </a:solidFill>
                <a:latin typeface="Calibri"/>
                <a:ea typeface="Calibri"/>
                <a:cs typeface="Calibri"/>
              </a:rPr>
              <a:t> — errors and biases propagate downstream.</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62626"/>
                </a:solidFill>
                <a:latin typeface="Calibri"/>
                <a:ea typeface="Calibri"/>
                <a:cs typeface="Calibri"/>
              </a:rPr>
              <a:t>Three families (brief): </a:t>
            </a:r>
            <a:r>
              <a:rPr sz="1600" b="0" i="0" u="none">
                <a:solidFill>
                  <a:srgbClr val="262626"/>
                </a:solidFill>
                <a:latin typeface="Calibri"/>
                <a:ea typeface="Calibri"/>
                <a:cs typeface="Calibri"/>
              </a:rPr>
              <a:t>supervised (labels), unsupervised (patterns), reinforcement (rewards).</a:t>
            </a:r>
          </a:p>
          <a:p>
            <a:pPr marL="285750" indent="-285750" algn="l">
              <a:lnSpc>
                <a:spcPct val="116000"/>
              </a:lnSpc>
              <a:spcBef>
                <a:spcPts val="400"/>
              </a:spcBef>
              <a:spcAft>
                <a:spcPts val="700"/>
              </a:spcAft>
              <a:buClr>
                <a:srgbClr val="2E75B6"/>
              </a:buClr>
              <a:buSzPct val="100000"/>
              <a:buFont typeface="Arial"/>
              <a:buChar char="•"/>
            </a:pPr>
            <a:r>
              <a:rPr sz="1600" b="1" i="0" u="none">
                <a:solidFill>
                  <a:srgbClr val="1F3864"/>
                </a:solidFill>
                <a:latin typeface="Calibri"/>
                <a:ea typeface="Calibri"/>
                <a:cs typeface="Calibri"/>
              </a:rPr>
              <a:t>Ethical stakes enter at every stage: </a:t>
            </a:r>
            <a:r>
              <a:rPr sz="1600" b="0" i="0" u="none">
                <a:solidFill>
                  <a:srgbClr val="262626"/>
                </a:solidFill>
                <a:latin typeface="Calibri"/>
                <a:ea typeface="Calibri"/>
                <a:cs typeface="Calibri"/>
              </a:rPr>
              <a:t>what data, whose labels, which objective, who is affected.</a:t>
            </a:r>
          </a:p>
        </p:txBody>
      </p:sp>
      <p:pic>
        <p:nvPicPr>
          <p:cNvPr id="21" name="图片 18"/>
          <p:cNvPicPr>
            <a:picLocks noChangeAspect="1"/>
          </p:cNvPicPr>
          <p:nvPr/>
        </p:nvPicPr>
        <p:blipFill>
          <a:blip r:embed="rId3"/>
          <a:srcRect t="27" b="27"/>
          <a:stretch>
            <a:fillRect/>
          </a:stretch>
        </p:blipFill>
        <p:spPr>
          <a:xfrm>
            <a:off x="0" y="0"/>
            <a:ext cx="12192000" cy="6858000"/>
          </a:xfrm>
          <a:prstGeom prst="rect">
            <a:avLst/>
          </a:prstGeom>
        </p:spPr>
      </p:pic>
      <p:sp>
        <p:nvSpPr>
          <p:cNvPr id="11" name="v2-page-mask-22">
            <a:extLst>
              <a:ext uri="{FF2B5EF4-FFF2-40B4-BE49-F238E27FC236}">
                <a16:creationId xmlns:a16="http://schemas.microsoft.com/office/drawing/2014/main" id="{766F766B-5E6A-4586-BB6F-DE3D33C08D92}"/>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2" name="v2-page-22">
            <a:extLst>
              <a:ext uri="{FF2B5EF4-FFF2-40B4-BE49-F238E27FC236}">
                <a16:creationId xmlns:a16="http://schemas.microsoft.com/office/drawing/2014/main" id="{C17AE5CF-B043-45F4-B026-4B5FC30F1906}"/>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22</a:t>
            </a:r>
          </a:p>
        </p:txBody>
      </p:sp>
    </p:spTree>
    <p:extLst>
      <p:ext uri="{BB962C8B-B14F-4D97-AF65-F5344CB8AC3E}">
        <p14:creationId xmlns:p14="http://schemas.microsoft.com/office/powerpoint/2010/main" val="10475827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A11972E-0151-433D-8D17-4C8EF072346E}"/>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0F9227A1-D99F-4067-AEC0-2FF8A4A27B19}"/>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EDFDD8B4-54AB-45A9-8D72-E38E83046E49}"/>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Generative AI &amp; Large Language Models</a:t>
            </a:r>
          </a:p>
        </p:txBody>
      </p:sp>
      <p:sp>
        <p:nvSpPr>
          <p:cNvPr id="5" name="Rectangle 4">
            <a:extLst>
              <a:ext uri="{FF2B5EF4-FFF2-40B4-BE49-F238E27FC236}">
                <a16:creationId xmlns:a16="http://schemas.microsoft.com/office/drawing/2014/main" id="{F06B855B-5417-4F5B-97A5-35E9284C4895}"/>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6A38B535-FD08-47E3-8A1B-806306A79AFA}"/>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2CA10F14-B4F0-486F-B7F1-4D489540AAB6}"/>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20</a:t>
            </a:r>
          </a:p>
        </p:txBody>
      </p:sp>
      <p:sp>
        <p:nvSpPr>
          <p:cNvPr id="8" name="TextBox 7">
            <a:extLst>
              <a:ext uri="{FF2B5EF4-FFF2-40B4-BE49-F238E27FC236}">
                <a16:creationId xmlns:a16="http://schemas.microsoft.com/office/drawing/2014/main" id="{0282C985-1D00-4DC1-90C1-7190E4F65A2C}"/>
              </a:ext>
            </a:extLst>
          </p:cNvPr>
          <p:cNvSpPr>
            <a:spLocks noGrp="1"/>
          </p:cNvSpPr>
          <p:nvPr/>
        </p:nvSpPr>
        <p:spPr>
          <a:xfrm>
            <a:off x="896112" y="1508760"/>
            <a:ext cx="5212080" cy="4663440"/>
          </a:xfrm>
          <a:prstGeom prst="rect">
            <a:avLst/>
          </a:prstGeom>
          <a:noFill/>
        </p:spPr>
        <p:txBody>
          <a:bodyPr wrap="square" anchor="t">
            <a:spAutoFit/>
          </a:bodyPr>
          <a:lstStyle/>
          <a:p>
            <a:pPr marL="285750" indent="0" algn="l">
              <a:lnSpc>
                <a:spcPct val="116000"/>
              </a:lnSpc>
              <a:spcBef>
                <a:spcPts val="0"/>
              </a:spcBef>
              <a:spcAft>
                <a:spcPts val="400"/>
              </a:spcAft>
              <a:buNone/>
            </a:pPr>
            <a:r>
              <a:rPr sz="1700" b="1" i="0" u="none">
                <a:solidFill>
                  <a:srgbClr val="1F3864"/>
                </a:solidFill>
                <a:latin typeface="Calibri"/>
                <a:ea typeface="Calibri"/>
                <a:cs typeface="Calibri"/>
              </a:rPr>
              <a:t>What it is</a:t>
            </a:r>
          </a:p>
          <a:p>
            <a:pPr marL="2857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Trained on massive text; predicts the next token.</a:t>
            </a:r>
          </a:p>
          <a:p>
            <a:pPr marL="2857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Generates fluent text (ChatGPT), images (diffusion), code, audio.</a:t>
            </a:r>
          </a:p>
          <a:p>
            <a:pPr marL="2857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Emerging abilities: drafting, summarizing, translation, reasoning.</a:t>
            </a:r>
          </a:p>
        </p:txBody>
      </p:sp>
      <p:sp>
        <p:nvSpPr>
          <p:cNvPr id="9" name="TextBox 8">
            <a:extLst>
              <a:ext uri="{FF2B5EF4-FFF2-40B4-BE49-F238E27FC236}">
                <a16:creationId xmlns:a16="http://schemas.microsoft.com/office/drawing/2014/main" id="{180B4298-DD70-42C8-959D-BB0466EE03FB}"/>
              </a:ext>
            </a:extLst>
          </p:cNvPr>
          <p:cNvSpPr>
            <a:spLocks noGrp="1"/>
          </p:cNvSpPr>
          <p:nvPr/>
        </p:nvSpPr>
        <p:spPr>
          <a:xfrm>
            <a:off x="6355080" y="1508760"/>
            <a:ext cx="5212080" cy="4663440"/>
          </a:xfrm>
          <a:prstGeom prst="rect">
            <a:avLst/>
          </a:prstGeom>
          <a:noFill/>
        </p:spPr>
        <p:txBody>
          <a:bodyPr wrap="square" anchor="t">
            <a:spAutoFit/>
          </a:bodyPr>
          <a:lstStyle/>
          <a:p>
            <a:pPr marL="285750" indent="0" algn="l">
              <a:lnSpc>
                <a:spcPct val="116000"/>
              </a:lnSpc>
              <a:spcBef>
                <a:spcPts val="0"/>
              </a:spcBef>
              <a:spcAft>
                <a:spcPts val="400"/>
              </a:spcAft>
              <a:buNone/>
            </a:pPr>
            <a:r>
              <a:rPr sz="1700" b="1" i="0" u="none">
                <a:solidFill>
                  <a:srgbClr val="1F3864"/>
                </a:solidFill>
                <a:latin typeface="Calibri"/>
                <a:ea typeface="Calibri"/>
                <a:cs typeface="Calibri"/>
              </a:rPr>
              <a:t>Limits relevant to ethics</a:t>
            </a:r>
          </a:p>
          <a:p>
            <a:pPr marL="285750" indent="-285750" algn="l">
              <a:lnSpc>
                <a:spcPct val="116000"/>
              </a:lnSpc>
              <a:spcBef>
                <a:spcPts val="0"/>
              </a:spcBef>
              <a:spcAft>
                <a:spcPts val="700"/>
              </a:spcAft>
              <a:buClr>
                <a:srgbClr val="2E75B6"/>
              </a:buClr>
              <a:buSzPct val="100000"/>
              <a:buFont typeface="Arial"/>
              <a:buChar char="•"/>
            </a:pPr>
            <a:r>
              <a:rPr sz="1500" b="1" i="0" u="sng">
                <a:solidFill>
                  <a:srgbClr val="262626"/>
                </a:solidFill>
                <a:latin typeface="Calibri"/>
                <a:ea typeface="Calibri"/>
                <a:cs typeface="Calibri"/>
              </a:rPr>
              <a:t>Hallucination</a:t>
            </a:r>
            <a:r>
              <a:rPr sz="1500" b="0" i="0" u="none">
                <a:solidFill>
                  <a:srgbClr val="262626"/>
                </a:solidFill>
                <a:latin typeface="Calibri"/>
                <a:ea typeface="Calibri"/>
                <a:cs typeface="Calibri"/>
              </a:rPr>
              <a:t> — confident falsehoods.</a:t>
            </a:r>
          </a:p>
          <a:p>
            <a:pPr marL="2857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Non-determinism — different answers each run.</a:t>
            </a:r>
          </a:p>
          <a:p>
            <a:pPr marL="2857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Memorizes &amp; may leak training data.</a:t>
            </a:r>
          </a:p>
          <a:p>
            <a:pPr marL="2857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No genuine </a:t>
            </a:r>
            <a:r>
              <a:rPr sz="1500" b="0" i="0" u="sng">
                <a:solidFill>
                  <a:srgbClr val="262626"/>
                </a:solidFill>
                <a:latin typeface="Calibri"/>
                <a:ea typeface="Calibri"/>
                <a:cs typeface="Calibri"/>
              </a:rPr>
              <a:t>understanding</a:t>
            </a:r>
            <a:r>
              <a:rPr sz="1500" b="0" i="0" u="none">
                <a:solidFill>
                  <a:srgbClr val="262626"/>
                </a:solidFill>
                <a:latin typeface="Calibri"/>
                <a:ea typeface="Calibri"/>
                <a:cs typeface="Calibri"/>
              </a:rPr>
              <a:t> or grounding in the world.</a:t>
            </a:r>
          </a:p>
        </p:txBody>
      </p:sp>
      <p:sp>
        <p:nvSpPr>
          <p:cNvPr id="10" name="expanded-arrow-20-1">
            <a:extLst>
              <a:ext uri="{FF2B5EF4-FFF2-40B4-BE49-F238E27FC236}">
                <a16:creationId xmlns:a16="http://schemas.microsoft.com/office/drawing/2014/main" id="{6784374A-5E26-4AB5-87FE-7CCBE9F87C45}"/>
              </a:ext>
            </a:extLst>
          </p:cNvPr>
          <p:cNvSpPr>
            <a:spLocks noGrp="1"/>
          </p:cNvSpPr>
          <p:nvPr/>
        </p:nvSpPr>
        <p:spPr>
          <a:xfrm>
            <a:off x="3581400" y="4872038"/>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20-2">
            <a:extLst>
              <a:ext uri="{FF2B5EF4-FFF2-40B4-BE49-F238E27FC236}">
                <a16:creationId xmlns:a16="http://schemas.microsoft.com/office/drawing/2014/main" id="{728D20C2-4FFC-4397-AE14-892E47C90DAB}"/>
              </a:ext>
            </a:extLst>
          </p:cNvPr>
          <p:cNvSpPr>
            <a:spLocks noGrp="1"/>
          </p:cNvSpPr>
          <p:nvPr/>
        </p:nvSpPr>
        <p:spPr>
          <a:xfrm>
            <a:off x="5962650" y="4872038"/>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20-3">
            <a:extLst>
              <a:ext uri="{FF2B5EF4-FFF2-40B4-BE49-F238E27FC236}">
                <a16:creationId xmlns:a16="http://schemas.microsoft.com/office/drawing/2014/main" id="{37BA634B-C1B4-424E-8C65-60C230BC0142}"/>
              </a:ext>
            </a:extLst>
          </p:cNvPr>
          <p:cNvSpPr>
            <a:spLocks noGrp="1"/>
          </p:cNvSpPr>
          <p:nvPr/>
        </p:nvSpPr>
        <p:spPr>
          <a:xfrm>
            <a:off x="8343900" y="4872038"/>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20-1">
            <a:extLst>
              <a:ext uri="{FF2B5EF4-FFF2-40B4-BE49-F238E27FC236}">
                <a16:creationId xmlns:a16="http://schemas.microsoft.com/office/drawing/2014/main" id="{1D743016-4513-4A1F-9C80-951DC5225C41}"/>
              </a:ext>
            </a:extLst>
          </p:cNvPr>
          <p:cNvSpPr>
            <a:spLocks noGrp="1"/>
          </p:cNvSpPr>
          <p:nvPr/>
        </p:nvSpPr>
        <p:spPr>
          <a:xfrm>
            <a:off x="14287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PROMPT</a:t>
            </a:r>
          </a:p>
        </p:txBody>
      </p:sp>
      <p:sp>
        <p:nvSpPr>
          <p:cNvPr id="14" name="expanded-node-20-2">
            <a:extLst>
              <a:ext uri="{FF2B5EF4-FFF2-40B4-BE49-F238E27FC236}">
                <a16:creationId xmlns:a16="http://schemas.microsoft.com/office/drawing/2014/main" id="{A6C56BEE-5283-47C6-8B25-9E08424B717C}"/>
              </a:ext>
            </a:extLst>
          </p:cNvPr>
          <p:cNvSpPr>
            <a:spLocks noGrp="1"/>
          </p:cNvSpPr>
          <p:nvPr/>
        </p:nvSpPr>
        <p:spPr>
          <a:xfrm>
            <a:off x="38100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TOKEN PREDICTION</a:t>
            </a:r>
          </a:p>
        </p:txBody>
      </p:sp>
      <p:sp>
        <p:nvSpPr>
          <p:cNvPr id="15" name="expanded-node-20-3">
            <a:extLst>
              <a:ext uri="{FF2B5EF4-FFF2-40B4-BE49-F238E27FC236}">
                <a16:creationId xmlns:a16="http://schemas.microsoft.com/office/drawing/2014/main" id="{10BE557B-38AA-46A2-AAE8-FD7C4CC4370D}"/>
              </a:ext>
            </a:extLst>
          </p:cNvPr>
          <p:cNvSpPr>
            <a:spLocks noGrp="1"/>
          </p:cNvSpPr>
          <p:nvPr/>
        </p:nvSpPr>
        <p:spPr>
          <a:xfrm>
            <a:off x="61912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FLUENT OUTPUT</a:t>
            </a:r>
          </a:p>
        </p:txBody>
      </p:sp>
      <p:sp>
        <p:nvSpPr>
          <p:cNvPr id="16" name="expanded-node-20-4">
            <a:extLst>
              <a:ext uri="{FF2B5EF4-FFF2-40B4-BE49-F238E27FC236}">
                <a16:creationId xmlns:a16="http://schemas.microsoft.com/office/drawing/2014/main" id="{08C33FC6-6E4C-40B8-A744-F8433EA4C703}"/>
              </a:ext>
            </a:extLst>
          </p:cNvPr>
          <p:cNvSpPr>
            <a:spLocks noGrp="1"/>
          </p:cNvSpPr>
          <p:nvPr/>
        </p:nvSpPr>
        <p:spPr>
          <a:xfrm>
            <a:off x="85725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VERIFY</a:t>
            </a:r>
          </a:p>
        </p:txBody>
      </p:sp>
      <p:sp>
        <p:nvSpPr>
          <p:cNvPr id="17" name="expanded-takeaway-20">
            <a:extLst>
              <a:ext uri="{FF2B5EF4-FFF2-40B4-BE49-F238E27FC236}">
                <a16:creationId xmlns:a16="http://schemas.microsoft.com/office/drawing/2014/main" id="{9B9F20FB-CB3E-4B19-B189-27E342A3C2B6}"/>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Generative models can produce fluent outputs without knowing whether those outputs are true, fair, or appropriate.</a:t>
            </a:r>
          </a:p>
        </p:txBody>
      </p:sp>
      <p:sp>
        <p:nvSpPr>
          <p:cNvPr id="18" name="v2-page-mask-23">
            <a:extLst>
              <a:ext uri="{FF2B5EF4-FFF2-40B4-BE49-F238E27FC236}">
                <a16:creationId xmlns:a16="http://schemas.microsoft.com/office/drawing/2014/main" id="{EED1F45B-5045-451B-B521-C4A1A1D564E9}"/>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23">
            <a:extLst>
              <a:ext uri="{FF2B5EF4-FFF2-40B4-BE49-F238E27FC236}">
                <a16:creationId xmlns:a16="http://schemas.microsoft.com/office/drawing/2014/main" id="{12DF21EF-0869-4DFF-A2F4-B48C5E29D167}"/>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23</a:t>
            </a:r>
          </a:p>
        </p:txBody>
      </p:sp>
    </p:spTree>
    <p:extLst>
      <p:ext uri="{BB962C8B-B14F-4D97-AF65-F5344CB8AC3E}">
        <p14:creationId xmlns:p14="http://schemas.microsoft.com/office/powerpoint/2010/main" val="5848812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v2-background">
            <a:extLst>
              <a:ext uri="{FF2B5EF4-FFF2-40B4-BE49-F238E27FC236}">
                <a16:creationId xmlns:a16="http://schemas.microsoft.com/office/drawing/2014/main" id="{70E2F822-EBCF-4EC5-9C95-1C6E830AC81C}"/>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zh-CN" altLang="en-US"/>
          </a:p>
        </p:txBody>
      </p:sp>
      <p:sp>
        <p:nvSpPr>
          <p:cNvPr id="2" name="v2-title-rail">
            <a:extLst>
              <a:ext uri="{FF2B5EF4-FFF2-40B4-BE49-F238E27FC236}">
                <a16:creationId xmlns:a16="http://schemas.microsoft.com/office/drawing/2014/main" id="{6F29DDF1-302B-49BF-BEE1-A8853BEB5177}"/>
              </a:ext>
            </a:extLst>
          </p:cNvPr>
          <p:cNvSpPr>
            <a:spLocks noGrp="1"/>
          </p:cNvSpPr>
          <p:nvPr/>
        </p:nvSpPr>
        <p:spPr>
          <a:xfrm>
            <a:off x="628650" y="400050"/>
            <a:ext cx="95250" cy="476250"/>
          </a:xfrm>
          <a:prstGeom prst="rect">
            <a:avLst/>
          </a:prstGeom>
          <a:solidFill>
            <a:srgbClr val="1F3B6D"/>
          </a:solidFill>
          <a:ln w="0">
            <a:solidFill>
              <a:srgbClr val="1F3B6D"/>
            </a:solidFill>
            <a:prstDash val="solid"/>
          </a:ln>
        </p:spPr>
        <p:txBody>
          <a:bodyPr/>
          <a:lstStyle/>
          <a:p>
            <a:endParaRPr lang="zh-CN" altLang="en-US"/>
          </a:p>
        </p:txBody>
      </p:sp>
      <p:sp>
        <p:nvSpPr>
          <p:cNvPr id="3" name="v2-title">
            <a:extLst>
              <a:ext uri="{FF2B5EF4-FFF2-40B4-BE49-F238E27FC236}">
                <a16:creationId xmlns:a16="http://schemas.microsoft.com/office/drawing/2014/main" id="{3795E6E5-EA93-41A3-A27D-8BDC041C4E95}"/>
              </a:ext>
            </a:extLst>
          </p:cNvPr>
          <p:cNvSpPr>
            <a:spLocks noGrp="1"/>
          </p:cNvSpPr>
          <p:nvPr/>
        </p:nvSpPr>
        <p:spPr>
          <a:xfrm>
            <a:off x="981075" y="361950"/>
            <a:ext cx="10287000" cy="552450"/>
          </a:xfrm>
          <a:prstGeom prst="rect">
            <a:avLst/>
          </a:prstGeom>
          <a:noFill/>
          <a:ln w="0">
            <a:noFill/>
            <a:prstDash val="solid"/>
          </a:ln>
        </p:spPr>
        <p:txBody>
          <a:bodyPr/>
          <a:lstStyle/>
          <a:p>
            <a:pPr>
              <a:defRPr sz="2550" b="1">
                <a:solidFill>
                  <a:srgbClr val="1F3B6D"/>
                </a:solidFill>
              </a:defRPr>
            </a:pPr>
            <a:r>
              <a:rPr sz="2550" b="1">
                <a:solidFill>
                  <a:srgbClr val="1F3B6D"/>
                </a:solidFill>
              </a:rPr>
              <a:t>LLMs: Fluency, Knowledge, and Verification Are Different</a:t>
            </a:r>
          </a:p>
        </p:txBody>
      </p:sp>
      <p:sp>
        <p:nvSpPr>
          <p:cNvPr id="4" name="v2-rule">
            <a:extLst>
              <a:ext uri="{FF2B5EF4-FFF2-40B4-BE49-F238E27FC236}">
                <a16:creationId xmlns:a16="http://schemas.microsoft.com/office/drawing/2014/main" id="{FC232582-48D9-4B5E-B87E-A3FA15CFE848}"/>
              </a:ext>
            </a:extLst>
          </p:cNvPr>
          <p:cNvSpPr>
            <a:spLocks noGrp="1"/>
          </p:cNvSpPr>
          <p:nvPr/>
        </p:nvSpPr>
        <p:spPr>
          <a:xfrm>
            <a:off x="638175" y="1000125"/>
            <a:ext cx="10972800" cy="28575"/>
          </a:xfrm>
          <a:prstGeom prst="rect">
            <a:avLst/>
          </a:prstGeom>
          <a:solidFill>
            <a:srgbClr val="2D78B9"/>
          </a:solidFill>
          <a:ln w="0">
            <a:solidFill>
              <a:srgbClr val="2D78B9"/>
            </a:solidFill>
            <a:prstDash val="solid"/>
          </a:ln>
        </p:spPr>
        <p:txBody>
          <a:bodyPr/>
          <a:lstStyle/>
          <a:p>
            <a:endParaRPr lang="zh-CN" altLang="en-US"/>
          </a:p>
        </p:txBody>
      </p:sp>
      <p:sp>
        <p:nvSpPr>
          <p:cNvPr id="5" name="v2-subtitle">
            <a:extLst>
              <a:ext uri="{FF2B5EF4-FFF2-40B4-BE49-F238E27FC236}">
                <a16:creationId xmlns:a16="http://schemas.microsoft.com/office/drawing/2014/main" id="{C1C687C9-E9B0-43E8-A32B-67E70A1E63EF}"/>
              </a:ext>
            </a:extLst>
          </p:cNvPr>
          <p:cNvSpPr>
            <a:spLocks noGrp="1"/>
          </p:cNvSpPr>
          <p:nvPr/>
        </p:nvSpPr>
        <p:spPr>
          <a:xfrm>
            <a:off x="981075" y="1104900"/>
            <a:ext cx="10287000" cy="323850"/>
          </a:xfrm>
          <a:prstGeom prst="rect">
            <a:avLst/>
          </a:prstGeom>
          <a:noFill/>
          <a:ln w="0">
            <a:noFill/>
            <a:prstDash val="solid"/>
          </a:ln>
        </p:spPr>
        <p:txBody>
          <a:bodyPr/>
          <a:lstStyle/>
          <a:p>
            <a:pPr>
              <a:defRPr sz="1275" i="1">
                <a:solidFill>
                  <a:srgbClr val="5B6670"/>
                </a:solidFill>
              </a:defRPr>
            </a:pPr>
            <a:r>
              <a:rPr sz="1275" i="1">
                <a:solidFill>
                  <a:srgbClr val="5B6670"/>
                </a:solidFill>
              </a:rPr>
              <a:t>A confident sentence can be useful, false, unsupported—or all three.</a:t>
            </a:r>
          </a:p>
        </p:txBody>
      </p:sp>
      <p:sp>
        <p:nvSpPr>
          <p:cNvPr id="6" name="v2-accent">
            <a:extLst>
              <a:ext uri="{FF2B5EF4-FFF2-40B4-BE49-F238E27FC236}">
                <a16:creationId xmlns:a16="http://schemas.microsoft.com/office/drawing/2014/main" id="{A40AE052-B929-4E1D-B04D-C50A8052A9EB}"/>
              </a:ext>
            </a:extLst>
          </p:cNvPr>
          <p:cNvSpPr>
            <a:spLocks noGrp="1"/>
          </p:cNvSpPr>
          <p:nvPr/>
        </p:nvSpPr>
        <p:spPr>
          <a:xfrm>
            <a:off x="11687175" y="304800"/>
            <a:ext cx="266700" cy="266700"/>
          </a:xfrm>
          <a:prstGeom prst="rect">
            <a:avLst/>
          </a:prstGeom>
          <a:solidFill>
            <a:srgbClr val="2D78B9"/>
          </a:solidFill>
          <a:ln w="0">
            <a:solidFill>
              <a:srgbClr val="2D78B9"/>
            </a:solidFill>
            <a:prstDash val="solid"/>
          </a:ln>
        </p:spPr>
        <p:txBody>
          <a:bodyPr/>
          <a:lstStyle/>
          <a:p>
            <a:endParaRPr lang="zh-CN" altLang="en-US"/>
          </a:p>
        </p:txBody>
      </p:sp>
      <p:sp>
        <p:nvSpPr>
          <p:cNvPr id="7" name="v2-footer">
            <a:extLst>
              <a:ext uri="{FF2B5EF4-FFF2-40B4-BE49-F238E27FC236}">
                <a16:creationId xmlns:a16="http://schemas.microsoft.com/office/drawing/2014/main" id="{A5E54FB2-9458-4A91-8E71-1D05399F1264}"/>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sp>
        <p:nvSpPr>
          <p:cNvPr id="8" name="fluent-bg">
            <a:extLst>
              <a:ext uri="{FF2B5EF4-FFF2-40B4-BE49-F238E27FC236}">
                <a16:creationId xmlns:a16="http://schemas.microsoft.com/office/drawing/2014/main" id="{0AAC37FD-A413-49B9-AA86-5AD37052B57B}"/>
              </a:ext>
            </a:extLst>
          </p:cNvPr>
          <p:cNvSpPr>
            <a:spLocks noGrp="1"/>
          </p:cNvSpPr>
          <p:nvPr/>
        </p:nvSpPr>
        <p:spPr>
          <a:xfrm>
            <a:off x="1000125" y="1809750"/>
            <a:ext cx="3143250" cy="2381250"/>
          </a:xfrm>
          <a:prstGeom prst="roundRect">
            <a:avLst>
              <a:gd name="adj" fmla="val 3200"/>
            </a:avLst>
          </a:prstGeom>
          <a:solidFill>
            <a:srgbClr val="F8FBFE"/>
          </a:solidFill>
          <a:ln w="11430">
            <a:solidFill>
              <a:srgbClr val="2D78B9"/>
            </a:solidFill>
            <a:prstDash val="solid"/>
          </a:ln>
        </p:spPr>
        <p:txBody>
          <a:bodyPr/>
          <a:lstStyle/>
          <a:p>
            <a:endParaRPr lang="zh-CN" altLang="en-US"/>
          </a:p>
        </p:txBody>
      </p:sp>
      <p:sp>
        <p:nvSpPr>
          <p:cNvPr id="9" name="fluent-title">
            <a:extLst>
              <a:ext uri="{FF2B5EF4-FFF2-40B4-BE49-F238E27FC236}">
                <a16:creationId xmlns:a16="http://schemas.microsoft.com/office/drawing/2014/main" id="{2EF00238-1927-49D9-AF11-F6659F15F7A4}"/>
              </a:ext>
            </a:extLst>
          </p:cNvPr>
          <p:cNvSpPr>
            <a:spLocks noGrp="1"/>
          </p:cNvSpPr>
          <p:nvPr/>
        </p:nvSpPr>
        <p:spPr>
          <a:xfrm>
            <a:off x="1171575" y="1943100"/>
            <a:ext cx="2800350" cy="285750"/>
          </a:xfrm>
          <a:prstGeom prst="rect">
            <a:avLst/>
          </a:prstGeom>
          <a:noFill/>
          <a:ln w="0">
            <a:noFill/>
            <a:prstDash val="solid"/>
          </a:ln>
        </p:spPr>
        <p:txBody>
          <a:bodyPr/>
          <a:lstStyle/>
          <a:p>
            <a:pPr>
              <a:defRPr sz="1350" b="1">
                <a:solidFill>
                  <a:srgbClr val="2D78B9"/>
                </a:solidFill>
              </a:defRPr>
            </a:pPr>
            <a:r>
              <a:rPr sz="1350" b="1">
                <a:solidFill>
                  <a:srgbClr val="2D78B9"/>
                </a:solidFill>
              </a:rPr>
              <a:t>FLUENCY</a:t>
            </a:r>
          </a:p>
        </p:txBody>
      </p:sp>
      <p:sp>
        <p:nvSpPr>
          <p:cNvPr id="10" name="fluent-body">
            <a:extLst>
              <a:ext uri="{FF2B5EF4-FFF2-40B4-BE49-F238E27FC236}">
                <a16:creationId xmlns:a16="http://schemas.microsoft.com/office/drawing/2014/main" id="{9805AE61-5773-45A6-82FF-FDC77D2FDF4E}"/>
              </a:ext>
            </a:extLst>
          </p:cNvPr>
          <p:cNvSpPr>
            <a:spLocks noGrp="1"/>
          </p:cNvSpPr>
          <p:nvPr/>
        </p:nvSpPr>
        <p:spPr>
          <a:xfrm>
            <a:off x="1171575" y="2266950"/>
            <a:ext cx="2800350" cy="1809750"/>
          </a:xfrm>
          <a:prstGeom prst="rect">
            <a:avLst/>
          </a:prstGeom>
          <a:noFill/>
          <a:ln w="0">
            <a:noFill/>
            <a:prstDash val="solid"/>
          </a:ln>
        </p:spPr>
        <p:txBody>
          <a:bodyPr/>
          <a:lstStyle/>
          <a:p>
            <a:pPr>
              <a:defRPr sz="1200">
                <a:solidFill>
                  <a:srgbClr val="263442"/>
                </a:solidFill>
              </a:defRPr>
            </a:pPr>
            <a:r>
              <a:rPr sz="1200">
                <a:solidFill>
                  <a:srgbClr val="263442"/>
                </a:solidFill>
              </a:rPr>
              <a:t>The output follows linguistic patterns and sounds coherent.</a:t>
            </a:r>
          </a:p>
        </p:txBody>
      </p:sp>
      <p:sp>
        <p:nvSpPr>
          <p:cNvPr id="11" name="knowledge-bg">
            <a:extLst>
              <a:ext uri="{FF2B5EF4-FFF2-40B4-BE49-F238E27FC236}">
                <a16:creationId xmlns:a16="http://schemas.microsoft.com/office/drawing/2014/main" id="{A6D08F61-C20E-4274-9E1D-A930453C077C}"/>
              </a:ext>
            </a:extLst>
          </p:cNvPr>
          <p:cNvSpPr>
            <a:spLocks noGrp="1"/>
          </p:cNvSpPr>
          <p:nvPr/>
        </p:nvSpPr>
        <p:spPr>
          <a:xfrm>
            <a:off x="4524375" y="1809750"/>
            <a:ext cx="3143250" cy="2381250"/>
          </a:xfrm>
          <a:prstGeom prst="roundRect">
            <a:avLst>
              <a:gd name="adj" fmla="val 3200"/>
            </a:avLst>
          </a:prstGeom>
          <a:solidFill>
            <a:srgbClr val="F8FBFE"/>
          </a:solidFill>
          <a:ln w="11430">
            <a:solidFill>
              <a:srgbClr val="1F3B6D"/>
            </a:solidFill>
            <a:prstDash val="solid"/>
          </a:ln>
        </p:spPr>
        <p:txBody>
          <a:bodyPr/>
          <a:lstStyle/>
          <a:p>
            <a:endParaRPr lang="zh-CN" altLang="en-US"/>
          </a:p>
        </p:txBody>
      </p:sp>
      <p:sp>
        <p:nvSpPr>
          <p:cNvPr id="12" name="knowledge-title">
            <a:extLst>
              <a:ext uri="{FF2B5EF4-FFF2-40B4-BE49-F238E27FC236}">
                <a16:creationId xmlns:a16="http://schemas.microsoft.com/office/drawing/2014/main" id="{D1005733-626E-4051-8C8E-B5C4F78B666D}"/>
              </a:ext>
            </a:extLst>
          </p:cNvPr>
          <p:cNvSpPr>
            <a:spLocks noGrp="1"/>
          </p:cNvSpPr>
          <p:nvPr/>
        </p:nvSpPr>
        <p:spPr>
          <a:xfrm>
            <a:off x="4695825" y="1943100"/>
            <a:ext cx="2800350" cy="285750"/>
          </a:xfrm>
          <a:prstGeom prst="rect">
            <a:avLst/>
          </a:prstGeom>
          <a:noFill/>
          <a:ln w="0">
            <a:noFill/>
            <a:prstDash val="solid"/>
          </a:ln>
        </p:spPr>
        <p:txBody>
          <a:bodyPr/>
          <a:lstStyle/>
          <a:p>
            <a:pPr>
              <a:defRPr sz="1350" b="1">
                <a:solidFill>
                  <a:srgbClr val="1F3B6D"/>
                </a:solidFill>
              </a:defRPr>
            </a:pPr>
            <a:r>
              <a:rPr sz="1350" b="1">
                <a:solidFill>
                  <a:srgbClr val="1F3B6D"/>
                </a:solidFill>
              </a:rPr>
              <a:t>KNOWLEDGE</a:t>
            </a:r>
          </a:p>
        </p:txBody>
      </p:sp>
      <p:sp>
        <p:nvSpPr>
          <p:cNvPr id="13" name="knowledge-body">
            <a:extLst>
              <a:ext uri="{FF2B5EF4-FFF2-40B4-BE49-F238E27FC236}">
                <a16:creationId xmlns:a16="http://schemas.microsoft.com/office/drawing/2014/main" id="{24933588-68D1-4373-9BAA-CA583A24B413}"/>
              </a:ext>
            </a:extLst>
          </p:cNvPr>
          <p:cNvSpPr>
            <a:spLocks noGrp="1"/>
          </p:cNvSpPr>
          <p:nvPr/>
        </p:nvSpPr>
        <p:spPr>
          <a:xfrm>
            <a:off x="4695825" y="2266950"/>
            <a:ext cx="2800350" cy="1809750"/>
          </a:xfrm>
          <a:prstGeom prst="rect">
            <a:avLst/>
          </a:prstGeom>
          <a:noFill/>
          <a:ln w="0">
            <a:noFill/>
            <a:prstDash val="solid"/>
          </a:ln>
        </p:spPr>
        <p:txBody>
          <a:bodyPr/>
          <a:lstStyle/>
          <a:p>
            <a:pPr>
              <a:defRPr sz="1200">
                <a:solidFill>
                  <a:srgbClr val="263442"/>
                </a:solidFill>
              </a:defRPr>
            </a:pPr>
            <a:r>
              <a:rPr sz="1200">
                <a:solidFill>
                  <a:srgbClr val="263442"/>
                </a:solidFill>
              </a:rPr>
              <a:t>The model may reproduce useful associations, but it does not guarantee grounded understanding.</a:t>
            </a:r>
          </a:p>
        </p:txBody>
      </p:sp>
      <p:sp>
        <p:nvSpPr>
          <p:cNvPr id="14" name="verify-bg">
            <a:extLst>
              <a:ext uri="{FF2B5EF4-FFF2-40B4-BE49-F238E27FC236}">
                <a16:creationId xmlns:a16="http://schemas.microsoft.com/office/drawing/2014/main" id="{D73EE78D-242C-47E3-A391-F71E5F1B0BFF}"/>
              </a:ext>
            </a:extLst>
          </p:cNvPr>
          <p:cNvSpPr>
            <a:spLocks noGrp="1"/>
          </p:cNvSpPr>
          <p:nvPr/>
        </p:nvSpPr>
        <p:spPr>
          <a:xfrm>
            <a:off x="8048625" y="1809750"/>
            <a:ext cx="3143250" cy="2381250"/>
          </a:xfrm>
          <a:prstGeom prst="roundRect">
            <a:avLst>
              <a:gd name="adj" fmla="val 3200"/>
            </a:avLst>
          </a:prstGeom>
          <a:solidFill>
            <a:srgbClr val="F8FBFE"/>
          </a:solidFill>
          <a:ln w="11430">
            <a:solidFill>
              <a:srgbClr val="247A4D"/>
            </a:solidFill>
            <a:prstDash val="solid"/>
          </a:ln>
        </p:spPr>
        <p:txBody>
          <a:bodyPr/>
          <a:lstStyle/>
          <a:p>
            <a:endParaRPr lang="zh-CN" altLang="en-US"/>
          </a:p>
        </p:txBody>
      </p:sp>
      <p:sp>
        <p:nvSpPr>
          <p:cNvPr id="15" name="verify-title">
            <a:extLst>
              <a:ext uri="{FF2B5EF4-FFF2-40B4-BE49-F238E27FC236}">
                <a16:creationId xmlns:a16="http://schemas.microsoft.com/office/drawing/2014/main" id="{F331F47E-08D3-4EA5-81A5-9F2A027A5AEB}"/>
              </a:ext>
            </a:extLst>
          </p:cNvPr>
          <p:cNvSpPr>
            <a:spLocks noGrp="1"/>
          </p:cNvSpPr>
          <p:nvPr/>
        </p:nvSpPr>
        <p:spPr>
          <a:xfrm>
            <a:off x="8220075" y="1943100"/>
            <a:ext cx="2800350" cy="285750"/>
          </a:xfrm>
          <a:prstGeom prst="rect">
            <a:avLst/>
          </a:prstGeom>
          <a:noFill/>
          <a:ln w="0">
            <a:noFill/>
            <a:prstDash val="solid"/>
          </a:ln>
        </p:spPr>
        <p:txBody>
          <a:bodyPr/>
          <a:lstStyle/>
          <a:p>
            <a:pPr>
              <a:defRPr sz="1350" b="1">
                <a:solidFill>
                  <a:srgbClr val="247A4D"/>
                </a:solidFill>
              </a:defRPr>
            </a:pPr>
            <a:r>
              <a:rPr sz="1350" b="1">
                <a:solidFill>
                  <a:srgbClr val="247A4D"/>
                </a:solidFill>
              </a:rPr>
              <a:t>VERIFICATION</a:t>
            </a:r>
          </a:p>
        </p:txBody>
      </p:sp>
      <p:sp>
        <p:nvSpPr>
          <p:cNvPr id="16" name="verify-body">
            <a:extLst>
              <a:ext uri="{FF2B5EF4-FFF2-40B4-BE49-F238E27FC236}">
                <a16:creationId xmlns:a16="http://schemas.microsoft.com/office/drawing/2014/main" id="{7F874188-0B74-4558-A471-5CA918F50192}"/>
              </a:ext>
            </a:extLst>
          </p:cNvPr>
          <p:cNvSpPr>
            <a:spLocks noGrp="1"/>
          </p:cNvSpPr>
          <p:nvPr/>
        </p:nvSpPr>
        <p:spPr>
          <a:xfrm>
            <a:off x="8220075" y="2266950"/>
            <a:ext cx="2800350" cy="1809750"/>
          </a:xfrm>
          <a:prstGeom prst="rect">
            <a:avLst/>
          </a:prstGeom>
          <a:noFill/>
          <a:ln w="0">
            <a:noFill/>
            <a:prstDash val="solid"/>
          </a:ln>
        </p:spPr>
        <p:txBody>
          <a:bodyPr/>
          <a:lstStyle/>
          <a:p>
            <a:pPr>
              <a:defRPr sz="1200">
                <a:solidFill>
                  <a:srgbClr val="263442"/>
                </a:solidFill>
              </a:defRPr>
            </a:pPr>
            <a:r>
              <a:rPr sz="1200">
                <a:solidFill>
                  <a:srgbClr val="263442"/>
                </a:solidFill>
              </a:rPr>
              <a:t>Claims still need evidence, provenance, context, and an accountable reviewer.</a:t>
            </a:r>
          </a:p>
        </p:txBody>
      </p:sp>
      <p:sp>
        <p:nvSpPr>
          <p:cNvPr id="17" name="v2-takeaway">
            <a:extLst>
              <a:ext uri="{FF2B5EF4-FFF2-40B4-BE49-F238E27FC236}">
                <a16:creationId xmlns:a16="http://schemas.microsoft.com/office/drawing/2014/main" id="{84D0B07D-448E-4BA5-B638-74FE49046310}"/>
              </a:ext>
            </a:extLst>
          </p:cNvPr>
          <p:cNvSpPr>
            <a:spLocks noGrp="1"/>
          </p:cNvSpPr>
          <p:nvPr/>
        </p:nvSpPr>
        <p:spPr>
          <a:xfrm>
            <a:off x="876300" y="575310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defRPr sz="1200" b="1">
                <a:solidFill>
                  <a:srgbClr val="1F3B6D"/>
                </a:solidFill>
              </a:defRPr>
            </a:pPr>
            <a:r>
              <a:rPr sz="1200" b="1">
                <a:solidFill>
                  <a:srgbClr val="1F3B6D"/>
                </a:solidFill>
              </a:rPr>
              <a:t>Treat fluency as a presentation property—not as proof of truth or understanding.</a:t>
            </a:r>
          </a:p>
        </p:txBody>
      </p:sp>
      <p:sp>
        <p:nvSpPr>
          <p:cNvPr id="18" name="v2-page-mask-24">
            <a:extLst>
              <a:ext uri="{FF2B5EF4-FFF2-40B4-BE49-F238E27FC236}">
                <a16:creationId xmlns:a16="http://schemas.microsoft.com/office/drawing/2014/main" id="{F45E18FD-AA8B-45C6-A97A-C200C4CB33DA}"/>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24">
            <a:extLst>
              <a:ext uri="{FF2B5EF4-FFF2-40B4-BE49-F238E27FC236}">
                <a16:creationId xmlns:a16="http://schemas.microsoft.com/office/drawing/2014/main" id="{CAA8B844-429F-43B2-A044-63F2C0B254FC}"/>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24</a:t>
            </a:r>
          </a:p>
        </p:txBody>
      </p:sp>
    </p:spTree>
    <p:extLst>
      <p:ext uri="{BB962C8B-B14F-4D97-AF65-F5344CB8AC3E}">
        <p14:creationId xmlns:p14="http://schemas.microsoft.com/office/powerpoint/2010/main" val="65560068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v2-background">
            <a:extLst>
              <a:ext uri="{FF2B5EF4-FFF2-40B4-BE49-F238E27FC236}">
                <a16:creationId xmlns:a16="http://schemas.microsoft.com/office/drawing/2014/main" id="{FBF3910E-8CB1-4773-87E1-5EFE3DAE2425}"/>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zh-CN" altLang="en-US"/>
          </a:p>
        </p:txBody>
      </p:sp>
      <p:sp>
        <p:nvSpPr>
          <p:cNvPr id="2" name="v2-title-rail">
            <a:extLst>
              <a:ext uri="{FF2B5EF4-FFF2-40B4-BE49-F238E27FC236}">
                <a16:creationId xmlns:a16="http://schemas.microsoft.com/office/drawing/2014/main" id="{6A3D2941-415B-4E15-9683-6693A57B43BD}"/>
              </a:ext>
            </a:extLst>
          </p:cNvPr>
          <p:cNvSpPr>
            <a:spLocks noGrp="1"/>
          </p:cNvSpPr>
          <p:nvPr/>
        </p:nvSpPr>
        <p:spPr>
          <a:xfrm>
            <a:off x="628650" y="400050"/>
            <a:ext cx="95250" cy="476250"/>
          </a:xfrm>
          <a:prstGeom prst="rect">
            <a:avLst/>
          </a:prstGeom>
          <a:solidFill>
            <a:srgbClr val="1F3B6D"/>
          </a:solidFill>
          <a:ln w="0">
            <a:solidFill>
              <a:srgbClr val="1F3B6D"/>
            </a:solidFill>
            <a:prstDash val="solid"/>
          </a:ln>
        </p:spPr>
        <p:txBody>
          <a:bodyPr/>
          <a:lstStyle/>
          <a:p>
            <a:endParaRPr lang="zh-CN" altLang="en-US"/>
          </a:p>
        </p:txBody>
      </p:sp>
      <p:sp>
        <p:nvSpPr>
          <p:cNvPr id="3" name="v2-title">
            <a:extLst>
              <a:ext uri="{FF2B5EF4-FFF2-40B4-BE49-F238E27FC236}">
                <a16:creationId xmlns:a16="http://schemas.microsoft.com/office/drawing/2014/main" id="{EE949544-2010-4EA8-956A-16E19A799B96}"/>
              </a:ext>
            </a:extLst>
          </p:cNvPr>
          <p:cNvSpPr>
            <a:spLocks noGrp="1"/>
          </p:cNvSpPr>
          <p:nvPr/>
        </p:nvSpPr>
        <p:spPr>
          <a:xfrm>
            <a:off x="981075" y="361950"/>
            <a:ext cx="10287000" cy="552450"/>
          </a:xfrm>
          <a:prstGeom prst="rect">
            <a:avLst/>
          </a:prstGeom>
          <a:noFill/>
          <a:ln w="0">
            <a:noFill/>
            <a:prstDash val="solid"/>
          </a:ln>
        </p:spPr>
        <p:txBody>
          <a:bodyPr/>
          <a:lstStyle/>
          <a:p>
            <a:pPr>
              <a:defRPr sz="2550" b="1">
                <a:solidFill>
                  <a:srgbClr val="1F3B6D"/>
                </a:solidFill>
              </a:defRPr>
            </a:pPr>
            <a:r>
              <a:rPr sz="2550" b="1">
                <a:solidFill>
                  <a:srgbClr val="1F3B6D"/>
                </a:solidFill>
              </a:rPr>
              <a:t>Mini Activity: Test a Generative-AI Answer</a:t>
            </a:r>
          </a:p>
        </p:txBody>
      </p:sp>
      <p:sp>
        <p:nvSpPr>
          <p:cNvPr id="4" name="v2-rule">
            <a:extLst>
              <a:ext uri="{FF2B5EF4-FFF2-40B4-BE49-F238E27FC236}">
                <a16:creationId xmlns:a16="http://schemas.microsoft.com/office/drawing/2014/main" id="{ABB57B47-780C-4821-AF95-10877397D734}"/>
              </a:ext>
            </a:extLst>
          </p:cNvPr>
          <p:cNvSpPr>
            <a:spLocks noGrp="1"/>
          </p:cNvSpPr>
          <p:nvPr/>
        </p:nvSpPr>
        <p:spPr>
          <a:xfrm>
            <a:off x="638175" y="1000125"/>
            <a:ext cx="10972800" cy="28575"/>
          </a:xfrm>
          <a:prstGeom prst="rect">
            <a:avLst/>
          </a:prstGeom>
          <a:solidFill>
            <a:srgbClr val="2D78B9"/>
          </a:solidFill>
          <a:ln w="0">
            <a:solidFill>
              <a:srgbClr val="2D78B9"/>
            </a:solidFill>
            <a:prstDash val="solid"/>
          </a:ln>
        </p:spPr>
        <p:txBody>
          <a:bodyPr/>
          <a:lstStyle/>
          <a:p>
            <a:endParaRPr lang="zh-CN" altLang="en-US"/>
          </a:p>
        </p:txBody>
      </p:sp>
      <p:sp>
        <p:nvSpPr>
          <p:cNvPr id="5" name="v2-subtitle">
            <a:extLst>
              <a:ext uri="{FF2B5EF4-FFF2-40B4-BE49-F238E27FC236}">
                <a16:creationId xmlns:a16="http://schemas.microsoft.com/office/drawing/2014/main" id="{B10667AE-B03D-4AF0-92BC-AAE2AC42C375}"/>
              </a:ext>
            </a:extLst>
          </p:cNvPr>
          <p:cNvSpPr>
            <a:spLocks noGrp="1"/>
          </p:cNvSpPr>
          <p:nvPr/>
        </p:nvSpPr>
        <p:spPr>
          <a:xfrm>
            <a:off x="981075" y="1104900"/>
            <a:ext cx="10287000" cy="323850"/>
          </a:xfrm>
          <a:prstGeom prst="rect">
            <a:avLst/>
          </a:prstGeom>
          <a:noFill/>
          <a:ln w="0">
            <a:noFill/>
            <a:prstDash val="solid"/>
          </a:ln>
        </p:spPr>
        <p:txBody>
          <a:bodyPr/>
          <a:lstStyle/>
          <a:p>
            <a:pPr>
              <a:defRPr sz="1275" i="1">
                <a:solidFill>
                  <a:srgbClr val="5B6670"/>
                </a:solidFill>
              </a:defRPr>
            </a:pPr>
            <a:r>
              <a:rPr sz="1275" i="1">
                <a:solidFill>
                  <a:srgbClr val="5B6670"/>
                </a:solidFill>
              </a:rPr>
              <a:t>Read the answer, then audit it instead of merely reacting to it.</a:t>
            </a:r>
          </a:p>
        </p:txBody>
      </p:sp>
      <p:sp>
        <p:nvSpPr>
          <p:cNvPr id="6" name="v2-accent">
            <a:extLst>
              <a:ext uri="{FF2B5EF4-FFF2-40B4-BE49-F238E27FC236}">
                <a16:creationId xmlns:a16="http://schemas.microsoft.com/office/drawing/2014/main" id="{AE05BFDC-5D0A-44B3-B263-233929F9681D}"/>
              </a:ext>
            </a:extLst>
          </p:cNvPr>
          <p:cNvSpPr>
            <a:spLocks noGrp="1"/>
          </p:cNvSpPr>
          <p:nvPr/>
        </p:nvSpPr>
        <p:spPr>
          <a:xfrm>
            <a:off x="11687175" y="304800"/>
            <a:ext cx="266700" cy="266700"/>
          </a:xfrm>
          <a:prstGeom prst="rect">
            <a:avLst/>
          </a:prstGeom>
          <a:solidFill>
            <a:srgbClr val="2D78B9"/>
          </a:solidFill>
          <a:ln w="0">
            <a:solidFill>
              <a:srgbClr val="2D78B9"/>
            </a:solidFill>
            <a:prstDash val="solid"/>
          </a:ln>
        </p:spPr>
        <p:txBody>
          <a:bodyPr/>
          <a:lstStyle/>
          <a:p>
            <a:endParaRPr lang="zh-CN" altLang="en-US"/>
          </a:p>
        </p:txBody>
      </p:sp>
      <p:sp>
        <p:nvSpPr>
          <p:cNvPr id="7" name="v2-footer">
            <a:extLst>
              <a:ext uri="{FF2B5EF4-FFF2-40B4-BE49-F238E27FC236}">
                <a16:creationId xmlns:a16="http://schemas.microsoft.com/office/drawing/2014/main" id="{C093A646-EC6E-4514-8825-01A9DB56F264}"/>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sp>
        <p:nvSpPr>
          <p:cNvPr id="8" name="answer-box">
            <a:extLst>
              <a:ext uri="{FF2B5EF4-FFF2-40B4-BE49-F238E27FC236}">
                <a16:creationId xmlns:a16="http://schemas.microsoft.com/office/drawing/2014/main" id="{405A6A26-B772-48A9-989F-34F4E4A4D5F8}"/>
              </a:ext>
            </a:extLst>
          </p:cNvPr>
          <p:cNvSpPr>
            <a:spLocks noGrp="1"/>
          </p:cNvSpPr>
          <p:nvPr/>
        </p:nvSpPr>
        <p:spPr>
          <a:xfrm>
            <a:off x="1095375" y="1666875"/>
            <a:ext cx="10001250" cy="742950"/>
          </a:xfrm>
          <a:prstGeom prst="roundRect">
            <a:avLst>
              <a:gd name="adj" fmla="val 10256"/>
            </a:avLst>
          </a:prstGeom>
          <a:solidFill>
            <a:srgbClr val="EAF3FB"/>
          </a:solidFill>
          <a:ln w="11430">
            <a:solidFill>
              <a:srgbClr val="B9D7EF"/>
            </a:solidFill>
            <a:prstDash val="solid"/>
          </a:ln>
        </p:spPr>
        <p:txBody>
          <a:bodyPr anchor="ctr"/>
          <a:lstStyle/>
          <a:p>
            <a:pPr algn="ctr">
              <a:defRPr sz="1650" b="1">
                <a:solidFill>
                  <a:srgbClr val="1F3B6D"/>
                </a:solidFill>
              </a:defRPr>
            </a:pPr>
            <a:r>
              <a:rPr sz="1650" b="1">
                <a:solidFill>
                  <a:srgbClr val="1F3B6D"/>
                </a:solidFill>
              </a:rPr>
              <a:t>Sample answer: “This hiring model is fair because it does not use gender as an input.”</a:t>
            </a:r>
          </a:p>
        </p:txBody>
      </p:sp>
      <p:sp>
        <p:nvSpPr>
          <p:cNvPr id="9" name="q-0-bg">
            <a:extLst>
              <a:ext uri="{FF2B5EF4-FFF2-40B4-BE49-F238E27FC236}">
                <a16:creationId xmlns:a16="http://schemas.microsoft.com/office/drawing/2014/main" id="{182B5061-7F20-4FF5-8D30-67C02BEA5D76}"/>
              </a:ext>
            </a:extLst>
          </p:cNvPr>
          <p:cNvSpPr>
            <a:spLocks noGrp="1"/>
          </p:cNvSpPr>
          <p:nvPr/>
        </p:nvSpPr>
        <p:spPr>
          <a:xfrm>
            <a:off x="1095375" y="2714625"/>
            <a:ext cx="4810125" cy="1143000"/>
          </a:xfrm>
          <a:prstGeom prst="roundRect">
            <a:avLst>
              <a:gd name="adj" fmla="val 6667"/>
            </a:avLst>
          </a:prstGeom>
          <a:solidFill>
            <a:srgbClr val="F8FBFE"/>
          </a:solidFill>
          <a:ln w="11430">
            <a:solidFill>
              <a:srgbClr val="2D78B9"/>
            </a:solidFill>
            <a:prstDash val="solid"/>
          </a:ln>
        </p:spPr>
        <p:txBody>
          <a:bodyPr/>
          <a:lstStyle/>
          <a:p>
            <a:endParaRPr lang="zh-CN" altLang="en-US"/>
          </a:p>
        </p:txBody>
      </p:sp>
      <p:sp>
        <p:nvSpPr>
          <p:cNvPr id="10" name="q-0-title">
            <a:extLst>
              <a:ext uri="{FF2B5EF4-FFF2-40B4-BE49-F238E27FC236}">
                <a16:creationId xmlns:a16="http://schemas.microsoft.com/office/drawing/2014/main" id="{52BD5176-2E6E-42C2-92B9-09069C1E3991}"/>
              </a:ext>
            </a:extLst>
          </p:cNvPr>
          <p:cNvSpPr>
            <a:spLocks noGrp="1"/>
          </p:cNvSpPr>
          <p:nvPr/>
        </p:nvSpPr>
        <p:spPr>
          <a:xfrm>
            <a:off x="1266825" y="2847975"/>
            <a:ext cx="4467225" cy="285750"/>
          </a:xfrm>
          <a:prstGeom prst="rect">
            <a:avLst/>
          </a:prstGeom>
          <a:noFill/>
          <a:ln w="0">
            <a:noFill/>
            <a:prstDash val="solid"/>
          </a:ln>
        </p:spPr>
        <p:txBody>
          <a:bodyPr/>
          <a:lstStyle/>
          <a:p>
            <a:pPr>
              <a:defRPr sz="1350" b="1">
                <a:solidFill>
                  <a:srgbClr val="2D78B9"/>
                </a:solidFill>
              </a:defRPr>
            </a:pPr>
            <a:r>
              <a:rPr sz="1350" b="1">
                <a:solidFill>
                  <a:srgbClr val="2D78B9"/>
                </a:solidFill>
              </a:rPr>
              <a:t>1</a:t>
            </a:r>
          </a:p>
        </p:txBody>
      </p:sp>
      <p:sp>
        <p:nvSpPr>
          <p:cNvPr id="11" name="q-0-body">
            <a:extLst>
              <a:ext uri="{FF2B5EF4-FFF2-40B4-BE49-F238E27FC236}">
                <a16:creationId xmlns:a16="http://schemas.microsoft.com/office/drawing/2014/main" id="{E710972E-FDB9-4C47-812E-08C2B80B0713}"/>
              </a:ext>
            </a:extLst>
          </p:cNvPr>
          <p:cNvSpPr>
            <a:spLocks noGrp="1"/>
          </p:cNvSpPr>
          <p:nvPr/>
        </p:nvSpPr>
        <p:spPr>
          <a:xfrm>
            <a:off x="1266825" y="3171825"/>
            <a:ext cx="4467225" cy="571500"/>
          </a:xfrm>
          <a:prstGeom prst="rect">
            <a:avLst/>
          </a:prstGeom>
          <a:noFill/>
          <a:ln w="0">
            <a:noFill/>
            <a:prstDash val="solid"/>
          </a:ln>
        </p:spPr>
        <p:txBody>
          <a:bodyPr/>
          <a:lstStyle/>
          <a:p>
            <a:pPr>
              <a:defRPr sz="1200">
                <a:solidFill>
                  <a:srgbClr val="263442"/>
                </a:solidFill>
              </a:defRPr>
            </a:pPr>
            <a:r>
              <a:rPr sz="1200" dirty="0">
                <a:solidFill>
                  <a:srgbClr val="263442"/>
                </a:solidFill>
              </a:rPr>
              <a:t>What factual evidence is offered?</a:t>
            </a:r>
          </a:p>
        </p:txBody>
      </p:sp>
      <p:sp>
        <p:nvSpPr>
          <p:cNvPr id="12" name="q-1-bg">
            <a:extLst>
              <a:ext uri="{FF2B5EF4-FFF2-40B4-BE49-F238E27FC236}">
                <a16:creationId xmlns:a16="http://schemas.microsoft.com/office/drawing/2014/main" id="{A714BD0A-2223-489A-ACF0-6A97D28B7FA6}"/>
              </a:ext>
            </a:extLst>
          </p:cNvPr>
          <p:cNvSpPr>
            <a:spLocks noGrp="1"/>
          </p:cNvSpPr>
          <p:nvPr/>
        </p:nvSpPr>
        <p:spPr>
          <a:xfrm>
            <a:off x="6238875" y="2714625"/>
            <a:ext cx="4810125" cy="1143000"/>
          </a:xfrm>
          <a:prstGeom prst="roundRect">
            <a:avLst>
              <a:gd name="adj" fmla="val 6667"/>
            </a:avLst>
          </a:prstGeom>
          <a:solidFill>
            <a:srgbClr val="F8FBFE"/>
          </a:solidFill>
          <a:ln w="11430">
            <a:solidFill>
              <a:srgbClr val="2D78B9"/>
            </a:solidFill>
            <a:prstDash val="solid"/>
          </a:ln>
        </p:spPr>
        <p:txBody>
          <a:bodyPr/>
          <a:lstStyle/>
          <a:p>
            <a:endParaRPr lang="zh-CN" altLang="en-US"/>
          </a:p>
        </p:txBody>
      </p:sp>
      <p:sp>
        <p:nvSpPr>
          <p:cNvPr id="13" name="q-1-title">
            <a:extLst>
              <a:ext uri="{FF2B5EF4-FFF2-40B4-BE49-F238E27FC236}">
                <a16:creationId xmlns:a16="http://schemas.microsoft.com/office/drawing/2014/main" id="{0D275A63-737B-4077-954D-51C7A0B4F23F}"/>
              </a:ext>
            </a:extLst>
          </p:cNvPr>
          <p:cNvSpPr>
            <a:spLocks noGrp="1"/>
          </p:cNvSpPr>
          <p:nvPr/>
        </p:nvSpPr>
        <p:spPr>
          <a:xfrm>
            <a:off x="6410325" y="2847975"/>
            <a:ext cx="4467225" cy="285750"/>
          </a:xfrm>
          <a:prstGeom prst="rect">
            <a:avLst/>
          </a:prstGeom>
          <a:noFill/>
          <a:ln w="0">
            <a:noFill/>
            <a:prstDash val="solid"/>
          </a:ln>
        </p:spPr>
        <p:txBody>
          <a:bodyPr/>
          <a:lstStyle/>
          <a:p>
            <a:pPr>
              <a:defRPr sz="1350" b="1">
                <a:solidFill>
                  <a:srgbClr val="2D78B9"/>
                </a:solidFill>
              </a:defRPr>
            </a:pPr>
            <a:r>
              <a:rPr sz="1350" b="1">
                <a:solidFill>
                  <a:srgbClr val="2D78B9"/>
                </a:solidFill>
              </a:rPr>
              <a:t>2</a:t>
            </a:r>
          </a:p>
        </p:txBody>
      </p:sp>
      <p:sp>
        <p:nvSpPr>
          <p:cNvPr id="14" name="q-1-body">
            <a:extLst>
              <a:ext uri="{FF2B5EF4-FFF2-40B4-BE49-F238E27FC236}">
                <a16:creationId xmlns:a16="http://schemas.microsoft.com/office/drawing/2014/main" id="{F5566A19-B146-4AF4-8AB6-4A57469CDE1F}"/>
              </a:ext>
            </a:extLst>
          </p:cNvPr>
          <p:cNvSpPr>
            <a:spLocks noGrp="1"/>
          </p:cNvSpPr>
          <p:nvPr/>
        </p:nvSpPr>
        <p:spPr>
          <a:xfrm>
            <a:off x="6410325" y="3171825"/>
            <a:ext cx="4467225" cy="571500"/>
          </a:xfrm>
          <a:prstGeom prst="rect">
            <a:avLst/>
          </a:prstGeom>
          <a:noFill/>
          <a:ln w="0">
            <a:noFill/>
            <a:prstDash val="solid"/>
          </a:ln>
        </p:spPr>
        <p:txBody>
          <a:bodyPr/>
          <a:lstStyle/>
          <a:p>
            <a:pPr>
              <a:defRPr sz="1200">
                <a:solidFill>
                  <a:srgbClr val="263442"/>
                </a:solidFill>
              </a:defRPr>
            </a:pPr>
            <a:r>
              <a:rPr sz="1200">
                <a:solidFill>
                  <a:srgbClr val="263442"/>
                </a:solidFill>
              </a:rPr>
              <a:t>Which assumptions are hidden?</a:t>
            </a:r>
          </a:p>
        </p:txBody>
      </p:sp>
      <p:sp>
        <p:nvSpPr>
          <p:cNvPr id="15" name="q-2-bg">
            <a:extLst>
              <a:ext uri="{FF2B5EF4-FFF2-40B4-BE49-F238E27FC236}">
                <a16:creationId xmlns:a16="http://schemas.microsoft.com/office/drawing/2014/main" id="{E1B33737-5E87-4BD4-BA04-98EFE75D23A9}"/>
              </a:ext>
            </a:extLst>
          </p:cNvPr>
          <p:cNvSpPr>
            <a:spLocks noGrp="1"/>
          </p:cNvSpPr>
          <p:nvPr/>
        </p:nvSpPr>
        <p:spPr>
          <a:xfrm>
            <a:off x="1095375" y="4095750"/>
            <a:ext cx="4810125" cy="1143000"/>
          </a:xfrm>
          <a:prstGeom prst="roundRect">
            <a:avLst>
              <a:gd name="adj" fmla="val 6667"/>
            </a:avLst>
          </a:prstGeom>
          <a:solidFill>
            <a:srgbClr val="F8FBFE"/>
          </a:solidFill>
          <a:ln w="11430">
            <a:solidFill>
              <a:srgbClr val="1F3B6D"/>
            </a:solidFill>
            <a:prstDash val="solid"/>
          </a:ln>
        </p:spPr>
        <p:txBody>
          <a:bodyPr/>
          <a:lstStyle/>
          <a:p>
            <a:endParaRPr lang="zh-CN" altLang="en-US"/>
          </a:p>
        </p:txBody>
      </p:sp>
      <p:sp>
        <p:nvSpPr>
          <p:cNvPr id="16" name="q-2-title">
            <a:extLst>
              <a:ext uri="{FF2B5EF4-FFF2-40B4-BE49-F238E27FC236}">
                <a16:creationId xmlns:a16="http://schemas.microsoft.com/office/drawing/2014/main" id="{ABB9E2D5-82BF-49E4-84D5-836CC24F90D3}"/>
              </a:ext>
            </a:extLst>
          </p:cNvPr>
          <p:cNvSpPr>
            <a:spLocks noGrp="1"/>
          </p:cNvSpPr>
          <p:nvPr/>
        </p:nvSpPr>
        <p:spPr>
          <a:xfrm>
            <a:off x="1266825" y="4229100"/>
            <a:ext cx="4467225" cy="285750"/>
          </a:xfrm>
          <a:prstGeom prst="rect">
            <a:avLst/>
          </a:prstGeom>
          <a:noFill/>
          <a:ln w="0">
            <a:noFill/>
            <a:prstDash val="solid"/>
          </a:ln>
        </p:spPr>
        <p:txBody>
          <a:bodyPr/>
          <a:lstStyle/>
          <a:p>
            <a:pPr>
              <a:defRPr sz="1350" b="1">
                <a:solidFill>
                  <a:srgbClr val="1F3B6D"/>
                </a:solidFill>
              </a:defRPr>
            </a:pPr>
            <a:r>
              <a:rPr sz="1350" b="1">
                <a:solidFill>
                  <a:srgbClr val="1F3B6D"/>
                </a:solidFill>
              </a:rPr>
              <a:t>3</a:t>
            </a:r>
          </a:p>
        </p:txBody>
      </p:sp>
      <p:sp>
        <p:nvSpPr>
          <p:cNvPr id="17" name="q-2-body">
            <a:extLst>
              <a:ext uri="{FF2B5EF4-FFF2-40B4-BE49-F238E27FC236}">
                <a16:creationId xmlns:a16="http://schemas.microsoft.com/office/drawing/2014/main" id="{647EA60A-7135-4669-82F6-8E5691C4C616}"/>
              </a:ext>
            </a:extLst>
          </p:cNvPr>
          <p:cNvSpPr>
            <a:spLocks noGrp="1"/>
          </p:cNvSpPr>
          <p:nvPr/>
        </p:nvSpPr>
        <p:spPr>
          <a:xfrm>
            <a:off x="1266825" y="4552950"/>
            <a:ext cx="4467225" cy="571500"/>
          </a:xfrm>
          <a:prstGeom prst="rect">
            <a:avLst/>
          </a:prstGeom>
          <a:noFill/>
          <a:ln w="0">
            <a:noFill/>
            <a:prstDash val="solid"/>
          </a:ln>
        </p:spPr>
        <p:txBody>
          <a:bodyPr/>
          <a:lstStyle/>
          <a:p>
            <a:pPr>
              <a:defRPr sz="1200">
                <a:solidFill>
                  <a:srgbClr val="263442"/>
                </a:solidFill>
              </a:defRPr>
            </a:pPr>
            <a:r>
              <a:rPr sz="1200">
                <a:solidFill>
                  <a:srgbClr val="263442"/>
                </a:solidFill>
              </a:rPr>
              <a:t>Whose perspective is missing?</a:t>
            </a:r>
          </a:p>
        </p:txBody>
      </p:sp>
      <p:sp>
        <p:nvSpPr>
          <p:cNvPr id="18" name="q-3-bg">
            <a:extLst>
              <a:ext uri="{FF2B5EF4-FFF2-40B4-BE49-F238E27FC236}">
                <a16:creationId xmlns:a16="http://schemas.microsoft.com/office/drawing/2014/main" id="{CC50F221-FB23-46B1-B6F6-2076460CF364}"/>
              </a:ext>
            </a:extLst>
          </p:cNvPr>
          <p:cNvSpPr>
            <a:spLocks noGrp="1"/>
          </p:cNvSpPr>
          <p:nvPr/>
        </p:nvSpPr>
        <p:spPr>
          <a:xfrm>
            <a:off x="6238875" y="4095750"/>
            <a:ext cx="4810125" cy="1143000"/>
          </a:xfrm>
          <a:prstGeom prst="roundRect">
            <a:avLst>
              <a:gd name="adj" fmla="val 6667"/>
            </a:avLst>
          </a:prstGeom>
          <a:solidFill>
            <a:srgbClr val="F8FBFE"/>
          </a:solidFill>
          <a:ln w="11430">
            <a:solidFill>
              <a:srgbClr val="1F3B6D"/>
            </a:solidFill>
            <a:prstDash val="solid"/>
          </a:ln>
        </p:spPr>
        <p:txBody>
          <a:bodyPr/>
          <a:lstStyle/>
          <a:p>
            <a:endParaRPr lang="zh-CN" altLang="en-US"/>
          </a:p>
        </p:txBody>
      </p:sp>
      <p:sp>
        <p:nvSpPr>
          <p:cNvPr id="19" name="q-3-title">
            <a:extLst>
              <a:ext uri="{FF2B5EF4-FFF2-40B4-BE49-F238E27FC236}">
                <a16:creationId xmlns:a16="http://schemas.microsoft.com/office/drawing/2014/main" id="{0501C4A1-E91B-4414-8375-1F645597E28F}"/>
              </a:ext>
            </a:extLst>
          </p:cNvPr>
          <p:cNvSpPr>
            <a:spLocks noGrp="1"/>
          </p:cNvSpPr>
          <p:nvPr/>
        </p:nvSpPr>
        <p:spPr>
          <a:xfrm>
            <a:off x="6410325" y="4229100"/>
            <a:ext cx="4467225" cy="285750"/>
          </a:xfrm>
          <a:prstGeom prst="rect">
            <a:avLst/>
          </a:prstGeom>
          <a:noFill/>
          <a:ln w="0">
            <a:noFill/>
            <a:prstDash val="solid"/>
          </a:ln>
        </p:spPr>
        <p:txBody>
          <a:bodyPr/>
          <a:lstStyle/>
          <a:p>
            <a:pPr>
              <a:defRPr sz="1350" b="1">
                <a:solidFill>
                  <a:srgbClr val="1F3B6D"/>
                </a:solidFill>
              </a:defRPr>
            </a:pPr>
            <a:r>
              <a:rPr sz="1350" b="1">
                <a:solidFill>
                  <a:srgbClr val="1F3B6D"/>
                </a:solidFill>
              </a:rPr>
              <a:t>4</a:t>
            </a:r>
          </a:p>
        </p:txBody>
      </p:sp>
      <p:sp>
        <p:nvSpPr>
          <p:cNvPr id="20" name="q-3-body">
            <a:extLst>
              <a:ext uri="{FF2B5EF4-FFF2-40B4-BE49-F238E27FC236}">
                <a16:creationId xmlns:a16="http://schemas.microsoft.com/office/drawing/2014/main" id="{1C1AAFD6-BFA2-448F-87D8-CA8F8CD2C3FF}"/>
              </a:ext>
            </a:extLst>
          </p:cNvPr>
          <p:cNvSpPr>
            <a:spLocks noGrp="1"/>
          </p:cNvSpPr>
          <p:nvPr/>
        </p:nvSpPr>
        <p:spPr>
          <a:xfrm>
            <a:off x="6410325" y="4552950"/>
            <a:ext cx="4467225" cy="571500"/>
          </a:xfrm>
          <a:prstGeom prst="rect">
            <a:avLst/>
          </a:prstGeom>
          <a:noFill/>
          <a:ln w="0">
            <a:noFill/>
            <a:prstDash val="solid"/>
          </a:ln>
        </p:spPr>
        <p:txBody>
          <a:bodyPr/>
          <a:lstStyle/>
          <a:p>
            <a:pPr>
              <a:defRPr sz="1200">
                <a:solidFill>
                  <a:srgbClr val="263442"/>
                </a:solidFill>
              </a:defRPr>
            </a:pPr>
            <a:r>
              <a:rPr sz="1200">
                <a:solidFill>
                  <a:srgbClr val="263442"/>
                </a:solidFill>
              </a:rPr>
              <a:t>What would you verify before acting?</a:t>
            </a:r>
          </a:p>
        </p:txBody>
      </p:sp>
      <p:sp>
        <p:nvSpPr>
          <p:cNvPr id="21" name="v2-takeaway">
            <a:extLst>
              <a:ext uri="{FF2B5EF4-FFF2-40B4-BE49-F238E27FC236}">
                <a16:creationId xmlns:a16="http://schemas.microsoft.com/office/drawing/2014/main" id="{9CEE968A-B498-4CA7-BD7D-C78FD9BD4862}"/>
              </a:ext>
            </a:extLst>
          </p:cNvPr>
          <p:cNvSpPr>
            <a:spLocks noGrp="1"/>
          </p:cNvSpPr>
          <p:nvPr/>
        </p:nvSpPr>
        <p:spPr>
          <a:xfrm>
            <a:off x="876300" y="575310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defRPr sz="1200" b="1">
                <a:solidFill>
                  <a:srgbClr val="1F3B6D"/>
                </a:solidFill>
              </a:defRPr>
            </a:pPr>
            <a:r>
              <a:rPr sz="1200" b="1">
                <a:solidFill>
                  <a:srgbClr val="1F3B6D"/>
                </a:solidFill>
              </a:rPr>
              <a:t>A responsible user turns an answer into a set of verification tasks.</a:t>
            </a:r>
          </a:p>
        </p:txBody>
      </p:sp>
      <p:sp>
        <p:nvSpPr>
          <p:cNvPr id="22" name="v2-page-mask-25">
            <a:extLst>
              <a:ext uri="{FF2B5EF4-FFF2-40B4-BE49-F238E27FC236}">
                <a16:creationId xmlns:a16="http://schemas.microsoft.com/office/drawing/2014/main" id="{18E03A1B-7F5B-4ECB-82FC-49E53666126B}"/>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23" name="v2-page-25">
            <a:extLst>
              <a:ext uri="{FF2B5EF4-FFF2-40B4-BE49-F238E27FC236}">
                <a16:creationId xmlns:a16="http://schemas.microsoft.com/office/drawing/2014/main" id="{02631607-FBB2-4B0C-BB31-EE5FA1C09DE6}"/>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25</a:t>
            </a:r>
          </a:p>
        </p:txBody>
      </p:sp>
    </p:spTree>
    <p:extLst>
      <p:ext uri="{BB962C8B-B14F-4D97-AF65-F5344CB8AC3E}">
        <p14:creationId xmlns:p14="http://schemas.microsoft.com/office/powerpoint/2010/main" val="17409185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0349541-D021-4819-86CD-F7C80F834AFD}"/>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CA638627-4DE1-4667-8C16-D091B7FF399F}"/>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1761CFEA-6F3C-4BB9-A5D4-0637A4F1DA56}"/>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Where AI is Deployed Today</a:t>
            </a:r>
          </a:p>
        </p:txBody>
      </p:sp>
      <p:sp>
        <p:nvSpPr>
          <p:cNvPr id="5" name="Rectangle 4">
            <a:extLst>
              <a:ext uri="{FF2B5EF4-FFF2-40B4-BE49-F238E27FC236}">
                <a16:creationId xmlns:a16="http://schemas.microsoft.com/office/drawing/2014/main" id="{0CB211E4-C17E-474B-80BE-1C8125188D83}"/>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3393CBC-A48D-4157-B656-6FCA4B39A729}"/>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AI is already in the infrastructure of daily life.</a:t>
            </a:r>
          </a:p>
        </p:txBody>
      </p:sp>
      <p:sp>
        <p:nvSpPr>
          <p:cNvPr id="7" name="TextBox 6">
            <a:extLst>
              <a:ext uri="{FF2B5EF4-FFF2-40B4-BE49-F238E27FC236}">
                <a16:creationId xmlns:a16="http://schemas.microsoft.com/office/drawing/2014/main" id="{A207A2E1-01AE-42CC-B490-9B1EAC7EC9F3}"/>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FB0F59E4-2E8C-4FDD-AA49-7D4F0F5B7ABB}"/>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21</a:t>
            </a:r>
          </a:p>
        </p:txBody>
      </p:sp>
      <p:sp>
        <p:nvSpPr>
          <p:cNvPr id="9" name="TextBox 8">
            <a:extLst>
              <a:ext uri="{FF2B5EF4-FFF2-40B4-BE49-F238E27FC236}">
                <a16:creationId xmlns:a16="http://schemas.microsoft.com/office/drawing/2014/main" id="{39666FDC-493B-4EE1-9E42-8A143B526EB4}"/>
              </a:ext>
            </a:extLst>
          </p:cNvPr>
          <p:cNvSpPr>
            <a:spLocks noGrp="1"/>
          </p:cNvSpPr>
          <p:nvPr/>
        </p:nvSpPr>
        <p:spPr>
          <a:xfrm>
            <a:off x="896112" y="1554480"/>
            <a:ext cx="5349240" cy="4572000"/>
          </a:xfrm>
          <a:prstGeom prst="rect">
            <a:avLst/>
          </a:prstGeom>
          <a:noFill/>
        </p:spPr>
        <p:txBody>
          <a:bodyPr wrap="square" anchor="t">
            <a:spAutoFit/>
          </a:bodyPr>
          <a:lstStyle/>
          <a:p>
            <a:pPr marL="285750" indent="-285750" algn="l">
              <a:lnSpc>
                <a:spcPct val="110000"/>
              </a:lnSpc>
              <a:spcBef>
                <a:spcPts val="0"/>
              </a:spcBef>
              <a:spcAft>
                <a:spcPts val="900"/>
              </a:spcAft>
              <a:buClr>
                <a:srgbClr val="2E75B6"/>
              </a:buClr>
              <a:buSzPct val="100000"/>
              <a:buFont typeface="Arial"/>
              <a:buChar char="•"/>
            </a:pPr>
            <a:r>
              <a:rPr sz="1500" b="1" i="0" u="none">
                <a:solidFill>
                  <a:srgbClr val="1F3864"/>
                </a:solidFill>
                <a:latin typeface="Calibri"/>
                <a:ea typeface="Calibri"/>
                <a:cs typeface="Calibri"/>
              </a:rPr>
              <a:t>Search &amp; recommendation  —  </a:t>
            </a:r>
            <a:r>
              <a:rPr sz="1300" b="0" i="0" u="none">
                <a:solidFill>
                  <a:srgbClr val="595959"/>
                </a:solidFill>
                <a:latin typeface="Calibri"/>
                <a:ea typeface="Calibri"/>
                <a:cs typeface="Calibri"/>
              </a:rPr>
              <a:t>what we see, read, and buy</a:t>
            </a:r>
          </a:p>
          <a:p>
            <a:pPr marL="285750" indent="-285750" algn="l">
              <a:lnSpc>
                <a:spcPct val="110000"/>
              </a:lnSpc>
              <a:spcBef>
                <a:spcPts val="0"/>
              </a:spcBef>
              <a:spcAft>
                <a:spcPts val="900"/>
              </a:spcAft>
              <a:buClr>
                <a:srgbClr val="2E75B6"/>
              </a:buClr>
              <a:buSzPct val="100000"/>
              <a:buFont typeface="Arial"/>
              <a:buChar char="•"/>
            </a:pPr>
            <a:r>
              <a:rPr sz="1500" b="1" i="0" u="none">
                <a:solidFill>
                  <a:srgbClr val="1F3864"/>
                </a:solidFill>
                <a:latin typeface="Calibri"/>
                <a:ea typeface="Calibri"/>
                <a:cs typeface="Calibri"/>
              </a:rPr>
              <a:t>Social media  —  </a:t>
            </a:r>
            <a:r>
              <a:rPr sz="1300" b="0" i="0" u="none">
                <a:solidFill>
                  <a:srgbClr val="595959"/>
                </a:solidFill>
                <a:latin typeface="Calibri"/>
                <a:ea typeface="Calibri"/>
                <a:cs typeface="Calibri"/>
              </a:rPr>
              <a:t>feeds, moderation, engagement</a:t>
            </a:r>
          </a:p>
          <a:p>
            <a:pPr marL="285750" indent="-285750" algn="l">
              <a:lnSpc>
                <a:spcPct val="110000"/>
              </a:lnSpc>
              <a:spcBef>
                <a:spcPts val="0"/>
              </a:spcBef>
              <a:spcAft>
                <a:spcPts val="900"/>
              </a:spcAft>
              <a:buClr>
                <a:srgbClr val="2E75B6"/>
              </a:buClr>
              <a:buSzPct val="100000"/>
              <a:buFont typeface="Arial"/>
              <a:buChar char="•"/>
            </a:pPr>
            <a:r>
              <a:rPr sz="1500" b="1" i="0" u="none">
                <a:solidFill>
                  <a:srgbClr val="1F3864"/>
                </a:solidFill>
                <a:latin typeface="Calibri"/>
                <a:ea typeface="Calibri"/>
                <a:cs typeface="Calibri"/>
              </a:rPr>
              <a:t>Finance &amp; credit  —  </a:t>
            </a:r>
            <a:r>
              <a:rPr sz="1300" b="0" i="0" u="none">
                <a:solidFill>
                  <a:srgbClr val="595959"/>
                </a:solidFill>
                <a:latin typeface="Calibri"/>
                <a:ea typeface="Calibri"/>
                <a:cs typeface="Calibri"/>
              </a:rPr>
              <a:t>scoring, lending, insurance</a:t>
            </a:r>
          </a:p>
          <a:p>
            <a:pPr marL="285750" indent="-285750" algn="l">
              <a:lnSpc>
                <a:spcPct val="110000"/>
              </a:lnSpc>
              <a:spcBef>
                <a:spcPts val="0"/>
              </a:spcBef>
              <a:spcAft>
                <a:spcPts val="900"/>
              </a:spcAft>
              <a:buClr>
                <a:srgbClr val="2E75B6"/>
              </a:buClr>
              <a:buSzPct val="100000"/>
              <a:buFont typeface="Arial"/>
              <a:buChar char="•"/>
            </a:pPr>
            <a:r>
              <a:rPr sz="1500" b="1" i="0" u="none">
                <a:solidFill>
                  <a:srgbClr val="1F3864"/>
                </a:solidFill>
                <a:latin typeface="Calibri"/>
                <a:ea typeface="Calibri"/>
                <a:cs typeface="Calibri"/>
              </a:rPr>
              <a:t>Hiring &amp; HR  —  </a:t>
            </a:r>
            <a:r>
              <a:rPr sz="1300" b="0" i="0" u="none">
                <a:solidFill>
                  <a:srgbClr val="595959"/>
                </a:solidFill>
                <a:latin typeface="Calibri"/>
                <a:ea typeface="Calibri"/>
                <a:cs typeface="Calibri"/>
              </a:rPr>
              <a:t>resumé screening, monitoring</a:t>
            </a:r>
          </a:p>
        </p:txBody>
      </p:sp>
      <p:sp>
        <p:nvSpPr>
          <p:cNvPr id="10" name="TextBox 9">
            <a:extLst>
              <a:ext uri="{FF2B5EF4-FFF2-40B4-BE49-F238E27FC236}">
                <a16:creationId xmlns:a16="http://schemas.microsoft.com/office/drawing/2014/main" id="{CE822A83-9E91-413D-88F6-AE5349BDAA8C}"/>
              </a:ext>
            </a:extLst>
          </p:cNvPr>
          <p:cNvSpPr>
            <a:spLocks noGrp="1"/>
          </p:cNvSpPr>
          <p:nvPr/>
        </p:nvSpPr>
        <p:spPr>
          <a:xfrm>
            <a:off x="6446520" y="1554480"/>
            <a:ext cx="5349240" cy="4572000"/>
          </a:xfrm>
          <a:prstGeom prst="rect">
            <a:avLst/>
          </a:prstGeom>
          <a:noFill/>
        </p:spPr>
        <p:txBody>
          <a:bodyPr wrap="square" anchor="t">
            <a:spAutoFit/>
          </a:bodyPr>
          <a:lstStyle/>
          <a:p>
            <a:pPr marL="285750" indent="-285750" algn="l">
              <a:lnSpc>
                <a:spcPct val="110000"/>
              </a:lnSpc>
              <a:spcBef>
                <a:spcPts val="0"/>
              </a:spcBef>
              <a:spcAft>
                <a:spcPts val="900"/>
              </a:spcAft>
              <a:buClr>
                <a:srgbClr val="2E75B6"/>
              </a:buClr>
              <a:buSzPct val="100000"/>
              <a:buFont typeface="Arial"/>
              <a:buChar char="•"/>
            </a:pPr>
            <a:r>
              <a:rPr sz="1500" b="1" i="0" u="none">
                <a:solidFill>
                  <a:srgbClr val="1F3864"/>
                </a:solidFill>
                <a:latin typeface="Calibri"/>
                <a:ea typeface="Calibri"/>
                <a:cs typeface="Calibri"/>
              </a:rPr>
              <a:t>Healthcare  —  </a:t>
            </a:r>
            <a:r>
              <a:rPr sz="1300" b="0" i="0" u="none">
                <a:solidFill>
                  <a:srgbClr val="595959"/>
                </a:solidFill>
                <a:latin typeface="Calibri"/>
                <a:ea typeface="Calibri"/>
                <a:cs typeface="Calibri"/>
              </a:rPr>
              <a:t>diagnosis, triage, allocation</a:t>
            </a:r>
          </a:p>
          <a:p>
            <a:pPr marL="285750" indent="-285750" algn="l">
              <a:lnSpc>
                <a:spcPct val="110000"/>
              </a:lnSpc>
              <a:spcBef>
                <a:spcPts val="0"/>
              </a:spcBef>
              <a:spcAft>
                <a:spcPts val="900"/>
              </a:spcAft>
              <a:buClr>
                <a:srgbClr val="2E75B6"/>
              </a:buClr>
              <a:buSzPct val="100000"/>
              <a:buFont typeface="Arial"/>
              <a:buChar char="•"/>
            </a:pPr>
            <a:r>
              <a:rPr sz="1500" b="1" i="0" u="none">
                <a:solidFill>
                  <a:srgbClr val="1F3864"/>
                </a:solidFill>
                <a:latin typeface="Calibri"/>
                <a:ea typeface="Calibri"/>
                <a:cs typeface="Calibri"/>
              </a:rPr>
              <a:t>Criminal justice  —  </a:t>
            </a:r>
            <a:r>
              <a:rPr sz="1300" b="0" i="0" u="none">
                <a:solidFill>
                  <a:srgbClr val="595959"/>
                </a:solidFill>
                <a:latin typeface="Calibri"/>
                <a:ea typeface="Calibri"/>
                <a:cs typeface="Calibri"/>
              </a:rPr>
              <a:t>risk scoring, policing</a:t>
            </a:r>
          </a:p>
          <a:p>
            <a:pPr marL="285750" indent="-285750" algn="l">
              <a:lnSpc>
                <a:spcPct val="110000"/>
              </a:lnSpc>
              <a:spcBef>
                <a:spcPts val="0"/>
              </a:spcBef>
              <a:spcAft>
                <a:spcPts val="900"/>
              </a:spcAft>
              <a:buClr>
                <a:srgbClr val="2E75B6"/>
              </a:buClr>
              <a:buSzPct val="100000"/>
              <a:buFont typeface="Arial"/>
              <a:buChar char="•"/>
            </a:pPr>
            <a:r>
              <a:rPr sz="1500" b="1" i="0" u="none">
                <a:solidFill>
                  <a:srgbClr val="1F3864"/>
                </a:solidFill>
                <a:latin typeface="Calibri"/>
                <a:ea typeface="Calibri"/>
                <a:cs typeface="Calibri"/>
              </a:rPr>
              <a:t>Autonomous systems  —  </a:t>
            </a:r>
            <a:r>
              <a:rPr sz="1300" b="0" i="0" u="none">
                <a:solidFill>
                  <a:srgbClr val="595959"/>
                </a:solidFill>
                <a:latin typeface="Calibri"/>
                <a:ea typeface="Calibri"/>
                <a:cs typeface="Calibri"/>
              </a:rPr>
              <a:t>vehicles, drones</a:t>
            </a:r>
          </a:p>
          <a:p>
            <a:pPr marL="285750" indent="-285750" algn="l">
              <a:lnSpc>
                <a:spcPct val="110000"/>
              </a:lnSpc>
              <a:spcBef>
                <a:spcPts val="0"/>
              </a:spcBef>
              <a:spcAft>
                <a:spcPts val="900"/>
              </a:spcAft>
              <a:buClr>
                <a:srgbClr val="2E75B6"/>
              </a:buClr>
              <a:buSzPct val="100000"/>
              <a:buFont typeface="Arial"/>
              <a:buChar char="•"/>
            </a:pPr>
            <a:r>
              <a:rPr sz="1500" b="1" i="0" u="none">
                <a:solidFill>
                  <a:srgbClr val="1F3864"/>
                </a:solidFill>
                <a:latin typeface="Calibri"/>
                <a:ea typeface="Calibri"/>
                <a:cs typeface="Calibri"/>
              </a:rPr>
              <a:t>Creative industries  —  </a:t>
            </a:r>
            <a:r>
              <a:rPr sz="1300" b="0" i="0" u="none">
                <a:solidFill>
                  <a:srgbClr val="595959"/>
                </a:solidFill>
                <a:latin typeface="Calibri"/>
                <a:ea typeface="Calibri"/>
                <a:cs typeface="Calibri"/>
              </a:rPr>
              <a:t>text, image, music generation</a:t>
            </a:r>
          </a:p>
        </p:txBody>
      </p:sp>
      <p:sp>
        <p:nvSpPr>
          <p:cNvPr id="11" name="expanded-arrow-21-1">
            <a:extLst>
              <a:ext uri="{FF2B5EF4-FFF2-40B4-BE49-F238E27FC236}">
                <a16:creationId xmlns:a16="http://schemas.microsoft.com/office/drawing/2014/main" id="{A5B90DDD-9B60-461B-8E1D-49B71BC67DC3}"/>
              </a:ext>
            </a:extLst>
          </p:cNvPr>
          <p:cNvSpPr>
            <a:spLocks noGrp="1"/>
          </p:cNvSpPr>
          <p:nvPr/>
        </p:nvSpPr>
        <p:spPr>
          <a:xfrm>
            <a:off x="3581400" y="4872038"/>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21-2">
            <a:extLst>
              <a:ext uri="{FF2B5EF4-FFF2-40B4-BE49-F238E27FC236}">
                <a16:creationId xmlns:a16="http://schemas.microsoft.com/office/drawing/2014/main" id="{3C72655B-D6BE-48AE-AC95-B942B5F6B2FC}"/>
              </a:ext>
            </a:extLst>
          </p:cNvPr>
          <p:cNvSpPr>
            <a:spLocks noGrp="1"/>
          </p:cNvSpPr>
          <p:nvPr/>
        </p:nvSpPr>
        <p:spPr>
          <a:xfrm>
            <a:off x="5962650" y="4872038"/>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arrow-21-3">
            <a:extLst>
              <a:ext uri="{FF2B5EF4-FFF2-40B4-BE49-F238E27FC236}">
                <a16:creationId xmlns:a16="http://schemas.microsoft.com/office/drawing/2014/main" id="{D5B9BA09-2C52-41B7-A84F-87E64C8F59A1}"/>
              </a:ext>
            </a:extLst>
          </p:cNvPr>
          <p:cNvSpPr>
            <a:spLocks noGrp="1"/>
          </p:cNvSpPr>
          <p:nvPr/>
        </p:nvSpPr>
        <p:spPr>
          <a:xfrm>
            <a:off x="8343900" y="4872038"/>
            <a:ext cx="457200" cy="171450"/>
          </a:xfrm>
          <a:prstGeom prst="rightArrow">
            <a:avLst/>
          </a:prstGeom>
          <a:solidFill>
            <a:srgbClr val="9EC8E8"/>
          </a:solidFill>
          <a:ln w="0">
            <a:solidFill>
              <a:srgbClr val="9EC8E8"/>
            </a:solidFill>
            <a:prstDash val="solid"/>
          </a:ln>
        </p:spPr>
        <p:txBody>
          <a:bodyPr/>
          <a:lstStyle/>
          <a:p>
            <a:endParaRPr/>
          </a:p>
        </p:txBody>
      </p:sp>
      <p:sp>
        <p:nvSpPr>
          <p:cNvPr id="14" name="expanded-node-21-1">
            <a:extLst>
              <a:ext uri="{FF2B5EF4-FFF2-40B4-BE49-F238E27FC236}">
                <a16:creationId xmlns:a16="http://schemas.microsoft.com/office/drawing/2014/main" id="{7DD22D21-9A84-4029-83BA-31EF68007CB4}"/>
              </a:ext>
            </a:extLst>
          </p:cNvPr>
          <p:cNvSpPr>
            <a:spLocks noGrp="1"/>
          </p:cNvSpPr>
          <p:nvPr/>
        </p:nvSpPr>
        <p:spPr>
          <a:xfrm>
            <a:off x="14287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MEDIA</a:t>
            </a:r>
          </a:p>
        </p:txBody>
      </p:sp>
      <p:sp>
        <p:nvSpPr>
          <p:cNvPr id="15" name="expanded-node-21-2">
            <a:extLst>
              <a:ext uri="{FF2B5EF4-FFF2-40B4-BE49-F238E27FC236}">
                <a16:creationId xmlns:a16="http://schemas.microsoft.com/office/drawing/2014/main" id="{3E4DB1E6-4D2F-4D6A-9C04-11D155C5C60D}"/>
              </a:ext>
            </a:extLst>
          </p:cNvPr>
          <p:cNvSpPr>
            <a:spLocks noGrp="1"/>
          </p:cNvSpPr>
          <p:nvPr/>
        </p:nvSpPr>
        <p:spPr>
          <a:xfrm>
            <a:off x="38100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FINANCE</a:t>
            </a:r>
          </a:p>
        </p:txBody>
      </p:sp>
      <p:sp>
        <p:nvSpPr>
          <p:cNvPr id="16" name="expanded-node-21-3">
            <a:extLst>
              <a:ext uri="{FF2B5EF4-FFF2-40B4-BE49-F238E27FC236}">
                <a16:creationId xmlns:a16="http://schemas.microsoft.com/office/drawing/2014/main" id="{1F0A3984-FB53-4DC0-8351-20AA9F9A035C}"/>
              </a:ext>
            </a:extLst>
          </p:cNvPr>
          <p:cNvSpPr>
            <a:spLocks noGrp="1"/>
          </p:cNvSpPr>
          <p:nvPr/>
        </p:nvSpPr>
        <p:spPr>
          <a:xfrm>
            <a:off x="61912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HEALTH</a:t>
            </a:r>
          </a:p>
        </p:txBody>
      </p:sp>
      <p:sp>
        <p:nvSpPr>
          <p:cNvPr id="17" name="expanded-node-21-4">
            <a:extLst>
              <a:ext uri="{FF2B5EF4-FFF2-40B4-BE49-F238E27FC236}">
                <a16:creationId xmlns:a16="http://schemas.microsoft.com/office/drawing/2014/main" id="{01E02498-19F4-40DA-A078-430951ACE14C}"/>
              </a:ext>
            </a:extLst>
          </p:cNvPr>
          <p:cNvSpPr>
            <a:spLocks noGrp="1"/>
          </p:cNvSpPr>
          <p:nvPr/>
        </p:nvSpPr>
        <p:spPr>
          <a:xfrm>
            <a:off x="85725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GOVERNMENT</a:t>
            </a:r>
          </a:p>
        </p:txBody>
      </p:sp>
      <p:sp>
        <p:nvSpPr>
          <p:cNvPr id="18" name="expanded-takeaway-21">
            <a:extLst>
              <a:ext uri="{FF2B5EF4-FFF2-40B4-BE49-F238E27FC236}">
                <a16:creationId xmlns:a16="http://schemas.microsoft.com/office/drawing/2014/main" id="{9D17ACFF-5C46-49C4-9645-D9802CD4F018}"/>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AI is often invisible infrastructure: it ranks, recommends, predicts, allocates, and moderates throughout daily life.</a:t>
            </a:r>
          </a:p>
        </p:txBody>
      </p:sp>
      <p:sp>
        <p:nvSpPr>
          <p:cNvPr id="19" name="v2-page-mask-26">
            <a:extLst>
              <a:ext uri="{FF2B5EF4-FFF2-40B4-BE49-F238E27FC236}">
                <a16:creationId xmlns:a16="http://schemas.microsoft.com/office/drawing/2014/main" id="{8139149E-0145-4A76-AE6F-0A648C89DA0C}"/>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20" name="v2-page-26">
            <a:extLst>
              <a:ext uri="{FF2B5EF4-FFF2-40B4-BE49-F238E27FC236}">
                <a16:creationId xmlns:a16="http://schemas.microsoft.com/office/drawing/2014/main" id="{EE4DD782-3364-4CF7-A020-5F800F68A52B}"/>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26</a:t>
            </a:r>
          </a:p>
        </p:txBody>
      </p:sp>
    </p:spTree>
    <p:extLst>
      <p:ext uri="{BB962C8B-B14F-4D97-AF65-F5344CB8AC3E}">
        <p14:creationId xmlns:p14="http://schemas.microsoft.com/office/powerpoint/2010/main" val="3438100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03FA1C5-E30E-4B46-BD41-EB9BE6EDF1A7}"/>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63E1B600-1D72-4462-B30A-50E24C73494E}"/>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107360FE-4311-47EB-9087-BCE4AFC82FE6}"/>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Capabilities, Limits &amp; Uncertainties</a:t>
            </a:r>
          </a:p>
        </p:txBody>
      </p:sp>
      <p:sp>
        <p:nvSpPr>
          <p:cNvPr id="5" name="Rectangle 4">
            <a:extLst>
              <a:ext uri="{FF2B5EF4-FFF2-40B4-BE49-F238E27FC236}">
                <a16:creationId xmlns:a16="http://schemas.microsoft.com/office/drawing/2014/main" id="{72694E25-FA15-40F6-9C9C-ED0074886801}"/>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AAAE78E0-4C59-4A6C-AB97-A037B8A1B0D5}"/>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High confidence ≠ reliability.</a:t>
            </a:r>
          </a:p>
        </p:txBody>
      </p:sp>
      <p:sp>
        <p:nvSpPr>
          <p:cNvPr id="7" name="TextBox 6">
            <a:extLst>
              <a:ext uri="{FF2B5EF4-FFF2-40B4-BE49-F238E27FC236}">
                <a16:creationId xmlns:a16="http://schemas.microsoft.com/office/drawing/2014/main" id="{F6C8677F-7803-4E1A-825B-7AFEEDA678AE}"/>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A0774263-48D6-405A-A3FF-5D880657E2A0}"/>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22</a:t>
            </a:r>
          </a:p>
        </p:txBody>
      </p:sp>
      <p:sp>
        <p:nvSpPr>
          <p:cNvPr id="9" name="TextBox 8">
            <a:extLst>
              <a:ext uri="{FF2B5EF4-FFF2-40B4-BE49-F238E27FC236}">
                <a16:creationId xmlns:a16="http://schemas.microsoft.com/office/drawing/2014/main" id="{97C89063-E73F-4B41-A36C-26D3D726DAD7}"/>
              </a:ext>
            </a:extLst>
          </p:cNvPr>
          <p:cNvSpPr>
            <a:spLocks noGrp="1"/>
          </p:cNvSpPr>
          <p:nvPr/>
        </p:nvSpPr>
        <p:spPr>
          <a:xfrm>
            <a:off x="896112" y="1508760"/>
            <a:ext cx="5212080" cy="4663440"/>
          </a:xfrm>
          <a:prstGeom prst="rect">
            <a:avLst/>
          </a:prstGeom>
          <a:noFill/>
        </p:spPr>
        <p:txBody>
          <a:bodyPr wrap="square" anchor="t">
            <a:spAutoFit/>
          </a:bodyPr>
          <a:lstStyle/>
          <a:p>
            <a:pPr marL="285750" indent="0" algn="l">
              <a:lnSpc>
                <a:spcPct val="116000"/>
              </a:lnSpc>
              <a:spcBef>
                <a:spcPts val="0"/>
              </a:spcBef>
              <a:spcAft>
                <a:spcPts val="400"/>
              </a:spcAft>
              <a:buNone/>
            </a:pPr>
            <a:r>
              <a:rPr sz="1700" b="1" i="0" u="none">
                <a:solidFill>
                  <a:srgbClr val="1F3864"/>
                </a:solidFill>
                <a:latin typeface="Calibri"/>
                <a:ea typeface="Calibri"/>
                <a:cs typeface="Calibri"/>
              </a:rPr>
              <a:t>Strengths</a:t>
            </a:r>
          </a:p>
          <a:p>
            <a:pPr marL="2857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Pattern recognition at vast scale.</a:t>
            </a:r>
          </a:p>
          <a:p>
            <a:pPr marL="2857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Speed and consistency beyond human capacity.</a:t>
            </a:r>
          </a:p>
          <a:p>
            <a:pPr marL="2857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Performance on well-defined, data-rich tasks.</a:t>
            </a:r>
          </a:p>
        </p:txBody>
      </p:sp>
      <p:sp>
        <p:nvSpPr>
          <p:cNvPr id="10" name="TextBox 9">
            <a:extLst>
              <a:ext uri="{FF2B5EF4-FFF2-40B4-BE49-F238E27FC236}">
                <a16:creationId xmlns:a16="http://schemas.microsoft.com/office/drawing/2014/main" id="{4B0D264E-7AF7-426B-B600-8971B287B4E8}"/>
              </a:ext>
            </a:extLst>
          </p:cNvPr>
          <p:cNvSpPr>
            <a:spLocks noGrp="1"/>
          </p:cNvSpPr>
          <p:nvPr/>
        </p:nvSpPr>
        <p:spPr>
          <a:xfrm>
            <a:off x="6355080" y="1508760"/>
            <a:ext cx="5212080" cy="4663440"/>
          </a:xfrm>
          <a:prstGeom prst="rect">
            <a:avLst/>
          </a:prstGeom>
          <a:noFill/>
        </p:spPr>
        <p:txBody>
          <a:bodyPr wrap="square" anchor="t">
            <a:spAutoFit/>
          </a:bodyPr>
          <a:lstStyle/>
          <a:p>
            <a:pPr marL="285750" indent="0" algn="l">
              <a:lnSpc>
                <a:spcPct val="116000"/>
              </a:lnSpc>
              <a:spcBef>
                <a:spcPts val="0"/>
              </a:spcBef>
              <a:spcAft>
                <a:spcPts val="400"/>
              </a:spcAft>
              <a:buNone/>
            </a:pPr>
            <a:r>
              <a:rPr sz="1700" b="1" i="0" u="none">
                <a:solidFill>
                  <a:srgbClr val="1F3864"/>
                </a:solidFill>
                <a:latin typeface="Calibri"/>
                <a:ea typeface="Calibri"/>
                <a:cs typeface="Calibri"/>
              </a:rPr>
              <a:t>Limits</a:t>
            </a:r>
          </a:p>
          <a:p>
            <a:pPr marL="2857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Brittleness — fails on </a:t>
            </a:r>
            <a:r>
              <a:rPr sz="1500" b="1" i="0" u="sng">
                <a:solidFill>
                  <a:srgbClr val="262626"/>
                </a:solidFill>
                <a:latin typeface="Calibri"/>
                <a:ea typeface="Calibri"/>
                <a:cs typeface="Calibri"/>
              </a:rPr>
              <a:t>distribution shift</a:t>
            </a:r>
            <a:r>
              <a:rPr sz="1500" b="0" i="0" u="none">
                <a:solidFill>
                  <a:srgbClr val="262626"/>
                </a:solidFill>
                <a:latin typeface="Calibri"/>
                <a:ea typeface="Calibri"/>
                <a:cs typeface="Calibri"/>
              </a:rPr>
              <a:t>.</a:t>
            </a:r>
          </a:p>
          <a:p>
            <a:pPr marL="2857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Hallucination &amp; lack of causal understanding.</a:t>
            </a:r>
          </a:p>
          <a:p>
            <a:pPr marL="2857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Non-reproducibility; vulnerable to </a:t>
            </a:r>
            <a:r>
              <a:rPr sz="1500" b="0" i="0" u="sng">
                <a:solidFill>
                  <a:srgbClr val="262626"/>
                </a:solidFill>
                <a:latin typeface="Calibri"/>
                <a:ea typeface="Calibri"/>
                <a:cs typeface="Calibri"/>
              </a:rPr>
              <a:t>adversarial inputs</a:t>
            </a:r>
            <a:r>
              <a:rPr sz="1500" b="0" i="0" u="none">
                <a:solidFill>
                  <a:srgbClr val="262626"/>
                </a:solidFill>
                <a:latin typeface="Calibri"/>
                <a:ea typeface="Calibri"/>
                <a:cs typeface="Calibri"/>
              </a:rPr>
              <a:t>.</a:t>
            </a:r>
          </a:p>
        </p:txBody>
      </p:sp>
      <p:sp>
        <p:nvSpPr>
          <p:cNvPr id="11" name="expanded-arrow-22-1">
            <a:extLst>
              <a:ext uri="{FF2B5EF4-FFF2-40B4-BE49-F238E27FC236}">
                <a16:creationId xmlns:a16="http://schemas.microsoft.com/office/drawing/2014/main" id="{17D7707F-284D-49F7-83B5-5D4E3E6BC7F5}"/>
              </a:ext>
            </a:extLst>
          </p:cNvPr>
          <p:cNvSpPr>
            <a:spLocks noGrp="1"/>
          </p:cNvSpPr>
          <p:nvPr/>
        </p:nvSpPr>
        <p:spPr>
          <a:xfrm>
            <a:off x="4772025" y="4872038"/>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22-2">
            <a:extLst>
              <a:ext uri="{FF2B5EF4-FFF2-40B4-BE49-F238E27FC236}">
                <a16:creationId xmlns:a16="http://schemas.microsoft.com/office/drawing/2014/main" id="{9D354DEE-A3A8-4A4D-A35E-9D3D424E0CA1}"/>
              </a:ext>
            </a:extLst>
          </p:cNvPr>
          <p:cNvSpPr>
            <a:spLocks noGrp="1"/>
          </p:cNvSpPr>
          <p:nvPr/>
        </p:nvSpPr>
        <p:spPr>
          <a:xfrm>
            <a:off x="7153275" y="4872038"/>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22-1">
            <a:extLst>
              <a:ext uri="{FF2B5EF4-FFF2-40B4-BE49-F238E27FC236}">
                <a16:creationId xmlns:a16="http://schemas.microsoft.com/office/drawing/2014/main" id="{FE0D5761-C0FD-4E07-82E4-430181705DE5}"/>
              </a:ext>
            </a:extLst>
          </p:cNvPr>
          <p:cNvSpPr>
            <a:spLocks noGrp="1"/>
          </p:cNvSpPr>
          <p:nvPr/>
        </p:nvSpPr>
        <p:spPr>
          <a:xfrm>
            <a:off x="26193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CAPABILITY</a:t>
            </a:r>
          </a:p>
        </p:txBody>
      </p:sp>
      <p:sp>
        <p:nvSpPr>
          <p:cNvPr id="14" name="expanded-node-22-2">
            <a:extLst>
              <a:ext uri="{FF2B5EF4-FFF2-40B4-BE49-F238E27FC236}">
                <a16:creationId xmlns:a16="http://schemas.microsoft.com/office/drawing/2014/main" id="{60FC0FAF-D705-49EF-A5BF-F5820D763FC1}"/>
              </a:ext>
            </a:extLst>
          </p:cNvPr>
          <p:cNvSpPr>
            <a:spLocks noGrp="1"/>
          </p:cNvSpPr>
          <p:nvPr/>
        </p:nvSpPr>
        <p:spPr>
          <a:xfrm>
            <a:off x="5000625"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CONTEXT</a:t>
            </a:r>
          </a:p>
        </p:txBody>
      </p:sp>
      <p:sp>
        <p:nvSpPr>
          <p:cNvPr id="15" name="expanded-node-22-3">
            <a:extLst>
              <a:ext uri="{FF2B5EF4-FFF2-40B4-BE49-F238E27FC236}">
                <a16:creationId xmlns:a16="http://schemas.microsoft.com/office/drawing/2014/main" id="{3C2E48C5-C039-40A0-846A-F20AAE26E0D0}"/>
              </a:ext>
            </a:extLst>
          </p:cNvPr>
          <p:cNvSpPr>
            <a:spLocks noGrp="1"/>
          </p:cNvSpPr>
          <p:nvPr/>
        </p:nvSpPr>
        <p:spPr>
          <a:xfrm>
            <a:off x="73818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UNCERTAINTY</a:t>
            </a:r>
          </a:p>
        </p:txBody>
      </p:sp>
      <p:sp>
        <p:nvSpPr>
          <p:cNvPr id="16" name="expanded-takeaway-22">
            <a:extLst>
              <a:ext uri="{FF2B5EF4-FFF2-40B4-BE49-F238E27FC236}">
                <a16:creationId xmlns:a16="http://schemas.microsoft.com/office/drawing/2014/main" id="{8A701DFC-A6DA-45BD-8304-9224BE7539B7}"/>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Benchmark performance is conditional; context change, uncertainty, and adversarial use can quickly undermine reliability.</a:t>
            </a:r>
          </a:p>
        </p:txBody>
      </p:sp>
      <p:sp>
        <p:nvSpPr>
          <p:cNvPr id="17" name="v2-page-mask-27">
            <a:extLst>
              <a:ext uri="{FF2B5EF4-FFF2-40B4-BE49-F238E27FC236}">
                <a16:creationId xmlns:a16="http://schemas.microsoft.com/office/drawing/2014/main" id="{A8EC0AAC-7F9E-44ED-9832-E2B939B2CC0E}"/>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8" name="v2-page-27">
            <a:extLst>
              <a:ext uri="{FF2B5EF4-FFF2-40B4-BE49-F238E27FC236}">
                <a16:creationId xmlns:a16="http://schemas.microsoft.com/office/drawing/2014/main" id="{62E9B708-D04E-4CAC-9760-9F2705904779}"/>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27</a:t>
            </a:r>
          </a:p>
        </p:txBody>
      </p:sp>
    </p:spTree>
    <p:extLst>
      <p:ext uri="{BB962C8B-B14F-4D97-AF65-F5344CB8AC3E}">
        <p14:creationId xmlns:p14="http://schemas.microsoft.com/office/powerpoint/2010/main" val="58472221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1FD5D29-FCA9-41B2-AF2E-0A4C293CA767}"/>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87800FE0-72DC-4AB6-A55E-053B184E1787}"/>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D6E0E9AC-F6F1-4254-A40A-5B6CC2FB6580}"/>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From AI to AI Ethics</a:t>
            </a:r>
          </a:p>
        </p:txBody>
      </p:sp>
      <p:sp>
        <p:nvSpPr>
          <p:cNvPr id="5" name="Rectangle 4">
            <a:extLst>
              <a:ext uri="{FF2B5EF4-FFF2-40B4-BE49-F238E27FC236}">
                <a16:creationId xmlns:a16="http://schemas.microsoft.com/office/drawing/2014/main" id="{0627B8B9-379E-498A-AAEC-4BF10ED3F1D9}"/>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8F6E6F85-B14A-41CF-A933-99D42F003BF5}"/>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The bridge into Part 2.</a:t>
            </a:r>
          </a:p>
        </p:txBody>
      </p:sp>
      <p:sp>
        <p:nvSpPr>
          <p:cNvPr id="7" name="TextBox 6">
            <a:extLst>
              <a:ext uri="{FF2B5EF4-FFF2-40B4-BE49-F238E27FC236}">
                <a16:creationId xmlns:a16="http://schemas.microsoft.com/office/drawing/2014/main" id="{CC6E2BB9-CABF-4242-BAF0-84211B0DAD2B}"/>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3216DE17-4CC7-4F47-A525-4F9ACE496F9D}"/>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23</a:t>
            </a:r>
          </a:p>
        </p:txBody>
      </p:sp>
      <p:sp>
        <p:nvSpPr>
          <p:cNvPr id="9" name="TextBox 8">
            <a:extLst>
              <a:ext uri="{FF2B5EF4-FFF2-40B4-BE49-F238E27FC236}">
                <a16:creationId xmlns:a16="http://schemas.microsoft.com/office/drawing/2014/main" id="{BFDDFC88-E676-4617-8D25-2DB32118B98E}"/>
              </a:ext>
            </a:extLst>
          </p:cNvPr>
          <p:cNvSpPr>
            <a:spLocks noGrp="1"/>
          </p:cNvSpPr>
          <p:nvPr/>
        </p:nvSpPr>
        <p:spPr>
          <a:xfrm>
            <a:off x="896112" y="1737360"/>
            <a:ext cx="10607040" cy="4114800"/>
          </a:xfrm>
          <a:prstGeom prst="rect">
            <a:avLst/>
          </a:prstGeom>
          <a:noFill/>
        </p:spPr>
        <p:txBody>
          <a:bodyPr wrap="square" anchor="t">
            <a:spAutoFit/>
          </a:bodyPr>
          <a:lstStyle/>
          <a:p>
            <a:pPr marL="285750" indent="0" algn="ctr">
              <a:lnSpc>
                <a:spcPct val="116000"/>
              </a:lnSpc>
              <a:spcBef>
                <a:spcPts val="0"/>
              </a:spcBef>
              <a:spcAft>
                <a:spcPts val="1400"/>
              </a:spcAft>
              <a:buNone/>
            </a:pPr>
            <a:r>
              <a:rPr sz="2000" b="1" i="0" u="none">
                <a:solidFill>
                  <a:srgbClr val="1F3864"/>
                </a:solidFill>
                <a:latin typeface="Calibri"/>
                <a:ea typeface="Calibri"/>
                <a:cs typeface="Calibri"/>
              </a:rPr>
              <a:t>Powerful  +  Opaque  +  Pervasive  =  </a:t>
            </a:r>
            <a:r>
              <a:rPr sz="2000" b="1" i="0" u="sng">
                <a:solidFill>
                  <a:srgbClr val="1F3864"/>
                </a:solidFill>
                <a:latin typeface="Calibri"/>
                <a:ea typeface="Calibri"/>
                <a:cs typeface="Calibri"/>
              </a:rPr>
              <a:t>ethics cannot be an afterthought.</a:t>
            </a:r>
          </a:p>
          <a:p>
            <a:pPr marL="285750" indent="-285750" algn="ctr">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Power: </a:t>
            </a:r>
            <a:r>
              <a:rPr sz="1600" b="0" i="0" u="none">
                <a:solidFill>
                  <a:srgbClr val="262626"/>
                </a:solidFill>
                <a:latin typeface="Calibri"/>
                <a:ea typeface="Calibri"/>
                <a:cs typeface="Calibri"/>
              </a:rPr>
              <a:t>high-stakes decisions over people’s lives.</a:t>
            </a:r>
          </a:p>
          <a:p>
            <a:pPr marL="285750" indent="-285750" algn="ctr">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Opacity: </a:t>
            </a:r>
            <a:r>
              <a:rPr sz="1600" b="0" i="0" u="none">
                <a:solidFill>
                  <a:srgbClr val="262626"/>
                </a:solidFill>
                <a:latin typeface="Calibri"/>
                <a:ea typeface="Calibri"/>
                <a:cs typeface="Calibri"/>
              </a:rPr>
              <a:t>many models are black boxes — hard to inspect or explain.</a:t>
            </a:r>
          </a:p>
          <a:p>
            <a:pPr marL="285750" indent="-285750" algn="ctr">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Pervasiveness: </a:t>
            </a:r>
            <a:r>
              <a:rPr sz="1600" b="0" i="0" u="none">
                <a:solidFill>
                  <a:srgbClr val="262626"/>
                </a:solidFill>
                <a:latin typeface="Calibri"/>
                <a:ea typeface="Calibri"/>
                <a:cs typeface="Calibri"/>
              </a:rPr>
              <a:t>billions are affected, often without knowing.</a:t>
            </a:r>
          </a:p>
        </p:txBody>
      </p:sp>
      <p:sp>
        <p:nvSpPr>
          <p:cNvPr id="10" name="expanded-arrow-23-1">
            <a:extLst>
              <a:ext uri="{FF2B5EF4-FFF2-40B4-BE49-F238E27FC236}">
                <a16:creationId xmlns:a16="http://schemas.microsoft.com/office/drawing/2014/main" id="{77E63BA7-742A-4A14-984E-F0D2FAA037F0}"/>
              </a:ext>
            </a:extLst>
          </p:cNvPr>
          <p:cNvSpPr>
            <a:spLocks noGrp="1"/>
          </p:cNvSpPr>
          <p:nvPr/>
        </p:nvSpPr>
        <p:spPr>
          <a:xfrm>
            <a:off x="4772025"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23-2">
            <a:extLst>
              <a:ext uri="{FF2B5EF4-FFF2-40B4-BE49-F238E27FC236}">
                <a16:creationId xmlns:a16="http://schemas.microsoft.com/office/drawing/2014/main" id="{B649B907-F093-4BF8-9B63-A2A618BCBEF9}"/>
              </a:ext>
            </a:extLst>
          </p:cNvPr>
          <p:cNvSpPr>
            <a:spLocks noGrp="1"/>
          </p:cNvSpPr>
          <p:nvPr/>
        </p:nvSpPr>
        <p:spPr>
          <a:xfrm>
            <a:off x="7153275"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node-23-1">
            <a:extLst>
              <a:ext uri="{FF2B5EF4-FFF2-40B4-BE49-F238E27FC236}">
                <a16:creationId xmlns:a16="http://schemas.microsoft.com/office/drawing/2014/main" id="{262D8AF2-A090-45D5-B3FF-C5CE66718FB4}"/>
              </a:ext>
            </a:extLst>
          </p:cNvPr>
          <p:cNvSpPr>
            <a:spLocks noGrp="1"/>
          </p:cNvSpPr>
          <p:nvPr/>
        </p:nvSpPr>
        <p:spPr>
          <a:xfrm>
            <a:off x="26193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POWER</a:t>
            </a:r>
          </a:p>
        </p:txBody>
      </p:sp>
      <p:sp>
        <p:nvSpPr>
          <p:cNvPr id="13" name="expanded-node-23-2">
            <a:extLst>
              <a:ext uri="{FF2B5EF4-FFF2-40B4-BE49-F238E27FC236}">
                <a16:creationId xmlns:a16="http://schemas.microsoft.com/office/drawing/2014/main" id="{90E599AA-804B-4211-88B6-F429A79C4871}"/>
              </a:ext>
            </a:extLst>
          </p:cNvPr>
          <p:cNvSpPr>
            <a:spLocks noGrp="1"/>
          </p:cNvSpPr>
          <p:nvPr/>
        </p:nvSpPr>
        <p:spPr>
          <a:xfrm>
            <a:off x="5000625"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OPACITY</a:t>
            </a:r>
          </a:p>
        </p:txBody>
      </p:sp>
      <p:sp>
        <p:nvSpPr>
          <p:cNvPr id="14" name="expanded-node-23-3">
            <a:extLst>
              <a:ext uri="{FF2B5EF4-FFF2-40B4-BE49-F238E27FC236}">
                <a16:creationId xmlns:a16="http://schemas.microsoft.com/office/drawing/2014/main" id="{4520A5F9-42F8-4384-AB1F-0E8F4BC05E48}"/>
              </a:ext>
            </a:extLst>
          </p:cNvPr>
          <p:cNvSpPr>
            <a:spLocks noGrp="1"/>
          </p:cNvSpPr>
          <p:nvPr/>
        </p:nvSpPr>
        <p:spPr>
          <a:xfrm>
            <a:off x="73818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SCALE</a:t>
            </a:r>
          </a:p>
        </p:txBody>
      </p:sp>
      <p:sp>
        <p:nvSpPr>
          <p:cNvPr id="15" name="expanded-takeaway-23">
            <a:extLst>
              <a:ext uri="{FF2B5EF4-FFF2-40B4-BE49-F238E27FC236}">
                <a16:creationId xmlns:a16="http://schemas.microsoft.com/office/drawing/2014/main" id="{DE532622-A6CD-4F9C-926E-6A1FC7426A37}"/>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Powerful + opaque + pervasive systems create obligations to anticipate, explain, and remedy harm.</a:t>
            </a:r>
          </a:p>
        </p:txBody>
      </p:sp>
      <p:sp>
        <p:nvSpPr>
          <p:cNvPr id="16" name="v2-page-mask-28">
            <a:extLst>
              <a:ext uri="{FF2B5EF4-FFF2-40B4-BE49-F238E27FC236}">
                <a16:creationId xmlns:a16="http://schemas.microsoft.com/office/drawing/2014/main" id="{C7DF16AB-13AB-4BA6-8E7F-9B64CC10EDDB}"/>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7" name="v2-page-28">
            <a:extLst>
              <a:ext uri="{FF2B5EF4-FFF2-40B4-BE49-F238E27FC236}">
                <a16:creationId xmlns:a16="http://schemas.microsoft.com/office/drawing/2014/main" id="{995D6D00-2681-41B8-A636-43882BE89A54}"/>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28</a:t>
            </a:r>
          </a:p>
        </p:txBody>
      </p:sp>
    </p:spTree>
    <p:extLst>
      <p:ext uri="{BB962C8B-B14F-4D97-AF65-F5344CB8AC3E}">
        <p14:creationId xmlns:p14="http://schemas.microsoft.com/office/powerpoint/2010/main" val="10156795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reak-background">
            <a:extLst>
              <a:ext uri="{FF2B5EF4-FFF2-40B4-BE49-F238E27FC236}">
                <a16:creationId xmlns:a16="http://schemas.microsoft.com/office/drawing/2014/main" id="{0C101E8D-D136-4FE8-A92C-54BDDF167D93}"/>
              </a:ext>
            </a:extLst>
          </p:cNvPr>
          <p:cNvSpPr>
            <a:spLocks noGrp="1"/>
          </p:cNvSpPr>
          <p:nvPr/>
        </p:nvSpPr>
        <p:spPr>
          <a:xfrm>
            <a:off x="0" y="0"/>
            <a:ext cx="12192000" cy="6858000"/>
          </a:xfrm>
          <a:prstGeom prst="rect">
            <a:avLst/>
          </a:prstGeom>
          <a:solidFill>
            <a:srgbClr val="F7FAFD"/>
          </a:solidFill>
          <a:ln w="0">
            <a:solidFill>
              <a:srgbClr val="F7FAFD"/>
            </a:solidFill>
            <a:prstDash val="solid"/>
          </a:ln>
        </p:spPr>
        <p:txBody>
          <a:bodyPr/>
          <a:lstStyle/>
          <a:p>
            <a:endParaRPr lang="zh-CN" altLang="en-US"/>
          </a:p>
        </p:txBody>
      </p:sp>
      <p:sp>
        <p:nvSpPr>
          <p:cNvPr id="2" name="break-left">
            <a:extLst>
              <a:ext uri="{FF2B5EF4-FFF2-40B4-BE49-F238E27FC236}">
                <a16:creationId xmlns:a16="http://schemas.microsoft.com/office/drawing/2014/main" id="{CD886565-D5B7-4BDA-A55F-F30294DF6F07}"/>
              </a:ext>
            </a:extLst>
          </p:cNvPr>
          <p:cNvSpPr>
            <a:spLocks noGrp="1"/>
          </p:cNvSpPr>
          <p:nvPr/>
        </p:nvSpPr>
        <p:spPr>
          <a:xfrm>
            <a:off x="0" y="0"/>
            <a:ext cx="247650" cy="6858000"/>
          </a:xfrm>
          <a:prstGeom prst="rect">
            <a:avLst/>
          </a:prstGeom>
          <a:solidFill>
            <a:srgbClr val="1F3B6D"/>
          </a:solidFill>
          <a:ln w="0">
            <a:solidFill>
              <a:srgbClr val="1F3B6D"/>
            </a:solidFill>
            <a:prstDash val="solid"/>
          </a:ln>
        </p:spPr>
        <p:txBody>
          <a:bodyPr/>
          <a:lstStyle/>
          <a:p>
            <a:endParaRPr lang="zh-CN" altLang="en-US"/>
          </a:p>
        </p:txBody>
      </p:sp>
      <p:sp>
        <p:nvSpPr>
          <p:cNvPr id="3" name="break-kicker">
            <a:extLst>
              <a:ext uri="{FF2B5EF4-FFF2-40B4-BE49-F238E27FC236}">
                <a16:creationId xmlns:a16="http://schemas.microsoft.com/office/drawing/2014/main" id="{160403FD-A57E-4F2D-BF6A-B9403A72352C}"/>
              </a:ext>
            </a:extLst>
          </p:cNvPr>
          <p:cNvSpPr>
            <a:spLocks noGrp="1"/>
          </p:cNvSpPr>
          <p:nvPr/>
        </p:nvSpPr>
        <p:spPr>
          <a:xfrm>
            <a:off x="1047750" y="1428750"/>
            <a:ext cx="5715000" cy="304800"/>
          </a:xfrm>
          <a:prstGeom prst="rect">
            <a:avLst/>
          </a:prstGeom>
          <a:noFill/>
          <a:ln w="0">
            <a:noFill/>
            <a:prstDash val="solid"/>
          </a:ln>
        </p:spPr>
        <p:txBody>
          <a:bodyPr/>
          <a:lstStyle/>
          <a:p>
            <a:pPr>
              <a:defRPr sz="1350" b="1">
                <a:solidFill>
                  <a:srgbClr val="2D78B9"/>
                </a:solidFill>
              </a:defRPr>
            </a:pPr>
            <a:r>
              <a:rPr sz="1350" b="1">
                <a:solidFill>
                  <a:srgbClr val="2D78B9"/>
                </a:solidFill>
              </a:rPr>
              <a:t>MAIE 5103  ·  LECTURE 1</a:t>
            </a:r>
          </a:p>
        </p:txBody>
      </p:sp>
      <p:sp>
        <p:nvSpPr>
          <p:cNvPr id="4" name="break-title">
            <a:extLst>
              <a:ext uri="{FF2B5EF4-FFF2-40B4-BE49-F238E27FC236}">
                <a16:creationId xmlns:a16="http://schemas.microsoft.com/office/drawing/2014/main" id="{45BBC7C6-8194-4BA2-9C1D-DC4219F1DECE}"/>
              </a:ext>
            </a:extLst>
          </p:cNvPr>
          <p:cNvSpPr>
            <a:spLocks noGrp="1"/>
          </p:cNvSpPr>
          <p:nvPr/>
        </p:nvSpPr>
        <p:spPr>
          <a:xfrm>
            <a:off x="1028700" y="1952625"/>
            <a:ext cx="7620000" cy="904875"/>
          </a:xfrm>
          <a:prstGeom prst="rect">
            <a:avLst/>
          </a:prstGeom>
          <a:noFill/>
          <a:ln w="0">
            <a:noFill/>
            <a:prstDash val="solid"/>
          </a:ln>
        </p:spPr>
        <p:txBody>
          <a:bodyPr/>
          <a:lstStyle/>
          <a:p>
            <a:pPr>
              <a:defRPr sz="4350" b="1">
                <a:solidFill>
                  <a:srgbClr val="1F3B6D"/>
                </a:solidFill>
              </a:defRPr>
            </a:pPr>
            <a:r>
              <a:rPr sz="4350" b="1">
                <a:solidFill>
                  <a:srgbClr val="1F3B6D"/>
                </a:solidFill>
              </a:rPr>
              <a:t>Break 1</a:t>
            </a:r>
          </a:p>
        </p:txBody>
      </p:sp>
      <p:sp>
        <p:nvSpPr>
          <p:cNvPr id="5" name="break-rule">
            <a:extLst>
              <a:ext uri="{FF2B5EF4-FFF2-40B4-BE49-F238E27FC236}">
                <a16:creationId xmlns:a16="http://schemas.microsoft.com/office/drawing/2014/main" id="{DC628EA5-5145-41A9-AB97-75242BEBDF74}"/>
              </a:ext>
            </a:extLst>
          </p:cNvPr>
          <p:cNvSpPr>
            <a:spLocks noGrp="1"/>
          </p:cNvSpPr>
          <p:nvPr/>
        </p:nvSpPr>
        <p:spPr>
          <a:xfrm>
            <a:off x="1047750" y="3048000"/>
            <a:ext cx="3143250" cy="47625"/>
          </a:xfrm>
          <a:prstGeom prst="rect">
            <a:avLst/>
          </a:prstGeom>
          <a:solidFill>
            <a:srgbClr val="1F3B6D"/>
          </a:solidFill>
          <a:ln w="0">
            <a:solidFill>
              <a:srgbClr val="1F3B6D"/>
            </a:solidFill>
            <a:prstDash val="solid"/>
          </a:ln>
        </p:spPr>
        <p:txBody>
          <a:bodyPr/>
          <a:lstStyle/>
          <a:p>
            <a:endParaRPr lang="zh-CN" altLang="en-US"/>
          </a:p>
        </p:txBody>
      </p:sp>
      <p:sp>
        <p:nvSpPr>
          <p:cNvPr id="6" name="break-prompt">
            <a:extLst>
              <a:ext uri="{FF2B5EF4-FFF2-40B4-BE49-F238E27FC236}">
                <a16:creationId xmlns:a16="http://schemas.microsoft.com/office/drawing/2014/main" id="{082ADECF-88F4-4A36-B0E3-53FA0BD93242}"/>
              </a:ext>
            </a:extLst>
          </p:cNvPr>
          <p:cNvSpPr>
            <a:spLocks noGrp="1"/>
          </p:cNvSpPr>
          <p:nvPr/>
        </p:nvSpPr>
        <p:spPr>
          <a:xfrm>
            <a:off x="1047750" y="3476625"/>
            <a:ext cx="9429750" cy="952500"/>
          </a:xfrm>
          <a:prstGeom prst="rect">
            <a:avLst/>
          </a:prstGeom>
          <a:noFill/>
          <a:ln w="0">
            <a:noFill/>
            <a:prstDash val="solid"/>
          </a:ln>
        </p:spPr>
        <p:txBody>
          <a:bodyPr/>
          <a:lstStyle/>
          <a:p>
            <a:pPr>
              <a:defRPr sz="1875" i="1">
                <a:solidFill>
                  <a:srgbClr val="5B6670"/>
                </a:solidFill>
              </a:defRPr>
            </a:pPr>
            <a:r>
              <a:rPr sz="1875" i="1">
                <a:solidFill>
                  <a:srgbClr val="5B6670"/>
                </a:solidFill>
              </a:rPr>
              <a:t>Return question: Where in the AI lifecycle would you intervene first—and why?</a:t>
            </a:r>
          </a:p>
        </p:txBody>
      </p:sp>
      <p:sp>
        <p:nvSpPr>
          <p:cNvPr id="7" name="break-time">
            <a:extLst>
              <a:ext uri="{FF2B5EF4-FFF2-40B4-BE49-F238E27FC236}">
                <a16:creationId xmlns:a16="http://schemas.microsoft.com/office/drawing/2014/main" id="{6072F6AB-199F-4DE3-91DB-A1231A06F8D2}"/>
              </a:ext>
            </a:extLst>
          </p:cNvPr>
          <p:cNvSpPr>
            <a:spLocks noGrp="1"/>
          </p:cNvSpPr>
          <p:nvPr/>
        </p:nvSpPr>
        <p:spPr>
          <a:xfrm>
            <a:off x="8858250" y="4953000"/>
            <a:ext cx="2286000" cy="666750"/>
          </a:xfrm>
          <a:prstGeom prst="roundRect">
            <a:avLst>
              <a:gd name="adj" fmla="val 11429"/>
            </a:avLst>
          </a:prstGeom>
          <a:solidFill>
            <a:srgbClr val="EAF3FB"/>
          </a:solidFill>
          <a:ln w="9525">
            <a:solidFill>
              <a:srgbClr val="B9D7EF"/>
            </a:solidFill>
            <a:prstDash val="solid"/>
          </a:ln>
        </p:spPr>
        <p:txBody>
          <a:bodyPr anchor="ctr"/>
          <a:lstStyle/>
          <a:p>
            <a:pPr algn="ctr">
              <a:defRPr sz="1650" b="1">
                <a:solidFill>
                  <a:srgbClr val="2D78B9"/>
                </a:solidFill>
              </a:defRPr>
            </a:pPr>
            <a:r>
              <a:rPr sz="1650" b="1">
                <a:solidFill>
                  <a:srgbClr val="2D78B9"/>
                </a:solidFill>
              </a:rPr>
              <a:t>15–20 MINUTES</a:t>
            </a:r>
          </a:p>
        </p:txBody>
      </p:sp>
      <p:sp>
        <p:nvSpPr>
          <p:cNvPr id="8" name="v2-footer">
            <a:extLst>
              <a:ext uri="{FF2B5EF4-FFF2-40B4-BE49-F238E27FC236}">
                <a16:creationId xmlns:a16="http://schemas.microsoft.com/office/drawing/2014/main" id="{CCB4A65B-66D4-40EA-9CE4-D64BB44F86D4}"/>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sp>
        <p:nvSpPr>
          <p:cNvPr id="9" name="v2-page-mask-29">
            <a:extLst>
              <a:ext uri="{FF2B5EF4-FFF2-40B4-BE49-F238E27FC236}">
                <a16:creationId xmlns:a16="http://schemas.microsoft.com/office/drawing/2014/main" id="{271218E9-1C61-46B4-8A84-3A02896EE121}"/>
              </a:ext>
            </a:extLst>
          </p:cNvPr>
          <p:cNvSpPr>
            <a:spLocks noGrp="1"/>
          </p:cNvSpPr>
          <p:nvPr/>
        </p:nvSpPr>
        <p:spPr>
          <a:xfrm>
            <a:off x="11049000" y="6267450"/>
            <a:ext cx="904875" cy="457200"/>
          </a:xfrm>
          <a:prstGeom prst="rect">
            <a:avLst/>
          </a:prstGeom>
          <a:solidFill>
            <a:srgbClr val="F7FAFD"/>
          </a:solidFill>
          <a:ln w="0">
            <a:solidFill>
              <a:srgbClr val="F7FAFD"/>
            </a:solidFill>
            <a:prstDash val="solid"/>
          </a:ln>
        </p:spPr>
        <p:txBody>
          <a:bodyPr/>
          <a:lstStyle/>
          <a:p>
            <a:endParaRPr lang="zh-CN" altLang="en-US"/>
          </a:p>
        </p:txBody>
      </p:sp>
      <p:sp>
        <p:nvSpPr>
          <p:cNvPr id="10" name="v2-page-29">
            <a:extLst>
              <a:ext uri="{FF2B5EF4-FFF2-40B4-BE49-F238E27FC236}">
                <a16:creationId xmlns:a16="http://schemas.microsoft.com/office/drawing/2014/main" id="{71E731D9-593C-42C0-9DE4-706987CFD9DA}"/>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29</a:t>
            </a:r>
          </a:p>
        </p:txBody>
      </p:sp>
    </p:spTree>
    <p:extLst>
      <p:ext uri="{BB962C8B-B14F-4D97-AF65-F5344CB8AC3E}">
        <p14:creationId xmlns:p14="http://schemas.microsoft.com/office/powerpoint/2010/main" val="151256307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4115C0-24A5-4510-91CE-661D07D895CB}"/>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BF242CE4-AFC9-4955-84F6-403F05C164B4}"/>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CEED9AD-ECF9-4323-AB9A-8651F25D9E2A}"/>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What is Ethics?</a:t>
            </a:r>
          </a:p>
        </p:txBody>
      </p:sp>
      <p:sp>
        <p:nvSpPr>
          <p:cNvPr id="5" name="Rectangle 4">
            <a:extLst>
              <a:ext uri="{FF2B5EF4-FFF2-40B4-BE49-F238E27FC236}">
                <a16:creationId xmlns:a16="http://schemas.microsoft.com/office/drawing/2014/main" id="{7B64AC83-632D-4FF1-9DED-086477706C20}"/>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B7648194-6F30-4CD1-A701-A5EB63F12A52}"/>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4EEACB4B-4430-4A3A-81EA-09280F50EE09}"/>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24</a:t>
            </a:r>
          </a:p>
        </p:txBody>
      </p:sp>
      <p:sp>
        <p:nvSpPr>
          <p:cNvPr id="8" name="TextBox 7">
            <a:extLst>
              <a:ext uri="{FF2B5EF4-FFF2-40B4-BE49-F238E27FC236}">
                <a16:creationId xmlns:a16="http://schemas.microsoft.com/office/drawing/2014/main" id="{9ECD9D78-F4EB-4E81-BE74-8EA2D56A01CB}"/>
              </a:ext>
            </a:extLst>
          </p:cNvPr>
          <p:cNvSpPr>
            <a:spLocks noGrp="1"/>
          </p:cNvSpPr>
          <p:nvPr/>
        </p:nvSpPr>
        <p:spPr>
          <a:xfrm>
            <a:off x="896112" y="150876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1" i="0" u="none">
                <a:solidFill>
                  <a:srgbClr val="1F3864"/>
                </a:solidFill>
                <a:latin typeface="Calibri"/>
                <a:ea typeface="Calibri"/>
                <a:cs typeface="Calibri"/>
              </a:rPr>
              <a:t>Ethics: </a:t>
            </a:r>
            <a:r>
              <a:rPr sz="1700" b="0" i="0" u="none">
                <a:solidFill>
                  <a:srgbClr val="262626"/>
                </a:solidFill>
                <a:latin typeface="Calibri"/>
                <a:ea typeface="Calibri"/>
                <a:cs typeface="Calibri"/>
              </a:rPr>
              <a:t>systematic reflection on what is </a:t>
            </a:r>
            <a:r>
              <a:rPr sz="1700" b="1" i="0" u="sng">
                <a:solidFill>
                  <a:srgbClr val="262626"/>
                </a:solidFill>
                <a:latin typeface="Calibri"/>
                <a:ea typeface="Calibri"/>
                <a:cs typeface="Calibri"/>
              </a:rPr>
              <a:t>right/good and why</a:t>
            </a:r>
            <a:r>
              <a:rPr sz="1700" b="0" i="0" u="none">
                <a:solidFill>
                  <a:srgbClr val="262626"/>
                </a:solidFill>
                <a:latin typeface="Calibri"/>
                <a:ea typeface="Calibri"/>
                <a:cs typeface="Calibri"/>
              </a:rPr>
              <a:t>.</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Morality = the beliefs and standards people actually hold; </a:t>
            </a:r>
            <a:r>
              <a:rPr sz="1600" b="1" i="0" u="none">
                <a:solidFill>
                  <a:srgbClr val="262626"/>
                </a:solidFill>
                <a:latin typeface="Calibri"/>
                <a:ea typeface="Calibri"/>
                <a:cs typeface="Calibri"/>
              </a:rPr>
              <a:t>ethics = the reasoned study of them.</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Law = the enforceable </a:t>
            </a:r>
            <a:r>
              <a:rPr sz="1600" b="1" i="0" u="sng">
                <a:solidFill>
                  <a:srgbClr val="262626"/>
                </a:solidFill>
                <a:latin typeface="Calibri"/>
                <a:ea typeface="Calibri"/>
                <a:cs typeface="Calibri"/>
              </a:rPr>
              <a:t>minimum floor</a:t>
            </a:r>
            <a:r>
              <a:rPr sz="1600" b="0" i="0" u="none">
                <a:solidFill>
                  <a:srgbClr val="262626"/>
                </a:solidFill>
                <a:latin typeface="Calibri"/>
                <a:ea typeface="Calibri"/>
                <a:cs typeface="Calibri"/>
              </a:rPr>
              <a:t>; ethics may demand more, or forbid what law allows.</a:t>
            </a:r>
          </a:p>
          <a:p>
            <a:pPr marL="285750" indent="-285750" algn="l">
              <a:lnSpc>
                <a:spcPct val="116000"/>
              </a:lnSpc>
              <a:spcBef>
                <a:spcPts val="400"/>
              </a:spcBef>
              <a:spcAft>
                <a:spcPts val="700"/>
              </a:spcAft>
              <a:buClr>
                <a:srgbClr val="2E75B6"/>
              </a:buClr>
              <a:buSzPct val="100000"/>
              <a:buFont typeface="Arial"/>
              <a:buChar char="•"/>
            </a:pPr>
            <a:r>
              <a:rPr sz="1600" b="1" i="0" u="none">
                <a:solidFill>
                  <a:srgbClr val="1F3864"/>
                </a:solidFill>
                <a:latin typeface="Calibri"/>
                <a:ea typeface="Calibri"/>
                <a:cs typeface="Calibri"/>
              </a:rPr>
              <a:t>Descriptive ethics: </a:t>
            </a:r>
            <a:r>
              <a:rPr sz="1600" b="0" i="0" u="none">
                <a:solidFill>
                  <a:srgbClr val="262626"/>
                </a:solidFill>
                <a:latin typeface="Calibri"/>
                <a:ea typeface="Calibri"/>
                <a:cs typeface="Calibri"/>
              </a:rPr>
              <a:t>what people believe.</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Normative ethics: </a:t>
            </a:r>
            <a:r>
              <a:rPr sz="1600" b="0" i="0" u="none">
                <a:solidFill>
                  <a:srgbClr val="262626"/>
                </a:solidFill>
                <a:latin typeface="Calibri"/>
                <a:ea typeface="Calibri"/>
                <a:cs typeface="Calibri"/>
              </a:rPr>
              <a:t>what they </a:t>
            </a:r>
            <a:r>
              <a:rPr sz="1600" b="0" i="0" u="sng">
                <a:solidFill>
                  <a:srgbClr val="262626"/>
                </a:solidFill>
                <a:latin typeface="Calibri"/>
                <a:ea typeface="Calibri"/>
                <a:cs typeface="Calibri"/>
              </a:rPr>
              <a:t>ought</a:t>
            </a:r>
            <a:r>
              <a:rPr sz="1600" b="0" i="0" u="none">
                <a:solidFill>
                  <a:srgbClr val="262626"/>
                </a:solidFill>
                <a:latin typeface="Calibri"/>
                <a:ea typeface="Calibri"/>
                <a:cs typeface="Calibri"/>
              </a:rPr>
              <a:t> to do.</a:t>
            </a:r>
          </a:p>
        </p:txBody>
      </p:sp>
      <p:sp>
        <p:nvSpPr>
          <p:cNvPr id="9" name="expanded-arrow-24-1">
            <a:extLst>
              <a:ext uri="{FF2B5EF4-FFF2-40B4-BE49-F238E27FC236}">
                <a16:creationId xmlns:a16="http://schemas.microsoft.com/office/drawing/2014/main" id="{3BA3CAB5-33F6-4244-93E1-4DBBE0FE81E4}"/>
              </a:ext>
            </a:extLst>
          </p:cNvPr>
          <p:cNvSpPr>
            <a:spLocks noGrp="1"/>
          </p:cNvSpPr>
          <p:nvPr/>
        </p:nvSpPr>
        <p:spPr>
          <a:xfrm>
            <a:off x="4772025" y="4652963"/>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24-2">
            <a:extLst>
              <a:ext uri="{FF2B5EF4-FFF2-40B4-BE49-F238E27FC236}">
                <a16:creationId xmlns:a16="http://schemas.microsoft.com/office/drawing/2014/main" id="{2306E956-E10A-418D-B388-DF8A8702D489}"/>
              </a:ext>
            </a:extLst>
          </p:cNvPr>
          <p:cNvSpPr>
            <a:spLocks noGrp="1"/>
          </p:cNvSpPr>
          <p:nvPr/>
        </p:nvSpPr>
        <p:spPr>
          <a:xfrm>
            <a:off x="7153275"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node-24-1">
            <a:extLst>
              <a:ext uri="{FF2B5EF4-FFF2-40B4-BE49-F238E27FC236}">
                <a16:creationId xmlns:a16="http://schemas.microsoft.com/office/drawing/2014/main" id="{240A2219-3596-4443-9726-AE5CD8226BD0}"/>
              </a:ext>
            </a:extLst>
          </p:cNvPr>
          <p:cNvSpPr>
            <a:spLocks noGrp="1"/>
          </p:cNvSpPr>
          <p:nvPr/>
        </p:nvSpPr>
        <p:spPr>
          <a:xfrm>
            <a:off x="26193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LAW</a:t>
            </a:r>
          </a:p>
        </p:txBody>
      </p:sp>
      <p:sp>
        <p:nvSpPr>
          <p:cNvPr id="12" name="expanded-node-24-2">
            <a:extLst>
              <a:ext uri="{FF2B5EF4-FFF2-40B4-BE49-F238E27FC236}">
                <a16:creationId xmlns:a16="http://schemas.microsoft.com/office/drawing/2014/main" id="{F4EA8B9C-007A-48BA-BF6C-5A83ED7DDC68}"/>
              </a:ext>
            </a:extLst>
          </p:cNvPr>
          <p:cNvSpPr>
            <a:spLocks noGrp="1"/>
          </p:cNvSpPr>
          <p:nvPr/>
        </p:nvSpPr>
        <p:spPr>
          <a:xfrm>
            <a:off x="5000625"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MORALITY</a:t>
            </a:r>
          </a:p>
        </p:txBody>
      </p:sp>
      <p:sp>
        <p:nvSpPr>
          <p:cNvPr id="13" name="expanded-node-24-3">
            <a:extLst>
              <a:ext uri="{FF2B5EF4-FFF2-40B4-BE49-F238E27FC236}">
                <a16:creationId xmlns:a16="http://schemas.microsoft.com/office/drawing/2014/main" id="{AECB616E-0FF2-4394-B435-C3A6C2520071}"/>
              </a:ext>
            </a:extLst>
          </p:cNvPr>
          <p:cNvSpPr>
            <a:spLocks noGrp="1"/>
          </p:cNvSpPr>
          <p:nvPr/>
        </p:nvSpPr>
        <p:spPr>
          <a:xfrm>
            <a:off x="73818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ETHICS</a:t>
            </a:r>
          </a:p>
        </p:txBody>
      </p:sp>
      <p:sp>
        <p:nvSpPr>
          <p:cNvPr id="14" name="expanded-takeaway-24">
            <a:extLst>
              <a:ext uri="{FF2B5EF4-FFF2-40B4-BE49-F238E27FC236}">
                <a16:creationId xmlns:a16="http://schemas.microsoft.com/office/drawing/2014/main" id="{F3F96379-2DCD-4653-A7D0-83FE25E4592F}"/>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Law asks what is permitted; ethics asks what is justified and why, including when law is silent.</a:t>
            </a:r>
          </a:p>
        </p:txBody>
      </p:sp>
      <p:sp>
        <p:nvSpPr>
          <p:cNvPr id="15" name="v2-page-mask-30">
            <a:extLst>
              <a:ext uri="{FF2B5EF4-FFF2-40B4-BE49-F238E27FC236}">
                <a16:creationId xmlns:a16="http://schemas.microsoft.com/office/drawing/2014/main" id="{65C1FE07-1FEE-450A-9095-4FECFE1D0606}"/>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6" name="v2-page-30">
            <a:extLst>
              <a:ext uri="{FF2B5EF4-FFF2-40B4-BE49-F238E27FC236}">
                <a16:creationId xmlns:a16="http://schemas.microsoft.com/office/drawing/2014/main" id="{85740BC4-444C-49B2-BAC1-2E6E0D8EEABA}"/>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30</a:t>
            </a:r>
          </a:p>
        </p:txBody>
      </p:sp>
    </p:spTree>
    <p:extLst>
      <p:ext uri="{BB962C8B-B14F-4D97-AF65-F5344CB8AC3E}">
        <p14:creationId xmlns:p14="http://schemas.microsoft.com/office/powerpoint/2010/main" val="2431291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D598146-3CAD-4634-AFB9-DDE5CEF917B2}"/>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692857CA-1B61-4196-A6B4-9B54148BF22A}"/>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EB52D56-2DA7-4CF6-B9F1-451A18FAC4B6}"/>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Why Ethics for Technology?</a:t>
            </a:r>
          </a:p>
        </p:txBody>
      </p:sp>
      <p:sp>
        <p:nvSpPr>
          <p:cNvPr id="5" name="Rectangle 4">
            <a:extLst>
              <a:ext uri="{FF2B5EF4-FFF2-40B4-BE49-F238E27FC236}">
                <a16:creationId xmlns:a16="http://schemas.microsoft.com/office/drawing/2014/main" id="{6FAC9478-98B9-4AB4-8CBF-5422B971D2DE}"/>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85B1554-F63C-42C4-BE98-DBADD50DFD90}"/>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Technology is never neutral.</a:t>
            </a:r>
          </a:p>
        </p:txBody>
      </p:sp>
      <p:sp>
        <p:nvSpPr>
          <p:cNvPr id="7" name="TextBox 6">
            <a:extLst>
              <a:ext uri="{FF2B5EF4-FFF2-40B4-BE49-F238E27FC236}">
                <a16:creationId xmlns:a16="http://schemas.microsoft.com/office/drawing/2014/main" id="{DE93437C-5E09-486B-92B5-5B23A0BC011D}"/>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B680C124-04CA-40CB-8C82-76611AD26634}"/>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25</a:t>
            </a:r>
          </a:p>
        </p:txBody>
      </p:sp>
      <p:sp>
        <p:nvSpPr>
          <p:cNvPr id="9" name="TextBox 8">
            <a:extLst>
              <a:ext uri="{FF2B5EF4-FFF2-40B4-BE49-F238E27FC236}">
                <a16:creationId xmlns:a16="http://schemas.microsoft.com/office/drawing/2014/main" id="{16AA2140-3919-4012-81F6-F507AB3C4CA0}"/>
              </a:ext>
            </a:extLst>
          </p:cNvPr>
          <p:cNvSpPr>
            <a:spLocks noGrp="1"/>
          </p:cNvSpPr>
          <p:nvPr/>
        </p:nvSpPr>
        <p:spPr>
          <a:xfrm>
            <a:off x="896112" y="155448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“Tools shape how we perceive and act” — the </a:t>
            </a:r>
            <a:r>
              <a:rPr sz="1700" b="1" i="0" u="sng">
                <a:solidFill>
                  <a:srgbClr val="262626"/>
                </a:solidFill>
                <a:latin typeface="Calibri"/>
                <a:ea typeface="Calibri"/>
                <a:cs typeface="Calibri"/>
              </a:rPr>
              <a:t>mediation thesis</a:t>
            </a:r>
            <a:r>
              <a:rPr sz="1700" b="0" i="0" u="none">
                <a:solidFill>
                  <a:srgbClr val="262626"/>
                </a:solidFill>
                <a:latin typeface="Calibri"/>
                <a:ea typeface="Calibri"/>
                <a:cs typeface="Calibri"/>
              </a:rPr>
              <a:t> (Coeckelbergh).</a:t>
            </a:r>
          </a:p>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Every design choice </a:t>
            </a:r>
            <a:r>
              <a:rPr sz="1700" b="1" i="0" u="sng">
                <a:solidFill>
                  <a:srgbClr val="262626"/>
                </a:solidFill>
                <a:latin typeface="Calibri"/>
                <a:ea typeface="Calibri"/>
                <a:cs typeface="Calibri"/>
              </a:rPr>
              <a:t>embodies values</a:t>
            </a:r>
            <a:r>
              <a:rPr sz="1700" b="0" i="0" u="none">
                <a:solidFill>
                  <a:srgbClr val="262626"/>
                </a:solidFill>
                <a:latin typeface="Calibri"/>
                <a:ea typeface="Calibri"/>
                <a:cs typeface="Calibri"/>
              </a:rPr>
              <a:t> — what is optimized, whose interests count.</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A news feed optimizes engagement; a risk model optimizes a proxy for risk.</a:t>
            </a:r>
          </a:p>
          <a:p>
            <a:pPr marL="285750" indent="-285750" algn="l">
              <a:lnSpc>
                <a:spcPct val="116000"/>
              </a:lnSpc>
              <a:spcBef>
                <a:spcPts val="400"/>
              </a:spcBef>
              <a:spcAft>
                <a:spcPts val="700"/>
              </a:spcAft>
              <a:buClr>
                <a:srgbClr val="2E75B6"/>
              </a:buClr>
              <a:buSzPct val="100000"/>
              <a:buFont typeface="Arial"/>
              <a:buChar char="•"/>
            </a:pPr>
            <a:r>
              <a:rPr sz="1700" b="0" i="0" u="none">
                <a:solidFill>
                  <a:srgbClr val="262626"/>
                </a:solidFill>
                <a:latin typeface="Calibri"/>
                <a:ea typeface="Calibri"/>
                <a:cs typeface="Calibri"/>
              </a:rPr>
              <a:t>So ethics must be </a:t>
            </a:r>
            <a:r>
              <a:rPr sz="1700" b="1" i="0" u="sng">
                <a:solidFill>
                  <a:srgbClr val="262626"/>
                </a:solidFill>
                <a:latin typeface="Calibri"/>
                <a:ea typeface="Calibri"/>
                <a:cs typeface="Calibri"/>
              </a:rPr>
              <a:t>by design</a:t>
            </a:r>
            <a:r>
              <a:rPr sz="1700" b="0" i="0" u="none">
                <a:solidFill>
                  <a:srgbClr val="262626"/>
                </a:solidFill>
                <a:latin typeface="Calibri"/>
                <a:ea typeface="Calibri"/>
                <a:cs typeface="Calibri"/>
              </a:rPr>
              <a:t>, not bolted on after the harm.</a:t>
            </a:r>
          </a:p>
        </p:txBody>
      </p:sp>
      <p:sp>
        <p:nvSpPr>
          <p:cNvPr id="10" name="expanded-arrow-25-1">
            <a:extLst>
              <a:ext uri="{FF2B5EF4-FFF2-40B4-BE49-F238E27FC236}">
                <a16:creationId xmlns:a16="http://schemas.microsoft.com/office/drawing/2014/main" id="{BE8D3D32-B15C-4DF9-ABCF-CFE8C073450C}"/>
              </a:ext>
            </a:extLst>
          </p:cNvPr>
          <p:cNvSpPr>
            <a:spLocks noGrp="1"/>
          </p:cNvSpPr>
          <p:nvPr/>
        </p:nvSpPr>
        <p:spPr>
          <a:xfrm>
            <a:off x="3581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25-2">
            <a:extLst>
              <a:ext uri="{FF2B5EF4-FFF2-40B4-BE49-F238E27FC236}">
                <a16:creationId xmlns:a16="http://schemas.microsoft.com/office/drawing/2014/main" id="{131166A9-83E1-4209-8880-15A14AB0B843}"/>
              </a:ext>
            </a:extLst>
          </p:cNvPr>
          <p:cNvSpPr>
            <a:spLocks noGrp="1"/>
          </p:cNvSpPr>
          <p:nvPr/>
        </p:nvSpPr>
        <p:spPr>
          <a:xfrm>
            <a:off x="5962650"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25-3">
            <a:extLst>
              <a:ext uri="{FF2B5EF4-FFF2-40B4-BE49-F238E27FC236}">
                <a16:creationId xmlns:a16="http://schemas.microsoft.com/office/drawing/2014/main" id="{6E358F74-09D8-49F8-AACA-5EA50D7E873D}"/>
              </a:ext>
            </a:extLst>
          </p:cNvPr>
          <p:cNvSpPr>
            <a:spLocks noGrp="1"/>
          </p:cNvSpPr>
          <p:nvPr/>
        </p:nvSpPr>
        <p:spPr>
          <a:xfrm>
            <a:off x="8343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25-1">
            <a:extLst>
              <a:ext uri="{FF2B5EF4-FFF2-40B4-BE49-F238E27FC236}">
                <a16:creationId xmlns:a16="http://schemas.microsoft.com/office/drawing/2014/main" id="{704DD0DE-418F-48B2-8D27-E1263D248746}"/>
              </a:ext>
            </a:extLst>
          </p:cNvPr>
          <p:cNvSpPr>
            <a:spLocks noGrp="1"/>
          </p:cNvSpPr>
          <p:nvPr/>
        </p:nvSpPr>
        <p:spPr>
          <a:xfrm>
            <a:off x="14287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OBJECTIVE</a:t>
            </a:r>
          </a:p>
        </p:txBody>
      </p:sp>
      <p:sp>
        <p:nvSpPr>
          <p:cNvPr id="14" name="expanded-node-25-2">
            <a:extLst>
              <a:ext uri="{FF2B5EF4-FFF2-40B4-BE49-F238E27FC236}">
                <a16:creationId xmlns:a16="http://schemas.microsoft.com/office/drawing/2014/main" id="{F44BE701-23E5-487C-8223-6B9B3A6C7C9F}"/>
              </a:ext>
            </a:extLst>
          </p:cNvPr>
          <p:cNvSpPr>
            <a:spLocks noGrp="1"/>
          </p:cNvSpPr>
          <p:nvPr/>
        </p:nvSpPr>
        <p:spPr>
          <a:xfrm>
            <a:off x="38100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DESIGN CHOICE</a:t>
            </a:r>
          </a:p>
        </p:txBody>
      </p:sp>
      <p:sp>
        <p:nvSpPr>
          <p:cNvPr id="15" name="expanded-node-25-3">
            <a:extLst>
              <a:ext uri="{FF2B5EF4-FFF2-40B4-BE49-F238E27FC236}">
                <a16:creationId xmlns:a16="http://schemas.microsoft.com/office/drawing/2014/main" id="{7E9BD78F-6562-4AA2-8ED8-B9658AFBD791}"/>
              </a:ext>
            </a:extLst>
          </p:cNvPr>
          <p:cNvSpPr>
            <a:spLocks noGrp="1"/>
          </p:cNvSpPr>
          <p:nvPr/>
        </p:nvSpPr>
        <p:spPr>
          <a:xfrm>
            <a:off x="61912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BEHAVIOR</a:t>
            </a:r>
          </a:p>
        </p:txBody>
      </p:sp>
      <p:sp>
        <p:nvSpPr>
          <p:cNvPr id="16" name="expanded-node-25-4">
            <a:extLst>
              <a:ext uri="{FF2B5EF4-FFF2-40B4-BE49-F238E27FC236}">
                <a16:creationId xmlns:a16="http://schemas.microsoft.com/office/drawing/2014/main" id="{A6C45669-FCE0-49E9-8EBA-C0A2205A9181}"/>
              </a:ext>
            </a:extLst>
          </p:cNvPr>
          <p:cNvSpPr>
            <a:spLocks noGrp="1"/>
          </p:cNvSpPr>
          <p:nvPr/>
        </p:nvSpPr>
        <p:spPr>
          <a:xfrm>
            <a:off x="85725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OUTCOME</a:t>
            </a:r>
          </a:p>
        </p:txBody>
      </p:sp>
      <p:sp>
        <p:nvSpPr>
          <p:cNvPr id="17" name="expanded-takeaway-25">
            <a:extLst>
              <a:ext uri="{FF2B5EF4-FFF2-40B4-BE49-F238E27FC236}">
                <a16:creationId xmlns:a16="http://schemas.microsoft.com/office/drawing/2014/main" id="{49F0C930-F56E-4F54-886B-B60C5B7A92C6}"/>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Technology is not neutral because every objective, interface, and default privileges some values over others.</a:t>
            </a:r>
          </a:p>
        </p:txBody>
      </p:sp>
      <p:sp>
        <p:nvSpPr>
          <p:cNvPr id="18" name="v2-page-mask-31">
            <a:extLst>
              <a:ext uri="{FF2B5EF4-FFF2-40B4-BE49-F238E27FC236}">
                <a16:creationId xmlns:a16="http://schemas.microsoft.com/office/drawing/2014/main" id="{09457F2C-3A21-441F-BA5D-862509EE546D}"/>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31">
            <a:extLst>
              <a:ext uri="{FF2B5EF4-FFF2-40B4-BE49-F238E27FC236}">
                <a16:creationId xmlns:a16="http://schemas.microsoft.com/office/drawing/2014/main" id="{8CE5C930-B9AB-4F50-8A08-0927B6322F84}"/>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31</a:t>
            </a:r>
          </a:p>
        </p:txBody>
      </p:sp>
    </p:spTree>
    <p:extLst>
      <p:ext uri="{BB962C8B-B14F-4D97-AF65-F5344CB8AC3E}">
        <p14:creationId xmlns:p14="http://schemas.microsoft.com/office/powerpoint/2010/main" val="2584697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8715325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C15F14A-8ADD-46C6-AE9F-EAC8711C7360}"/>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08F9D6AC-4828-4531-A3DE-B7077658F677}"/>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FA2AE1A-9189-4A8E-A3BB-2CBAB23E2460}"/>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Ethical Lens 1: Consequentialism / Utilitarianism</a:t>
            </a:r>
          </a:p>
        </p:txBody>
      </p:sp>
      <p:sp>
        <p:nvSpPr>
          <p:cNvPr id="5" name="Rectangle 4">
            <a:extLst>
              <a:ext uri="{FF2B5EF4-FFF2-40B4-BE49-F238E27FC236}">
                <a16:creationId xmlns:a16="http://schemas.microsoft.com/office/drawing/2014/main" id="{3B2B62DE-01A7-4BF1-94B6-379A903F9139}"/>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067A557-E0CB-493D-B0D5-BEB1615E8DC3}"/>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560ADCCE-6629-4DC2-BCD0-69CDF9B638AB}"/>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26</a:t>
            </a:r>
          </a:p>
        </p:txBody>
      </p:sp>
      <p:sp>
        <p:nvSpPr>
          <p:cNvPr id="8" name="TextBox 7">
            <a:extLst>
              <a:ext uri="{FF2B5EF4-FFF2-40B4-BE49-F238E27FC236}">
                <a16:creationId xmlns:a16="http://schemas.microsoft.com/office/drawing/2014/main" id="{B46FE063-A522-4F08-9056-8A97B1DDC1F4}"/>
              </a:ext>
            </a:extLst>
          </p:cNvPr>
          <p:cNvSpPr>
            <a:spLocks noGrp="1"/>
          </p:cNvSpPr>
          <p:nvPr/>
        </p:nvSpPr>
        <p:spPr>
          <a:xfrm>
            <a:off x="896112" y="150876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Judge acts by their </a:t>
            </a:r>
            <a:r>
              <a:rPr sz="1700" b="1" i="0" u="sng">
                <a:solidFill>
                  <a:srgbClr val="262626"/>
                </a:solidFill>
                <a:latin typeface="Calibri"/>
                <a:ea typeface="Calibri"/>
                <a:cs typeface="Calibri"/>
              </a:rPr>
              <a:t>consequences</a:t>
            </a:r>
            <a:r>
              <a:rPr sz="1700" b="0" i="0" u="none">
                <a:solidFill>
                  <a:srgbClr val="262626"/>
                </a:solidFill>
                <a:latin typeface="Calibri"/>
                <a:ea typeface="Calibri"/>
                <a:cs typeface="Calibri"/>
              </a:rPr>
              <a:t>; maximize overall well-being (Bentham, Mill).</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In AI: optimize a measurable objective — accuracy, profit, safety.</a:t>
            </a:r>
          </a:p>
          <a:p>
            <a:pPr marL="285750" indent="-285750" algn="l">
              <a:lnSpc>
                <a:spcPct val="116000"/>
              </a:lnSpc>
              <a:spcBef>
                <a:spcPts val="400"/>
              </a:spcBef>
              <a:spcAft>
                <a:spcPts val="700"/>
              </a:spcAft>
              <a:buClr>
                <a:srgbClr val="2E75B6"/>
              </a:buClr>
              <a:buSzPct val="100000"/>
              <a:buFont typeface="Arial"/>
              <a:buChar char="•"/>
            </a:pPr>
            <a:r>
              <a:rPr sz="1600" b="1" i="0" u="none">
                <a:solidFill>
                  <a:srgbClr val="1F3864"/>
                </a:solidFill>
                <a:latin typeface="Calibri"/>
                <a:ea typeface="Calibri"/>
                <a:cs typeface="Calibri"/>
              </a:rPr>
              <a:t>Strength: </a:t>
            </a:r>
            <a:r>
              <a:rPr sz="1600" b="0" i="0" u="none">
                <a:solidFill>
                  <a:srgbClr val="262626"/>
                </a:solidFill>
                <a:latin typeface="Calibri"/>
                <a:ea typeface="Calibri"/>
                <a:cs typeface="Calibri"/>
              </a:rPr>
              <a:t>pragmatic; fits cost–benefit reasoning.</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Weakness: </a:t>
            </a:r>
            <a:r>
              <a:rPr sz="1600" b="0" i="0" u="none">
                <a:solidFill>
                  <a:srgbClr val="262626"/>
                </a:solidFill>
                <a:latin typeface="Calibri"/>
                <a:ea typeface="Calibri"/>
                <a:cs typeface="Calibri"/>
              </a:rPr>
              <a:t>“good” is hard to quantify; </a:t>
            </a:r>
            <a:r>
              <a:rPr sz="1600" b="0" i="0" u="sng">
                <a:solidFill>
                  <a:srgbClr val="262626"/>
                </a:solidFill>
                <a:latin typeface="Calibri"/>
                <a:ea typeface="Calibri"/>
                <a:cs typeface="Calibri"/>
              </a:rPr>
              <a:t>minorities can be sacrificed</a:t>
            </a:r>
            <a:r>
              <a:rPr sz="1600" b="0" i="0" u="none">
                <a:solidFill>
                  <a:srgbClr val="262626"/>
                </a:solidFill>
                <a:latin typeface="Calibri"/>
                <a:ea typeface="Calibri"/>
                <a:cs typeface="Calibri"/>
              </a:rPr>
              <a:t> for the average.</a:t>
            </a:r>
          </a:p>
        </p:txBody>
      </p:sp>
      <p:sp>
        <p:nvSpPr>
          <p:cNvPr id="9" name="expanded-arrow-26-1">
            <a:extLst>
              <a:ext uri="{FF2B5EF4-FFF2-40B4-BE49-F238E27FC236}">
                <a16:creationId xmlns:a16="http://schemas.microsoft.com/office/drawing/2014/main" id="{CC640DCF-FBBE-4AAF-97D5-8783E49A7FE1}"/>
              </a:ext>
            </a:extLst>
          </p:cNvPr>
          <p:cNvSpPr>
            <a:spLocks noGrp="1"/>
          </p:cNvSpPr>
          <p:nvPr/>
        </p:nvSpPr>
        <p:spPr>
          <a:xfrm>
            <a:off x="4772025" y="4652963"/>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26-2">
            <a:extLst>
              <a:ext uri="{FF2B5EF4-FFF2-40B4-BE49-F238E27FC236}">
                <a16:creationId xmlns:a16="http://schemas.microsoft.com/office/drawing/2014/main" id="{656E3546-3B5B-47A2-A889-3DB8BF495186}"/>
              </a:ext>
            </a:extLst>
          </p:cNvPr>
          <p:cNvSpPr>
            <a:spLocks noGrp="1"/>
          </p:cNvSpPr>
          <p:nvPr/>
        </p:nvSpPr>
        <p:spPr>
          <a:xfrm>
            <a:off x="7153275"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node-26-1">
            <a:extLst>
              <a:ext uri="{FF2B5EF4-FFF2-40B4-BE49-F238E27FC236}">
                <a16:creationId xmlns:a16="http://schemas.microsoft.com/office/drawing/2014/main" id="{87F1A209-A1F3-42A4-B4A1-26E035A1BE91}"/>
              </a:ext>
            </a:extLst>
          </p:cNvPr>
          <p:cNvSpPr>
            <a:spLocks noGrp="1"/>
          </p:cNvSpPr>
          <p:nvPr/>
        </p:nvSpPr>
        <p:spPr>
          <a:xfrm>
            <a:off x="26193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BENEFITS</a:t>
            </a:r>
          </a:p>
        </p:txBody>
      </p:sp>
      <p:sp>
        <p:nvSpPr>
          <p:cNvPr id="12" name="expanded-node-26-2">
            <a:extLst>
              <a:ext uri="{FF2B5EF4-FFF2-40B4-BE49-F238E27FC236}">
                <a16:creationId xmlns:a16="http://schemas.microsoft.com/office/drawing/2014/main" id="{02C9131C-17FF-46FC-B70B-642FDE5A69FD}"/>
              </a:ext>
            </a:extLst>
          </p:cNvPr>
          <p:cNvSpPr>
            <a:spLocks noGrp="1"/>
          </p:cNvSpPr>
          <p:nvPr/>
        </p:nvSpPr>
        <p:spPr>
          <a:xfrm>
            <a:off x="5000625"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HARMS</a:t>
            </a:r>
          </a:p>
        </p:txBody>
      </p:sp>
      <p:sp>
        <p:nvSpPr>
          <p:cNvPr id="13" name="expanded-node-26-3">
            <a:extLst>
              <a:ext uri="{FF2B5EF4-FFF2-40B4-BE49-F238E27FC236}">
                <a16:creationId xmlns:a16="http://schemas.microsoft.com/office/drawing/2014/main" id="{D58B759A-686D-4D9F-8604-AF0D6EB55F2B}"/>
              </a:ext>
            </a:extLst>
          </p:cNvPr>
          <p:cNvSpPr>
            <a:spLocks noGrp="1"/>
          </p:cNvSpPr>
          <p:nvPr/>
        </p:nvSpPr>
        <p:spPr>
          <a:xfrm>
            <a:off x="73818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DISTRIBUTION</a:t>
            </a:r>
          </a:p>
        </p:txBody>
      </p:sp>
      <p:sp>
        <p:nvSpPr>
          <p:cNvPr id="14" name="expanded-takeaway-26">
            <a:extLst>
              <a:ext uri="{FF2B5EF4-FFF2-40B4-BE49-F238E27FC236}">
                <a16:creationId xmlns:a16="http://schemas.microsoft.com/office/drawing/2014/main" id="{8DAA8A48-E1A0-454E-A7DB-BCA76CCA2297}"/>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Consequentialism asks whose benefits and harms count, over what time horizon, and under what uncertainty.</a:t>
            </a:r>
          </a:p>
        </p:txBody>
      </p:sp>
      <p:sp>
        <p:nvSpPr>
          <p:cNvPr id="15" name="v2-page-mask-33">
            <a:extLst>
              <a:ext uri="{FF2B5EF4-FFF2-40B4-BE49-F238E27FC236}">
                <a16:creationId xmlns:a16="http://schemas.microsoft.com/office/drawing/2014/main" id="{FFE97D3C-598F-4EC0-8A46-7AEEB62E0146}"/>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6" name="v2-page-33">
            <a:extLst>
              <a:ext uri="{FF2B5EF4-FFF2-40B4-BE49-F238E27FC236}">
                <a16:creationId xmlns:a16="http://schemas.microsoft.com/office/drawing/2014/main" id="{295E2A62-A870-4E43-AD12-341BE00C7B65}"/>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33</a:t>
            </a:r>
          </a:p>
        </p:txBody>
      </p:sp>
    </p:spTree>
    <p:extLst>
      <p:ext uri="{BB962C8B-B14F-4D97-AF65-F5344CB8AC3E}">
        <p14:creationId xmlns:p14="http://schemas.microsoft.com/office/powerpoint/2010/main" val="75898939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E75E6D-4AEF-47F8-8855-D70B7E491355}"/>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75C2DB35-D489-43F1-96AD-EE4567C63D44}"/>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789D2D49-D93A-4DD8-82CA-CAF0FB880AEC}"/>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Ethical Lens 2: Deontology</a:t>
            </a:r>
          </a:p>
        </p:txBody>
      </p:sp>
      <p:sp>
        <p:nvSpPr>
          <p:cNvPr id="5" name="Rectangle 4">
            <a:extLst>
              <a:ext uri="{FF2B5EF4-FFF2-40B4-BE49-F238E27FC236}">
                <a16:creationId xmlns:a16="http://schemas.microsoft.com/office/drawing/2014/main" id="{385DECED-8F01-4133-AEBF-6ADFCB4E3447}"/>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F009E315-99AE-40E2-90F1-31DA669ABB68}"/>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465BE405-2161-478B-B9E2-F2C0CCAA7F74}"/>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27</a:t>
            </a:r>
          </a:p>
        </p:txBody>
      </p:sp>
      <p:sp>
        <p:nvSpPr>
          <p:cNvPr id="8" name="TextBox 7">
            <a:extLst>
              <a:ext uri="{FF2B5EF4-FFF2-40B4-BE49-F238E27FC236}">
                <a16:creationId xmlns:a16="http://schemas.microsoft.com/office/drawing/2014/main" id="{CAC2C6FF-F531-4D6F-8AF7-B5E2FA79A4BA}"/>
              </a:ext>
            </a:extLst>
          </p:cNvPr>
          <p:cNvSpPr>
            <a:spLocks noGrp="1"/>
          </p:cNvSpPr>
          <p:nvPr/>
        </p:nvSpPr>
        <p:spPr>
          <a:xfrm>
            <a:off x="896112" y="150876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Some acts are right/wrong </a:t>
            </a:r>
            <a:r>
              <a:rPr sz="1700" b="1" i="0" u="sng">
                <a:solidFill>
                  <a:srgbClr val="262626"/>
                </a:solidFill>
                <a:latin typeface="Calibri"/>
                <a:ea typeface="Calibri"/>
                <a:cs typeface="Calibri"/>
              </a:rPr>
              <a:t>regardless of outcomes</a:t>
            </a:r>
            <a:r>
              <a:rPr sz="1700" b="0" i="0" u="none">
                <a:solidFill>
                  <a:srgbClr val="262626"/>
                </a:solidFill>
                <a:latin typeface="Calibri"/>
                <a:ea typeface="Calibri"/>
                <a:cs typeface="Calibri"/>
              </a:rPr>
              <a:t> — grounded in duties, rights, consent.</a:t>
            </a:r>
          </a:p>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Kant: treat persons as </a:t>
            </a:r>
            <a:r>
              <a:rPr sz="1700" b="1" i="0" u="sng">
                <a:solidFill>
                  <a:srgbClr val="262626"/>
                </a:solidFill>
                <a:latin typeface="Calibri"/>
                <a:ea typeface="Calibri"/>
                <a:cs typeface="Calibri"/>
              </a:rPr>
              <a:t>ends, not merely means</a:t>
            </a:r>
            <a:r>
              <a:rPr sz="1700" b="0" i="0" u="none">
                <a:solidFill>
                  <a:srgbClr val="262626"/>
                </a:solidFill>
                <a:latin typeface="Calibri"/>
                <a:ea typeface="Calibri"/>
                <a:cs typeface="Calibri"/>
              </a:rPr>
              <a:t>.</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In AI: consent, privacy, and human rights act as constraints on optimization.</a:t>
            </a:r>
          </a:p>
          <a:p>
            <a:pPr marL="285750" indent="-285750" algn="l">
              <a:lnSpc>
                <a:spcPct val="116000"/>
              </a:lnSpc>
              <a:spcBef>
                <a:spcPts val="400"/>
              </a:spcBef>
              <a:spcAft>
                <a:spcPts val="700"/>
              </a:spcAft>
              <a:buClr>
                <a:srgbClr val="2E75B6"/>
              </a:buClr>
              <a:buSzPct val="100000"/>
              <a:buFont typeface="Arial"/>
              <a:buChar char="•"/>
            </a:pPr>
            <a:r>
              <a:rPr sz="1600" b="1" i="0" u="none">
                <a:solidFill>
                  <a:srgbClr val="1F3864"/>
                </a:solidFill>
                <a:latin typeface="Calibri"/>
                <a:ea typeface="Calibri"/>
                <a:cs typeface="Calibri"/>
              </a:rPr>
              <a:t>Strength: </a:t>
            </a:r>
            <a:r>
              <a:rPr sz="1600" b="0" i="0" u="none">
                <a:solidFill>
                  <a:srgbClr val="262626"/>
                </a:solidFill>
                <a:latin typeface="Calibri"/>
                <a:ea typeface="Calibri"/>
                <a:cs typeface="Calibri"/>
              </a:rPr>
              <a:t>protects individuals and minorities.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Weakness: </a:t>
            </a:r>
            <a:r>
              <a:rPr sz="1600" b="0" i="0" u="none">
                <a:solidFill>
                  <a:srgbClr val="262626"/>
                </a:solidFill>
                <a:latin typeface="Calibri"/>
                <a:ea typeface="Calibri"/>
                <a:cs typeface="Calibri"/>
              </a:rPr>
              <a:t>rigid when values genuinely conflict.</a:t>
            </a:r>
          </a:p>
        </p:txBody>
      </p:sp>
      <p:sp>
        <p:nvSpPr>
          <p:cNvPr id="9" name="expanded-arrow-27-1">
            <a:extLst>
              <a:ext uri="{FF2B5EF4-FFF2-40B4-BE49-F238E27FC236}">
                <a16:creationId xmlns:a16="http://schemas.microsoft.com/office/drawing/2014/main" id="{BA321C48-B126-4129-9E58-7D596BCACF58}"/>
              </a:ext>
            </a:extLst>
          </p:cNvPr>
          <p:cNvSpPr>
            <a:spLocks noGrp="1"/>
          </p:cNvSpPr>
          <p:nvPr/>
        </p:nvSpPr>
        <p:spPr>
          <a:xfrm>
            <a:off x="4772025" y="4652963"/>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27-2">
            <a:extLst>
              <a:ext uri="{FF2B5EF4-FFF2-40B4-BE49-F238E27FC236}">
                <a16:creationId xmlns:a16="http://schemas.microsoft.com/office/drawing/2014/main" id="{6F8FF725-21CB-44A5-9635-AE2E89027464}"/>
              </a:ext>
            </a:extLst>
          </p:cNvPr>
          <p:cNvSpPr>
            <a:spLocks noGrp="1"/>
          </p:cNvSpPr>
          <p:nvPr/>
        </p:nvSpPr>
        <p:spPr>
          <a:xfrm>
            <a:off x="7153275"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node-27-1">
            <a:extLst>
              <a:ext uri="{FF2B5EF4-FFF2-40B4-BE49-F238E27FC236}">
                <a16:creationId xmlns:a16="http://schemas.microsoft.com/office/drawing/2014/main" id="{77E80A03-2967-40D0-A1D3-FC6D857C0C3A}"/>
              </a:ext>
            </a:extLst>
          </p:cNvPr>
          <p:cNvSpPr>
            <a:spLocks noGrp="1"/>
          </p:cNvSpPr>
          <p:nvPr/>
        </p:nvSpPr>
        <p:spPr>
          <a:xfrm>
            <a:off x="26193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RIGHTS</a:t>
            </a:r>
          </a:p>
        </p:txBody>
      </p:sp>
      <p:sp>
        <p:nvSpPr>
          <p:cNvPr id="12" name="expanded-node-27-2">
            <a:extLst>
              <a:ext uri="{FF2B5EF4-FFF2-40B4-BE49-F238E27FC236}">
                <a16:creationId xmlns:a16="http://schemas.microsoft.com/office/drawing/2014/main" id="{FFDC283C-8BD8-4136-91C0-4AC6DEDDE6E3}"/>
              </a:ext>
            </a:extLst>
          </p:cNvPr>
          <p:cNvSpPr>
            <a:spLocks noGrp="1"/>
          </p:cNvSpPr>
          <p:nvPr/>
        </p:nvSpPr>
        <p:spPr>
          <a:xfrm>
            <a:off x="5000625"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DUTIES</a:t>
            </a:r>
          </a:p>
        </p:txBody>
      </p:sp>
      <p:sp>
        <p:nvSpPr>
          <p:cNvPr id="13" name="expanded-node-27-3">
            <a:extLst>
              <a:ext uri="{FF2B5EF4-FFF2-40B4-BE49-F238E27FC236}">
                <a16:creationId xmlns:a16="http://schemas.microsoft.com/office/drawing/2014/main" id="{6D0D5FC3-DBB6-41A2-82C7-01A31EB5FDEA}"/>
              </a:ext>
            </a:extLst>
          </p:cNvPr>
          <p:cNvSpPr>
            <a:spLocks noGrp="1"/>
          </p:cNvSpPr>
          <p:nvPr/>
        </p:nvSpPr>
        <p:spPr>
          <a:xfrm>
            <a:off x="73818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CONSENT</a:t>
            </a:r>
          </a:p>
        </p:txBody>
      </p:sp>
      <p:sp>
        <p:nvSpPr>
          <p:cNvPr id="14" name="expanded-takeaway-27">
            <a:extLst>
              <a:ext uri="{FF2B5EF4-FFF2-40B4-BE49-F238E27FC236}">
                <a16:creationId xmlns:a16="http://schemas.microsoft.com/office/drawing/2014/main" id="{47ECD5E0-B673-4C7D-A621-310547E55DE0}"/>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A high-performing system can still be wrong if it violates rights, consent, dignity, or due process.</a:t>
            </a:r>
          </a:p>
        </p:txBody>
      </p:sp>
      <p:sp>
        <p:nvSpPr>
          <p:cNvPr id="15" name="v2-page-mask-34">
            <a:extLst>
              <a:ext uri="{FF2B5EF4-FFF2-40B4-BE49-F238E27FC236}">
                <a16:creationId xmlns:a16="http://schemas.microsoft.com/office/drawing/2014/main" id="{C6BF8628-4585-4FFF-B06C-F7475B4F6B1A}"/>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6" name="v2-page-34">
            <a:extLst>
              <a:ext uri="{FF2B5EF4-FFF2-40B4-BE49-F238E27FC236}">
                <a16:creationId xmlns:a16="http://schemas.microsoft.com/office/drawing/2014/main" id="{69E97B46-12BF-4D3B-8D97-D943826DB093}"/>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34</a:t>
            </a:r>
          </a:p>
        </p:txBody>
      </p:sp>
    </p:spTree>
    <p:extLst>
      <p:ext uri="{BB962C8B-B14F-4D97-AF65-F5344CB8AC3E}">
        <p14:creationId xmlns:p14="http://schemas.microsoft.com/office/powerpoint/2010/main" val="200976093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FEEE34-3593-4B0D-AE6D-9B960058FE44}"/>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061D75F5-2CF8-4F15-B1E2-D3AF30E21052}"/>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4C94309-D418-44D6-9286-74E57D7D66D2}"/>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Ethical Lens 3: Virtue &amp; Relational Ethics</a:t>
            </a:r>
          </a:p>
        </p:txBody>
      </p:sp>
      <p:sp>
        <p:nvSpPr>
          <p:cNvPr id="5" name="Rectangle 4">
            <a:extLst>
              <a:ext uri="{FF2B5EF4-FFF2-40B4-BE49-F238E27FC236}">
                <a16:creationId xmlns:a16="http://schemas.microsoft.com/office/drawing/2014/main" id="{AEEA0EDD-0DEC-4413-9884-AE5D26BAE1CD}"/>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C9EA662-4EBD-4F9F-9E9F-5FAEFD73EE7B}"/>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8EDE04B9-7263-4727-98A3-D9FE75B690B6}"/>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28</a:t>
            </a:r>
          </a:p>
        </p:txBody>
      </p:sp>
      <p:sp>
        <p:nvSpPr>
          <p:cNvPr id="8" name="TextBox 7">
            <a:extLst>
              <a:ext uri="{FF2B5EF4-FFF2-40B4-BE49-F238E27FC236}">
                <a16:creationId xmlns:a16="http://schemas.microsoft.com/office/drawing/2014/main" id="{EF3176CA-E3DF-4566-94AA-91D07DAE16AF}"/>
              </a:ext>
            </a:extLst>
          </p:cNvPr>
          <p:cNvSpPr>
            <a:spLocks noGrp="1"/>
          </p:cNvSpPr>
          <p:nvPr/>
        </p:nvSpPr>
        <p:spPr>
          <a:xfrm>
            <a:off x="896112" y="150876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1" i="0" u="none">
                <a:solidFill>
                  <a:srgbClr val="1F3864"/>
                </a:solidFill>
                <a:latin typeface="Calibri"/>
                <a:ea typeface="Calibri"/>
                <a:cs typeface="Calibri"/>
              </a:rPr>
              <a:t>Virtue ethics: </a:t>
            </a:r>
            <a:r>
              <a:rPr sz="1700" b="0" i="0" u="none">
                <a:solidFill>
                  <a:srgbClr val="262626"/>
                </a:solidFill>
                <a:latin typeface="Calibri"/>
                <a:ea typeface="Calibri"/>
                <a:cs typeface="Calibri"/>
              </a:rPr>
              <a:t>not “what act?” but </a:t>
            </a:r>
            <a:r>
              <a:rPr sz="1700" b="1" i="0" u="sng">
                <a:solidFill>
                  <a:srgbClr val="262626"/>
                </a:solidFill>
                <a:latin typeface="Calibri"/>
                <a:ea typeface="Calibri"/>
                <a:cs typeface="Calibri"/>
              </a:rPr>
              <a:t>what kind of agent/designer?</a:t>
            </a:r>
            <a:r>
              <a:rPr sz="1700" b="0" i="0" u="none">
                <a:solidFill>
                  <a:srgbClr val="262626"/>
                </a:solidFill>
                <a:latin typeface="Calibri"/>
                <a:ea typeface="Calibri"/>
                <a:cs typeface="Calibri"/>
              </a:rPr>
              <a:t> (responsibility, humility, care).</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1F3864"/>
                </a:solidFill>
                <a:latin typeface="Calibri"/>
                <a:ea typeface="Calibri"/>
                <a:cs typeface="Calibri"/>
              </a:rPr>
              <a:t>Relational ethics (Coeckelbergh): </a:t>
            </a:r>
            <a:r>
              <a:rPr sz="1700" b="0" i="0" u="none">
                <a:solidFill>
                  <a:srgbClr val="262626"/>
                </a:solidFill>
                <a:latin typeface="Calibri"/>
                <a:ea typeface="Calibri"/>
                <a:cs typeface="Calibri"/>
              </a:rPr>
              <a:t>moral meaning arises in </a:t>
            </a:r>
            <a:r>
              <a:rPr sz="1700" b="1" i="0" u="sng">
                <a:solidFill>
                  <a:srgbClr val="262626"/>
                </a:solidFill>
                <a:latin typeface="Calibri"/>
                <a:ea typeface="Calibri"/>
                <a:cs typeface="Calibri"/>
              </a:rPr>
              <a:t>human–technology relations</a:t>
            </a:r>
            <a:r>
              <a:rPr sz="1700" b="0" i="0" u="none">
                <a:solidFill>
                  <a:srgbClr val="262626"/>
                </a:solidFill>
                <a:latin typeface="Calibri"/>
                <a:ea typeface="Calibri"/>
                <a:cs typeface="Calibri"/>
              </a:rPr>
              <a:t>, not just abstract rules.</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Focus shifts to the </a:t>
            </a:r>
            <a:r>
              <a:rPr sz="1600" b="0" i="0" u="sng">
                <a:solidFill>
                  <a:srgbClr val="262626"/>
                </a:solidFill>
                <a:latin typeface="Calibri"/>
                <a:ea typeface="Calibri"/>
                <a:cs typeface="Calibri"/>
              </a:rPr>
              <a:t>character and relationships</a:t>
            </a:r>
            <a:r>
              <a:rPr sz="1600" b="0" i="0" u="none">
                <a:solidFill>
                  <a:srgbClr val="262626"/>
                </a:solidFill>
                <a:latin typeface="Calibri"/>
                <a:ea typeface="Calibri"/>
                <a:cs typeface="Calibri"/>
              </a:rPr>
              <a:t> behind the technology.</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Especially apt for AI that mediates trust, care, and attention.</a:t>
            </a:r>
          </a:p>
        </p:txBody>
      </p:sp>
      <p:sp>
        <p:nvSpPr>
          <p:cNvPr id="9" name="expanded-arrow-28-1">
            <a:extLst>
              <a:ext uri="{FF2B5EF4-FFF2-40B4-BE49-F238E27FC236}">
                <a16:creationId xmlns:a16="http://schemas.microsoft.com/office/drawing/2014/main" id="{D8C9F655-88AA-4DBD-8B96-26A66D4375CC}"/>
              </a:ext>
            </a:extLst>
          </p:cNvPr>
          <p:cNvSpPr>
            <a:spLocks noGrp="1"/>
          </p:cNvSpPr>
          <p:nvPr/>
        </p:nvSpPr>
        <p:spPr>
          <a:xfrm>
            <a:off x="4772025" y="4652963"/>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28-2">
            <a:extLst>
              <a:ext uri="{FF2B5EF4-FFF2-40B4-BE49-F238E27FC236}">
                <a16:creationId xmlns:a16="http://schemas.microsoft.com/office/drawing/2014/main" id="{754F1CE0-6D94-4CC2-BBD9-D04370306F69}"/>
              </a:ext>
            </a:extLst>
          </p:cNvPr>
          <p:cNvSpPr>
            <a:spLocks noGrp="1"/>
          </p:cNvSpPr>
          <p:nvPr/>
        </p:nvSpPr>
        <p:spPr>
          <a:xfrm>
            <a:off x="7153275"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node-28-1">
            <a:extLst>
              <a:ext uri="{FF2B5EF4-FFF2-40B4-BE49-F238E27FC236}">
                <a16:creationId xmlns:a16="http://schemas.microsoft.com/office/drawing/2014/main" id="{A872D5D5-E3A4-4E8C-9967-6FA2F55931D1}"/>
              </a:ext>
            </a:extLst>
          </p:cNvPr>
          <p:cNvSpPr>
            <a:spLocks noGrp="1"/>
          </p:cNvSpPr>
          <p:nvPr/>
        </p:nvSpPr>
        <p:spPr>
          <a:xfrm>
            <a:off x="26193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CHARACTER</a:t>
            </a:r>
          </a:p>
        </p:txBody>
      </p:sp>
      <p:sp>
        <p:nvSpPr>
          <p:cNvPr id="12" name="expanded-node-28-2">
            <a:extLst>
              <a:ext uri="{FF2B5EF4-FFF2-40B4-BE49-F238E27FC236}">
                <a16:creationId xmlns:a16="http://schemas.microsoft.com/office/drawing/2014/main" id="{5BEE6B39-8FE9-444E-9380-22F90060CC2E}"/>
              </a:ext>
            </a:extLst>
          </p:cNvPr>
          <p:cNvSpPr>
            <a:spLocks noGrp="1"/>
          </p:cNvSpPr>
          <p:nvPr/>
        </p:nvSpPr>
        <p:spPr>
          <a:xfrm>
            <a:off x="5000625"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CARE</a:t>
            </a:r>
          </a:p>
        </p:txBody>
      </p:sp>
      <p:sp>
        <p:nvSpPr>
          <p:cNvPr id="13" name="expanded-node-28-3">
            <a:extLst>
              <a:ext uri="{FF2B5EF4-FFF2-40B4-BE49-F238E27FC236}">
                <a16:creationId xmlns:a16="http://schemas.microsoft.com/office/drawing/2014/main" id="{003D2723-4E13-49CB-B34E-8640034662D3}"/>
              </a:ext>
            </a:extLst>
          </p:cNvPr>
          <p:cNvSpPr>
            <a:spLocks noGrp="1"/>
          </p:cNvSpPr>
          <p:nvPr/>
        </p:nvSpPr>
        <p:spPr>
          <a:xfrm>
            <a:off x="73818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RELATIONSHIPS</a:t>
            </a:r>
          </a:p>
        </p:txBody>
      </p:sp>
      <p:sp>
        <p:nvSpPr>
          <p:cNvPr id="14" name="expanded-takeaway-28">
            <a:extLst>
              <a:ext uri="{FF2B5EF4-FFF2-40B4-BE49-F238E27FC236}">
                <a16:creationId xmlns:a16="http://schemas.microsoft.com/office/drawing/2014/main" id="{6EB6B272-D728-4634-AA22-239D1015FD83}"/>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Virtue and relational ethics shift attention from isolated acts to character, care, dependence, and social context.</a:t>
            </a:r>
          </a:p>
        </p:txBody>
      </p:sp>
      <p:sp>
        <p:nvSpPr>
          <p:cNvPr id="15" name="v2-page-mask-35">
            <a:extLst>
              <a:ext uri="{FF2B5EF4-FFF2-40B4-BE49-F238E27FC236}">
                <a16:creationId xmlns:a16="http://schemas.microsoft.com/office/drawing/2014/main" id="{DD9F5D8C-7F8B-4D26-AA0A-B8CF1348DB2D}"/>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6" name="v2-page-35">
            <a:extLst>
              <a:ext uri="{FF2B5EF4-FFF2-40B4-BE49-F238E27FC236}">
                <a16:creationId xmlns:a16="http://schemas.microsoft.com/office/drawing/2014/main" id="{6A1D98B6-6637-4E81-B250-45354C5E0C83}"/>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35</a:t>
            </a:r>
          </a:p>
        </p:txBody>
      </p:sp>
    </p:spTree>
    <p:extLst>
      <p:ext uri="{BB962C8B-B14F-4D97-AF65-F5344CB8AC3E}">
        <p14:creationId xmlns:p14="http://schemas.microsoft.com/office/powerpoint/2010/main" val="171306610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82DDB9B-3865-4584-B512-76AB03E9C7E2}"/>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D8C4A786-07F6-4AB6-802F-5FFC56A78BCF}"/>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96892A19-AC44-43E3-952B-8D4E5127E8BD}"/>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Other Lenses &amp; When to Use Which</a:t>
            </a:r>
          </a:p>
        </p:txBody>
      </p:sp>
      <p:sp>
        <p:nvSpPr>
          <p:cNvPr id="5" name="Rectangle 4">
            <a:extLst>
              <a:ext uri="{FF2B5EF4-FFF2-40B4-BE49-F238E27FC236}">
                <a16:creationId xmlns:a16="http://schemas.microsoft.com/office/drawing/2014/main" id="{DEB18D59-F623-46E9-B849-56D7ED1F0A55}"/>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5138A221-0AFC-407C-BC52-C8BFAF245707}"/>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41FB50B7-1C69-49F4-8B03-7B801ACF0442}"/>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29</a:t>
            </a:r>
          </a:p>
        </p:txBody>
      </p:sp>
      <p:sp>
        <p:nvSpPr>
          <p:cNvPr id="8" name="TextBox 7">
            <a:extLst>
              <a:ext uri="{FF2B5EF4-FFF2-40B4-BE49-F238E27FC236}">
                <a16:creationId xmlns:a16="http://schemas.microsoft.com/office/drawing/2014/main" id="{EFCA60A2-7ACA-45D2-933F-1E8E983652FB}"/>
              </a:ext>
            </a:extLst>
          </p:cNvPr>
          <p:cNvSpPr>
            <a:spLocks noGrp="1"/>
          </p:cNvSpPr>
          <p:nvPr/>
        </p:nvSpPr>
        <p:spPr>
          <a:xfrm>
            <a:off x="896112" y="150876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Justice (Rawls): </a:t>
            </a:r>
            <a:r>
              <a:rPr sz="1600" b="0" i="0" u="none">
                <a:solidFill>
                  <a:srgbClr val="262626"/>
                </a:solidFill>
                <a:latin typeface="Calibri"/>
                <a:ea typeface="Calibri"/>
                <a:cs typeface="Calibri"/>
              </a:rPr>
              <a:t>fair distribution; design to favor the </a:t>
            </a:r>
            <a:r>
              <a:rPr sz="1600" b="0" i="0" u="sng">
                <a:solidFill>
                  <a:srgbClr val="262626"/>
                </a:solidFill>
                <a:latin typeface="Calibri"/>
                <a:ea typeface="Calibri"/>
                <a:cs typeface="Calibri"/>
              </a:rPr>
              <a:t>least advantaged</a:t>
            </a:r>
            <a:r>
              <a:rPr sz="1600" b="0" i="0" u="none">
                <a:solidFill>
                  <a:srgbClr val="262626"/>
                </a:solidFill>
                <a:latin typeface="Calibri"/>
                <a:ea typeface="Calibri"/>
                <a:cs typeface="Calibri"/>
              </a:rPr>
              <a:t>.</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Care ethics: </a:t>
            </a:r>
            <a:r>
              <a:rPr sz="1600" b="0" i="0" u="none">
                <a:solidFill>
                  <a:srgbClr val="262626"/>
                </a:solidFill>
                <a:latin typeface="Calibri"/>
                <a:ea typeface="Calibri"/>
                <a:cs typeface="Calibri"/>
              </a:rPr>
              <a:t>relationships, vulnerability, dependence.</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Rights-based: </a:t>
            </a:r>
            <a:r>
              <a:rPr sz="1600" b="0" i="0" u="none">
                <a:solidFill>
                  <a:srgbClr val="262626"/>
                </a:solidFill>
                <a:latin typeface="Calibri"/>
                <a:ea typeface="Calibri"/>
                <a:cs typeface="Calibri"/>
              </a:rPr>
              <a:t>human rights as side-constraints on design.</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Principlism: </a:t>
            </a:r>
            <a:r>
              <a:rPr sz="1600" b="0" i="0" u="none">
                <a:solidFill>
                  <a:srgbClr val="262626"/>
                </a:solidFill>
                <a:latin typeface="Calibri"/>
                <a:ea typeface="Calibri"/>
                <a:cs typeface="Calibri"/>
              </a:rPr>
              <a:t>autonomy, beneficence, non-maleficence, justice.</a:t>
            </a:r>
          </a:p>
          <a:p>
            <a:pPr marL="285750" indent="-285750" algn="l">
              <a:lnSpc>
                <a:spcPct val="116000"/>
              </a:lnSpc>
              <a:spcBef>
                <a:spcPts val="600"/>
              </a:spcBef>
              <a:spcAft>
                <a:spcPts val="700"/>
              </a:spcAft>
              <a:buClr>
                <a:srgbClr val="2E75B6"/>
              </a:buClr>
              <a:buSzPct val="100000"/>
              <a:buFont typeface="Arial"/>
              <a:buChar char="•"/>
            </a:pPr>
            <a:r>
              <a:rPr sz="1600" b="0" i="0" u="none">
                <a:solidFill>
                  <a:srgbClr val="262626"/>
                </a:solidFill>
                <a:latin typeface="Calibri"/>
                <a:ea typeface="Calibri"/>
                <a:cs typeface="Calibri"/>
              </a:rPr>
              <a:t>No single lens suffices — use several; they illuminate </a:t>
            </a:r>
            <a:r>
              <a:rPr sz="1600" b="1" i="0" u="sng">
                <a:solidFill>
                  <a:srgbClr val="262626"/>
                </a:solidFill>
                <a:latin typeface="Calibri"/>
                <a:ea typeface="Calibri"/>
                <a:cs typeface="Calibri"/>
              </a:rPr>
              <a:t>different facets</a:t>
            </a:r>
            <a:r>
              <a:rPr sz="1600" b="0" i="1" u="none">
                <a:solidFill>
                  <a:srgbClr val="595959"/>
                </a:solidFill>
                <a:latin typeface="Calibri"/>
                <a:ea typeface="Calibri"/>
                <a:cs typeface="Calibri"/>
              </a:rPr>
              <a:t> of a problem.</a:t>
            </a:r>
          </a:p>
        </p:txBody>
      </p:sp>
      <p:sp>
        <p:nvSpPr>
          <p:cNvPr id="9" name="expanded-arrow-29-1">
            <a:extLst>
              <a:ext uri="{FF2B5EF4-FFF2-40B4-BE49-F238E27FC236}">
                <a16:creationId xmlns:a16="http://schemas.microsoft.com/office/drawing/2014/main" id="{15619D05-37F4-4C88-9E95-9A3773C08640}"/>
              </a:ext>
            </a:extLst>
          </p:cNvPr>
          <p:cNvSpPr>
            <a:spLocks noGrp="1"/>
          </p:cNvSpPr>
          <p:nvPr/>
        </p:nvSpPr>
        <p:spPr>
          <a:xfrm>
            <a:off x="3581400" y="4872038"/>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29-2">
            <a:extLst>
              <a:ext uri="{FF2B5EF4-FFF2-40B4-BE49-F238E27FC236}">
                <a16:creationId xmlns:a16="http://schemas.microsoft.com/office/drawing/2014/main" id="{D8ABD48F-FD3C-48AF-A931-6EBFBE0985F7}"/>
              </a:ext>
            </a:extLst>
          </p:cNvPr>
          <p:cNvSpPr>
            <a:spLocks noGrp="1"/>
          </p:cNvSpPr>
          <p:nvPr/>
        </p:nvSpPr>
        <p:spPr>
          <a:xfrm>
            <a:off x="5962650" y="4872038"/>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29-3">
            <a:extLst>
              <a:ext uri="{FF2B5EF4-FFF2-40B4-BE49-F238E27FC236}">
                <a16:creationId xmlns:a16="http://schemas.microsoft.com/office/drawing/2014/main" id="{E056F281-8C73-47B0-B9AA-1911F767703F}"/>
              </a:ext>
            </a:extLst>
          </p:cNvPr>
          <p:cNvSpPr>
            <a:spLocks noGrp="1"/>
          </p:cNvSpPr>
          <p:nvPr/>
        </p:nvSpPr>
        <p:spPr>
          <a:xfrm>
            <a:off x="8343900" y="4872038"/>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node-29-1">
            <a:extLst>
              <a:ext uri="{FF2B5EF4-FFF2-40B4-BE49-F238E27FC236}">
                <a16:creationId xmlns:a16="http://schemas.microsoft.com/office/drawing/2014/main" id="{51E0604C-8209-4D27-A005-E7A55852BB96}"/>
              </a:ext>
            </a:extLst>
          </p:cNvPr>
          <p:cNvSpPr>
            <a:spLocks noGrp="1"/>
          </p:cNvSpPr>
          <p:nvPr/>
        </p:nvSpPr>
        <p:spPr>
          <a:xfrm>
            <a:off x="14287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JUSTICE</a:t>
            </a:r>
          </a:p>
        </p:txBody>
      </p:sp>
      <p:sp>
        <p:nvSpPr>
          <p:cNvPr id="13" name="expanded-node-29-2">
            <a:extLst>
              <a:ext uri="{FF2B5EF4-FFF2-40B4-BE49-F238E27FC236}">
                <a16:creationId xmlns:a16="http://schemas.microsoft.com/office/drawing/2014/main" id="{27587119-8BD0-49D2-8C6D-E6D34ED9B5B1}"/>
              </a:ext>
            </a:extLst>
          </p:cNvPr>
          <p:cNvSpPr>
            <a:spLocks noGrp="1"/>
          </p:cNvSpPr>
          <p:nvPr/>
        </p:nvSpPr>
        <p:spPr>
          <a:xfrm>
            <a:off x="38100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CARE</a:t>
            </a:r>
          </a:p>
        </p:txBody>
      </p:sp>
      <p:sp>
        <p:nvSpPr>
          <p:cNvPr id="14" name="expanded-node-29-3">
            <a:extLst>
              <a:ext uri="{FF2B5EF4-FFF2-40B4-BE49-F238E27FC236}">
                <a16:creationId xmlns:a16="http://schemas.microsoft.com/office/drawing/2014/main" id="{033C4AEA-253B-4205-8E7F-6B3A1054FE77}"/>
              </a:ext>
            </a:extLst>
          </p:cNvPr>
          <p:cNvSpPr>
            <a:spLocks noGrp="1"/>
          </p:cNvSpPr>
          <p:nvPr/>
        </p:nvSpPr>
        <p:spPr>
          <a:xfrm>
            <a:off x="61912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RIGHTS</a:t>
            </a:r>
          </a:p>
        </p:txBody>
      </p:sp>
      <p:sp>
        <p:nvSpPr>
          <p:cNvPr id="15" name="expanded-node-29-4">
            <a:extLst>
              <a:ext uri="{FF2B5EF4-FFF2-40B4-BE49-F238E27FC236}">
                <a16:creationId xmlns:a16="http://schemas.microsoft.com/office/drawing/2014/main" id="{B223C93D-FAC8-4A08-AF08-DA44CB22DD58}"/>
              </a:ext>
            </a:extLst>
          </p:cNvPr>
          <p:cNvSpPr>
            <a:spLocks noGrp="1"/>
          </p:cNvSpPr>
          <p:nvPr/>
        </p:nvSpPr>
        <p:spPr>
          <a:xfrm>
            <a:off x="85725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CAPABILITIES</a:t>
            </a:r>
          </a:p>
        </p:txBody>
      </p:sp>
      <p:sp>
        <p:nvSpPr>
          <p:cNvPr id="16" name="expanded-takeaway-29">
            <a:extLst>
              <a:ext uri="{FF2B5EF4-FFF2-40B4-BE49-F238E27FC236}">
                <a16:creationId xmlns:a16="http://schemas.microsoft.com/office/drawing/2014/main" id="{5CB466BA-3A3D-49B8-9608-4C48E37E61D7}"/>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Different lenses expose different blind spots; robust analysis usually needs more than one.</a:t>
            </a:r>
          </a:p>
        </p:txBody>
      </p:sp>
      <p:sp>
        <p:nvSpPr>
          <p:cNvPr id="17" name="v2-page-mask-36">
            <a:extLst>
              <a:ext uri="{FF2B5EF4-FFF2-40B4-BE49-F238E27FC236}">
                <a16:creationId xmlns:a16="http://schemas.microsoft.com/office/drawing/2014/main" id="{DFB41CC4-1922-4108-BE0C-2E17FAD52D2B}"/>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8" name="v2-page-36">
            <a:extLst>
              <a:ext uri="{FF2B5EF4-FFF2-40B4-BE49-F238E27FC236}">
                <a16:creationId xmlns:a16="http://schemas.microsoft.com/office/drawing/2014/main" id="{10B0F19E-8CEF-4731-A90A-0CC7B2212293}"/>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36</a:t>
            </a:r>
          </a:p>
        </p:txBody>
      </p:sp>
    </p:spTree>
    <p:extLst>
      <p:ext uri="{BB962C8B-B14F-4D97-AF65-F5344CB8AC3E}">
        <p14:creationId xmlns:p14="http://schemas.microsoft.com/office/powerpoint/2010/main" val="14226138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v2-background">
            <a:extLst>
              <a:ext uri="{FF2B5EF4-FFF2-40B4-BE49-F238E27FC236}">
                <a16:creationId xmlns:a16="http://schemas.microsoft.com/office/drawing/2014/main" id="{D0518155-DC3E-4197-80A6-D41306E5DC5A}"/>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zh-CN" altLang="en-US"/>
          </a:p>
        </p:txBody>
      </p:sp>
      <p:sp>
        <p:nvSpPr>
          <p:cNvPr id="2" name="v2-title-rail">
            <a:extLst>
              <a:ext uri="{FF2B5EF4-FFF2-40B4-BE49-F238E27FC236}">
                <a16:creationId xmlns:a16="http://schemas.microsoft.com/office/drawing/2014/main" id="{869F29CD-EC94-4018-9D2D-749FCAD98053}"/>
              </a:ext>
            </a:extLst>
          </p:cNvPr>
          <p:cNvSpPr>
            <a:spLocks noGrp="1"/>
          </p:cNvSpPr>
          <p:nvPr/>
        </p:nvSpPr>
        <p:spPr>
          <a:xfrm>
            <a:off x="628650" y="400050"/>
            <a:ext cx="95250" cy="476250"/>
          </a:xfrm>
          <a:prstGeom prst="rect">
            <a:avLst/>
          </a:prstGeom>
          <a:solidFill>
            <a:srgbClr val="1F3B6D"/>
          </a:solidFill>
          <a:ln w="0">
            <a:solidFill>
              <a:srgbClr val="1F3B6D"/>
            </a:solidFill>
            <a:prstDash val="solid"/>
          </a:ln>
        </p:spPr>
        <p:txBody>
          <a:bodyPr/>
          <a:lstStyle/>
          <a:p>
            <a:endParaRPr lang="zh-CN" altLang="en-US"/>
          </a:p>
        </p:txBody>
      </p:sp>
      <p:sp>
        <p:nvSpPr>
          <p:cNvPr id="3" name="v2-title">
            <a:extLst>
              <a:ext uri="{FF2B5EF4-FFF2-40B4-BE49-F238E27FC236}">
                <a16:creationId xmlns:a16="http://schemas.microsoft.com/office/drawing/2014/main" id="{3BE39E11-F361-4530-86BF-52DF4BD5B24A}"/>
              </a:ext>
            </a:extLst>
          </p:cNvPr>
          <p:cNvSpPr>
            <a:spLocks noGrp="1"/>
          </p:cNvSpPr>
          <p:nvPr/>
        </p:nvSpPr>
        <p:spPr>
          <a:xfrm>
            <a:off x="981075" y="361950"/>
            <a:ext cx="10287000" cy="552450"/>
          </a:xfrm>
          <a:prstGeom prst="rect">
            <a:avLst/>
          </a:prstGeom>
          <a:noFill/>
          <a:ln w="0">
            <a:noFill/>
            <a:prstDash val="solid"/>
          </a:ln>
        </p:spPr>
        <p:txBody>
          <a:bodyPr/>
          <a:lstStyle/>
          <a:p>
            <a:pPr>
              <a:defRPr sz="2550" b="1">
                <a:solidFill>
                  <a:srgbClr val="1F3B6D"/>
                </a:solidFill>
              </a:defRPr>
            </a:pPr>
            <a:r>
              <a:rPr sz="2550" b="1">
                <a:solidFill>
                  <a:srgbClr val="1F3B6D"/>
                </a:solidFill>
              </a:rPr>
              <a:t>One Case, Four Ethical Lenses</a:t>
            </a:r>
          </a:p>
        </p:txBody>
      </p:sp>
      <p:sp>
        <p:nvSpPr>
          <p:cNvPr id="4" name="v2-rule">
            <a:extLst>
              <a:ext uri="{FF2B5EF4-FFF2-40B4-BE49-F238E27FC236}">
                <a16:creationId xmlns:a16="http://schemas.microsoft.com/office/drawing/2014/main" id="{99CDA44F-44C8-45F4-AD4A-950A5C0C1272}"/>
              </a:ext>
            </a:extLst>
          </p:cNvPr>
          <p:cNvSpPr>
            <a:spLocks noGrp="1"/>
          </p:cNvSpPr>
          <p:nvPr/>
        </p:nvSpPr>
        <p:spPr>
          <a:xfrm>
            <a:off x="638175" y="1000125"/>
            <a:ext cx="10972800" cy="28575"/>
          </a:xfrm>
          <a:prstGeom prst="rect">
            <a:avLst/>
          </a:prstGeom>
          <a:solidFill>
            <a:srgbClr val="2D78B9"/>
          </a:solidFill>
          <a:ln w="0">
            <a:solidFill>
              <a:srgbClr val="2D78B9"/>
            </a:solidFill>
            <a:prstDash val="solid"/>
          </a:ln>
        </p:spPr>
        <p:txBody>
          <a:bodyPr/>
          <a:lstStyle/>
          <a:p>
            <a:endParaRPr lang="zh-CN" altLang="en-US"/>
          </a:p>
        </p:txBody>
      </p:sp>
      <p:sp>
        <p:nvSpPr>
          <p:cNvPr id="5" name="v2-subtitle">
            <a:extLst>
              <a:ext uri="{FF2B5EF4-FFF2-40B4-BE49-F238E27FC236}">
                <a16:creationId xmlns:a16="http://schemas.microsoft.com/office/drawing/2014/main" id="{B0ED8BCF-8ECE-48A2-97CE-EDB2D7656D75}"/>
              </a:ext>
            </a:extLst>
          </p:cNvPr>
          <p:cNvSpPr>
            <a:spLocks noGrp="1"/>
          </p:cNvSpPr>
          <p:nvPr/>
        </p:nvSpPr>
        <p:spPr>
          <a:xfrm>
            <a:off x="981075" y="1104900"/>
            <a:ext cx="10287000" cy="323850"/>
          </a:xfrm>
          <a:prstGeom prst="rect">
            <a:avLst/>
          </a:prstGeom>
          <a:noFill/>
          <a:ln w="0">
            <a:noFill/>
            <a:prstDash val="solid"/>
          </a:ln>
        </p:spPr>
        <p:txBody>
          <a:bodyPr/>
          <a:lstStyle/>
          <a:p>
            <a:pPr>
              <a:defRPr sz="1275" i="1">
                <a:solidFill>
                  <a:srgbClr val="5B6670"/>
                </a:solidFill>
              </a:defRPr>
            </a:pPr>
            <a:r>
              <a:rPr sz="1275" i="1">
                <a:solidFill>
                  <a:srgbClr val="5B6670"/>
                </a:solidFill>
              </a:rPr>
              <a:t>Case: an AI hiring tool ranks applicants before any human review.</a:t>
            </a:r>
          </a:p>
        </p:txBody>
      </p:sp>
      <p:sp>
        <p:nvSpPr>
          <p:cNvPr id="6" name="v2-accent">
            <a:extLst>
              <a:ext uri="{FF2B5EF4-FFF2-40B4-BE49-F238E27FC236}">
                <a16:creationId xmlns:a16="http://schemas.microsoft.com/office/drawing/2014/main" id="{6AAED0D1-3634-4182-ABDC-CA7B608D658E}"/>
              </a:ext>
            </a:extLst>
          </p:cNvPr>
          <p:cNvSpPr>
            <a:spLocks noGrp="1"/>
          </p:cNvSpPr>
          <p:nvPr/>
        </p:nvSpPr>
        <p:spPr>
          <a:xfrm>
            <a:off x="11687175" y="304800"/>
            <a:ext cx="266700" cy="266700"/>
          </a:xfrm>
          <a:prstGeom prst="rect">
            <a:avLst/>
          </a:prstGeom>
          <a:solidFill>
            <a:srgbClr val="2D78B9"/>
          </a:solidFill>
          <a:ln w="0">
            <a:solidFill>
              <a:srgbClr val="2D78B9"/>
            </a:solidFill>
            <a:prstDash val="solid"/>
          </a:ln>
        </p:spPr>
        <p:txBody>
          <a:bodyPr/>
          <a:lstStyle/>
          <a:p>
            <a:endParaRPr lang="zh-CN" altLang="en-US"/>
          </a:p>
        </p:txBody>
      </p:sp>
      <p:sp>
        <p:nvSpPr>
          <p:cNvPr id="7" name="v2-footer">
            <a:extLst>
              <a:ext uri="{FF2B5EF4-FFF2-40B4-BE49-F238E27FC236}">
                <a16:creationId xmlns:a16="http://schemas.microsoft.com/office/drawing/2014/main" id="{4EDAB26B-6DD0-47C0-AF17-7EFD583F0359}"/>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sp>
        <p:nvSpPr>
          <p:cNvPr id="8" name="lens-0-bg">
            <a:extLst>
              <a:ext uri="{FF2B5EF4-FFF2-40B4-BE49-F238E27FC236}">
                <a16:creationId xmlns:a16="http://schemas.microsoft.com/office/drawing/2014/main" id="{1F599113-D226-432B-B333-11561B741316}"/>
              </a:ext>
            </a:extLst>
          </p:cNvPr>
          <p:cNvSpPr>
            <a:spLocks noGrp="1"/>
          </p:cNvSpPr>
          <p:nvPr/>
        </p:nvSpPr>
        <p:spPr>
          <a:xfrm>
            <a:off x="762000" y="1809750"/>
            <a:ext cx="2571750" cy="2714625"/>
          </a:xfrm>
          <a:prstGeom prst="roundRect">
            <a:avLst>
              <a:gd name="adj" fmla="val 2963"/>
            </a:avLst>
          </a:prstGeom>
          <a:solidFill>
            <a:srgbClr val="F8FBFE"/>
          </a:solidFill>
          <a:ln w="11430">
            <a:solidFill>
              <a:srgbClr val="2D78B9"/>
            </a:solidFill>
            <a:prstDash val="solid"/>
          </a:ln>
        </p:spPr>
        <p:txBody>
          <a:bodyPr/>
          <a:lstStyle/>
          <a:p>
            <a:endParaRPr lang="zh-CN" altLang="en-US"/>
          </a:p>
        </p:txBody>
      </p:sp>
      <p:sp>
        <p:nvSpPr>
          <p:cNvPr id="9" name="lens-0-title">
            <a:extLst>
              <a:ext uri="{FF2B5EF4-FFF2-40B4-BE49-F238E27FC236}">
                <a16:creationId xmlns:a16="http://schemas.microsoft.com/office/drawing/2014/main" id="{17BDFC22-3005-4834-BF1D-51DDE271DEA7}"/>
              </a:ext>
            </a:extLst>
          </p:cNvPr>
          <p:cNvSpPr>
            <a:spLocks noGrp="1"/>
          </p:cNvSpPr>
          <p:nvPr/>
        </p:nvSpPr>
        <p:spPr>
          <a:xfrm>
            <a:off x="933450" y="1943100"/>
            <a:ext cx="2228850" cy="285750"/>
          </a:xfrm>
          <a:prstGeom prst="rect">
            <a:avLst/>
          </a:prstGeom>
          <a:noFill/>
          <a:ln w="0">
            <a:noFill/>
            <a:prstDash val="solid"/>
          </a:ln>
        </p:spPr>
        <p:txBody>
          <a:bodyPr/>
          <a:lstStyle/>
          <a:p>
            <a:pPr>
              <a:defRPr sz="1350" b="1">
                <a:solidFill>
                  <a:srgbClr val="2D78B9"/>
                </a:solidFill>
              </a:defRPr>
            </a:pPr>
            <a:r>
              <a:rPr sz="1350" b="1">
                <a:solidFill>
                  <a:srgbClr val="2D78B9"/>
                </a:solidFill>
              </a:rPr>
              <a:t>CONSEQUENCES</a:t>
            </a:r>
          </a:p>
        </p:txBody>
      </p:sp>
      <p:sp>
        <p:nvSpPr>
          <p:cNvPr id="10" name="lens-0-body">
            <a:extLst>
              <a:ext uri="{FF2B5EF4-FFF2-40B4-BE49-F238E27FC236}">
                <a16:creationId xmlns:a16="http://schemas.microsoft.com/office/drawing/2014/main" id="{E4CEF811-3F69-49A5-B5A8-11157132E6F0}"/>
              </a:ext>
            </a:extLst>
          </p:cNvPr>
          <p:cNvSpPr>
            <a:spLocks noGrp="1"/>
          </p:cNvSpPr>
          <p:nvPr/>
        </p:nvSpPr>
        <p:spPr>
          <a:xfrm>
            <a:off x="933450" y="2266950"/>
            <a:ext cx="2228850" cy="2143125"/>
          </a:xfrm>
          <a:prstGeom prst="rect">
            <a:avLst/>
          </a:prstGeom>
          <a:noFill/>
          <a:ln w="0">
            <a:noFill/>
            <a:prstDash val="solid"/>
          </a:ln>
        </p:spPr>
        <p:txBody>
          <a:bodyPr/>
          <a:lstStyle/>
          <a:p>
            <a:pPr>
              <a:defRPr sz="1200">
                <a:solidFill>
                  <a:srgbClr val="263442"/>
                </a:solidFill>
              </a:defRPr>
            </a:pPr>
            <a:r>
              <a:rPr sz="1200">
                <a:solidFill>
                  <a:srgbClr val="263442"/>
                </a:solidFill>
              </a:rPr>
              <a:t>Do benefits outweigh harms across all groups?</a:t>
            </a:r>
          </a:p>
        </p:txBody>
      </p:sp>
      <p:sp>
        <p:nvSpPr>
          <p:cNvPr id="11" name="lens-1-bg">
            <a:extLst>
              <a:ext uri="{FF2B5EF4-FFF2-40B4-BE49-F238E27FC236}">
                <a16:creationId xmlns:a16="http://schemas.microsoft.com/office/drawing/2014/main" id="{1B0E6A41-4852-4410-B7BE-B7ED9910E2BC}"/>
              </a:ext>
            </a:extLst>
          </p:cNvPr>
          <p:cNvSpPr>
            <a:spLocks noGrp="1"/>
          </p:cNvSpPr>
          <p:nvPr/>
        </p:nvSpPr>
        <p:spPr>
          <a:xfrm>
            <a:off x="3619500" y="1809750"/>
            <a:ext cx="2571750" cy="2714625"/>
          </a:xfrm>
          <a:prstGeom prst="roundRect">
            <a:avLst>
              <a:gd name="adj" fmla="val 2963"/>
            </a:avLst>
          </a:prstGeom>
          <a:solidFill>
            <a:srgbClr val="F8FBFE"/>
          </a:solidFill>
          <a:ln w="11430">
            <a:solidFill>
              <a:srgbClr val="1F3B6D"/>
            </a:solidFill>
            <a:prstDash val="solid"/>
          </a:ln>
        </p:spPr>
        <p:txBody>
          <a:bodyPr/>
          <a:lstStyle/>
          <a:p>
            <a:endParaRPr lang="zh-CN" altLang="en-US"/>
          </a:p>
        </p:txBody>
      </p:sp>
      <p:sp>
        <p:nvSpPr>
          <p:cNvPr id="12" name="lens-1-title">
            <a:extLst>
              <a:ext uri="{FF2B5EF4-FFF2-40B4-BE49-F238E27FC236}">
                <a16:creationId xmlns:a16="http://schemas.microsoft.com/office/drawing/2014/main" id="{257BAC71-1294-4D5D-90CE-A875766CDEFE}"/>
              </a:ext>
            </a:extLst>
          </p:cNvPr>
          <p:cNvSpPr>
            <a:spLocks noGrp="1"/>
          </p:cNvSpPr>
          <p:nvPr/>
        </p:nvSpPr>
        <p:spPr>
          <a:xfrm>
            <a:off x="3790950" y="1943100"/>
            <a:ext cx="2228850" cy="285750"/>
          </a:xfrm>
          <a:prstGeom prst="rect">
            <a:avLst/>
          </a:prstGeom>
          <a:noFill/>
          <a:ln w="0">
            <a:noFill/>
            <a:prstDash val="solid"/>
          </a:ln>
        </p:spPr>
        <p:txBody>
          <a:bodyPr/>
          <a:lstStyle/>
          <a:p>
            <a:pPr>
              <a:defRPr sz="1350" b="1">
                <a:solidFill>
                  <a:srgbClr val="1F3B6D"/>
                </a:solidFill>
              </a:defRPr>
            </a:pPr>
            <a:r>
              <a:rPr sz="1350" b="1">
                <a:solidFill>
                  <a:srgbClr val="1F3B6D"/>
                </a:solidFill>
              </a:rPr>
              <a:t>DUTIES &amp; RIGHTS</a:t>
            </a:r>
          </a:p>
        </p:txBody>
      </p:sp>
      <p:sp>
        <p:nvSpPr>
          <p:cNvPr id="13" name="lens-1-body">
            <a:extLst>
              <a:ext uri="{FF2B5EF4-FFF2-40B4-BE49-F238E27FC236}">
                <a16:creationId xmlns:a16="http://schemas.microsoft.com/office/drawing/2014/main" id="{B2095F68-9696-498C-9199-6239C5C8B875}"/>
              </a:ext>
            </a:extLst>
          </p:cNvPr>
          <p:cNvSpPr>
            <a:spLocks noGrp="1"/>
          </p:cNvSpPr>
          <p:nvPr/>
        </p:nvSpPr>
        <p:spPr>
          <a:xfrm>
            <a:off x="3790950" y="2266950"/>
            <a:ext cx="2228850" cy="2143125"/>
          </a:xfrm>
          <a:prstGeom prst="rect">
            <a:avLst/>
          </a:prstGeom>
          <a:noFill/>
          <a:ln w="0">
            <a:noFill/>
            <a:prstDash val="solid"/>
          </a:ln>
        </p:spPr>
        <p:txBody>
          <a:bodyPr/>
          <a:lstStyle/>
          <a:p>
            <a:pPr>
              <a:defRPr sz="1200">
                <a:solidFill>
                  <a:srgbClr val="263442"/>
                </a:solidFill>
              </a:defRPr>
            </a:pPr>
            <a:r>
              <a:rPr sz="1200">
                <a:solidFill>
                  <a:srgbClr val="263442"/>
                </a:solidFill>
              </a:rPr>
              <a:t>Are consent, dignity, and due process respected?</a:t>
            </a:r>
          </a:p>
        </p:txBody>
      </p:sp>
      <p:sp>
        <p:nvSpPr>
          <p:cNvPr id="14" name="lens-2-bg">
            <a:extLst>
              <a:ext uri="{FF2B5EF4-FFF2-40B4-BE49-F238E27FC236}">
                <a16:creationId xmlns:a16="http://schemas.microsoft.com/office/drawing/2014/main" id="{03BE23B5-88DA-4D58-9186-892887A2535E}"/>
              </a:ext>
            </a:extLst>
          </p:cNvPr>
          <p:cNvSpPr>
            <a:spLocks noGrp="1"/>
          </p:cNvSpPr>
          <p:nvPr/>
        </p:nvSpPr>
        <p:spPr>
          <a:xfrm>
            <a:off x="6477000" y="1809750"/>
            <a:ext cx="2571750" cy="2714625"/>
          </a:xfrm>
          <a:prstGeom prst="roundRect">
            <a:avLst>
              <a:gd name="adj" fmla="val 2963"/>
            </a:avLst>
          </a:prstGeom>
          <a:solidFill>
            <a:srgbClr val="F8FBFE"/>
          </a:solidFill>
          <a:ln w="11430">
            <a:solidFill>
              <a:srgbClr val="2D78B9"/>
            </a:solidFill>
            <a:prstDash val="solid"/>
          </a:ln>
        </p:spPr>
        <p:txBody>
          <a:bodyPr/>
          <a:lstStyle/>
          <a:p>
            <a:endParaRPr lang="zh-CN" altLang="en-US"/>
          </a:p>
        </p:txBody>
      </p:sp>
      <p:sp>
        <p:nvSpPr>
          <p:cNvPr id="15" name="lens-2-title">
            <a:extLst>
              <a:ext uri="{FF2B5EF4-FFF2-40B4-BE49-F238E27FC236}">
                <a16:creationId xmlns:a16="http://schemas.microsoft.com/office/drawing/2014/main" id="{3508CCEB-80BC-4F2F-BFDA-49BA1E27CB47}"/>
              </a:ext>
            </a:extLst>
          </p:cNvPr>
          <p:cNvSpPr>
            <a:spLocks noGrp="1"/>
          </p:cNvSpPr>
          <p:nvPr/>
        </p:nvSpPr>
        <p:spPr>
          <a:xfrm>
            <a:off x="6648450" y="1943100"/>
            <a:ext cx="2228850" cy="285750"/>
          </a:xfrm>
          <a:prstGeom prst="rect">
            <a:avLst/>
          </a:prstGeom>
          <a:noFill/>
          <a:ln w="0">
            <a:noFill/>
            <a:prstDash val="solid"/>
          </a:ln>
        </p:spPr>
        <p:txBody>
          <a:bodyPr/>
          <a:lstStyle/>
          <a:p>
            <a:pPr>
              <a:defRPr sz="1350" b="1">
                <a:solidFill>
                  <a:srgbClr val="2D78B9"/>
                </a:solidFill>
              </a:defRPr>
            </a:pPr>
            <a:r>
              <a:rPr sz="1350" b="1">
                <a:solidFill>
                  <a:srgbClr val="2D78B9"/>
                </a:solidFill>
              </a:rPr>
              <a:t>JUSTICE</a:t>
            </a:r>
          </a:p>
        </p:txBody>
      </p:sp>
      <p:sp>
        <p:nvSpPr>
          <p:cNvPr id="16" name="lens-2-body">
            <a:extLst>
              <a:ext uri="{FF2B5EF4-FFF2-40B4-BE49-F238E27FC236}">
                <a16:creationId xmlns:a16="http://schemas.microsoft.com/office/drawing/2014/main" id="{D270021B-F08B-409D-9689-08797A7F5461}"/>
              </a:ext>
            </a:extLst>
          </p:cNvPr>
          <p:cNvSpPr>
            <a:spLocks noGrp="1"/>
          </p:cNvSpPr>
          <p:nvPr/>
        </p:nvSpPr>
        <p:spPr>
          <a:xfrm>
            <a:off x="6648450" y="2266950"/>
            <a:ext cx="2228850" cy="2143125"/>
          </a:xfrm>
          <a:prstGeom prst="rect">
            <a:avLst/>
          </a:prstGeom>
          <a:noFill/>
          <a:ln w="0">
            <a:noFill/>
            <a:prstDash val="solid"/>
          </a:ln>
        </p:spPr>
        <p:txBody>
          <a:bodyPr/>
          <a:lstStyle/>
          <a:p>
            <a:pPr>
              <a:defRPr sz="1200">
                <a:solidFill>
                  <a:srgbClr val="263442"/>
                </a:solidFill>
              </a:defRPr>
            </a:pPr>
            <a:r>
              <a:rPr sz="1200">
                <a:solidFill>
                  <a:srgbClr val="263442"/>
                </a:solidFill>
              </a:rPr>
              <a:t>Are opportunities and burdens distributed fairly?</a:t>
            </a:r>
          </a:p>
        </p:txBody>
      </p:sp>
      <p:sp>
        <p:nvSpPr>
          <p:cNvPr id="17" name="lens-3-bg">
            <a:extLst>
              <a:ext uri="{FF2B5EF4-FFF2-40B4-BE49-F238E27FC236}">
                <a16:creationId xmlns:a16="http://schemas.microsoft.com/office/drawing/2014/main" id="{4E3D64C4-3576-429F-84F2-16EE8DAE26AF}"/>
              </a:ext>
            </a:extLst>
          </p:cNvPr>
          <p:cNvSpPr>
            <a:spLocks noGrp="1"/>
          </p:cNvSpPr>
          <p:nvPr/>
        </p:nvSpPr>
        <p:spPr>
          <a:xfrm>
            <a:off x="9334500" y="1809750"/>
            <a:ext cx="2571750" cy="2714625"/>
          </a:xfrm>
          <a:prstGeom prst="roundRect">
            <a:avLst>
              <a:gd name="adj" fmla="val 2963"/>
            </a:avLst>
          </a:prstGeom>
          <a:solidFill>
            <a:srgbClr val="F8FBFE"/>
          </a:solidFill>
          <a:ln w="11430">
            <a:solidFill>
              <a:srgbClr val="1F3B6D"/>
            </a:solidFill>
            <a:prstDash val="solid"/>
          </a:ln>
        </p:spPr>
        <p:txBody>
          <a:bodyPr/>
          <a:lstStyle/>
          <a:p>
            <a:endParaRPr lang="zh-CN" altLang="en-US"/>
          </a:p>
        </p:txBody>
      </p:sp>
      <p:sp>
        <p:nvSpPr>
          <p:cNvPr id="18" name="lens-3-title">
            <a:extLst>
              <a:ext uri="{FF2B5EF4-FFF2-40B4-BE49-F238E27FC236}">
                <a16:creationId xmlns:a16="http://schemas.microsoft.com/office/drawing/2014/main" id="{2FEF0716-5964-4801-9A58-FFB2C2DF8968}"/>
              </a:ext>
            </a:extLst>
          </p:cNvPr>
          <p:cNvSpPr>
            <a:spLocks noGrp="1"/>
          </p:cNvSpPr>
          <p:nvPr/>
        </p:nvSpPr>
        <p:spPr>
          <a:xfrm>
            <a:off x="9505950" y="1943100"/>
            <a:ext cx="2228850" cy="285750"/>
          </a:xfrm>
          <a:prstGeom prst="rect">
            <a:avLst/>
          </a:prstGeom>
          <a:noFill/>
          <a:ln w="0">
            <a:noFill/>
            <a:prstDash val="solid"/>
          </a:ln>
        </p:spPr>
        <p:txBody>
          <a:bodyPr/>
          <a:lstStyle/>
          <a:p>
            <a:pPr>
              <a:defRPr sz="1350" b="1">
                <a:solidFill>
                  <a:srgbClr val="1F3B6D"/>
                </a:solidFill>
              </a:defRPr>
            </a:pPr>
            <a:r>
              <a:rPr sz="1350" b="1">
                <a:solidFill>
                  <a:srgbClr val="1F3B6D"/>
                </a:solidFill>
              </a:rPr>
              <a:t>CARE</a:t>
            </a:r>
          </a:p>
        </p:txBody>
      </p:sp>
      <p:sp>
        <p:nvSpPr>
          <p:cNvPr id="19" name="lens-3-body">
            <a:extLst>
              <a:ext uri="{FF2B5EF4-FFF2-40B4-BE49-F238E27FC236}">
                <a16:creationId xmlns:a16="http://schemas.microsoft.com/office/drawing/2014/main" id="{962FF37A-C9A9-4DC1-9BDC-44FA7E9451AD}"/>
              </a:ext>
            </a:extLst>
          </p:cNvPr>
          <p:cNvSpPr>
            <a:spLocks noGrp="1"/>
          </p:cNvSpPr>
          <p:nvPr/>
        </p:nvSpPr>
        <p:spPr>
          <a:xfrm>
            <a:off x="9505950" y="2266950"/>
            <a:ext cx="2228850" cy="2143125"/>
          </a:xfrm>
          <a:prstGeom prst="rect">
            <a:avLst/>
          </a:prstGeom>
          <a:noFill/>
          <a:ln w="0">
            <a:noFill/>
            <a:prstDash val="solid"/>
          </a:ln>
        </p:spPr>
        <p:txBody>
          <a:bodyPr/>
          <a:lstStyle/>
          <a:p>
            <a:pPr>
              <a:defRPr sz="1200">
                <a:solidFill>
                  <a:srgbClr val="263442"/>
                </a:solidFill>
              </a:defRPr>
            </a:pPr>
            <a:r>
              <a:rPr sz="1200">
                <a:solidFill>
                  <a:srgbClr val="263442"/>
                </a:solidFill>
              </a:rPr>
              <a:t>Who is vulnerable or dependent on the decision?</a:t>
            </a:r>
          </a:p>
        </p:txBody>
      </p:sp>
      <p:sp>
        <p:nvSpPr>
          <p:cNvPr id="20" name="v2-takeaway">
            <a:extLst>
              <a:ext uri="{FF2B5EF4-FFF2-40B4-BE49-F238E27FC236}">
                <a16:creationId xmlns:a16="http://schemas.microsoft.com/office/drawing/2014/main" id="{E246B7DF-D295-49ED-9233-B5919D213946}"/>
              </a:ext>
            </a:extLst>
          </p:cNvPr>
          <p:cNvSpPr>
            <a:spLocks noGrp="1"/>
          </p:cNvSpPr>
          <p:nvPr/>
        </p:nvSpPr>
        <p:spPr>
          <a:xfrm>
            <a:off x="876300" y="575310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defRPr sz="1200" b="1">
                <a:solidFill>
                  <a:srgbClr val="1F3B6D"/>
                </a:solidFill>
              </a:defRPr>
            </a:pPr>
            <a:r>
              <a:rPr sz="1200" b="1">
                <a:solidFill>
                  <a:srgbClr val="1F3B6D"/>
                </a:solidFill>
              </a:rPr>
              <a:t>The lenses do not merely produce different words; they direct attention to different evidence and obligations.</a:t>
            </a:r>
          </a:p>
        </p:txBody>
      </p:sp>
      <p:sp>
        <p:nvSpPr>
          <p:cNvPr id="21" name="v2-page-mask-37">
            <a:extLst>
              <a:ext uri="{FF2B5EF4-FFF2-40B4-BE49-F238E27FC236}">
                <a16:creationId xmlns:a16="http://schemas.microsoft.com/office/drawing/2014/main" id="{E7AAACA2-281A-4CDD-8692-05BFE52C8317}"/>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22" name="v2-page-37">
            <a:extLst>
              <a:ext uri="{FF2B5EF4-FFF2-40B4-BE49-F238E27FC236}">
                <a16:creationId xmlns:a16="http://schemas.microsoft.com/office/drawing/2014/main" id="{F5EC2EF7-8704-44B6-8281-E206F4DC22D8}"/>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37</a:t>
            </a:r>
          </a:p>
        </p:txBody>
      </p:sp>
    </p:spTree>
    <p:extLst>
      <p:ext uri="{BB962C8B-B14F-4D97-AF65-F5344CB8AC3E}">
        <p14:creationId xmlns:p14="http://schemas.microsoft.com/office/powerpoint/2010/main" val="17121465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v2-background">
            <a:extLst>
              <a:ext uri="{FF2B5EF4-FFF2-40B4-BE49-F238E27FC236}">
                <a16:creationId xmlns:a16="http://schemas.microsoft.com/office/drawing/2014/main" id="{F010211C-41E0-4AB3-A731-533B509BF09C}"/>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zh-CN" altLang="en-US"/>
          </a:p>
        </p:txBody>
      </p:sp>
      <p:sp>
        <p:nvSpPr>
          <p:cNvPr id="2" name="v2-title-rail">
            <a:extLst>
              <a:ext uri="{FF2B5EF4-FFF2-40B4-BE49-F238E27FC236}">
                <a16:creationId xmlns:a16="http://schemas.microsoft.com/office/drawing/2014/main" id="{7F420173-565E-4787-B941-A184C0AFB30E}"/>
              </a:ext>
            </a:extLst>
          </p:cNvPr>
          <p:cNvSpPr>
            <a:spLocks noGrp="1"/>
          </p:cNvSpPr>
          <p:nvPr/>
        </p:nvSpPr>
        <p:spPr>
          <a:xfrm>
            <a:off x="628650" y="400050"/>
            <a:ext cx="95250" cy="476250"/>
          </a:xfrm>
          <a:prstGeom prst="rect">
            <a:avLst/>
          </a:prstGeom>
          <a:solidFill>
            <a:srgbClr val="1F3B6D"/>
          </a:solidFill>
          <a:ln w="0">
            <a:solidFill>
              <a:srgbClr val="1F3B6D"/>
            </a:solidFill>
            <a:prstDash val="solid"/>
          </a:ln>
        </p:spPr>
        <p:txBody>
          <a:bodyPr/>
          <a:lstStyle/>
          <a:p>
            <a:endParaRPr lang="zh-CN" altLang="en-US"/>
          </a:p>
        </p:txBody>
      </p:sp>
      <p:sp>
        <p:nvSpPr>
          <p:cNvPr id="3" name="v2-title">
            <a:extLst>
              <a:ext uri="{FF2B5EF4-FFF2-40B4-BE49-F238E27FC236}">
                <a16:creationId xmlns:a16="http://schemas.microsoft.com/office/drawing/2014/main" id="{6AB99688-CAA6-4673-A587-7F80038D7585}"/>
              </a:ext>
            </a:extLst>
          </p:cNvPr>
          <p:cNvSpPr>
            <a:spLocks noGrp="1"/>
          </p:cNvSpPr>
          <p:nvPr/>
        </p:nvSpPr>
        <p:spPr>
          <a:xfrm>
            <a:off x="981075" y="361950"/>
            <a:ext cx="10287000" cy="552450"/>
          </a:xfrm>
          <a:prstGeom prst="rect">
            <a:avLst/>
          </a:prstGeom>
          <a:noFill/>
          <a:ln w="0">
            <a:noFill/>
            <a:prstDash val="solid"/>
          </a:ln>
        </p:spPr>
        <p:txBody>
          <a:bodyPr/>
          <a:lstStyle/>
          <a:p>
            <a:pPr>
              <a:defRPr sz="2550" b="1">
                <a:solidFill>
                  <a:srgbClr val="1F3B6D"/>
                </a:solidFill>
              </a:defRPr>
            </a:pPr>
            <a:r>
              <a:rPr sz="2550" b="1">
                <a:solidFill>
                  <a:srgbClr val="1F3B6D"/>
                </a:solidFill>
              </a:rPr>
              <a:t>Small-Group Lens Exercise</a:t>
            </a:r>
          </a:p>
        </p:txBody>
      </p:sp>
      <p:sp>
        <p:nvSpPr>
          <p:cNvPr id="4" name="v2-rule">
            <a:extLst>
              <a:ext uri="{FF2B5EF4-FFF2-40B4-BE49-F238E27FC236}">
                <a16:creationId xmlns:a16="http://schemas.microsoft.com/office/drawing/2014/main" id="{5C7A7A0B-6E3D-4E0C-8B3D-EAD21C393B91}"/>
              </a:ext>
            </a:extLst>
          </p:cNvPr>
          <p:cNvSpPr>
            <a:spLocks noGrp="1"/>
          </p:cNvSpPr>
          <p:nvPr/>
        </p:nvSpPr>
        <p:spPr>
          <a:xfrm>
            <a:off x="638175" y="1000125"/>
            <a:ext cx="10972800" cy="28575"/>
          </a:xfrm>
          <a:prstGeom prst="rect">
            <a:avLst/>
          </a:prstGeom>
          <a:solidFill>
            <a:srgbClr val="2D78B9"/>
          </a:solidFill>
          <a:ln w="0">
            <a:solidFill>
              <a:srgbClr val="2D78B9"/>
            </a:solidFill>
            <a:prstDash val="solid"/>
          </a:ln>
        </p:spPr>
        <p:txBody>
          <a:bodyPr/>
          <a:lstStyle/>
          <a:p>
            <a:endParaRPr lang="zh-CN" altLang="en-US"/>
          </a:p>
        </p:txBody>
      </p:sp>
      <p:sp>
        <p:nvSpPr>
          <p:cNvPr id="5" name="v2-subtitle">
            <a:extLst>
              <a:ext uri="{FF2B5EF4-FFF2-40B4-BE49-F238E27FC236}">
                <a16:creationId xmlns:a16="http://schemas.microsoft.com/office/drawing/2014/main" id="{5EC29405-2A13-4BEF-B7D6-4A2B1DB8D9E7}"/>
              </a:ext>
            </a:extLst>
          </p:cNvPr>
          <p:cNvSpPr>
            <a:spLocks noGrp="1"/>
          </p:cNvSpPr>
          <p:nvPr/>
        </p:nvSpPr>
        <p:spPr>
          <a:xfrm>
            <a:off x="981075" y="1104900"/>
            <a:ext cx="10287000" cy="323850"/>
          </a:xfrm>
          <a:prstGeom prst="rect">
            <a:avLst/>
          </a:prstGeom>
          <a:noFill/>
          <a:ln w="0">
            <a:noFill/>
            <a:prstDash val="solid"/>
          </a:ln>
        </p:spPr>
        <p:txBody>
          <a:bodyPr/>
          <a:lstStyle/>
          <a:p>
            <a:pPr>
              <a:defRPr sz="1275" i="1">
                <a:solidFill>
                  <a:srgbClr val="5B6670"/>
                </a:solidFill>
              </a:defRPr>
            </a:pPr>
            <a:r>
              <a:rPr sz="1275" i="1">
                <a:solidFill>
                  <a:srgbClr val="5B6670"/>
                </a:solidFill>
              </a:rPr>
              <a:t>Prepare a one-minute recommendation using only your assigned lens.</a:t>
            </a:r>
          </a:p>
        </p:txBody>
      </p:sp>
      <p:sp>
        <p:nvSpPr>
          <p:cNvPr id="6" name="v2-accent">
            <a:extLst>
              <a:ext uri="{FF2B5EF4-FFF2-40B4-BE49-F238E27FC236}">
                <a16:creationId xmlns:a16="http://schemas.microsoft.com/office/drawing/2014/main" id="{6CE639E2-8A4A-4BF5-B3C6-2E11E0CFB9C1}"/>
              </a:ext>
            </a:extLst>
          </p:cNvPr>
          <p:cNvSpPr>
            <a:spLocks noGrp="1"/>
          </p:cNvSpPr>
          <p:nvPr/>
        </p:nvSpPr>
        <p:spPr>
          <a:xfrm>
            <a:off x="11687175" y="304800"/>
            <a:ext cx="266700" cy="266700"/>
          </a:xfrm>
          <a:prstGeom prst="rect">
            <a:avLst/>
          </a:prstGeom>
          <a:solidFill>
            <a:srgbClr val="2D78B9"/>
          </a:solidFill>
          <a:ln w="0">
            <a:solidFill>
              <a:srgbClr val="2D78B9"/>
            </a:solidFill>
            <a:prstDash val="solid"/>
          </a:ln>
        </p:spPr>
        <p:txBody>
          <a:bodyPr/>
          <a:lstStyle/>
          <a:p>
            <a:endParaRPr lang="zh-CN" altLang="en-US"/>
          </a:p>
        </p:txBody>
      </p:sp>
      <p:sp>
        <p:nvSpPr>
          <p:cNvPr id="7" name="v2-footer">
            <a:extLst>
              <a:ext uri="{FF2B5EF4-FFF2-40B4-BE49-F238E27FC236}">
                <a16:creationId xmlns:a16="http://schemas.microsoft.com/office/drawing/2014/main" id="{46781CD3-DF0E-4D07-93F4-579471A7B973}"/>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sp>
        <p:nvSpPr>
          <p:cNvPr id="8" name="step-no-0">
            <a:extLst>
              <a:ext uri="{FF2B5EF4-FFF2-40B4-BE49-F238E27FC236}">
                <a16:creationId xmlns:a16="http://schemas.microsoft.com/office/drawing/2014/main" id="{78418615-F3A4-4647-8CAC-3A6A7AB94F2E}"/>
              </a:ext>
            </a:extLst>
          </p:cNvPr>
          <p:cNvSpPr>
            <a:spLocks noGrp="1"/>
          </p:cNvSpPr>
          <p:nvPr/>
        </p:nvSpPr>
        <p:spPr>
          <a:xfrm>
            <a:off x="1143000" y="1666875"/>
            <a:ext cx="457200" cy="457200"/>
          </a:xfrm>
          <a:prstGeom prst="ellipse">
            <a:avLst/>
          </a:prstGeom>
          <a:solidFill>
            <a:srgbClr val="2D78B9"/>
          </a:solidFill>
          <a:ln w="0">
            <a:solidFill>
              <a:srgbClr val="2D78B9"/>
            </a:solidFill>
            <a:prstDash val="solid"/>
          </a:ln>
        </p:spPr>
        <p:txBody>
          <a:bodyPr anchor="ctr"/>
          <a:lstStyle/>
          <a:p>
            <a:pPr algn="ctr">
              <a:defRPr sz="1500" b="1">
                <a:solidFill>
                  <a:srgbClr val="FFFFFF"/>
                </a:solidFill>
              </a:defRPr>
            </a:pPr>
            <a:r>
              <a:rPr sz="1500" b="1">
                <a:solidFill>
                  <a:srgbClr val="FFFFFF"/>
                </a:solidFill>
              </a:rPr>
              <a:t>1</a:t>
            </a:r>
          </a:p>
        </p:txBody>
      </p:sp>
      <p:sp>
        <p:nvSpPr>
          <p:cNvPr id="9" name="step-txt-0">
            <a:extLst>
              <a:ext uri="{FF2B5EF4-FFF2-40B4-BE49-F238E27FC236}">
                <a16:creationId xmlns:a16="http://schemas.microsoft.com/office/drawing/2014/main" id="{4F4A155F-84BA-44CF-BA38-0E9FD459B7BB}"/>
              </a:ext>
            </a:extLst>
          </p:cNvPr>
          <p:cNvSpPr>
            <a:spLocks noGrp="1"/>
          </p:cNvSpPr>
          <p:nvPr/>
        </p:nvSpPr>
        <p:spPr>
          <a:xfrm>
            <a:off x="1809750" y="1657350"/>
            <a:ext cx="8572500" cy="514350"/>
          </a:xfrm>
          <a:prstGeom prst="rect">
            <a:avLst/>
          </a:prstGeom>
          <a:noFill/>
          <a:ln w="0">
            <a:noFill/>
            <a:prstDash val="solid"/>
          </a:ln>
        </p:spPr>
        <p:txBody>
          <a:bodyPr/>
          <a:lstStyle/>
          <a:p>
            <a:pPr>
              <a:defRPr sz="1575">
                <a:solidFill>
                  <a:srgbClr val="263442"/>
                </a:solidFill>
              </a:defRPr>
            </a:pPr>
            <a:r>
              <a:rPr sz="1575">
                <a:solidFill>
                  <a:srgbClr val="263442"/>
                </a:solidFill>
              </a:rPr>
              <a:t>Identify the key ethical question</a:t>
            </a:r>
          </a:p>
        </p:txBody>
      </p:sp>
      <p:sp>
        <p:nvSpPr>
          <p:cNvPr id="10" name="step-no-1">
            <a:extLst>
              <a:ext uri="{FF2B5EF4-FFF2-40B4-BE49-F238E27FC236}">
                <a16:creationId xmlns:a16="http://schemas.microsoft.com/office/drawing/2014/main" id="{08D55D44-6CA7-4E3E-9C0A-34FB2F23C2DD}"/>
              </a:ext>
            </a:extLst>
          </p:cNvPr>
          <p:cNvSpPr>
            <a:spLocks noGrp="1"/>
          </p:cNvSpPr>
          <p:nvPr/>
        </p:nvSpPr>
        <p:spPr>
          <a:xfrm>
            <a:off x="1143000" y="2571750"/>
            <a:ext cx="457200" cy="457200"/>
          </a:xfrm>
          <a:prstGeom prst="ellipse">
            <a:avLst/>
          </a:prstGeom>
          <a:solidFill>
            <a:srgbClr val="2D78B9"/>
          </a:solidFill>
          <a:ln w="0">
            <a:solidFill>
              <a:srgbClr val="2D78B9"/>
            </a:solidFill>
            <a:prstDash val="solid"/>
          </a:ln>
        </p:spPr>
        <p:txBody>
          <a:bodyPr anchor="ctr"/>
          <a:lstStyle/>
          <a:p>
            <a:pPr algn="ctr">
              <a:defRPr sz="1500" b="1">
                <a:solidFill>
                  <a:srgbClr val="FFFFFF"/>
                </a:solidFill>
              </a:defRPr>
            </a:pPr>
            <a:r>
              <a:rPr sz="1500" b="1">
                <a:solidFill>
                  <a:srgbClr val="FFFFFF"/>
                </a:solidFill>
              </a:rPr>
              <a:t>2</a:t>
            </a:r>
          </a:p>
        </p:txBody>
      </p:sp>
      <p:sp>
        <p:nvSpPr>
          <p:cNvPr id="11" name="step-txt-1">
            <a:extLst>
              <a:ext uri="{FF2B5EF4-FFF2-40B4-BE49-F238E27FC236}">
                <a16:creationId xmlns:a16="http://schemas.microsoft.com/office/drawing/2014/main" id="{069888D2-1E1B-4979-9D3C-7A1023B44F74}"/>
              </a:ext>
            </a:extLst>
          </p:cNvPr>
          <p:cNvSpPr>
            <a:spLocks noGrp="1"/>
          </p:cNvSpPr>
          <p:nvPr/>
        </p:nvSpPr>
        <p:spPr>
          <a:xfrm>
            <a:off x="1809750" y="2562225"/>
            <a:ext cx="8572500" cy="514350"/>
          </a:xfrm>
          <a:prstGeom prst="rect">
            <a:avLst/>
          </a:prstGeom>
          <a:noFill/>
          <a:ln w="0">
            <a:noFill/>
            <a:prstDash val="solid"/>
          </a:ln>
        </p:spPr>
        <p:txBody>
          <a:bodyPr/>
          <a:lstStyle/>
          <a:p>
            <a:pPr>
              <a:defRPr sz="1575">
                <a:solidFill>
                  <a:srgbClr val="263442"/>
                </a:solidFill>
              </a:defRPr>
            </a:pPr>
            <a:r>
              <a:rPr sz="1575">
                <a:solidFill>
                  <a:srgbClr val="263442"/>
                </a:solidFill>
              </a:rPr>
              <a:t>Request the evidence your lens needs</a:t>
            </a:r>
          </a:p>
        </p:txBody>
      </p:sp>
      <p:sp>
        <p:nvSpPr>
          <p:cNvPr id="12" name="step-no-2">
            <a:extLst>
              <a:ext uri="{FF2B5EF4-FFF2-40B4-BE49-F238E27FC236}">
                <a16:creationId xmlns:a16="http://schemas.microsoft.com/office/drawing/2014/main" id="{D61E2F30-FECE-4446-853A-BC4D09C8C90D}"/>
              </a:ext>
            </a:extLst>
          </p:cNvPr>
          <p:cNvSpPr>
            <a:spLocks noGrp="1"/>
          </p:cNvSpPr>
          <p:nvPr/>
        </p:nvSpPr>
        <p:spPr>
          <a:xfrm>
            <a:off x="1143000" y="3476625"/>
            <a:ext cx="457200" cy="457200"/>
          </a:xfrm>
          <a:prstGeom prst="ellipse">
            <a:avLst/>
          </a:prstGeom>
          <a:solidFill>
            <a:srgbClr val="2D78B9"/>
          </a:solidFill>
          <a:ln w="0">
            <a:solidFill>
              <a:srgbClr val="2D78B9"/>
            </a:solidFill>
            <a:prstDash val="solid"/>
          </a:ln>
        </p:spPr>
        <p:txBody>
          <a:bodyPr anchor="ctr"/>
          <a:lstStyle/>
          <a:p>
            <a:pPr algn="ctr">
              <a:defRPr sz="1500" b="1">
                <a:solidFill>
                  <a:srgbClr val="FFFFFF"/>
                </a:solidFill>
              </a:defRPr>
            </a:pPr>
            <a:r>
              <a:rPr sz="1500" b="1">
                <a:solidFill>
                  <a:srgbClr val="FFFFFF"/>
                </a:solidFill>
              </a:rPr>
              <a:t>3</a:t>
            </a:r>
          </a:p>
        </p:txBody>
      </p:sp>
      <p:sp>
        <p:nvSpPr>
          <p:cNvPr id="13" name="step-txt-2">
            <a:extLst>
              <a:ext uri="{FF2B5EF4-FFF2-40B4-BE49-F238E27FC236}">
                <a16:creationId xmlns:a16="http://schemas.microsoft.com/office/drawing/2014/main" id="{91602A2B-48F4-4BC7-A6E0-94373D46AC6D}"/>
              </a:ext>
            </a:extLst>
          </p:cNvPr>
          <p:cNvSpPr>
            <a:spLocks noGrp="1"/>
          </p:cNvSpPr>
          <p:nvPr/>
        </p:nvSpPr>
        <p:spPr>
          <a:xfrm>
            <a:off x="1809750" y="3467100"/>
            <a:ext cx="8572500" cy="514350"/>
          </a:xfrm>
          <a:prstGeom prst="rect">
            <a:avLst/>
          </a:prstGeom>
          <a:noFill/>
          <a:ln w="0">
            <a:noFill/>
            <a:prstDash val="solid"/>
          </a:ln>
        </p:spPr>
        <p:txBody>
          <a:bodyPr/>
          <a:lstStyle/>
          <a:p>
            <a:pPr>
              <a:defRPr sz="1575">
                <a:solidFill>
                  <a:srgbClr val="263442"/>
                </a:solidFill>
              </a:defRPr>
            </a:pPr>
            <a:r>
              <a:rPr sz="1575">
                <a:solidFill>
                  <a:srgbClr val="263442"/>
                </a:solidFill>
              </a:rPr>
              <a:t>Recommend deploy, redesign, audit, or stop</a:t>
            </a:r>
          </a:p>
        </p:txBody>
      </p:sp>
      <p:sp>
        <p:nvSpPr>
          <p:cNvPr id="14" name="step-no-3">
            <a:extLst>
              <a:ext uri="{FF2B5EF4-FFF2-40B4-BE49-F238E27FC236}">
                <a16:creationId xmlns:a16="http://schemas.microsoft.com/office/drawing/2014/main" id="{1CFBEB1F-4026-482D-BBF8-F363E603E1F6}"/>
              </a:ext>
            </a:extLst>
          </p:cNvPr>
          <p:cNvSpPr>
            <a:spLocks noGrp="1"/>
          </p:cNvSpPr>
          <p:nvPr/>
        </p:nvSpPr>
        <p:spPr>
          <a:xfrm>
            <a:off x="1143000" y="4381500"/>
            <a:ext cx="457200" cy="457200"/>
          </a:xfrm>
          <a:prstGeom prst="ellipse">
            <a:avLst/>
          </a:prstGeom>
          <a:solidFill>
            <a:srgbClr val="2D78B9"/>
          </a:solidFill>
          <a:ln w="0">
            <a:solidFill>
              <a:srgbClr val="2D78B9"/>
            </a:solidFill>
            <a:prstDash val="solid"/>
          </a:ln>
        </p:spPr>
        <p:txBody>
          <a:bodyPr anchor="ctr"/>
          <a:lstStyle/>
          <a:p>
            <a:pPr algn="ctr">
              <a:defRPr sz="1500" b="1">
                <a:solidFill>
                  <a:srgbClr val="FFFFFF"/>
                </a:solidFill>
              </a:defRPr>
            </a:pPr>
            <a:r>
              <a:rPr sz="1500" b="1">
                <a:solidFill>
                  <a:srgbClr val="FFFFFF"/>
                </a:solidFill>
              </a:rPr>
              <a:t>4</a:t>
            </a:r>
          </a:p>
        </p:txBody>
      </p:sp>
      <p:sp>
        <p:nvSpPr>
          <p:cNvPr id="15" name="step-txt-3">
            <a:extLst>
              <a:ext uri="{FF2B5EF4-FFF2-40B4-BE49-F238E27FC236}">
                <a16:creationId xmlns:a16="http://schemas.microsoft.com/office/drawing/2014/main" id="{57AA9AF7-B436-47C4-87C0-14FA43BADEC6}"/>
              </a:ext>
            </a:extLst>
          </p:cNvPr>
          <p:cNvSpPr>
            <a:spLocks noGrp="1"/>
          </p:cNvSpPr>
          <p:nvPr/>
        </p:nvSpPr>
        <p:spPr>
          <a:xfrm>
            <a:off x="1809750" y="4371975"/>
            <a:ext cx="8572500" cy="514350"/>
          </a:xfrm>
          <a:prstGeom prst="rect">
            <a:avLst/>
          </a:prstGeom>
          <a:noFill/>
          <a:ln w="0">
            <a:noFill/>
            <a:prstDash val="solid"/>
          </a:ln>
        </p:spPr>
        <p:txBody>
          <a:bodyPr/>
          <a:lstStyle/>
          <a:p>
            <a:pPr>
              <a:defRPr sz="1575">
                <a:solidFill>
                  <a:srgbClr val="263442"/>
                </a:solidFill>
              </a:defRPr>
            </a:pPr>
            <a:r>
              <a:rPr sz="1575">
                <a:solidFill>
                  <a:srgbClr val="263442"/>
                </a:solidFill>
              </a:rPr>
              <a:t>Name one weakness in your own analysis</a:t>
            </a:r>
          </a:p>
        </p:txBody>
      </p:sp>
      <p:sp>
        <p:nvSpPr>
          <p:cNvPr id="16" name="v2-takeaway">
            <a:extLst>
              <a:ext uri="{FF2B5EF4-FFF2-40B4-BE49-F238E27FC236}">
                <a16:creationId xmlns:a16="http://schemas.microsoft.com/office/drawing/2014/main" id="{AC5C3796-DFD6-4768-9D45-8D0817D6B4AB}"/>
              </a:ext>
            </a:extLst>
          </p:cNvPr>
          <p:cNvSpPr>
            <a:spLocks noGrp="1"/>
          </p:cNvSpPr>
          <p:nvPr/>
        </p:nvSpPr>
        <p:spPr>
          <a:xfrm>
            <a:off x="876300" y="575310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defRPr sz="1200" b="1">
                <a:solidFill>
                  <a:srgbClr val="1F3B6D"/>
                </a:solidFill>
              </a:defRPr>
            </a:pPr>
            <a:r>
              <a:rPr sz="1200" b="1">
                <a:solidFill>
                  <a:srgbClr val="1F3B6D"/>
                </a:solidFill>
              </a:rPr>
              <a:t>Report back with a claim, the evidence required, and a limitation—not a slogan.</a:t>
            </a:r>
          </a:p>
        </p:txBody>
      </p:sp>
      <p:sp>
        <p:nvSpPr>
          <p:cNvPr id="17" name="v2-page-mask-38">
            <a:extLst>
              <a:ext uri="{FF2B5EF4-FFF2-40B4-BE49-F238E27FC236}">
                <a16:creationId xmlns:a16="http://schemas.microsoft.com/office/drawing/2014/main" id="{30B972D5-8491-4930-BFC4-F705F4F59BA4}"/>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8" name="v2-page-38">
            <a:extLst>
              <a:ext uri="{FF2B5EF4-FFF2-40B4-BE49-F238E27FC236}">
                <a16:creationId xmlns:a16="http://schemas.microsoft.com/office/drawing/2014/main" id="{AFF1BE17-17ED-4A06-8AAC-866FDD55854D}"/>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38</a:t>
            </a:r>
          </a:p>
        </p:txBody>
      </p:sp>
    </p:spTree>
    <p:extLst>
      <p:ext uri="{BB962C8B-B14F-4D97-AF65-F5344CB8AC3E}">
        <p14:creationId xmlns:p14="http://schemas.microsoft.com/office/powerpoint/2010/main" val="194055124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DD2C96-B53B-46E3-B90E-1BB16245E8B2}"/>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E695742D-5089-4318-A948-3A7566C44831}"/>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9AA6493-3B6C-48FF-94F7-E3AB916427D6}"/>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What is AI Ethics?</a:t>
            </a:r>
          </a:p>
        </p:txBody>
      </p:sp>
      <p:sp>
        <p:nvSpPr>
          <p:cNvPr id="5" name="Rectangle 4">
            <a:extLst>
              <a:ext uri="{FF2B5EF4-FFF2-40B4-BE49-F238E27FC236}">
                <a16:creationId xmlns:a16="http://schemas.microsoft.com/office/drawing/2014/main" id="{DC7F9865-8D98-4C29-89CB-EB24E498C6DC}"/>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4CB0CCC-26F4-42B3-BF02-1CBC89B7A501}"/>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Definition &amp; scope.</a:t>
            </a:r>
          </a:p>
        </p:txBody>
      </p:sp>
      <p:sp>
        <p:nvSpPr>
          <p:cNvPr id="7" name="TextBox 6">
            <a:extLst>
              <a:ext uri="{FF2B5EF4-FFF2-40B4-BE49-F238E27FC236}">
                <a16:creationId xmlns:a16="http://schemas.microsoft.com/office/drawing/2014/main" id="{F7CBC4F3-BA32-4811-B95A-50D44280D5DE}"/>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BE3171E2-0304-43E4-9C12-612DCDF0409A}"/>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30</a:t>
            </a:r>
          </a:p>
        </p:txBody>
      </p:sp>
      <p:sp>
        <p:nvSpPr>
          <p:cNvPr id="9" name="TextBox 8">
            <a:extLst>
              <a:ext uri="{FF2B5EF4-FFF2-40B4-BE49-F238E27FC236}">
                <a16:creationId xmlns:a16="http://schemas.microsoft.com/office/drawing/2014/main" id="{BCD98C71-3392-4C6A-AB8C-1C8BC134B0FA}"/>
              </a:ext>
            </a:extLst>
          </p:cNvPr>
          <p:cNvSpPr>
            <a:spLocks noGrp="1"/>
          </p:cNvSpPr>
          <p:nvPr/>
        </p:nvSpPr>
        <p:spPr>
          <a:xfrm>
            <a:off x="896112" y="150876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1" i="0" u="none">
                <a:solidFill>
                  <a:srgbClr val="1F3864"/>
                </a:solidFill>
                <a:latin typeface="Calibri"/>
                <a:ea typeface="Calibri"/>
                <a:cs typeface="Calibri"/>
              </a:rPr>
              <a:t>AI ethics: </a:t>
            </a:r>
            <a:r>
              <a:rPr sz="1700" b="0" i="0" u="none">
                <a:solidFill>
                  <a:srgbClr val="262626"/>
                </a:solidFill>
                <a:latin typeface="Calibri"/>
                <a:ea typeface="Calibri"/>
                <a:cs typeface="Calibri"/>
              </a:rPr>
              <a:t>the critical study of moral issues arising in AI </a:t>
            </a:r>
            <a:r>
              <a:rPr sz="1700" b="1" i="0" u="sng">
                <a:solidFill>
                  <a:srgbClr val="262626"/>
                </a:solidFill>
                <a:latin typeface="Calibri"/>
                <a:ea typeface="Calibri"/>
                <a:cs typeface="Calibri"/>
              </a:rPr>
              <a:t>research, design, deployment, and governance</a:t>
            </a:r>
            <a:r>
              <a:rPr sz="1700" b="0" i="0" u="none">
                <a:solidFill>
                  <a:srgbClr val="262626"/>
                </a:solidFill>
                <a:latin typeface="Calibri"/>
                <a:ea typeface="Calibri"/>
                <a:cs typeface="Calibri"/>
              </a:rPr>
              <a:t> (Dignum; Oxford Handbook).</a:t>
            </a:r>
          </a:p>
          <a:p>
            <a:pPr marL="285750" indent="-285750" algn="l">
              <a:lnSpc>
                <a:spcPct val="116000"/>
              </a:lnSpc>
              <a:spcBef>
                <a:spcPts val="400"/>
              </a:spcBef>
              <a:spcAft>
                <a:spcPts val="700"/>
              </a:spcAft>
              <a:buClr>
                <a:srgbClr val="2E75B6"/>
              </a:buClr>
              <a:buSzPct val="100000"/>
              <a:buFont typeface="Arial"/>
              <a:buChar char="•"/>
            </a:pPr>
            <a:r>
              <a:rPr sz="1600" b="1" i="0" u="none">
                <a:solidFill>
                  <a:srgbClr val="1F3864"/>
                </a:solidFill>
                <a:latin typeface="Calibri"/>
                <a:ea typeface="Calibri"/>
                <a:cs typeface="Calibri"/>
              </a:rPr>
              <a:t>Adjacent fields overlap but differ: </a:t>
            </a:r>
            <a:r>
              <a:rPr sz="1600" b="0" i="0" u="none">
                <a:solidFill>
                  <a:srgbClr val="262626"/>
                </a:solidFill>
                <a:latin typeface="Calibri"/>
                <a:ea typeface="Calibri"/>
                <a:cs typeface="Calibri"/>
              </a:rPr>
              <a:t>data ethics, robot ethics, computer ethics.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Four levels: </a:t>
            </a:r>
            <a:r>
              <a:rPr sz="1600" b="0" i="0" u="none">
                <a:solidFill>
                  <a:srgbClr val="262626"/>
                </a:solidFill>
                <a:latin typeface="Calibri"/>
                <a:ea typeface="Calibri"/>
                <a:cs typeface="Calibri"/>
              </a:rPr>
              <a:t>research integrity  →  responsible design  →  deployment context  →  governance.</a:t>
            </a:r>
          </a:p>
        </p:txBody>
      </p:sp>
      <p:sp>
        <p:nvSpPr>
          <p:cNvPr id="10" name="expanded-arrow-30-1">
            <a:extLst>
              <a:ext uri="{FF2B5EF4-FFF2-40B4-BE49-F238E27FC236}">
                <a16:creationId xmlns:a16="http://schemas.microsoft.com/office/drawing/2014/main" id="{9E58D851-DFEE-4F7A-B887-08B076AFBFF6}"/>
              </a:ext>
            </a:extLst>
          </p:cNvPr>
          <p:cNvSpPr>
            <a:spLocks noGrp="1"/>
          </p:cNvSpPr>
          <p:nvPr/>
        </p:nvSpPr>
        <p:spPr>
          <a:xfrm>
            <a:off x="4772025"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30-2">
            <a:extLst>
              <a:ext uri="{FF2B5EF4-FFF2-40B4-BE49-F238E27FC236}">
                <a16:creationId xmlns:a16="http://schemas.microsoft.com/office/drawing/2014/main" id="{29298B08-0A67-4015-8373-C9618CD976B3}"/>
              </a:ext>
            </a:extLst>
          </p:cNvPr>
          <p:cNvSpPr>
            <a:spLocks noGrp="1"/>
          </p:cNvSpPr>
          <p:nvPr/>
        </p:nvSpPr>
        <p:spPr>
          <a:xfrm>
            <a:off x="7153275"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node-30-1">
            <a:extLst>
              <a:ext uri="{FF2B5EF4-FFF2-40B4-BE49-F238E27FC236}">
                <a16:creationId xmlns:a16="http://schemas.microsoft.com/office/drawing/2014/main" id="{CFCA101A-BDF6-4FD3-AD6A-C9E94CA70EEF}"/>
              </a:ext>
            </a:extLst>
          </p:cNvPr>
          <p:cNvSpPr>
            <a:spLocks noGrp="1"/>
          </p:cNvSpPr>
          <p:nvPr/>
        </p:nvSpPr>
        <p:spPr>
          <a:xfrm>
            <a:off x="26193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DESIGN</a:t>
            </a:r>
          </a:p>
        </p:txBody>
      </p:sp>
      <p:sp>
        <p:nvSpPr>
          <p:cNvPr id="13" name="expanded-node-30-2">
            <a:extLst>
              <a:ext uri="{FF2B5EF4-FFF2-40B4-BE49-F238E27FC236}">
                <a16:creationId xmlns:a16="http://schemas.microsoft.com/office/drawing/2014/main" id="{4A261FC9-01B3-4D70-A017-20F1EE1E171D}"/>
              </a:ext>
            </a:extLst>
          </p:cNvPr>
          <p:cNvSpPr>
            <a:spLocks noGrp="1"/>
          </p:cNvSpPr>
          <p:nvPr/>
        </p:nvSpPr>
        <p:spPr>
          <a:xfrm>
            <a:off x="5000625"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DEPLOYMENT</a:t>
            </a:r>
          </a:p>
        </p:txBody>
      </p:sp>
      <p:sp>
        <p:nvSpPr>
          <p:cNvPr id="14" name="expanded-node-30-3">
            <a:extLst>
              <a:ext uri="{FF2B5EF4-FFF2-40B4-BE49-F238E27FC236}">
                <a16:creationId xmlns:a16="http://schemas.microsoft.com/office/drawing/2014/main" id="{435FC00B-14B8-43A0-9439-140A231F6696}"/>
              </a:ext>
            </a:extLst>
          </p:cNvPr>
          <p:cNvSpPr>
            <a:spLocks noGrp="1"/>
          </p:cNvSpPr>
          <p:nvPr/>
        </p:nvSpPr>
        <p:spPr>
          <a:xfrm>
            <a:off x="73818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GOVERNANCE</a:t>
            </a:r>
          </a:p>
        </p:txBody>
      </p:sp>
      <p:sp>
        <p:nvSpPr>
          <p:cNvPr id="15" name="expanded-takeaway-30">
            <a:extLst>
              <a:ext uri="{FF2B5EF4-FFF2-40B4-BE49-F238E27FC236}">
                <a16:creationId xmlns:a16="http://schemas.microsoft.com/office/drawing/2014/main" id="{DC44E95B-4755-46F9-9E76-5FDB28F66F71}"/>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AI ethics studies moral questions across the full socio-technical lifecycle, not only model behavior.</a:t>
            </a:r>
          </a:p>
        </p:txBody>
      </p:sp>
      <p:sp>
        <p:nvSpPr>
          <p:cNvPr id="16" name="v2-page-mask-39">
            <a:extLst>
              <a:ext uri="{FF2B5EF4-FFF2-40B4-BE49-F238E27FC236}">
                <a16:creationId xmlns:a16="http://schemas.microsoft.com/office/drawing/2014/main" id="{FF24C2D2-E899-4059-9ACD-DF8571778B4D}"/>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7" name="v2-page-39">
            <a:extLst>
              <a:ext uri="{FF2B5EF4-FFF2-40B4-BE49-F238E27FC236}">
                <a16:creationId xmlns:a16="http://schemas.microsoft.com/office/drawing/2014/main" id="{9D438BDD-2369-4891-A4F8-80BC59C31CBC}"/>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39</a:t>
            </a:r>
          </a:p>
        </p:txBody>
      </p:sp>
    </p:spTree>
    <p:extLst>
      <p:ext uri="{BB962C8B-B14F-4D97-AF65-F5344CB8AC3E}">
        <p14:creationId xmlns:p14="http://schemas.microsoft.com/office/powerpoint/2010/main" val="14270809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DF292D0-3721-4ED1-A213-747A814B5ACD}"/>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95264038-C58B-4EE8-B836-05DCB69A3963}"/>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422B132-6242-4A89-A3C1-2427A9B49929}"/>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What Counts as an “AI Ethics Issue”?</a:t>
            </a:r>
          </a:p>
        </p:txBody>
      </p:sp>
      <p:sp>
        <p:nvSpPr>
          <p:cNvPr id="5" name="Rectangle 4">
            <a:extLst>
              <a:ext uri="{FF2B5EF4-FFF2-40B4-BE49-F238E27FC236}">
                <a16:creationId xmlns:a16="http://schemas.microsoft.com/office/drawing/2014/main" id="{AE225E82-EEBB-4B68-A8F9-E634DCE3E4F0}"/>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6AFD6B30-18C8-41A0-96D1-BD98D1A6A418}"/>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9186FABD-74FD-453C-AC7B-91DC8C9AB356}"/>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31</a:t>
            </a:r>
          </a:p>
        </p:txBody>
      </p:sp>
      <p:sp>
        <p:nvSpPr>
          <p:cNvPr id="8" name="TextBox 7">
            <a:extLst>
              <a:ext uri="{FF2B5EF4-FFF2-40B4-BE49-F238E27FC236}">
                <a16:creationId xmlns:a16="http://schemas.microsoft.com/office/drawing/2014/main" id="{BC4ED495-B58A-4D85-8D42-227D8B4E338A}"/>
              </a:ext>
            </a:extLst>
          </p:cNvPr>
          <p:cNvSpPr>
            <a:spLocks noGrp="1"/>
          </p:cNvSpPr>
          <p:nvPr/>
        </p:nvSpPr>
        <p:spPr>
          <a:xfrm>
            <a:off x="896112" y="1600200"/>
            <a:ext cx="3429000" cy="4206240"/>
          </a:xfrm>
          <a:prstGeom prst="rect">
            <a:avLst/>
          </a:prstGeom>
          <a:noFill/>
        </p:spPr>
        <p:txBody>
          <a:bodyPr wrap="square" anchor="t">
            <a:spAutoFit/>
          </a:bodyPr>
          <a:lstStyle/>
          <a:p>
            <a:pPr marL="285750" indent="0" algn="l">
              <a:lnSpc>
                <a:spcPct val="116000"/>
              </a:lnSpc>
              <a:spcBef>
                <a:spcPts val="0"/>
              </a:spcBef>
              <a:spcAft>
                <a:spcPts val="400"/>
              </a:spcAft>
              <a:buNone/>
            </a:pPr>
            <a:r>
              <a:rPr sz="1700" b="1" i="0" u="none">
                <a:solidFill>
                  <a:srgbClr val="1F3864"/>
                </a:solidFill>
                <a:latin typeface="Calibri"/>
                <a:ea typeface="Calibri"/>
                <a:cs typeface="Calibri"/>
              </a:rPr>
              <a:t>Is  (descriptive)</a:t>
            </a:r>
          </a:p>
          <a:p>
            <a:pPr marL="285750" indent="-285750" algn="l">
              <a:lnSpc>
                <a:spcPct val="116000"/>
              </a:lnSpc>
              <a:spcBef>
                <a:spcPts val="0"/>
              </a:spcBef>
              <a:spcAft>
                <a:spcPts val="1200"/>
              </a:spcAft>
              <a:buClr>
                <a:srgbClr val="2E75B6"/>
              </a:buClr>
              <a:buSzPct val="100000"/>
              <a:buFont typeface="Arial"/>
              <a:buChar char="•"/>
            </a:pPr>
            <a:r>
              <a:rPr sz="1500" b="0" i="1" u="none">
                <a:solidFill>
                  <a:srgbClr val="595959"/>
                </a:solidFill>
                <a:latin typeface="Calibri"/>
                <a:ea typeface="Calibri"/>
                <a:cs typeface="Calibri"/>
              </a:rPr>
              <a:t>Does this model discriminate?</a:t>
            </a:r>
          </a:p>
        </p:txBody>
      </p:sp>
      <p:sp>
        <p:nvSpPr>
          <p:cNvPr id="9" name="TextBox 8">
            <a:extLst>
              <a:ext uri="{FF2B5EF4-FFF2-40B4-BE49-F238E27FC236}">
                <a16:creationId xmlns:a16="http://schemas.microsoft.com/office/drawing/2014/main" id="{74C5ED4E-C645-42B1-AEB1-BC4722089AC6}"/>
              </a:ext>
            </a:extLst>
          </p:cNvPr>
          <p:cNvSpPr>
            <a:spLocks noGrp="1"/>
          </p:cNvSpPr>
          <p:nvPr/>
        </p:nvSpPr>
        <p:spPr>
          <a:xfrm>
            <a:off x="4434840" y="1600200"/>
            <a:ext cx="3429000" cy="4206240"/>
          </a:xfrm>
          <a:prstGeom prst="rect">
            <a:avLst/>
          </a:prstGeom>
          <a:noFill/>
        </p:spPr>
        <p:txBody>
          <a:bodyPr wrap="square" anchor="t">
            <a:spAutoFit/>
          </a:bodyPr>
          <a:lstStyle/>
          <a:p>
            <a:pPr marL="285750" indent="0" algn="l">
              <a:lnSpc>
                <a:spcPct val="116000"/>
              </a:lnSpc>
              <a:spcBef>
                <a:spcPts val="0"/>
              </a:spcBef>
              <a:spcAft>
                <a:spcPts val="400"/>
              </a:spcAft>
              <a:buNone/>
            </a:pPr>
            <a:r>
              <a:rPr sz="1700" b="1" i="0" u="none">
                <a:solidFill>
                  <a:srgbClr val="1F3864"/>
                </a:solidFill>
                <a:latin typeface="Calibri"/>
                <a:ea typeface="Calibri"/>
                <a:cs typeface="Calibri"/>
              </a:rPr>
              <a:t>Ought  (normative)</a:t>
            </a:r>
          </a:p>
          <a:p>
            <a:pPr marL="285750" indent="-285750" algn="l">
              <a:lnSpc>
                <a:spcPct val="116000"/>
              </a:lnSpc>
              <a:spcBef>
                <a:spcPts val="0"/>
              </a:spcBef>
              <a:spcAft>
                <a:spcPts val="1200"/>
              </a:spcAft>
              <a:buClr>
                <a:srgbClr val="2E75B6"/>
              </a:buClr>
              <a:buSzPct val="100000"/>
              <a:buFont typeface="Arial"/>
              <a:buChar char="•"/>
            </a:pPr>
            <a:r>
              <a:rPr sz="1500" b="0" i="1" u="none">
                <a:solidFill>
                  <a:srgbClr val="595959"/>
                </a:solidFill>
                <a:latin typeface="Calibri"/>
                <a:ea typeface="Calibri"/>
                <a:cs typeface="Calibri"/>
              </a:rPr>
              <a:t>Should we deploy it?</a:t>
            </a:r>
          </a:p>
        </p:txBody>
      </p:sp>
      <p:sp>
        <p:nvSpPr>
          <p:cNvPr id="10" name="TextBox 9">
            <a:extLst>
              <a:ext uri="{FF2B5EF4-FFF2-40B4-BE49-F238E27FC236}">
                <a16:creationId xmlns:a16="http://schemas.microsoft.com/office/drawing/2014/main" id="{53BE0BBA-C537-4C1B-9597-FB93FE6CE5E1}"/>
              </a:ext>
            </a:extLst>
          </p:cNvPr>
          <p:cNvSpPr>
            <a:spLocks noGrp="1"/>
          </p:cNvSpPr>
          <p:nvPr/>
        </p:nvSpPr>
        <p:spPr>
          <a:xfrm>
            <a:off x="7973568" y="1600200"/>
            <a:ext cx="3429000" cy="4206240"/>
          </a:xfrm>
          <a:prstGeom prst="rect">
            <a:avLst/>
          </a:prstGeom>
          <a:noFill/>
        </p:spPr>
        <p:txBody>
          <a:bodyPr wrap="square" anchor="t">
            <a:spAutoFit/>
          </a:bodyPr>
          <a:lstStyle/>
          <a:p>
            <a:pPr marL="285750" indent="0" algn="l">
              <a:lnSpc>
                <a:spcPct val="116000"/>
              </a:lnSpc>
              <a:spcBef>
                <a:spcPts val="0"/>
              </a:spcBef>
              <a:spcAft>
                <a:spcPts val="400"/>
              </a:spcAft>
              <a:buNone/>
            </a:pPr>
            <a:r>
              <a:rPr sz="1700" b="1" i="0" u="none">
                <a:solidFill>
                  <a:srgbClr val="1F3864"/>
                </a:solidFill>
                <a:latin typeface="Calibri"/>
                <a:ea typeface="Calibri"/>
                <a:cs typeface="Calibri"/>
              </a:rPr>
              <a:t>How  (technical)</a:t>
            </a:r>
          </a:p>
          <a:p>
            <a:pPr marL="285750" indent="-285750" algn="l">
              <a:lnSpc>
                <a:spcPct val="116000"/>
              </a:lnSpc>
              <a:spcBef>
                <a:spcPts val="0"/>
              </a:spcBef>
              <a:spcAft>
                <a:spcPts val="1200"/>
              </a:spcAft>
              <a:buClr>
                <a:srgbClr val="2E75B6"/>
              </a:buClr>
              <a:buSzPct val="100000"/>
              <a:buFont typeface="Arial"/>
              <a:buChar char="•"/>
            </a:pPr>
            <a:r>
              <a:rPr sz="1500" b="0" i="1" u="none">
                <a:solidFill>
                  <a:srgbClr val="595959"/>
                </a:solidFill>
                <a:latin typeface="Calibri"/>
                <a:ea typeface="Calibri"/>
                <a:cs typeface="Calibri"/>
              </a:rPr>
              <a:t>What safeguards &amp; redress?</a:t>
            </a:r>
          </a:p>
        </p:txBody>
      </p:sp>
      <p:sp>
        <p:nvSpPr>
          <p:cNvPr id="11" name="TextBox 10">
            <a:extLst>
              <a:ext uri="{FF2B5EF4-FFF2-40B4-BE49-F238E27FC236}">
                <a16:creationId xmlns:a16="http://schemas.microsoft.com/office/drawing/2014/main" id="{13CE7033-4A30-4813-AB21-648E0B2AD30A}"/>
              </a:ext>
            </a:extLst>
          </p:cNvPr>
          <p:cNvSpPr>
            <a:spLocks noGrp="1"/>
          </p:cNvSpPr>
          <p:nvPr/>
        </p:nvSpPr>
        <p:spPr>
          <a:xfrm>
            <a:off x="896112" y="4572000"/>
            <a:ext cx="10515600" cy="1097280"/>
          </a:xfrm>
          <a:prstGeom prst="rect">
            <a:avLst/>
          </a:prstGeom>
          <a:noFill/>
        </p:spPr>
        <p:txBody>
          <a:bodyPr wrap="square" anchor="t">
            <a:spAutoFit/>
          </a:bodyPr>
          <a:lstStyle/>
          <a:p>
            <a:pPr marL="285750" indent="0" algn="ctr">
              <a:lnSpc>
                <a:spcPct val="116000"/>
              </a:lnSpc>
              <a:spcBef>
                <a:spcPts val="0"/>
              </a:spcBef>
              <a:spcAft>
                <a:spcPts val="700"/>
              </a:spcAft>
              <a:buNone/>
            </a:pPr>
            <a:r>
              <a:rPr sz="1500" b="0" i="1" u="none">
                <a:solidFill>
                  <a:srgbClr val="595959"/>
                </a:solidFill>
                <a:latin typeface="Calibri"/>
                <a:ea typeface="Calibri"/>
                <a:cs typeface="Calibri"/>
              </a:rPr>
              <a:t>AI ethics spans all three — description, judgment, and method.</a:t>
            </a:r>
          </a:p>
        </p:txBody>
      </p:sp>
      <p:sp>
        <p:nvSpPr>
          <p:cNvPr id="12" name="expanded-arrow-31-1">
            <a:extLst>
              <a:ext uri="{FF2B5EF4-FFF2-40B4-BE49-F238E27FC236}">
                <a16:creationId xmlns:a16="http://schemas.microsoft.com/office/drawing/2014/main" id="{99412AC5-FBF4-4491-87B7-F18228262862}"/>
              </a:ext>
            </a:extLst>
          </p:cNvPr>
          <p:cNvSpPr>
            <a:spLocks noGrp="1"/>
          </p:cNvSpPr>
          <p:nvPr/>
        </p:nvSpPr>
        <p:spPr>
          <a:xfrm>
            <a:off x="4566436" y="3327700"/>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arrow-31-2">
            <a:extLst>
              <a:ext uri="{FF2B5EF4-FFF2-40B4-BE49-F238E27FC236}">
                <a16:creationId xmlns:a16="http://schemas.microsoft.com/office/drawing/2014/main" id="{C6F067C0-77E7-4CA9-8A44-654E71032A82}"/>
              </a:ext>
            </a:extLst>
          </p:cNvPr>
          <p:cNvSpPr>
            <a:spLocks noGrp="1"/>
          </p:cNvSpPr>
          <p:nvPr/>
        </p:nvSpPr>
        <p:spPr>
          <a:xfrm>
            <a:off x="7227110" y="3316696"/>
            <a:ext cx="457200" cy="171450"/>
          </a:xfrm>
          <a:prstGeom prst="rightArrow">
            <a:avLst/>
          </a:prstGeom>
          <a:solidFill>
            <a:srgbClr val="9EC8E8"/>
          </a:solidFill>
          <a:ln w="0">
            <a:solidFill>
              <a:srgbClr val="9EC8E8"/>
            </a:solidFill>
            <a:prstDash val="solid"/>
          </a:ln>
        </p:spPr>
        <p:txBody>
          <a:bodyPr/>
          <a:lstStyle/>
          <a:p>
            <a:endParaRPr/>
          </a:p>
        </p:txBody>
      </p:sp>
      <p:sp>
        <p:nvSpPr>
          <p:cNvPr id="14" name="expanded-node-31-1">
            <a:extLst>
              <a:ext uri="{FF2B5EF4-FFF2-40B4-BE49-F238E27FC236}">
                <a16:creationId xmlns:a16="http://schemas.microsoft.com/office/drawing/2014/main" id="{1E9D256B-67E5-4DA6-8A71-8D6F67CF41A9}"/>
              </a:ext>
            </a:extLst>
          </p:cNvPr>
          <p:cNvSpPr>
            <a:spLocks noGrp="1"/>
          </p:cNvSpPr>
          <p:nvPr/>
        </p:nvSpPr>
        <p:spPr>
          <a:xfrm>
            <a:off x="2362962" y="2758005"/>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IS?</a:t>
            </a:r>
          </a:p>
        </p:txBody>
      </p:sp>
      <p:sp>
        <p:nvSpPr>
          <p:cNvPr id="15" name="expanded-node-31-2">
            <a:extLst>
              <a:ext uri="{FF2B5EF4-FFF2-40B4-BE49-F238E27FC236}">
                <a16:creationId xmlns:a16="http://schemas.microsoft.com/office/drawing/2014/main" id="{FC74BD5F-9E8F-42CB-96F8-90A5C18DDEC7}"/>
              </a:ext>
            </a:extLst>
          </p:cNvPr>
          <p:cNvSpPr>
            <a:spLocks noGrp="1"/>
          </p:cNvSpPr>
          <p:nvPr/>
        </p:nvSpPr>
        <p:spPr>
          <a:xfrm>
            <a:off x="5023636" y="283864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OUGHT?</a:t>
            </a:r>
          </a:p>
        </p:txBody>
      </p:sp>
      <p:sp>
        <p:nvSpPr>
          <p:cNvPr id="16" name="expanded-node-31-3">
            <a:extLst>
              <a:ext uri="{FF2B5EF4-FFF2-40B4-BE49-F238E27FC236}">
                <a16:creationId xmlns:a16="http://schemas.microsoft.com/office/drawing/2014/main" id="{EAB02599-0C29-4E3F-8AC0-557F47A14780}"/>
              </a:ext>
            </a:extLst>
          </p:cNvPr>
          <p:cNvSpPr>
            <a:spLocks noGrp="1"/>
          </p:cNvSpPr>
          <p:nvPr/>
        </p:nvSpPr>
        <p:spPr>
          <a:xfrm>
            <a:off x="7781268" y="2758005"/>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HOW?</a:t>
            </a:r>
          </a:p>
        </p:txBody>
      </p:sp>
      <p:sp>
        <p:nvSpPr>
          <p:cNvPr id="17" name="expanded-takeaway-31">
            <a:extLst>
              <a:ext uri="{FF2B5EF4-FFF2-40B4-BE49-F238E27FC236}">
                <a16:creationId xmlns:a16="http://schemas.microsoft.com/office/drawing/2014/main" id="{5FA0F201-4DE9-4805-ADDC-1810B6B8D6FD}"/>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A complete analysis combines descriptive evidence, normative judgment, and practical safeguards.</a:t>
            </a:r>
          </a:p>
        </p:txBody>
      </p:sp>
      <p:sp>
        <p:nvSpPr>
          <p:cNvPr id="18" name="v2-page-mask-40">
            <a:extLst>
              <a:ext uri="{FF2B5EF4-FFF2-40B4-BE49-F238E27FC236}">
                <a16:creationId xmlns:a16="http://schemas.microsoft.com/office/drawing/2014/main" id="{3B2B8844-B7F8-4C60-A2E1-B128ADFF27B4}"/>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40">
            <a:extLst>
              <a:ext uri="{FF2B5EF4-FFF2-40B4-BE49-F238E27FC236}">
                <a16:creationId xmlns:a16="http://schemas.microsoft.com/office/drawing/2014/main" id="{4FB09AFF-BA73-49A2-82F1-B96C57B3A8DC}"/>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40</a:t>
            </a:r>
          </a:p>
        </p:txBody>
      </p:sp>
    </p:spTree>
    <p:extLst>
      <p:ext uri="{BB962C8B-B14F-4D97-AF65-F5344CB8AC3E}">
        <p14:creationId xmlns:p14="http://schemas.microsoft.com/office/powerpoint/2010/main" val="3445442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30A3BE-CBFB-44A2-ADC5-DC562FEFC1EE}"/>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D0999752-2F1C-44F9-91E7-FFE3AC85AE90}"/>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B025D41-FAAA-4E43-9011-D8E9EF88DEA0}"/>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Why AI Ethics, Why Now?</a:t>
            </a:r>
          </a:p>
        </p:txBody>
      </p:sp>
      <p:sp>
        <p:nvSpPr>
          <p:cNvPr id="5" name="Rectangle 4">
            <a:extLst>
              <a:ext uri="{FF2B5EF4-FFF2-40B4-BE49-F238E27FC236}">
                <a16:creationId xmlns:a16="http://schemas.microsoft.com/office/drawing/2014/main" id="{19769EFC-C600-44E8-90C4-4D1EE5733FB9}"/>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FB816604-D431-4CBF-83CC-E2A8C8B60EA2}"/>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Four structural reasons.</a:t>
            </a:r>
          </a:p>
        </p:txBody>
      </p:sp>
      <p:sp>
        <p:nvSpPr>
          <p:cNvPr id="7" name="TextBox 6">
            <a:extLst>
              <a:ext uri="{FF2B5EF4-FFF2-40B4-BE49-F238E27FC236}">
                <a16:creationId xmlns:a16="http://schemas.microsoft.com/office/drawing/2014/main" id="{6BD1B6C7-57EC-426B-9219-9F7523DAEA10}"/>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758F8E1F-F138-4812-A4E2-30A08ACAA21B}"/>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32</a:t>
            </a:r>
          </a:p>
        </p:txBody>
      </p:sp>
      <p:sp>
        <p:nvSpPr>
          <p:cNvPr id="9" name="TextBox 8">
            <a:extLst>
              <a:ext uri="{FF2B5EF4-FFF2-40B4-BE49-F238E27FC236}">
                <a16:creationId xmlns:a16="http://schemas.microsoft.com/office/drawing/2014/main" id="{E43E6253-F10E-469F-ADE4-87BB2C1D9D57}"/>
              </a:ext>
            </a:extLst>
          </p:cNvPr>
          <p:cNvSpPr>
            <a:spLocks noGrp="1"/>
          </p:cNvSpPr>
          <p:nvPr/>
        </p:nvSpPr>
        <p:spPr>
          <a:xfrm>
            <a:off x="896112" y="155448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1" i="0" u="none">
                <a:solidFill>
                  <a:srgbClr val="2E75B6"/>
                </a:solidFill>
                <a:latin typeface="Calibri"/>
                <a:ea typeface="Calibri"/>
                <a:cs typeface="Calibri"/>
              </a:rPr>
              <a:t>Scale: </a:t>
            </a:r>
            <a:r>
              <a:rPr sz="1700" b="0" i="0" u="none">
                <a:solidFill>
                  <a:srgbClr val="262626"/>
                </a:solidFill>
                <a:latin typeface="Calibri"/>
                <a:ea typeface="Calibri"/>
                <a:cs typeface="Calibri"/>
              </a:rPr>
              <a:t>billions affected, often simultaneously.</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2E75B6"/>
                </a:solidFill>
                <a:latin typeface="Calibri"/>
                <a:ea typeface="Calibri"/>
                <a:cs typeface="Calibri"/>
              </a:rPr>
              <a:t>Opacity: </a:t>
            </a:r>
            <a:r>
              <a:rPr sz="1700" b="0" i="0" u="none">
                <a:solidFill>
                  <a:srgbClr val="262626"/>
                </a:solidFill>
                <a:latin typeface="Calibri"/>
                <a:ea typeface="Calibri"/>
                <a:cs typeface="Calibri"/>
              </a:rPr>
              <a:t>models are black boxes — hard to inspect or explain.</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2E75B6"/>
                </a:solidFill>
                <a:latin typeface="Calibri"/>
                <a:ea typeface="Calibri"/>
                <a:cs typeface="Calibri"/>
              </a:rPr>
              <a:t>Speed: </a:t>
            </a:r>
            <a:r>
              <a:rPr sz="1700" b="0" i="0" u="none">
                <a:solidFill>
                  <a:srgbClr val="262626"/>
                </a:solidFill>
                <a:latin typeface="Calibri"/>
                <a:ea typeface="Calibri"/>
                <a:cs typeface="Calibri"/>
              </a:rPr>
              <a:t>rapid, iterative deployment outpaces reflection.</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2E75B6"/>
                </a:solidFill>
                <a:latin typeface="Calibri"/>
                <a:ea typeface="Calibri"/>
                <a:cs typeface="Calibri"/>
              </a:rPr>
              <a:t>Stakes: </a:t>
            </a:r>
            <a:r>
              <a:rPr sz="1700" b="0" i="0" u="none">
                <a:solidFill>
                  <a:srgbClr val="262626"/>
                </a:solidFill>
                <a:latin typeface="Calibri"/>
                <a:ea typeface="Calibri"/>
                <a:cs typeface="Calibri"/>
              </a:rPr>
              <a:t>decisions over credit, health, liberty, and democracy.</a:t>
            </a:r>
          </a:p>
          <a:p>
            <a:pPr marL="285750" indent="-285750" algn="l">
              <a:lnSpc>
                <a:spcPct val="116000"/>
              </a:lnSpc>
              <a:spcBef>
                <a:spcPts val="600"/>
              </a:spcBef>
              <a:spcAft>
                <a:spcPts val="700"/>
              </a:spcAft>
              <a:buClr>
                <a:srgbClr val="2E75B6"/>
              </a:buClr>
              <a:buSzPct val="100000"/>
              <a:buFont typeface="Arial"/>
              <a:buChar char="•"/>
            </a:pPr>
            <a:r>
              <a:rPr sz="1500" b="0" i="1" u="none">
                <a:solidFill>
                  <a:srgbClr val="595959"/>
                </a:solidFill>
                <a:latin typeface="Calibri"/>
                <a:ea typeface="Calibri"/>
                <a:cs typeface="Calibri"/>
              </a:rPr>
              <a:t>Plus: rising public concern and the first wave of regulation.</a:t>
            </a:r>
          </a:p>
        </p:txBody>
      </p:sp>
      <p:sp>
        <p:nvSpPr>
          <p:cNvPr id="10" name="expanded-arrow-32-1">
            <a:extLst>
              <a:ext uri="{FF2B5EF4-FFF2-40B4-BE49-F238E27FC236}">
                <a16:creationId xmlns:a16="http://schemas.microsoft.com/office/drawing/2014/main" id="{30E9D8C7-5887-4340-A65C-42E1C3560D45}"/>
              </a:ext>
            </a:extLst>
          </p:cNvPr>
          <p:cNvSpPr>
            <a:spLocks noGrp="1"/>
          </p:cNvSpPr>
          <p:nvPr/>
        </p:nvSpPr>
        <p:spPr>
          <a:xfrm>
            <a:off x="3581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32-2">
            <a:extLst>
              <a:ext uri="{FF2B5EF4-FFF2-40B4-BE49-F238E27FC236}">
                <a16:creationId xmlns:a16="http://schemas.microsoft.com/office/drawing/2014/main" id="{F2895FAC-AC89-4C47-83E8-3933FA376CA3}"/>
              </a:ext>
            </a:extLst>
          </p:cNvPr>
          <p:cNvSpPr>
            <a:spLocks noGrp="1"/>
          </p:cNvSpPr>
          <p:nvPr/>
        </p:nvSpPr>
        <p:spPr>
          <a:xfrm>
            <a:off x="5962650"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32-3">
            <a:extLst>
              <a:ext uri="{FF2B5EF4-FFF2-40B4-BE49-F238E27FC236}">
                <a16:creationId xmlns:a16="http://schemas.microsoft.com/office/drawing/2014/main" id="{CC4EE4C6-4BA8-4A96-AC5F-09F0D928E9D7}"/>
              </a:ext>
            </a:extLst>
          </p:cNvPr>
          <p:cNvSpPr>
            <a:spLocks noGrp="1"/>
          </p:cNvSpPr>
          <p:nvPr/>
        </p:nvSpPr>
        <p:spPr>
          <a:xfrm>
            <a:off x="8343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32-1">
            <a:extLst>
              <a:ext uri="{FF2B5EF4-FFF2-40B4-BE49-F238E27FC236}">
                <a16:creationId xmlns:a16="http://schemas.microsoft.com/office/drawing/2014/main" id="{7A8E2BA5-BF49-475F-A432-0EAC46963A72}"/>
              </a:ext>
            </a:extLst>
          </p:cNvPr>
          <p:cNvSpPr>
            <a:spLocks noGrp="1"/>
          </p:cNvSpPr>
          <p:nvPr/>
        </p:nvSpPr>
        <p:spPr>
          <a:xfrm>
            <a:off x="14287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SCALE</a:t>
            </a:r>
          </a:p>
        </p:txBody>
      </p:sp>
      <p:sp>
        <p:nvSpPr>
          <p:cNvPr id="14" name="expanded-node-32-2">
            <a:extLst>
              <a:ext uri="{FF2B5EF4-FFF2-40B4-BE49-F238E27FC236}">
                <a16:creationId xmlns:a16="http://schemas.microsoft.com/office/drawing/2014/main" id="{109FAC83-3F04-4A5D-9C1B-81F54BE3F24E}"/>
              </a:ext>
            </a:extLst>
          </p:cNvPr>
          <p:cNvSpPr>
            <a:spLocks noGrp="1"/>
          </p:cNvSpPr>
          <p:nvPr/>
        </p:nvSpPr>
        <p:spPr>
          <a:xfrm>
            <a:off x="38100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OPACITY</a:t>
            </a:r>
          </a:p>
        </p:txBody>
      </p:sp>
      <p:sp>
        <p:nvSpPr>
          <p:cNvPr id="15" name="expanded-node-32-3">
            <a:extLst>
              <a:ext uri="{FF2B5EF4-FFF2-40B4-BE49-F238E27FC236}">
                <a16:creationId xmlns:a16="http://schemas.microsoft.com/office/drawing/2014/main" id="{61D22913-12F5-4421-9585-E862F081753B}"/>
              </a:ext>
            </a:extLst>
          </p:cNvPr>
          <p:cNvSpPr>
            <a:spLocks noGrp="1"/>
          </p:cNvSpPr>
          <p:nvPr/>
        </p:nvSpPr>
        <p:spPr>
          <a:xfrm>
            <a:off x="61912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SPEED</a:t>
            </a:r>
          </a:p>
        </p:txBody>
      </p:sp>
      <p:sp>
        <p:nvSpPr>
          <p:cNvPr id="16" name="expanded-node-32-4">
            <a:extLst>
              <a:ext uri="{FF2B5EF4-FFF2-40B4-BE49-F238E27FC236}">
                <a16:creationId xmlns:a16="http://schemas.microsoft.com/office/drawing/2014/main" id="{DFE668B2-5F42-456C-BF33-11BDEDE792F7}"/>
              </a:ext>
            </a:extLst>
          </p:cNvPr>
          <p:cNvSpPr>
            <a:spLocks noGrp="1"/>
          </p:cNvSpPr>
          <p:nvPr/>
        </p:nvSpPr>
        <p:spPr>
          <a:xfrm>
            <a:off x="85725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STAKES</a:t>
            </a:r>
          </a:p>
        </p:txBody>
      </p:sp>
      <p:sp>
        <p:nvSpPr>
          <p:cNvPr id="17" name="expanded-takeaway-32">
            <a:extLst>
              <a:ext uri="{FF2B5EF4-FFF2-40B4-BE49-F238E27FC236}">
                <a16:creationId xmlns:a16="http://schemas.microsoft.com/office/drawing/2014/main" id="{A1615C96-85D4-4220-B943-DEFC69095162}"/>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Scale, opacity, speed, and high stakes make after-the-fact review too slow and too costly.</a:t>
            </a:r>
          </a:p>
        </p:txBody>
      </p:sp>
      <p:sp>
        <p:nvSpPr>
          <p:cNvPr id="18" name="v2-page-mask-41">
            <a:extLst>
              <a:ext uri="{FF2B5EF4-FFF2-40B4-BE49-F238E27FC236}">
                <a16:creationId xmlns:a16="http://schemas.microsoft.com/office/drawing/2014/main" id="{796EC2DA-9574-4E54-A76A-606DDDCD10AF}"/>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41">
            <a:extLst>
              <a:ext uri="{FF2B5EF4-FFF2-40B4-BE49-F238E27FC236}">
                <a16:creationId xmlns:a16="http://schemas.microsoft.com/office/drawing/2014/main" id="{D3234611-A065-4383-B7EA-57B1F546AEDD}"/>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41</a:t>
            </a:r>
          </a:p>
        </p:txBody>
      </p:sp>
    </p:spTree>
    <p:extLst>
      <p:ext uri="{BB962C8B-B14F-4D97-AF65-F5344CB8AC3E}">
        <p14:creationId xmlns:p14="http://schemas.microsoft.com/office/powerpoint/2010/main" val="29919990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A56D668-513E-4755-9867-E1103E7DA726}"/>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5C25F857-EB7B-4A8E-A4AF-28099547D009}"/>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1AA4F3E4-9976-40BD-886B-AA2652638764}"/>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O’Neil’s “Weapons of Math Destruction”</a:t>
            </a:r>
          </a:p>
        </p:txBody>
      </p:sp>
      <p:sp>
        <p:nvSpPr>
          <p:cNvPr id="5" name="Rectangle 4">
            <a:extLst>
              <a:ext uri="{FF2B5EF4-FFF2-40B4-BE49-F238E27FC236}">
                <a16:creationId xmlns:a16="http://schemas.microsoft.com/office/drawing/2014/main" id="{FC67721C-E427-4294-B6D9-CE2E2C06C285}"/>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61B922C-51F8-426D-8B50-A75BC08FE019}"/>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A working framework for harmful algorithms (O’Neil, 2016).</a:t>
            </a:r>
          </a:p>
        </p:txBody>
      </p:sp>
      <p:sp>
        <p:nvSpPr>
          <p:cNvPr id="7" name="TextBox 6">
            <a:extLst>
              <a:ext uri="{FF2B5EF4-FFF2-40B4-BE49-F238E27FC236}">
                <a16:creationId xmlns:a16="http://schemas.microsoft.com/office/drawing/2014/main" id="{B5CFF90E-91E2-44E0-8742-77857CF5A840}"/>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D938C92B-935A-4B0B-BA5A-07BD6EA65620}"/>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33</a:t>
            </a:r>
          </a:p>
        </p:txBody>
      </p:sp>
      <p:sp>
        <p:nvSpPr>
          <p:cNvPr id="9" name="TextBox 8">
            <a:extLst>
              <a:ext uri="{FF2B5EF4-FFF2-40B4-BE49-F238E27FC236}">
                <a16:creationId xmlns:a16="http://schemas.microsoft.com/office/drawing/2014/main" id="{3ADAF6D5-630D-478C-B961-CB059371E8EC}"/>
              </a:ext>
            </a:extLst>
          </p:cNvPr>
          <p:cNvSpPr>
            <a:spLocks noGrp="1"/>
          </p:cNvSpPr>
          <p:nvPr/>
        </p:nvSpPr>
        <p:spPr>
          <a:xfrm>
            <a:off x="896112" y="150876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1" i="0" u="none">
                <a:solidFill>
                  <a:srgbClr val="1F3864"/>
                </a:solidFill>
                <a:latin typeface="Calibri"/>
                <a:ea typeface="Calibri"/>
                <a:cs typeface="Calibri"/>
              </a:rPr>
              <a:t>A WMD = </a:t>
            </a:r>
            <a:r>
              <a:rPr sz="1700" b="1" i="0" u="sng">
                <a:solidFill>
                  <a:srgbClr val="262626"/>
                </a:solidFill>
                <a:latin typeface="Calibri"/>
                <a:ea typeface="Calibri"/>
                <a:cs typeface="Calibri"/>
              </a:rPr>
              <a:t>Opaque  +  at Scale  +  Damaging</a:t>
            </a:r>
            <a:r>
              <a:rPr sz="1700" b="0" i="0" u="none">
                <a:solidFill>
                  <a:srgbClr val="262626"/>
                </a:solidFill>
                <a:latin typeface="Calibri"/>
                <a:ea typeface="Calibri"/>
                <a:cs typeface="Calibri"/>
              </a:rPr>
              <a:t>.</a:t>
            </a:r>
          </a:p>
          <a:p>
            <a:pPr marL="285750" indent="-285750" algn="l">
              <a:lnSpc>
                <a:spcPct val="116000"/>
              </a:lnSpc>
              <a:spcBef>
                <a:spcPts val="400"/>
              </a:spcBef>
              <a:spcAft>
                <a:spcPts val="700"/>
              </a:spcAft>
              <a:buClr>
                <a:srgbClr val="2E75B6"/>
              </a:buClr>
              <a:buSzPct val="100000"/>
              <a:buFont typeface="Arial"/>
              <a:buChar char="•"/>
            </a:pPr>
            <a:r>
              <a:rPr sz="1600" b="1" i="0" u="none">
                <a:solidFill>
                  <a:srgbClr val="2E75B6"/>
                </a:solidFill>
                <a:latin typeface="Calibri"/>
                <a:ea typeface="Calibri"/>
                <a:cs typeface="Calibri"/>
              </a:rPr>
              <a:t>Opacity: </a:t>
            </a:r>
            <a:r>
              <a:rPr sz="1600" b="0" i="0" u="none">
                <a:solidFill>
                  <a:srgbClr val="262626"/>
                </a:solidFill>
                <a:latin typeface="Calibri"/>
                <a:ea typeface="Calibri"/>
                <a:cs typeface="Calibri"/>
              </a:rPr>
              <a:t>the affected cannot see how decisions are made.</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Scale: </a:t>
            </a:r>
            <a:r>
              <a:rPr sz="1600" b="0" i="0" u="none">
                <a:solidFill>
                  <a:srgbClr val="262626"/>
                </a:solidFill>
                <a:latin typeface="Calibri"/>
                <a:ea typeface="Calibri"/>
                <a:cs typeface="Calibri"/>
              </a:rPr>
              <a:t>applied to many people at once.</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Damage: </a:t>
            </a:r>
            <a:r>
              <a:rPr sz="1600" b="0" i="0" u="none">
                <a:solidFill>
                  <a:srgbClr val="262626"/>
                </a:solidFill>
                <a:latin typeface="Calibri"/>
                <a:ea typeface="Calibri"/>
                <a:cs typeface="Calibri"/>
              </a:rPr>
              <a:t>errors cause real, often irreversible harm.</a:t>
            </a:r>
          </a:p>
          <a:p>
            <a:pPr marL="285750" indent="-285750" algn="l">
              <a:lnSpc>
                <a:spcPct val="116000"/>
              </a:lnSpc>
              <a:spcBef>
                <a:spcPts val="400"/>
              </a:spcBef>
              <a:spcAft>
                <a:spcPts val="700"/>
              </a:spcAft>
              <a:buClr>
                <a:srgbClr val="2E75B6"/>
              </a:buClr>
              <a:buSzPct val="100000"/>
              <a:buFont typeface="Arial"/>
              <a:buChar char="•"/>
            </a:pPr>
            <a:r>
              <a:rPr sz="1600" b="1" i="0" u="none">
                <a:solidFill>
                  <a:srgbClr val="1F3864"/>
                </a:solidFill>
                <a:latin typeface="Calibri"/>
                <a:ea typeface="Calibri"/>
                <a:cs typeface="Calibri"/>
              </a:rPr>
              <a:t>Proxies: </a:t>
            </a:r>
            <a:r>
              <a:rPr sz="1600" b="0" i="0" u="none">
                <a:solidFill>
                  <a:srgbClr val="262626"/>
                </a:solidFill>
                <a:latin typeface="Calibri"/>
                <a:ea typeface="Calibri"/>
                <a:cs typeface="Calibri"/>
              </a:rPr>
              <a:t>models substitute stand-ins (e.g., zip code for risk) for what they can’t measure.</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Feedback loops: </a:t>
            </a:r>
            <a:r>
              <a:rPr sz="1600" b="0" i="0" u="none">
                <a:solidFill>
                  <a:srgbClr val="262626"/>
                </a:solidFill>
                <a:latin typeface="Calibri"/>
                <a:ea typeface="Calibri"/>
                <a:cs typeface="Calibri"/>
              </a:rPr>
              <a:t>predictions drive actions that become new data, </a:t>
            </a:r>
            <a:r>
              <a:rPr sz="1600" b="0" i="0" u="sng">
                <a:solidFill>
                  <a:srgbClr val="262626"/>
                </a:solidFill>
                <a:latin typeface="Calibri"/>
                <a:ea typeface="Calibri"/>
                <a:cs typeface="Calibri"/>
              </a:rPr>
              <a:t>reinforcing the model</a:t>
            </a:r>
            <a:r>
              <a:rPr sz="1600" b="0" i="0" u="none">
                <a:solidFill>
                  <a:srgbClr val="262626"/>
                </a:solidFill>
                <a:latin typeface="Calibri"/>
                <a:ea typeface="Calibri"/>
                <a:cs typeface="Calibri"/>
              </a:rPr>
              <a:t>.</a:t>
            </a:r>
          </a:p>
        </p:txBody>
      </p:sp>
      <p:sp>
        <p:nvSpPr>
          <p:cNvPr id="10" name="expanded-arrow-33-1">
            <a:extLst>
              <a:ext uri="{FF2B5EF4-FFF2-40B4-BE49-F238E27FC236}">
                <a16:creationId xmlns:a16="http://schemas.microsoft.com/office/drawing/2014/main" id="{98B1A702-16EA-4EDF-A0F9-0E910B4D5755}"/>
              </a:ext>
            </a:extLst>
          </p:cNvPr>
          <p:cNvSpPr>
            <a:spLocks noGrp="1"/>
          </p:cNvSpPr>
          <p:nvPr/>
        </p:nvSpPr>
        <p:spPr>
          <a:xfrm>
            <a:off x="4772025"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33-2">
            <a:extLst>
              <a:ext uri="{FF2B5EF4-FFF2-40B4-BE49-F238E27FC236}">
                <a16:creationId xmlns:a16="http://schemas.microsoft.com/office/drawing/2014/main" id="{A577B7C2-BBD4-4126-8148-A6AA5A9D9CC6}"/>
              </a:ext>
            </a:extLst>
          </p:cNvPr>
          <p:cNvSpPr>
            <a:spLocks noGrp="1"/>
          </p:cNvSpPr>
          <p:nvPr/>
        </p:nvSpPr>
        <p:spPr>
          <a:xfrm>
            <a:off x="7153275"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node-33-1">
            <a:extLst>
              <a:ext uri="{FF2B5EF4-FFF2-40B4-BE49-F238E27FC236}">
                <a16:creationId xmlns:a16="http://schemas.microsoft.com/office/drawing/2014/main" id="{D5F73E11-7070-4958-9357-FD9C9BFFC6E6}"/>
              </a:ext>
            </a:extLst>
          </p:cNvPr>
          <p:cNvSpPr>
            <a:spLocks noGrp="1"/>
          </p:cNvSpPr>
          <p:nvPr/>
        </p:nvSpPr>
        <p:spPr>
          <a:xfrm>
            <a:off x="26193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OPAQUE</a:t>
            </a:r>
          </a:p>
        </p:txBody>
      </p:sp>
      <p:sp>
        <p:nvSpPr>
          <p:cNvPr id="13" name="expanded-node-33-2">
            <a:extLst>
              <a:ext uri="{FF2B5EF4-FFF2-40B4-BE49-F238E27FC236}">
                <a16:creationId xmlns:a16="http://schemas.microsoft.com/office/drawing/2014/main" id="{A363E4CB-C885-4233-9507-50B6BF074FA5}"/>
              </a:ext>
            </a:extLst>
          </p:cNvPr>
          <p:cNvSpPr>
            <a:spLocks noGrp="1"/>
          </p:cNvSpPr>
          <p:nvPr/>
        </p:nvSpPr>
        <p:spPr>
          <a:xfrm>
            <a:off x="5000625"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AT SCALE</a:t>
            </a:r>
          </a:p>
        </p:txBody>
      </p:sp>
      <p:sp>
        <p:nvSpPr>
          <p:cNvPr id="14" name="expanded-node-33-3">
            <a:extLst>
              <a:ext uri="{FF2B5EF4-FFF2-40B4-BE49-F238E27FC236}">
                <a16:creationId xmlns:a16="http://schemas.microsoft.com/office/drawing/2014/main" id="{8F7367DE-3167-474C-ADC0-382660C16A43}"/>
              </a:ext>
            </a:extLst>
          </p:cNvPr>
          <p:cNvSpPr>
            <a:spLocks noGrp="1"/>
          </p:cNvSpPr>
          <p:nvPr/>
        </p:nvSpPr>
        <p:spPr>
          <a:xfrm>
            <a:off x="73818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DAMAGING</a:t>
            </a:r>
          </a:p>
        </p:txBody>
      </p:sp>
      <p:sp>
        <p:nvSpPr>
          <p:cNvPr id="15" name="expanded-takeaway-33">
            <a:extLst>
              <a:ext uri="{FF2B5EF4-FFF2-40B4-BE49-F238E27FC236}">
                <a16:creationId xmlns:a16="http://schemas.microsoft.com/office/drawing/2014/main" id="{01E61B46-DB0F-4DE6-BB64-596CD16450DF}"/>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Opaque, scaled, damaging systems often reinforce themselves through feedback loops.</a:t>
            </a:r>
          </a:p>
        </p:txBody>
      </p:sp>
      <p:sp>
        <p:nvSpPr>
          <p:cNvPr id="16" name="v2-page-mask-42">
            <a:extLst>
              <a:ext uri="{FF2B5EF4-FFF2-40B4-BE49-F238E27FC236}">
                <a16:creationId xmlns:a16="http://schemas.microsoft.com/office/drawing/2014/main" id="{C549361E-0045-479E-88DC-9E8E5CB3834A}"/>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7" name="v2-page-42">
            <a:extLst>
              <a:ext uri="{FF2B5EF4-FFF2-40B4-BE49-F238E27FC236}">
                <a16:creationId xmlns:a16="http://schemas.microsoft.com/office/drawing/2014/main" id="{CE98386E-AB12-419A-B27E-C526F1336801}"/>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42</a:t>
            </a:r>
          </a:p>
        </p:txBody>
      </p:sp>
    </p:spTree>
    <p:extLst>
      <p:ext uri="{BB962C8B-B14F-4D97-AF65-F5344CB8AC3E}">
        <p14:creationId xmlns:p14="http://schemas.microsoft.com/office/powerpoint/2010/main" val="12092002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184315692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240061C-96B4-4A03-8E2A-9D17A8C87EC3}"/>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66F21C0C-A1CB-4A88-B1FB-A9A1C9FFE0A6}"/>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2D4505A-729C-42F5-B258-F0E39890F9E4}"/>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The AI Ethics Landscape</a:t>
            </a:r>
          </a:p>
        </p:txBody>
      </p:sp>
      <p:sp>
        <p:nvSpPr>
          <p:cNvPr id="5" name="Rectangle 4">
            <a:extLst>
              <a:ext uri="{FF2B5EF4-FFF2-40B4-BE49-F238E27FC236}">
                <a16:creationId xmlns:a16="http://schemas.microsoft.com/office/drawing/2014/main" id="{495C4CCE-36A6-4A64-8A6F-4641D2108E84}"/>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154E87F-EA0A-4AB5-938E-48BF2832C88D}"/>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A growing ecosystem of actors.</a:t>
            </a:r>
          </a:p>
        </p:txBody>
      </p:sp>
      <p:sp>
        <p:nvSpPr>
          <p:cNvPr id="7" name="TextBox 6">
            <a:extLst>
              <a:ext uri="{FF2B5EF4-FFF2-40B4-BE49-F238E27FC236}">
                <a16:creationId xmlns:a16="http://schemas.microsoft.com/office/drawing/2014/main" id="{81AD5C70-0C2E-4608-9C70-47F73E6CF067}"/>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F918A181-B388-4AA9-83DB-C5FAC359E81B}"/>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34</a:t>
            </a:r>
          </a:p>
        </p:txBody>
      </p:sp>
      <p:sp>
        <p:nvSpPr>
          <p:cNvPr id="9" name="TextBox 8">
            <a:extLst>
              <a:ext uri="{FF2B5EF4-FFF2-40B4-BE49-F238E27FC236}">
                <a16:creationId xmlns:a16="http://schemas.microsoft.com/office/drawing/2014/main" id="{B0BEC546-D3B5-4C2D-80DA-AEBA2B3EECB9}"/>
              </a:ext>
            </a:extLst>
          </p:cNvPr>
          <p:cNvSpPr>
            <a:spLocks noGrp="1"/>
          </p:cNvSpPr>
          <p:nvPr/>
        </p:nvSpPr>
        <p:spPr>
          <a:xfrm>
            <a:off x="896112" y="150876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Researchers &amp; academics: </a:t>
            </a:r>
            <a:r>
              <a:rPr sz="1600" b="0" i="0" u="none">
                <a:solidFill>
                  <a:srgbClr val="262626"/>
                </a:solidFill>
                <a:latin typeface="Calibri"/>
                <a:ea typeface="Calibri"/>
                <a:cs typeface="Calibri"/>
              </a:rPr>
              <a:t>concepts, methods, critique.</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Industry: </a:t>
            </a:r>
            <a:r>
              <a:rPr sz="1600" b="0" i="0" u="none">
                <a:solidFill>
                  <a:srgbClr val="262626"/>
                </a:solidFill>
                <a:latin typeface="Calibri"/>
                <a:ea typeface="Calibri"/>
                <a:cs typeface="Calibri"/>
              </a:rPr>
              <a:t>AI-ethics and AI-safety teams; responsible-AI programs.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Governments &amp; regulators: </a:t>
            </a:r>
            <a:r>
              <a:rPr sz="1600" b="0" i="0" u="none">
                <a:solidFill>
                  <a:srgbClr val="262626"/>
                </a:solidFill>
                <a:latin typeface="Calibri"/>
                <a:ea typeface="Calibri"/>
                <a:cs typeface="Calibri"/>
              </a:rPr>
              <a:t>emerging rules and risk-based frameworks.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Civil society: </a:t>
            </a:r>
            <a:r>
              <a:rPr sz="1600" b="0" i="0" u="none">
                <a:solidFill>
                  <a:srgbClr val="262626"/>
                </a:solidFill>
                <a:latin typeface="Calibri"/>
                <a:ea typeface="Calibri"/>
                <a:cs typeface="Calibri"/>
              </a:rPr>
              <a:t>advocacy, audits, affected communities.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Standards bodies: </a:t>
            </a:r>
            <a:r>
              <a:rPr sz="1600" b="0" i="0" u="none">
                <a:solidFill>
                  <a:srgbClr val="262626"/>
                </a:solidFill>
                <a:latin typeface="Calibri"/>
                <a:ea typeface="Calibri"/>
                <a:cs typeface="Calibri"/>
              </a:rPr>
              <a:t>OECD, UNESCO, IEEE — principles and standards.</a:t>
            </a:r>
          </a:p>
          <a:p>
            <a:pPr marL="285750" indent="-285750" algn="l">
              <a:lnSpc>
                <a:spcPct val="116000"/>
              </a:lnSpc>
              <a:spcBef>
                <a:spcPts val="600"/>
              </a:spcBef>
              <a:spcAft>
                <a:spcPts val="700"/>
              </a:spcAft>
              <a:buClr>
                <a:srgbClr val="2E75B6"/>
              </a:buClr>
              <a:buSzPct val="100000"/>
              <a:buFont typeface="Arial"/>
              <a:buChar char="•"/>
            </a:pPr>
            <a:r>
              <a:rPr sz="1500" b="0" i="1" u="none">
                <a:solidFill>
                  <a:srgbClr val="595959"/>
                </a:solidFill>
                <a:latin typeface="Calibri"/>
                <a:ea typeface="Calibri"/>
                <a:cs typeface="Calibri"/>
              </a:rPr>
              <a:t>From principles → slowly → enforceable practice.</a:t>
            </a:r>
          </a:p>
        </p:txBody>
      </p:sp>
      <p:sp>
        <p:nvSpPr>
          <p:cNvPr id="10" name="expanded-arrow-34-1">
            <a:extLst>
              <a:ext uri="{FF2B5EF4-FFF2-40B4-BE49-F238E27FC236}">
                <a16:creationId xmlns:a16="http://schemas.microsoft.com/office/drawing/2014/main" id="{8BFF1DCD-E4D0-40C6-BFCC-85737AAF9DFB}"/>
              </a:ext>
            </a:extLst>
          </p:cNvPr>
          <p:cNvSpPr>
            <a:spLocks noGrp="1"/>
          </p:cNvSpPr>
          <p:nvPr/>
        </p:nvSpPr>
        <p:spPr>
          <a:xfrm>
            <a:off x="3581400" y="4872038"/>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34-2">
            <a:extLst>
              <a:ext uri="{FF2B5EF4-FFF2-40B4-BE49-F238E27FC236}">
                <a16:creationId xmlns:a16="http://schemas.microsoft.com/office/drawing/2014/main" id="{179D8D20-EEC3-414E-834A-17571FB50F71}"/>
              </a:ext>
            </a:extLst>
          </p:cNvPr>
          <p:cNvSpPr>
            <a:spLocks noGrp="1"/>
          </p:cNvSpPr>
          <p:nvPr/>
        </p:nvSpPr>
        <p:spPr>
          <a:xfrm>
            <a:off x="5962650" y="4872038"/>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34-3">
            <a:extLst>
              <a:ext uri="{FF2B5EF4-FFF2-40B4-BE49-F238E27FC236}">
                <a16:creationId xmlns:a16="http://schemas.microsoft.com/office/drawing/2014/main" id="{0633E6A7-425C-401F-97A8-EC7230E1A4EC}"/>
              </a:ext>
            </a:extLst>
          </p:cNvPr>
          <p:cNvSpPr>
            <a:spLocks noGrp="1"/>
          </p:cNvSpPr>
          <p:nvPr/>
        </p:nvSpPr>
        <p:spPr>
          <a:xfrm>
            <a:off x="8343900" y="4872038"/>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34-1">
            <a:extLst>
              <a:ext uri="{FF2B5EF4-FFF2-40B4-BE49-F238E27FC236}">
                <a16:creationId xmlns:a16="http://schemas.microsoft.com/office/drawing/2014/main" id="{14BC0B4D-EBD7-4FCF-910A-A4BB2786836C}"/>
              </a:ext>
            </a:extLst>
          </p:cNvPr>
          <p:cNvSpPr>
            <a:spLocks noGrp="1"/>
          </p:cNvSpPr>
          <p:nvPr/>
        </p:nvSpPr>
        <p:spPr>
          <a:xfrm>
            <a:off x="14287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RESEARCH</a:t>
            </a:r>
          </a:p>
        </p:txBody>
      </p:sp>
      <p:sp>
        <p:nvSpPr>
          <p:cNvPr id="14" name="expanded-node-34-2">
            <a:extLst>
              <a:ext uri="{FF2B5EF4-FFF2-40B4-BE49-F238E27FC236}">
                <a16:creationId xmlns:a16="http://schemas.microsoft.com/office/drawing/2014/main" id="{9533AE20-7E77-40BA-BE64-51F609DB39E2}"/>
              </a:ext>
            </a:extLst>
          </p:cNvPr>
          <p:cNvSpPr>
            <a:spLocks noGrp="1"/>
          </p:cNvSpPr>
          <p:nvPr/>
        </p:nvSpPr>
        <p:spPr>
          <a:xfrm>
            <a:off x="38100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INDUSTRY</a:t>
            </a:r>
          </a:p>
        </p:txBody>
      </p:sp>
      <p:sp>
        <p:nvSpPr>
          <p:cNvPr id="15" name="expanded-node-34-3">
            <a:extLst>
              <a:ext uri="{FF2B5EF4-FFF2-40B4-BE49-F238E27FC236}">
                <a16:creationId xmlns:a16="http://schemas.microsoft.com/office/drawing/2014/main" id="{97690AC4-7067-4F8E-B326-D890F653B5B0}"/>
              </a:ext>
            </a:extLst>
          </p:cNvPr>
          <p:cNvSpPr>
            <a:spLocks noGrp="1"/>
          </p:cNvSpPr>
          <p:nvPr/>
        </p:nvSpPr>
        <p:spPr>
          <a:xfrm>
            <a:off x="61912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GOVERNMENT</a:t>
            </a:r>
          </a:p>
        </p:txBody>
      </p:sp>
      <p:sp>
        <p:nvSpPr>
          <p:cNvPr id="16" name="expanded-node-34-4">
            <a:extLst>
              <a:ext uri="{FF2B5EF4-FFF2-40B4-BE49-F238E27FC236}">
                <a16:creationId xmlns:a16="http://schemas.microsoft.com/office/drawing/2014/main" id="{22B35045-8306-4A64-B17D-4AACCB0B081B}"/>
              </a:ext>
            </a:extLst>
          </p:cNvPr>
          <p:cNvSpPr>
            <a:spLocks noGrp="1"/>
          </p:cNvSpPr>
          <p:nvPr/>
        </p:nvSpPr>
        <p:spPr>
          <a:xfrm>
            <a:off x="85725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COMMUNITIES</a:t>
            </a:r>
          </a:p>
        </p:txBody>
      </p:sp>
      <p:sp>
        <p:nvSpPr>
          <p:cNvPr id="17" name="expanded-takeaway-34">
            <a:extLst>
              <a:ext uri="{FF2B5EF4-FFF2-40B4-BE49-F238E27FC236}">
                <a16:creationId xmlns:a16="http://schemas.microsoft.com/office/drawing/2014/main" id="{9ACB0710-DB93-48A8-8271-DD680B446CE0}"/>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No single actor controls the full lifecycle, so effective governance must coordinate multiple forms of expertise and authority.</a:t>
            </a:r>
          </a:p>
        </p:txBody>
      </p:sp>
      <p:sp>
        <p:nvSpPr>
          <p:cNvPr id="18" name="v2-page-mask-44">
            <a:extLst>
              <a:ext uri="{FF2B5EF4-FFF2-40B4-BE49-F238E27FC236}">
                <a16:creationId xmlns:a16="http://schemas.microsoft.com/office/drawing/2014/main" id="{6E33511B-C676-4C59-9F59-43FD870E5B17}"/>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44">
            <a:extLst>
              <a:ext uri="{FF2B5EF4-FFF2-40B4-BE49-F238E27FC236}">
                <a16:creationId xmlns:a16="http://schemas.microsoft.com/office/drawing/2014/main" id="{9648F0A2-77B6-4AA6-B568-F3E2EED010ED}"/>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44</a:t>
            </a:r>
          </a:p>
        </p:txBody>
      </p:sp>
    </p:spTree>
    <p:extLst>
      <p:ext uri="{BB962C8B-B14F-4D97-AF65-F5344CB8AC3E}">
        <p14:creationId xmlns:p14="http://schemas.microsoft.com/office/powerpoint/2010/main" val="87525244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8A4D65E0-3281-4BB7-9DF0-34F4EB08946A}"/>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CB49FF78-89E1-40D4-9B45-070974DA8E35}"/>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88B3D02F-E298-4101-B3B3-618042520C95}"/>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Stakeholders &amp; Responsibilities</a:t>
            </a:r>
          </a:p>
        </p:txBody>
      </p:sp>
      <p:sp>
        <p:nvSpPr>
          <p:cNvPr id="5" name="Rectangle 4">
            <a:extLst>
              <a:ext uri="{FF2B5EF4-FFF2-40B4-BE49-F238E27FC236}">
                <a16:creationId xmlns:a16="http://schemas.microsoft.com/office/drawing/2014/main" id="{E51F7E1E-EFED-465E-A1D7-E591A0FD4987}"/>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87E666B-4854-4EF8-AE4A-155D499A6578}"/>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The “many hands” problem (Dignum).</a:t>
            </a:r>
          </a:p>
        </p:txBody>
      </p:sp>
      <p:sp>
        <p:nvSpPr>
          <p:cNvPr id="7" name="TextBox 6">
            <a:extLst>
              <a:ext uri="{FF2B5EF4-FFF2-40B4-BE49-F238E27FC236}">
                <a16:creationId xmlns:a16="http://schemas.microsoft.com/office/drawing/2014/main" id="{AB6D6DFE-D8E2-41A4-A868-6333FA88CB03}"/>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D74B6244-9839-4EE9-84B8-62E89CC82923}"/>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35</a:t>
            </a:r>
          </a:p>
        </p:txBody>
      </p:sp>
      <p:sp>
        <p:nvSpPr>
          <p:cNvPr id="9" name="TextBox 8">
            <a:extLst>
              <a:ext uri="{FF2B5EF4-FFF2-40B4-BE49-F238E27FC236}">
                <a16:creationId xmlns:a16="http://schemas.microsoft.com/office/drawing/2014/main" id="{796F5CA3-D2B7-4AF9-A873-BAEFB8F8D573}"/>
              </a:ext>
            </a:extLst>
          </p:cNvPr>
          <p:cNvSpPr>
            <a:spLocks noGrp="1"/>
          </p:cNvSpPr>
          <p:nvPr/>
        </p:nvSpPr>
        <p:spPr>
          <a:xfrm>
            <a:off x="896112" y="150876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The pipeline: </a:t>
            </a:r>
            <a:r>
              <a:rPr sz="1600" b="1" i="0" u="none">
                <a:solidFill>
                  <a:srgbClr val="262626"/>
                </a:solidFill>
                <a:latin typeface="Calibri"/>
                <a:ea typeface="Calibri"/>
                <a:cs typeface="Calibri"/>
              </a:rPr>
              <a:t>data providers  →  developers  →  deployers  →  users  →  affected communities  →  regulators.</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Responsibility is distributed — and </a:t>
            </a:r>
            <a:r>
              <a:rPr sz="1600" b="1" i="0" u="sng">
                <a:solidFill>
                  <a:srgbClr val="262626"/>
                </a:solidFill>
                <a:latin typeface="Calibri"/>
                <a:ea typeface="Calibri"/>
                <a:cs typeface="Calibri"/>
              </a:rPr>
              <a:t>gaps enable evasion</a:t>
            </a:r>
            <a:r>
              <a:rPr sz="1600" b="0" i="0" u="none">
                <a:solidFill>
                  <a:srgbClr val="262626"/>
                </a:solidFill>
                <a:latin typeface="Calibri"/>
                <a:ea typeface="Calibri"/>
                <a:cs typeface="Calibri"/>
              </a:rPr>
              <a:t> (“no one is responsible”).</a:t>
            </a:r>
          </a:p>
          <a:p>
            <a:pPr marL="285750" indent="-285750" algn="l">
              <a:lnSpc>
                <a:spcPct val="116000"/>
              </a:lnSpc>
              <a:spcBef>
                <a:spcPts val="400"/>
              </a:spcBef>
              <a:spcAft>
                <a:spcPts val="700"/>
              </a:spcAft>
              <a:buClr>
                <a:srgbClr val="2E75B6"/>
              </a:buClr>
              <a:buSzPct val="100000"/>
              <a:buFont typeface="Arial"/>
              <a:buChar char="•"/>
            </a:pPr>
            <a:r>
              <a:rPr sz="1600" b="1" i="0" u="none">
                <a:solidFill>
                  <a:srgbClr val="1F3864"/>
                </a:solidFill>
                <a:latin typeface="Calibri"/>
                <a:ea typeface="Calibri"/>
                <a:cs typeface="Calibri"/>
              </a:rPr>
              <a:t>Dignum’s framing: </a:t>
            </a:r>
            <a:r>
              <a:rPr sz="1600" b="0" i="0" u="none">
                <a:solidFill>
                  <a:srgbClr val="262626"/>
                </a:solidFill>
                <a:latin typeface="Calibri"/>
                <a:ea typeface="Calibri"/>
                <a:cs typeface="Calibri"/>
              </a:rPr>
              <a:t>Responsible AI = </a:t>
            </a:r>
            <a:r>
              <a:rPr sz="1600" b="0" i="0" u="sng">
                <a:solidFill>
                  <a:srgbClr val="262626"/>
                </a:solidFill>
                <a:latin typeface="Calibri"/>
                <a:ea typeface="Calibri"/>
                <a:cs typeface="Calibri"/>
              </a:rPr>
              <a:t>who is responsible</a:t>
            </a:r>
            <a:r>
              <a:rPr sz="1600" b="0" i="0" u="none">
                <a:solidFill>
                  <a:srgbClr val="262626"/>
                </a:solidFill>
                <a:latin typeface="Calibri"/>
                <a:ea typeface="Calibri"/>
                <a:cs typeface="Calibri"/>
              </a:rPr>
              <a:t> + </a:t>
            </a:r>
            <a:r>
              <a:rPr sz="1600" b="0" i="0" u="sng">
                <a:solidFill>
                  <a:srgbClr val="262626"/>
                </a:solidFill>
                <a:latin typeface="Calibri"/>
                <a:ea typeface="Calibri"/>
                <a:cs typeface="Calibri"/>
              </a:rPr>
              <a:t>what we design</a:t>
            </a:r>
            <a:r>
              <a:rPr sz="1600" b="0" i="0" u="none">
                <a:solidFill>
                  <a:srgbClr val="262626"/>
                </a:solidFill>
                <a:latin typeface="Calibri"/>
                <a:ea typeface="Calibri"/>
                <a:cs typeface="Calibri"/>
              </a:rPr>
              <a:t> + </a:t>
            </a:r>
            <a:r>
              <a:rPr sz="1600" b="0" i="0" u="sng">
                <a:solidFill>
                  <a:srgbClr val="262626"/>
                </a:solidFill>
                <a:latin typeface="Calibri"/>
                <a:ea typeface="Calibri"/>
                <a:cs typeface="Calibri"/>
              </a:rPr>
              <a:t>how we govern</a:t>
            </a:r>
            <a:r>
              <a:rPr sz="1600" b="0" i="0" u="none">
                <a:solidFill>
                  <a:srgbClr val="262626"/>
                </a:solidFill>
                <a:latin typeface="Calibri"/>
                <a:ea typeface="Calibri"/>
                <a:cs typeface="Calibri"/>
              </a:rPr>
              <a:t>.</a:t>
            </a:r>
          </a:p>
        </p:txBody>
      </p:sp>
      <p:sp>
        <p:nvSpPr>
          <p:cNvPr id="10" name="expanded-arrow-35-1">
            <a:extLst>
              <a:ext uri="{FF2B5EF4-FFF2-40B4-BE49-F238E27FC236}">
                <a16:creationId xmlns:a16="http://schemas.microsoft.com/office/drawing/2014/main" id="{6F580D48-EB18-4EB9-B8DC-69CEA4282155}"/>
              </a:ext>
            </a:extLst>
          </p:cNvPr>
          <p:cNvSpPr>
            <a:spLocks noGrp="1"/>
          </p:cNvSpPr>
          <p:nvPr/>
        </p:nvSpPr>
        <p:spPr>
          <a:xfrm>
            <a:off x="3581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35-2">
            <a:extLst>
              <a:ext uri="{FF2B5EF4-FFF2-40B4-BE49-F238E27FC236}">
                <a16:creationId xmlns:a16="http://schemas.microsoft.com/office/drawing/2014/main" id="{CC81F021-A4CA-4418-832E-E0C8C9B234DC}"/>
              </a:ext>
            </a:extLst>
          </p:cNvPr>
          <p:cNvSpPr>
            <a:spLocks noGrp="1"/>
          </p:cNvSpPr>
          <p:nvPr/>
        </p:nvSpPr>
        <p:spPr>
          <a:xfrm>
            <a:off x="5962650"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35-3">
            <a:extLst>
              <a:ext uri="{FF2B5EF4-FFF2-40B4-BE49-F238E27FC236}">
                <a16:creationId xmlns:a16="http://schemas.microsoft.com/office/drawing/2014/main" id="{76ADA8B5-FB99-4EF9-B6A8-1722EEE05AA5}"/>
              </a:ext>
            </a:extLst>
          </p:cNvPr>
          <p:cNvSpPr>
            <a:spLocks noGrp="1"/>
          </p:cNvSpPr>
          <p:nvPr/>
        </p:nvSpPr>
        <p:spPr>
          <a:xfrm>
            <a:off x="8343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35-1">
            <a:extLst>
              <a:ext uri="{FF2B5EF4-FFF2-40B4-BE49-F238E27FC236}">
                <a16:creationId xmlns:a16="http://schemas.microsoft.com/office/drawing/2014/main" id="{A7B68499-6902-4CA9-ADB4-92B6637E32F0}"/>
              </a:ext>
            </a:extLst>
          </p:cNvPr>
          <p:cNvSpPr>
            <a:spLocks noGrp="1"/>
          </p:cNvSpPr>
          <p:nvPr/>
        </p:nvSpPr>
        <p:spPr>
          <a:xfrm>
            <a:off x="14287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DATA</a:t>
            </a:r>
          </a:p>
        </p:txBody>
      </p:sp>
      <p:sp>
        <p:nvSpPr>
          <p:cNvPr id="14" name="expanded-node-35-2">
            <a:extLst>
              <a:ext uri="{FF2B5EF4-FFF2-40B4-BE49-F238E27FC236}">
                <a16:creationId xmlns:a16="http://schemas.microsoft.com/office/drawing/2014/main" id="{25A9A65F-EEBF-4AFB-9F8E-1CF2B5B11E73}"/>
              </a:ext>
            </a:extLst>
          </p:cNvPr>
          <p:cNvSpPr>
            <a:spLocks noGrp="1"/>
          </p:cNvSpPr>
          <p:nvPr/>
        </p:nvSpPr>
        <p:spPr>
          <a:xfrm>
            <a:off x="38100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DEVELOP</a:t>
            </a:r>
          </a:p>
        </p:txBody>
      </p:sp>
      <p:sp>
        <p:nvSpPr>
          <p:cNvPr id="15" name="expanded-node-35-3">
            <a:extLst>
              <a:ext uri="{FF2B5EF4-FFF2-40B4-BE49-F238E27FC236}">
                <a16:creationId xmlns:a16="http://schemas.microsoft.com/office/drawing/2014/main" id="{7054833F-71FB-4153-AE9D-5C600A9FA7D4}"/>
              </a:ext>
            </a:extLst>
          </p:cNvPr>
          <p:cNvSpPr>
            <a:spLocks noGrp="1"/>
          </p:cNvSpPr>
          <p:nvPr/>
        </p:nvSpPr>
        <p:spPr>
          <a:xfrm>
            <a:off x="61912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DEPLOY</a:t>
            </a:r>
          </a:p>
        </p:txBody>
      </p:sp>
      <p:sp>
        <p:nvSpPr>
          <p:cNvPr id="16" name="expanded-node-35-4">
            <a:extLst>
              <a:ext uri="{FF2B5EF4-FFF2-40B4-BE49-F238E27FC236}">
                <a16:creationId xmlns:a16="http://schemas.microsoft.com/office/drawing/2014/main" id="{7E7478FC-B6B4-4B1A-923D-4C94720DBCE0}"/>
              </a:ext>
            </a:extLst>
          </p:cNvPr>
          <p:cNvSpPr>
            <a:spLocks noGrp="1"/>
          </p:cNvSpPr>
          <p:nvPr/>
        </p:nvSpPr>
        <p:spPr>
          <a:xfrm>
            <a:off x="85725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REDRESS</a:t>
            </a:r>
          </a:p>
        </p:txBody>
      </p:sp>
      <p:sp>
        <p:nvSpPr>
          <p:cNvPr id="17" name="expanded-takeaway-35">
            <a:extLst>
              <a:ext uri="{FF2B5EF4-FFF2-40B4-BE49-F238E27FC236}">
                <a16:creationId xmlns:a16="http://schemas.microsoft.com/office/drawing/2014/main" id="{60F7A223-FA05-4704-A6FD-4BBB647D4530}"/>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Distributed work does not eliminate responsibility; it makes ownership, handoffs, and escalation more important.</a:t>
            </a:r>
          </a:p>
        </p:txBody>
      </p:sp>
      <p:sp>
        <p:nvSpPr>
          <p:cNvPr id="18" name="v2-page-mask-45">
            <a:extLst>
              <a:ext uri="{FF2B5EF4-FFF2-40B4-BE49-F238E27FC236}">
                <a16:creationId xmlns:a16="http://schemas.microsoft.com/office/drawing/2014/main" id="{B1342BD1-475B-4865-9A13-74C262DB8499}"/>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45">
            <a:extLst>
              <a:ext uri="{FF2B5EF4-FFF2-40B4-BE49-F238E27FC236}">
                <a16:creationId xmlns:a16="http://schemas.microsoft.com/office/drawing/2014/main" id="{BA3239CA-6B24-4634-8414-A16C770F093D}"/>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45</a:t>
            </a:r>
          </a:p>
        </p:txBody>
      </p:sp>
    </p:spTree>
    <p:extLst>
      <p:ext uri="{BB962C8B-B14F-4D97-AF65-F5344CB8AC3E}">
        <p14:creationId xmlns:p14="http://schemas.microsoft.com/office/powerpoint/2010/main" val="10198772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8C4B352-A13E-4CDA-B777-63B6B60787FD}"/>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A2F0EC87-F50D-4F63-A436-C3645156F551}"/>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D4A1682C-DAEB-4E9E-BD1E-08CFF08A089F}"/>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From Principles to Practice</a:t>
            </a:r>
          </a:p>
        </p:txBody>
      </p:sp>
      <p:sp>
        <p:nvSpPr>
          <p:cNvPr id="5" name="Rectangle 4">
            <a:extLst>
              <a:ext uri="{FF2B5EF4-FFF2-40B4-BE49-F238E27FC236}">
                <a16:creationId xmlns:a16="http://schemas.microsoft.com/office/drawing/2014/main" id="{30276841-4F9C-41D9-A974-EF8CA37F99A9}"/>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2CE764F-8101-4BCD-9762-79D0462D575A}"/>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The implementation gap.</a:t>
            </a:r>
          </a:p>
        </p:txBody>
      </p:sp>
      <p:sp>
        <p:nvSpPr>
          <p:cNvPr id="7" name="TextBox 6">
            <a:extLst>
              <a:ext uri="{FF2B5EF4-FFF2-40B4-BE49-F238E27FC236}">
                <a16:creationId xmlns:a16="http://schemas.microsoft.com/office/drawing/2014/main" id="{BC2031A1-24A1-4A3C-8B5A-FD4251E6B1B9}"/>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1C96C021-E7A2-4E99-A22D-2CCF35637F5E}"/>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36</a:t>
            </a:r>
          </a:p>
        </p:txBody>
      </p:sp>
      <p:sp>
        <p:nvSpPr>
          <p:cNvPr id="9" name="TextBox 8">
            <a:extLst>
              <a:ext uri="{FF2B5EF4-FFF2-40B4-BE49-F238E27FC236}">
                <a16:creationId xmlns:a16="http://schemas.microsoft.com/office/drawing/2014/main" id="{10D1215D-C6C3-4C24-BFC3-2F2F387A9F05}"/>
              </a:ext>
            </a:extLst>
          </p:cNvPr>
          <p:cNvSpPr>
            <a:spLocks noGrp="1"/>
          </p:cNvSpPr>
          <p:nvPr/>
        </p:nvSpPr>
        <p:spPr>
          <a:xfrm>
            <a:off x="896112" y="150876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Hundreds of AI-ethics frameworks; recurring principles (fairness, transparency, accountability).</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1F3864"/>
                </a:solidFill>
                <a:latin typeface="Calibri"/>
                <a:ea typeface="Calibri"/>
                <a:cs typeface="Calibri"/>
              </a:rPr>
              <a:t>But: </a:t>
            </a:r>
            <a:r>
              <a:rPr sz="1700" b="0" i="0" u="none">
                <a:solidFill>
                  <a:srgbClr val="262626"/>
                </a:solidFill>
                <a:latin typeface="Calibri"/>
                <a:ea typeface="Calibri"/>
                <a:cs typeface="Calibri"/>
              </a:rPr>
              <a:t>few are enforceable; hard to operationalize; risk of </a:t>
            </a:r>
            <a:r>
              <a:rPr sz="1700" b="1" i="0" u="sng">
                <a:solidFill>
                  <a:srgbClr val="262626"/>
                </a:solidFill>
                <a:latin typeface="Calibri"/>
                <a:ea typeface="Calibri"/>
                <a:cs typeface="Calibri"/>
              </a:rPr>
              <a:t>“ethics washing”</a:t>
            </a:r>
            <a:r>
              <a:rPr sz="1700" b="0" i="0" u="none">
                <a:solidFill>
                  <a:srgbClr val="262626"/>
                </a:solidFill>
                <a:latin typeface="Calibri"/>
                <a:ea typeface="Calibri"/>
                <a:cs typeface="Calibri"/>
              </a:rPr>
              <a:t>.</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1F3864"/>
                </a:solidFill>
                <a:latin typeface="Calibri"/>
                <a:ea typeface="Calibri"/>
                <a:cs typeface="Calibri"/>
              </a:rPr>
              <a:t>The gap: </a:t>
            </a:r>
            <a:r>
              <a:rPr sz="1700" b="1" i="0" u="none">
                <a:solidFill>
                  <a:srgbClr val="262626"/>
                </a:solidFill>
                <a:latin typeface="Calibri"/>
                <a:ea typeface="Calibri"/>
                <a:cs typeface="Calibri"/>
              </a:rPr>
              <a:t>principles  →  practice  →  governance.</a:t>
            </a:r>
          </a:p>
          <a:p>
            <a:pPr marL="285750" indent="-285750" algn="l">
              <a:lnSpc>
                <a:spcPct val="116000"/>
              </a:lnSpc>
              <a:spcBef>
                <a:spcPts val="600"/>
              </a:spcBef>
              <a:spcAft>
                <a:spcPts val="700"/>
              </a:spcAft>
              <a:buClr>
                <a:srgbClr val="2E75B6"/>
              </a:buClr>
              <a:buSzPct val="100000"/>
              <a:buFont typeface="Arial"/>
              <a:buChar char="•"/>
            </a:pPr>
            <a:r>
              <a:rPr sz="1500" b="0" i="1" u="none">
                <a:solidFill>
                  <a:srgbClr val="595959"/>
                </a:solidFill>
                <a:latin typeface="Calibri"/>
                <a:ea typeface="Calibri"/>
                <a:cs typeface="Calibri"/>
              </a:rPr>
              <a:t>Bridging it is the work of the rest of this course (preview: Week 11 — AI Policy &amp; Regulations).</a:t>
            </a:r>
          </a:p>
        </p:txBody>
      </p:sp>
      <p:sp>
        <p:nvSpPr>
          <p:cNvPr id="10" name="expanded-arrow-36-1">
            <a:extLst>
              <a:ext uri="{FF2B5EF4-FFF2-40B4-BE49-F238E27FC236}">
                <a16:creationId xmlns:a16="http://schemas.microsoft.com/office/drawing/2014/main" id="{0163DBA3-9AF7-4EA1-94D5-326FD9260181}"/>
              </a:ext>
            </a:extLst>
          </p:cNvPr>
          <p:cNvSpPr>
            <a:spLocks noGrp="1"/>
          </p:cNvSpPr>
          <p:nvPr/>
        </p:nvSpPr>
        <p:spPr>
          <a:xfrm>
            <a:off x="3581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36-2">
            <a:extLst>
              <a:ext uri="{FF2B5EF4-FFF2-40B4-BE49-F238E27FC236}">
                <a16:creationId xmlns:a16="http://schemas.microsoft.com/office/drawing/2014/main" id="{1F2474A8-3169-4C7C-9C48-925455CB4A2F}"/>
              </a:ext>
            </a:extLst>
          </p:cNvPr>
          <p:cNvSpPr>
            <a:spLocks noGrp="1"/>
          </p:cNvSpPr>
          <p:nvPr/>
        </p:nvSpPr>
        <p:spPr>
          <a:xfrm>
            <a:off x="5962650"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36-3">
            <a:extLst>
              <a:ext uri="{FF2B5EF4-FFF2-40B4-BE49-F238E27FC236}">
                <a16:creationId xmlns:a16="http://schemas.microsoft.com/office/drawing/2014/main" id="{FBD9AE0A-A40C-4FDB-818E-64D4650C7E38}"/>
              </a:ext>
            </a:extLst>
          </p:cNvPr>
          <p:cNvSpPr>
            <a:spLocks noGrp="1"/>
          </p:cNvSpPr>
          <p:nvPr/>
        </p:nvSpPr>
        <p:spPr>
          <a:xfrm>
            <a:off x="8343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36-1">
            <a:extLst>
              <a:ext uri="{FF2B5EF4-FFF2-40B4-BE49-F238E27FC236}">
                <a16:creationId xmlns:a16="http://schemas.microsoft.com/office/drawing/2014/main" id="{D790D21D-C037-4AE3-8740-4C3D9C1C549C}"/>
              </a:ext>
            </a:extLst>
          </p:cNvPr>
          <p:cNvSpPr>
            <a:spLocks noGrp="1"/>
          </p:cNvSpPr>
          <p:nvPr/>
        </p:nvSpPr>
        <p:spPr>
          <a:xfrm>
            <a:off x="14287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PRINCIPLE</a:t>
            </a:r>
          </a:p>
        </p:txBody>
      </p:sp>
      <p:sp>
        <p:nvSpPr>
          <p:cNvPr id="14" name="expanded-node-36-2">
            <a:extLst>
              <a:ext uri="{FF2B5EF4-FFF2-40B4-BE49-F238E27FC236}">
                <a16:creationId xmlns:a16="http://schemas.microsoft.com/office/drawing/2014/main" id="{DCCF2028-C31B-41AD-BF5A-52F482123493}"/>
              </a:ext>
            </a:extLst>
          </p:cNvPr>
          <p:cNvSpPr>
            <a:spLocks noGrp="1"/>
          </p:cNvSpPr>
          <p:nvPr/>
        </p:nvSpPr>
        <p:spPr>
          <a:xfrm>
            <a:off x="38100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CONTROL</a:t>
            </a:r>
          </a:p>
        </p:txBody>
      </p:sp>
      <p:sp>
        <p:nvSpPr>
          <p:cNvPr id="15" name="expanded-node-36-3">
            <a:extLst>
              <a:ext uri="{FF2B5EF4-FFF2-40B4-BE49-F238E27FC236}">
                <a16:creationId xmlns:a16="http://schemas.microsoft.com/office/drawing/2014/main" id="{C6DA037D-9AEA-4611-84C9-7254E93548E5}"/>
              </a:ext>
            </a:extLst>
          </p:cNvPr>
          <p:cNvSpPr>
            <a:spLocks noGrp="1"/>
          </p:cNvSpPr>
          <p:nvPr/>
        </p:nvSpPr>
        <p:spPr>
          <a:xfrm>
            <a:off x="61912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EVIDENCE</a:t>
            </a:r>
          </a:p>
        </p:txBody>
      </p:sp>
      <p:sp>
        <p:nvSpPr>
          <p:cNvPr id="16" name="expanded-node-36-4">
            <a:extLst>
              <a:ext uri="{FF2B5EF4-FFF2-40B4-BE49-F238E27FC236}">
                <a16:creationId xmlns:a16="http://schemas.microsoft.com/office/drawing/2014/main" id="{D9CC8107-3F2C-476E-AD7E-CBF49A9498FD}"/>
              </a:ext>
            </a:extLst>
          </p:cNvPr>
          <p:cNvSpPr>
            <a:spLocks noGrp="1"/>
          </p:cNvSpPr>
          <p:nvPr/>
        </p:nvSpPr>
        <p:spPr>
          <a:xfrm>
            <a:off x="85725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REMEDY</a:t>
            </a:r>
          </a:p>
        </p:txBody>
      </p:sp>
      <p:sp>
        <p:nvSpPr>
          <p:cNvPr id="17" name="expanded-takeaway-36">
            <a:extLst>
              <a:ext uri="{FF2B5EF4-FFF2-40B4-BE49-F238E27FC236}">
                <a16:creationId xmlns:a16="http://schemas.microsoft.com/office/drawing/2014/main" id="{87F1D5C8-2E59-457F-81ED-9FEC4BC635A9}"/>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Principles become credible only when translated into controls, evidence, monitoring, appeal, and remedy.</a:t>
            </a:r>
          </a:p>
        </p:txBody>
      </p:sp>
      <p:sp>
        <p:nvSpPr>
          <p:cNvPr id="18" name="v2-page-mask-46">
            <a:extLst>
              <a:ext uri="{FF2B5EF4-FFF2-40B4-BE49-F238E27FC236}">
                <a16:creationId xmlns:a16="http://schemas.microsoft.com/office/drawing/2014/main" id="{5A0A46F9-BAE4-4D9D-889C-91FFCAB330EC}"/>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46">
            <a:extLst>
              <a:ext uri="{FF2B5EF4-FFF2-40B4-BE49-F238E27FC236}">
                <a16:creationId xmlns:a16="http://schemas.microsoft.com/office/drawing/2014/main" id="{D57BD302-088E-4920-A765-BA3D95CFB667}"/>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46</a:t>
            </a:r>
          </a:p>
        </p:txBody>
      </p:sp>
    </p:spTree>
    <p:extLst>
      <p:ext uri="{BB962C8B-B14F-4D97-AF65-F5344CB8AC3E}">
        <p14:creationId xmlns:p14="http://schemas.microsoft.com/office/powerpoint/2010/main" val="9163147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4704049-53CA-4150-83CE-852859C343A3}"/>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22660D4D-C161-41D1-B25A-B5A47C4F247E}"/>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E27EBF0-BF98-4C24-BAD2-D4680AF5794D}"/>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Map of Key AI Ethics Issues</a:t>
            </a:r>
          </a:p>
        </p:txBody>
      </p:sp>
      <p:sp>
        <p:nvSpPr>
          <p:cNvPr id="5" name="Rectangle 4">
            <a:extLst>
              <a:ext uri="{FF2B5EF4-FFF2-40B4-BE49-F238E27FC236}">
                <a16:creationId xmlns:a16="http://schemas.microsoft.com/office/drawing/2014/main" id="{2E0E98B7-3454-48A1-8E9B-28B27DECBAA9}"/>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BDD02650-86EE-482B-BBD9-EAF726B813A5}"/>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Six recurring clusters — each deep-dived in later weeks.</a:t>
            </a:r>
          </a:p>
        </p:txBody>
      </p:sp>
      <p:sp>
        <p:nvSpPr>
          <p:cNvPr id="7" name="TextBox 6">
            <a:extLst>
              <a:ext uri="{FF2B5EF4-FFF2-40B4-BE49-F238E27FC236}">
                <a16:creationId xmlns:a16="http://schemas.microsoft.com/office/drawing/2014/main" id="{8D6F2FED-F82F-4C98-9A22-E3F3C4F1A24F}"/>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59EEEA86-FA2A-48C2-81D4-B2FB811053CD}"/>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37</a:t>
            </a:r>
          </a:p>
        </p:txBody>
      </p:sp>
      <p:sp>
        <p:nvSpPr>
          <p:cNvPr id="9" name="TextBox 8">
            <a:extLst>
              <a:ext uri="{FF2B5EF4-FFF2-40B4-BE49-F238E27FC236}">
                <a16:creationId xmlns:a16="http://schemas.microsoft.com/office/drawing/2014/main" id="{D5B1434F-55DF-460E-91D0-247171D97752}"/>
              </a:ext>
            </a:extLst>
          </p:cNvPr>
          <p:cNvSpPr>
            <a:spLocks noGrp="1"/>
          </p:cNvSpPr>
          <p:nvPr/>
        </p:nvSpPr>
        <p:spPr>
          <a:xfrm>
            <a:off x="896112" y="1737360"/>
            <a:ext cx="5349240" cy="4206240"/>
          </a:xfrm>
          <a:prstGeom prst="rect">
            <a:avLst/>
          </a:prstGeom>
          <a:noFill/>
        </p:spPr>
        <p:txBody>
          <a:bodyPr wrap="square" anchor="t">
            <a:spAutoFit/>
          </a:bodyPr>
          <a:lstStyle/>
          <a:p>
            <a:pPr marL="285750" indent="-285750" algn="l">
              <a:lnSpc>
                <a:spcPct val="115000"/>
              </a:lnSpc>
              <a:spcBef>
                <a:spcPts val="0"/>
              </a:spcBef>
              <a:spcAft>
                <a:spcPts val="1200"/>
              </a:spcAft>
              <a:buClr>
                <a:srgbClr val="2E75B6"/>
              </a:buClr>
              <a:buSzPct val="100000"/>
              <a:buFont typeface="Arial"/>
              <a:buChar char="•"/>
            </a:pPr>
            <a:r>
              <a:rPr sz="1600" b="1" i="0" u="none">
                <a:solidFill>
                  <a:srgbClr val="1F3864"/>
                </a:solidFill>
                <a:latin typeface="Calibri"/>
                <a:ea typeface="Calibri"/>
                <a:cs typeface="Calibri"/>
              </a:rPr>
              <a:t>Fairness &amp; bias  </a:t>
            </a:r>
            <a:r>
              <a:rPr sz="1300" b="0" i="0" u="none">
                <a:solidFill>
                  <a:srgbClr val="595959"/>
                </a:solidFill>
                <a:latin typeface="Calibri"/>
                <a:ea typeface="Calibri"/>
                <a:cs typeface="Calibri"/>
              </a:rPr>
              <a:t>(Wk 4–7)</a:t>
            </a:r>
          </a:p>
          <a:p>
            <a:pPr marL="285750" indent="-285750" algn="l">
              <a:lnSpc>
                <a:spcPct val="115000"/>
              </a:lnSpc>
              <a:spcBef>
                <a:spcPts val="0"/>
              </a:spcBef>
              <a:spcAft>
                <a:spcPts val="1200"/>
              </a:spcAft>
              <a:buClr>
                <a:srgbClr val="2E75B6"/>
              </a:buClr>
              <a:buSzPct val="100000"/>
              <a:buFont typeface="Arial"/>
              <a:buChar char="•"/>
            </a:pPr>
            <a:r>
              <a:rPr sz="1600" b="1" i="0" u="none">
                <a:solidFill>
                  <a:srgbClr val="1F3864"/>
                </a:solidFill>
                <a:latin typeface="Calibri"/>
                <a:ea typeface="Calibri"/>
                <a:cs typeface="Calibri"/>
              </a:rPr>
              <a:t>Privacy &amp; data protection  </a:t>
            </a:r>
            <a:r>
              <a:rPr sz="1300" b="0" i="0" u="none">
                <a:solidFill>
                  <a:srgbClr val="595959"/>
                </a:solidFill>
                <a:latin typeface="Calibri"/>
                <a:ea typeface="Calibri"/>
                <a:cs typeface="Calibri"/>
              </a:rPr>
              <a:t>(Wk 2)</a:t>
            </a:r>
          </a:p>
          <a:p>
            <a:pPr marL="285750" indent="-285750" algn="l">
              <a:lnSpc>
                <a:spcPct val="115000"/>
              </a:lnSpc>
              <a:spcBef>
                <a:spcPts val="0"/>
              </a:spcBef>
              <a:spcAft>
                <a:spcPts val="1200"/>
              </a:spcAft>
              <a:buClr>
                <a:srgbClr val="2E75B6"/>
              </a:buClr>
              <a:buSzPct val="100000"/>
              <a:buFont typeface="Arial"/>
              <a:buChar char="•"/>
            </a:pPr>
            <a:r>
              <a:rPr sz="1600" b="1" i="0" u="none">
                <a:solidFill>
                  <a:srgbClr val="1F3864"/>
                </a:solidFill>
                <a:latin typeface="Calibri"/>
                <a:ea typeface="Calibri"/>
                <a:cs typeface="Calibri"/>
              </a:rPr>
              <a:t>Transparency &amp; explainability  </a:t>
            </a:r>
            <a:r>
              <a:rPr sz="1300" b="0" i="0" u="none">
                <a:solidFill>
                  <a:srgbClr val="595959"/>
                </a:solidFill>
                <a:latin typeface="Calibri"/>
                <a:ea typeface="Calibri"/>
                <a:cs typeface="Calibri"/>
              </a:rPr>
              <a:t>(throughout)</a:t>
            </a:r>
          </a:p>
        </p:txBody>
      </p:sp>
      <p:sp>
        <p:nvSpPr>
          <p:cNvPr id="10" name="TextBox 9">
            <a:extLst>
              <a:ext uri="{FF2B5EF4-FFF2-40B4-BE49-F238E27FC236}">
                <a16:creationId xmlns:a16="http://schemas.microsoft.com/office/drawing/2014/main" id="{76D6332D-29AA-4C1E-8A37-25C7D2614C36}"/>
              </a:ext>
            </a:extLst>
          </p:cNvPr>
          <p:cNvSpPr>
            <a:spLocks noGrp="1"/>
          </p:cNvSpPr>
          <p:nvPr/>
        </p:nvSpPr>
        <p:spPr>
          <a:xfrm>
            <a:off x="6446520" y="1737360"/>
            <a:ext cx="5349240" cy="4206240"/>
          </a:xfrm>
          <a:prstGeom prst="rect">
            <a:avLst/>
          </a:prstGeom>
          <a:noFill/>
        </p:spPr>
        <p:txBody>
          <a:bodyPr wrap="square" anchor="t">
            <a:spAutoFit/>
          </a:bodyPr>
          <a:lstStyle/>
          <a:p>
            <a:pPr marL="285750" indent="-285750" algn="l">
              <a:lnSpc>
                <a:spcPct val="115000"/>
              </a:lnSpc>
              <a:spcBef>
                <a:spcPts val="0"/>
              </a:spcBef>
              <a:spcAft>
                <a:spcPts val="1200"/>
              </a:spcAft>
              <a:buClr>
                <a:srgbClr val="2E75B6"/>
              </a:buClr>
              <a:buSzPct val="100000"/>
              <a:buFont typeface="Arial"/>
              <a:buChar char="•"/>
            </a:pPr>
            <a:r>
              <a:rPr sz="1600" b="1" i="0" u="none">
                <a:solidFill>
                  <a:srgbClr val="1F3864"/>
                </a:solidFill>
                <a:latin typeface="Calibri"/>
                <a:ea typeface="Calibri"/>
                <a:cs typeface="Calibri"/>
              </a:rPr>
              <a:t>Accountability &amp; responsibility  </a:t>
            </a:r>
            <a:r>
              <a:rPr sz="1300" b="0" i="0" u="none">
                <a:solidFill>
                  <a:srgbClr val="595959"/>
                </a:solidFill>
                <a:latin typeface="Calibri"/>
                <a:ea typeface="Calibri"/>
                <a:cs typeface="Calibri"/>
              </a:rPr>
              <a:t>(Wk 3)</a:t>
            </a:r>
          </a:p>
          <a:p>
            <a:pPr marL="285750" indent="-285750" algn="l">
              <a:lnSpc>
                <a:spcPct val="115000"/>
              </a:lnSpc>
              <a:spcBef>
                <a:spcPts val="0"/>
              </a:spcBef>
              <a:spcAft>
                <a:spcPts val="1200"/>
              </a:spcAft>
              <a:buClr>
                <a:srgbClr val="2E75B6"/>
              </a:buClr>
              <a:buSzPct val="100000"/>
              <a:buFont typeface="Arial"/>
              <a:buChar char="•"/>
            </a:pPr>
            <a:r>
              <a:rPr sz="1600" b="1" i="0" u="none">
                <a:solidFill>
                  <a:srgbClr val="1F3864"/>
                </a:solidFill>
                <a:latin typeface="Calibri"/>
                <a:ea typeface="Calibri"/>
                <a:cs typeface="Calibri"/>
              </a:rPr>
              <a:t>Safety, security &amp; reliability  </a:t>
            </a:r>
            <a:r>
              <a:rPr sz="1300" b="0" i="0" u="none">
                <a:solidFill>
                  <a:srgbClr val="595959"/>
                </a:solidFill>
                <a:latin typeface="Calibri"/>
                <a:ea typeface="Calibri"/>
                <a:cs typeface="Calibri"/>
              </a:rPr>
              <a:t>(Wk 8)</a:t>
            </a:r>
          </a:p>
          <a:p>
            <a:pPr marL="285750" indent="-285750" algn="l">
              <a:lnSpc>
                <a:spcPct val="115000"/>
              </a:lnSpc>
              <a:spcBef>
                <a:spcPts val="0"/>
              </a:spcBef>
              <a:spcAft>
                <a:spcPts val="1200"/>
              </a:spcAft>
              <a:buClr>
                <a:srgbClr val="2E75B6"/>
              </a:buClr>
              <a:buSzPct val="100000"/>
              <a:buFont typeface="Arial"/>
              <a:buChar char="•"/>
            </a:pPr>
            <a:r>
              <a:rPr sz="1600" b="1" i="0" u="none">
                <a:solidFill>
                  <a:srgbClr val="1F3864"/>
                </a:solidFill>
                <a:latin typeface="Calibri"/>
                <a:ea typeface="Calibri"/>
                <a:cs typeface="Calibri"/>
              </a:rPr>
              <a:t>Broader societal impact  </a:t>
            </a:r>
            <a:r>
              <a:rPr sz="1300" b="0" i="0" u="none">
                <a:solidFill>
                  <a:srgbClr val="595959"/>
                </a:solidFill>
                <a:latin typeface="Calibri"/>
                <a:ea typeface="Calibri"/>
                <a:cs typeface="Calibri"/>
              </a:rPr>
              <a:t>(Wk 9–11)</a:t>
            </a:r>
          </a:p>
        </p:txBody>
      </p:sp>
      <p:sp>
        <p:nvSpPr>
          <p:cNvPr id="11" name="expanded-arrow-37-1">
            <a:extLst>
              <a:ext uri="{FF2B5EF4-FFF2-40B4-BE49-F238E27FC236}">
                <a16:creationId xmlns:a16="http://schemas.microsoft.com/office/drawing/2014/main" id="{12E2AB1D-93FC-43B1-BFF0-9C9239F26C0A}"/>
              </a:ext>
            </a:extLst>
          </p:cNvPr>
          <p:cNvSpPr>
            <a:spLocks noGrp="1"/>
          </p:cNvSpPr>
          <p:nvPr/>
        </p:nvSpPr>
        <p:spPr>
          <a:xfrm>
            <a:off x="3581400" y="4872038"/>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37-2">
            <a:extLst>
              <a:ext uri="{FF2B5EF4-FFF2-40B4-BE49-F238E27FC236}">
                <a16:creationId xmlns:a16="http://schemas.microsoft.com/office/drawing/2014/main" id="{094580C0-689B-4B94-B5EA-ADC36A0D729F}"/>
              </a:ext>
            </a:extLst>
          </p:cNvPr>
          <p:cNvSpPr>
            <a:spLocks noGrp="1"/>
          </p:cNvSpPr>
          <p:nvPr/>
        </p:nvSpPr>
        <p:spPr>
          <a:xfrm>
            <a:off x="5962650" y="4872038"/>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arrow-37-3">
            <a:extLst>
              <a:ext uri="{FF2B5EF4-FFF2-40B4-BE49-F238E27FC236}">
                <a16:creationId xmlns:a16="http://schemas.microsoft.com/office/drawing/2014/main" id="{ABFD0BAA-556D-4413-AB84-6FA9AD530430}"/>
              </a:ext>
            </a:extLst>
          </p:cNvPr>
          <p:cNvSpPr>
            <a:spLocks noGrp="1"/>
          </p:cNvSpPr>
          <p:nvPr/>
        </p:nvSpPr>
        <p:spPr>
          <a:xfrm>
            <a:off x="8343900" y="4872038"/>
            <a:ext cx="457200" cy="171450"/>
          </a:xfrm>
          <a:prstGeom prst="rightArrow">
            <a:avLst/>
          </a:prstGeom>
          <a:solidFill>
            <a:srgbClr val="9EC8E8"/>
          </a:solidFill>
          <a:ln w="0">
            <a:solidFill>
              <a:srgbClr val="9EC8E8"/>
            </a:solidFill>
            <a:prstDash val="solid"/>
          </a:ln>
        </p:spPr>
        <p:txBody>
          <a:bodyPr/>
          <a:lstStyle/>
          <a:p>
            <a:endParaRPr/>
          </a:p>
        </p:txBody>
      </p:sp>
      <p:sp>
        <p:nvSpPr>
          <p:cNvPr id="14" name="expanded-node-37-1">
            <a:extLst>
              <a:ext uri="{FF2B5EF4-FFF2-40B4-BE49-F238E27FC236}">
                <a16:creationId xmlns:a16="http://schemas.microsoft.com/office/drawing/2014/main" id="{73236DF3-A98E-4C3F-8310-06C6C8AE5B8B}"/>
              </a:ext>
            </a:extLst>
          </p:cNvPr>
          <p:cNvSpPr>
            <a:spLocks noGrp="1"/>
          </p:cNvSpPr>
          <p:nvPr/>
        </p:nvSpPr>
        <p:spPr>
          <a:xfrm>
            <a:off x="14287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FAIRNESS</a:t>
            </a:r>
          </a:p>
        </p:txBody>
      </p:sp>
      <p:sp>
        <p:nvSpPr>
          <p:cNvPr id="15" name="expanded-node-37-2">
            <a:extLst>
              <a:ext uri="{FF2B5EF4-FFF2-40B4-BE49-F238E27FC236}">
                <a16:creationId xmlns:a16="http://schemas.microsoft.com/office/drawing/2014/main" id="{1651DD64-DDA8-42D3-BC20-BCB95949EB24}"/>
              </a:ext>
            </a:extLst>
          </p:cNvPr>
          <p:cNvSpPr>
            <a:spLocks noGrp="1"/>
          </p:cNvSpPr>
          <p:nvPr/>
        </p:nvSpPr>
        <p:spPr>
          <a:xfrm>
            <a:off x="38100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PRIVACY</a:t>
            </a:r>
          </a:p>
        </p:txBody>
      </p:sp>
      <p:sp>
        <p:nvSpPr>
          <p:cNvPr id="16" name="expanded-node-37-3">
            <a:extLst>
              <a:ext uri="{FF2B5EF4-FFF2-40B4-BE49-F238E27FC236}">
                <a16:creationId xmlns:a16="http://schemas.microsoft.com/office/drawing/2014/main" id="{F11A86E4-9480-484E-A1D5-3F81D0279DDE}"/>
              </a:ext>
            </a:extLst>
          </p:cNvPr>
          <p:cNvSpPr>
            <a:spLocks noGrp="1"/>
          </p:cNvSpPr>
          <p:nvPr/>
        </p:nvSpPr>
        <p:spPr>
          <a:xfrm>
            <a:off x="61912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ACCOUNTABILITY</a:t>
            </a:r>
          </a:p>
        </p:txBody>
      </p:sp>
      <p:sp>
        <p:nvSpPr>
          <p:cNvPr id="17" name="expanded-node-37-4">
            <a:extLst>
              <a:ext uri="{FF2B5EF4-FFF2-40B4-BE49-F238E27FC236}">
                <a16:creationId xmlns:a16="http://schemas.microsoft.com/office/drawing/2014/main" id="{4E5A2913-DD1B-469F-BFC9-0BCFECC74F36}"/>
              </a:ext>
            </a:extLst>
          </p:cNvPr>
          <p:cNvSpPr>
            <a:spLocks noGrp="1"/>
          </p:cNvSpPr>
          <p:nvPr/>
        </p:nvSpPr>
        <p:spPr>
          <a:xfrm>
            <a:off x="85725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SAFETY</a:t>
            </a:r>
          </a:p>
        </p:txBody>
      </p:sp>
      <p:sp>
        <p:nvSpPr>
          <p:cNvPr id="18" name="expanded-takeaway-37">
            <a:extLst>
              <a:ext uri="{FF2B5EF4-FFF2-40B4-BE49-F238E27FC236}">
                <a16:creationId xmlns:a16="http://schemas.microsoft.com/office/drawing/2014/main" id="{21466593-F18A-4EE5-899F-86CBDA1A5C15}"/>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Fairness, privacy, transparency, accountability, safety, and societal impact are deeply interconnected.</a:t>
            </a:r>
          </a:p>
        </p:txBody>
      </p:sp>
      <p:sp>
        <p:nvSpPr>
          <p:cNvPr id="19" name="v2-page-mask-47">
            <a:extLst>
              <a:ext uri="{FF2B5EF4-FFF2-40B4-BE49-F238E27FC236}">
                <a16:creationId xmlns:a16="http://schemas.microsoft.com/office/drawing/2014/main" id="{F0B66702-B1DF-454C-920D-DB51087C27B3}"/>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20" name="v2-page-47">
            <a:extLst>
              <a:ext uri="{FF2B5EF4-FFF2-40B4-BE49-F238E27FC236}">
                <a16:creationId xmlns:a16="http://schemas.microsoft.com/office/drawing/2014/main" id="{4AD21BC5-7434-4145-9FE7-6E02827802FD}"/>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47</a:t>
            </a:r>
          </a:p>
        </p:txBody>
      </p:sp>
    </p:spTree>
    <p:extLst>
      <p:ext uri="{BB962C8B-B14F-4D97-AF65-F5344CB8AC3E}">
        <p14:creationId xmlns:p14="http://schemas.microsoft.com/office/powerpoint/2010/main" val="18712278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2314AF9-0155-4826-8560-8C30A94968F7}"/>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8CCCCA1D-A330-41FB-B795-6CB5E642D104}"/>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D2FD0288-DEA9-40E3-A654-709E9A2F2E6E}"/>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Fairness &amp; Bias</a:t>
            </a:r>
          </a:p>
        </p:txBody>
      </p:sp>
      <p:sp>
        <p:nvSpPr>
          <p:cNvPr id="5" name="Rectangle 4">
            <a:extLst>
              <a:ext uri="{FF2B5EF4-FFF2-40B4-BE49-F238E27FC236}">
                <a16:creationId xmlns:a16="http://schemas.microsoft.com/office/drawing/2014/main" id="{13A62542-552D-45BA-928C-E63B456AB7FF}"/>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2A4E06D-836B-4FC5-9BEA-BAB18C56D440}"/>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An introduction — deep dive in Weeks 4–6.</a:t>
            </a:r>
          </a:p>
        </p:txBody>
      </p:sp>
      <p:sp>
        <p:nvSpPr>
          <p:cNvPr id="7" name="TextBox 6">
            <a:extLst>
              <a:ext uri="{FF2B5EF4-FFF2-40B4-BE49-F238E27FC236}">
                <a16:creationId xmlns:a16="http://schemas.microsoft.com/office/drawing/2014/main" id="{3CC72DD4-83B0-455C-B6A2-1EA5725F743B}"/>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7A1E37A3-CF60-4FCB-95F6-EAAA1C6A501E}"/>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38</a:t>
            </a:r>
          </a:p>
        </p:txBody>
      </p:sp>
      <p:sp>
        <p:nvSpPr>
          <p:cNvPr id="9" name="TextBox 8">
            <a:extLst>
              <a:ext uri="{FF2B5EF4-FFF2-40B4-BE49-F238E27FC236}">
                <a16:creationId xmlns:a16="http://schemas.microsoft.com/office/drawing/2014/main" id="{D640E178-64B0-4391-B3FC-4E958E359F60}"/>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Bias ≠ just accuracy gaps; it is </a:t>
            </a:r>
            <a:r>
              <a:rPr sz="1700" b="1" i="0" u="sng">
                <a:solidFill>
                  <a:srgbClr val="262626"/>
                </a:solidFill>
                <a:latin typeface="Calibri"/>
                <a:ea typeface="Calibri"/>
                <a:cs typeface="Calibri"/>
              </a:rPr>
              <a:t>unjustified differential harm</a:t>
            </a:r>
            <a:r>
              <a:rPr sz="1700" b="0" i="0" u="none">
                <a:solidFill>
                  <a:srgbClr val="262626"/>
                </a:solidFill>
                <a:latin typeface="Calibri"/>
                <a:ea typeface="Calibri"/>
                <a:cs typeface="Calibri"/>
              </a:rPr>
              <a:t>.</a:t>
            </a:r>
          </a:p>
          <a:p>
            <a:pPr marL="285750" indent="-285750" algn="l">
              <a:lnSpc>
                <a:spcPct val="116000"/>
              </a:lnSpc>
              <a:spcBef>
                <a:spcPts val="400"/>
              </a:spcBef>
              <a:spcAft>
                <a:spcPts val="300"/>
              </a:spcAft>
              <a:buClr>
                <a:srgbClr val="2E75B6"/>
              </a:buClr>
              <a:buSzPct val="100000"/>
              <a:buFont typeface="Arial"/>
              <a:buChar char="•"/>
            </a:pPr>
            <a:r>
              <a:rPr sz="1700" b="1" i="0" u="none">
                <a:solidFill>
                  <a:srgbClr val="1F3864"/>
                </a:solidFill>
                <a:latin typeface="Calibri"/>
                <a:ea typeface="Calibri"/>
                <a:cs typeface="Calibri"/>
              </a:rPr>
              <a:t>Where bias enters:</a:t>
            </a:r>
          </a:p>
          <a:p>
            <a:pPr marL="5143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historical data  ·  label noise  ·  feature / proxy selection  ·  model choices  ·  feedback loops.</a:t>
            </a:r>
          </a:p>
          <a:p>
            <a:pPr marL="285750" indent="-285750" algn="l">
              <a:lnSpc>
                <a:spcPct val="116000"/>
              </a:lnSpc>
              <a:spcBef>
                <a:spcPts val="400"/>
              </a:spcBef>
              <a:spcAft>
                <a:spcPts val="700"/>
              </a:spcAft>
              <a:buClr>
                <a:srgbClr val="2E75B6"/>
              </a:buClr>
              <a:buSzPct val="100000"/>
              <a:buFont typeface="Arial"/>
              <a:buChar char="•"/>
            </a:pPr>
            <a:r>
              <a:rPr sz="1600" b="1" i="0" u="none">
                <a:solidFill>
                  <a:srgbClr val="1F3864"/>
                </a:solidFill>
                <a:latin typeface="Calibri"/>
                <a:ea typeface="Calibri"/>
                <a:cs typeface="Calibri"/>
              </a:rPr>
              <a:t>Teaser cases: </a:t>
            </a:r>
            <a:r>
              <a:rPr sz="1600" b="0" i="0" u="none">
                <a:solidFill>
                  <a:srgbClr val="262626"/>
                </a:solidFill>
                <a:latin typeface="Calibri"/>
                <a:ea typeface="Calibri"/>
                <a:cs typeface="Calibri"/>
              </a:rPr>
              <a:t>hiring, facial recognition, credit (Weeks 5–7).</a:t>
            </a:r>
          </a:p>
        </p:txBody>
      </p:sp>
      <p:sp>
        <p:nvSpPr>
          <p:cNvPr id="10" name="expanded-arrow-38-1">
            <a:extLst>
              <a:ext uri="{FF2B5EF4-FFF2-40B4-BE49-F238E27FC236}">
                <a16:creationId xmlns:a16="http://schemas.microsoft.com/office/drawing/2014/main" id="{0C8F35EF-49CF-4412-B83A-94814B392094}"/>
              </a:ext>
            </a:extLst>
          </p:cNvPr>
          <p:cNvSpPr>
            <a:spLocks noGrp="1"/>
          </p:cNvSpPr>
          <p:nvPr/>
        </p:nvSpPr>
        <p:spPr>
          <a:xfrm>
            <a:off x="3581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38-2">
            <a:extLst>
              <a:ext uri="{FF2B5EF4-FFF2-40B4-BE49-F238E27FC236}">
                <a16:creationId xmlns:a16="http://schemas.microsoft.com/office/drawing/2014/main" id="{43E7D39D-85F8-42C0-8CD9-71BA3B5CBD54}"/>
              </a:ext>
            </a:extLst>
          </p:cNvPr>
          <p:cNvSpPr>
            <a:spLocks noGrp="1"/>
          </p:cNvSpPr>
          <p:nvPr/>
        </p:nvSpPr>
        <p:spPr>
          <a:xfrm>
            <a:off x="5962650"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38-3">
            <a:extLst>
              <a:ext uri="{FF2B5EF4-FFF2-40B4-BE49-F238E27FC236}">
                <a16:creationId xmlns:a16="http://schemas.microsoft.com/office/drawing/2014/main" id="{2EF49682-99E0-427F-821E-7E165C50A907}"/>
              </a:ext>
            </a:extLst>
          </p:cNvPr>
          <p:cNvSpPr>
            <a:spLocks noGrp="1"/>
          </p:cNvSpPr>
          <p:nvPr/>
        </p:nvSpPr>
        <p:spPr>
          <a:xfrm>
            <a:off x="8343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38-1">
            <a:extLst>
              <a:ext uri="{FF2B5EF4-FFF2-40B4-BE49-F238E27FC236}">
                <a16:creationId xmlns:a16="http://schemas.microsoft.com/office/drawing/2014/main" id="{434B9042-B954-4DF7-A999-2225C8F19057}"/>
              </a:ext>
            </a:extLst>
          </p:cNvPr>
          <p:cNvSpPr>
            <a:spLocks noGrp="1"/>
          </p:cNvSpPr>
          <p:nvPr/>
        </p:nvSpPr>
        <p:spPr>
          <a:xfrm>
            <a:off x="14287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HISTORY</a:t>
            </a:r>
          </a:p>
        </p:txBody>
      </p:sp>
      <p:sp>
        <p:nvSpPr>
          <p:cNvPr id="14" name="expanded-node-38-2">
            <a:extLst>
              <a:ext uri="{FF2B5EF4-FFF2-40B4-BE49-F238E27FC236}">
                <a16:creationId xmlns:a16="http://schemas.microsoft.com/office/drawing/2014/main" id="{27400E1F-062F-4310-A3EC-ED4FCBCB9ECF}"/>
              </a:ext>
            </a:extLst>
          </p:cNvPr>
          <p:cNvSpPr>
            <a:spLocks noGrp="1"/>
          </p:cNvSpPr>
          <p:nvPr/>
        </p:nvSpPr>
        <p:spPr>
          <a:xfrm>
            <a:off x="38100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PROXY</a:t>
            </a:r>
          </a:p>
        </p:txBody>
      </p:sp>
      <p:sp>
        <p:nvSpPr>
          <p:cNvPr id="15" name="expanded-node-38-3">
            <a:extLst>
              <a:ext uri="{FF2B5EF4-FFF2-40B4-BE49-F238E27FC236}">
                <a16:creationId xmlns:a16="http://schemas.microsoft.com/office/drawing/2014/main" id="{B7E43562-4E1D-451F-9757-831D2CF3D2EB}"/>
              </a:ext>
            </a:extLst>
          </p:cNvPr>
          <p:cNvSpPr>
            <a:spLocks noGrp="1"/>
          </p:cNvSpPr>
          <p:nvPr/>
        </p:nvSpPr>
        <p:spPr>
          <a:xfrm>
            <a:off x="61912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MODEL</a:t>
            </a:r>
          </a:p>
        </p:txBody>
      </p:sp>
      <p:sp>
        <p:nvSpPr>
          <p:cNvPr id="16" name="expanded-node-38-4">
            <a:extLst>
              <a:ext uri="{FF2B5EF4-FFF2-40B4-BE49-F238E27FC236}">
                <a16:creationId xmlns:a16="http://schemas.microsoft.com/office/drawing/2014/main" id="{1B6365DB-3CB5-4BA3-BA29-0C3EBE96565F}"/>
              </a:ext>
            </a:extLst>
          </p:cNvPr>
          <p:cNvSpPr>
            <a:spLocks noGrp="1"/>
          </p:cNvSpPr>
          <p:nvPr/>
        </p:nvSpPr>
        <p:spPr>
          <a:xfrm>
            <a:off x="85725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IMPACT</a:t>
            </a:r>
          </a:p>
        </p:txBody>
      </p:sp>
      <p:sp>
        <p:nvSpPr>
          <p:cNvPr id="17" name="expanded-takeaway-38">
            <a:extLst>
              <a:ext uri="{FF2B5EF4-FFF2-40B4-BE49-F238E27FC236}">
                <a16:creationId xmlns:a16="http://schemas.microsoft.com/office/drawing/2014/main" id="{4D38146E-A081-4147-BAAD-352618F04F6E}"/>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Bias is not only an accuracy gap; it is an unjustified pattern of differential burden or harm.</a:t>
            </a:r>
          </a:p>
        </p:txBody>
      </p:sp>
      <p:sp>
        <p:nvSpPr>
          <p:cNvPr id="18" name="v2-page-mask-49">
            <a:extLst>
              <a:ext uri="{FF2B5EF4-FFF2-40B4-BE49-F238E27FC236}">
                <a16:creationId xmlns:a16="http://schemas.microsoft.com/office/drawing/2014/main" id="{3AD4DF6F-4387-45DC-9A53-0BFA9A770DB0}"/>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49">
            <a:extLst>
              <a:ext uri="{FF2B5EF4-FFF2-40B4-BE49-F238E27FC236}">
                <a16:creationId xmlns:a16="http://schemas.microsoft.com/office/drawing/2014/main" id="{87ABB2C8-1770-4E00-A68C-1BF04A2D7305}"/>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49</a:t>
            </a:r>
          </a:p>
        </p:txBody>
      </p:sp>
    </p:spTree>
    <p:extLst>
      <p:ext uri="{BB962C8B-B14F-4D97-AF65-F5344CB8AC3E}">
        <p14:creationId xmlns:p14="http://schemas.microsoft.com/office/powerpoint/2010/main" val="32041409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563B15B-15AB-43F5-A714-E0917123D082}"/>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181EB5DD-BF52-4897-A2FB-83BD06893C64}"/>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B722605-A58E-4107-85BF-4FD899FF2631}"/>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Privacy &amp; Data Protection</a:t>
            </a:r>
          </a:p>
        </p:txBody>
      </p:sp>
      <p:sp>
        <p:nvSpPr>
          <p:cNvPr id="5" name="Rectangle 4">
            <a:extLst>
              <a:ext uri="{FF2B5EF4-FFF2-40B4-BE49-F238E27FC236}">
                <a16:creationId xmlns:a16="http://schemas.microsoft.com/office/drawing/2014/main" id="{FD8B5B28-FE67-4FD9-A313-9EFB86959395}"/>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63CB6DAA-0427-40DD-83FE-E9A3D2395DE9}"/>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An introduction — deep dive in Week 2.</a:t>
            </a:r>
          </a:p>
        </p:txBody>
      </p:sp>
      <p:sp>
        <p:nvSpPr>
          <p:cNvPr id="7" name="TextBox 6">
            <a:extLst>
              <a:ext uri="{FF2B5EF4-FFF2-40B4-BE49-F238E27FC236}">
                <a16:creationId xmlns:a16="http://schemas.microsoft.com/office/drawing/2014/main" id="{592326D7-D658-4EF9-B74F-6EFC1D182967}"/>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7B2FA417-6E82-45BA-B2FF-36FE46D80BFC}"/>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39</a:t>
            </a:r>
          </a:p>
        </p:txBody>
      </p:sp>
      <p:sp>
        <p:nvSpPr>
          <p:cNvPr id="9" name="TextBox 8">
            <a:extLst>
              <a:ext uri="{FF2B5EF4-FFF2-40B4-BE49-F238E27FC236}">
                <a16:creationId xmlns:a16="http://schemas.microsoft.com/office/drawing/2014/main" id="{DCEFF734-6B5B-4B15-AD34-036F534A3902}"/>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AI infers </a:t>
            </a:r>
            <a:r>
              <a:rPr sz="1700" b="1" i="0" u="sng">
                <a:solidFill>
                  <a:srgbClr val="262626"/>
                </a:solidFill>
                <a:latin typeface="Calibri"/>
                <a:ea typeface="Calibri"/>
                <a:cs typeface="Calibri"/>
              </a:rPr>
              <a:t>sensitive attributes from “non-sensitive” data</a:t>
            </a:r>
            <a:r>
              <a:rPr sz="1700" b="0" i="0" u="none">
                <a:solidFill>
                  <a:srgbClr val="262626"/>
                </a:solidFill>
                <a:latin typeface="Calibri"/>
                <a:ea typeface="Calibri"/>
                <a:cs typeface="Calibri"/>
              </a:rPr>
              <a:t>.</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Re-identification: </a:t>
            </a:r>
            <a:r>
              <a:rPr sz="1600" b="0" i="0" u="none">
                <a:solidFill>
                  <a:srgbClr val="262626"/>
                </a:solidFill>
                <a:latin typeface="Calibri"/>
                <a:ea typeface="Calibri"/>
                <a:cs typeface="Calibri"/>
              </a:rPr>
              <a:t>“anonymized” records can be matched back to people.</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Mass surveillance chills behavior and dissent.</a:t>
            </a:r>
          </a:p>
          <a:p>
            <a:pPr marL="285750" indent="-285750" algn="l">
              <a:lnSpc>
                <a:spcPct val="116000"/>
              </a:lnSpc>
              <a:spcBef>
                <a:spcPts val="400"/>
              </a:spcBef>
              <a:spcAft>
                <a:spcPts val="700"/>
              </a:spcAft>
              <a:buClr>
                <a:srgbClr val="2E75B6"/>
              </a:buClr>
              <a:buSzPct val="100000"/>
              <a:buFont typeface="Arial"/>
              <a:buChar char="•"/>
            </a:pPr>
            <a:r>
              <a:rPr sz="1600" b="1" i="0" u="none">
                <a:solidFill>
                  <a:srgbClr val="1F3864"/>
                </a:solidFill>
                <a:latin typeface="Calibri"/>
                <a:ea typeface="Calibri"/>
                <a:cs typeface="Calibri"/>
              </a:rPr>
              <a:t>Core tension: </a:t>
            </a:r>
            <a:r>
              <a:rPr sz="1600" b="1" i="0" u="sng">
                <a:solidFill>
                  <a:srgbClr val="262626"/>
                </a:solidFill>
                <a:latin typeface="Calibri"/>
                <a:ea typeface="Calibri"/>
                <a:cs typeface="Calibri"/>
              </a:rPr>
              <a:t>utility vs privacy.</a:t>
            </a:r>
          </a:p>
        </p:txBody>
      </p:sp>
      <p:sp>
        <p:nvSpPr>
          <p:cNvPr id="10" name="expanded-arrow-39-1">
            <a:extLst>
              <a:ext uri="{FF2B5EF4-FFF2-40B4-BE49-F238E27FC236}">
                <a16:creationId xmlns:a16="http://schemas.microsoft.com/office/drawing/2014/main" id="{32A128BA-12F7-4B0F-B9CA-70C227375E24}"/>
              </a:ext>
            </a:extLst>
          </p:cNvPr>
          <p:cNvSpPr>
            <a:spLocks noGrp="1"/>
          </p:cNvSpPr>
          <p:nvPr/>
        </p:nvSpPr>
        <p:spPr>
          <a:xfrm>
            <a:off x="3581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39-2">
            <a:extLst>
              <a:ext uri="{FF2B5EF4-FFF2-40B4-BE49-F238E27FC236}">
                <a16:creationId xmlns:a16="http://schemas.microsoft.com/office/drawing/2014/main" id="{1DA3013E-FF92-4D43-AF8C-005DB069122B}"/>
              </a:ext>
            </a:extLst>
          </p:cNvPr>
          <p:cNvSpPr>
            <a:spLocks noGrp="1"/>
          </p:cNvSpPr>
          <p:nvPr/>
        </p:nvSpPr>
        <p:spPr>
          <a:xfrm>
            <a:off x="5962650"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39-3">
            <a:extLst>
              <a:ext uri="{FF2B5EF4-FFF2-40B4-BE49-F238E27FC236}">
                <a16:creationId xmlns:a16="http://schemas.microsoft.com/office/drawing/2014/main" id="{DCCDE287-5846-443F-A445-6AD4F80BFFAB}"/>
              </a:ext>
            </a:extLst>
          </p:cNvPr>
          <p:cNvSpPr>
            <a:spLocks noGrp="1"/>
          </p:cNvSpPr>
          <p:nvPr/>
        </p:nvSpPr>
        <p:spPr>
          <a:xfrm>
            <a:off x="8343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39-1">
            <a:extLst>
              <a:ext uri="{FF2B5EF4-FFF2-40B4-BE49-F238E27FC236}">
                <a16:creationId xmlns:a16="http://schemas.microsoft.com/office/drawing/2014/main" id="{F526302C-EC09-495B-B373-5B87D1931AD0}"/>
              </a:ext>
            </a:extLst>
          </p:cNvPr>
          <p:cNvSpPr>
            <a:spLocks noGrp="1"/>
          </p:cNvSpPr>
          <p:nvPr/>
        </p:nvSpPr>
        <p:spPr>
          <a:xfrm>
            <a:off x="14287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COLLECT</a:t>
            </a:r>
          </a:p>
        </p:txBody>
      </p:sp>
      <p:sp>
        <p:nvSpPr>
          <p:cNvPr id="14" name="expanded-node-39-2">
            <a:extLst>
              <a:ext uri="{FF2B5EF4-FFF2-40B4-BE49-F238E27FC236}">
                <a16:creationId xmlns:a16="http://schemas.microsoft.com/office/drawing/2014/main" id="{58ED55FD-48BF-460D-82D0-6798D4CF3AB3}"/>
              </a:ext>
            </a:extLst>
          </p:cNvPr>
          <p:cNvSpPr>
            <a:spLocks noGrp="1"/>
          </p:cNvSpPr>
          <p:nvPr/>
        </p:nvSpPr>
        <p:spPr>
          <a:xfrm>
            <a:off x="38100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INFER</a:t>
            </a:r>
          </a:p>
        </p:txBody>
      </p:sp>
      <p:sp>
        <p:nvSpPr>
          <p:cNvPr id="15" name="expanded-node-39-3">
            <a:extLst>
              <a:ext uri="{FF2B5EF4-FFF2-40B4-BE49-F238E27FC236}">
                <a16:creationId xmlns:a16="http://schemas.microsoft.com/office/drawing/2014/main" id="{8E4FCF60-D057-410B-AFD3-F4137DDFC0D1}"/>
              </a:ext>
            </a:extLst>
          </p:cNvPr>
          <p:cNvSpPr>
            <a:spLocks noGrp="1"/>
          </p:cNvSpPr>
          <p:nvPr/>
        </p:nvSpPr>
        <p:spPr>
          <a:xfrm>
            <a:off x="61912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PROFILE</a:t>
            </a:r>
          </a:p>
        </p:txBody>
      </p:sp>
      <p:sp>
        <p:nvSpPr>
          <p:cNvPr id="16" name="expanded-node-39-4">
            <a:extLst>
              <a:ext uri="{FF2B5EF4-FFF2-40B4-BE49-F238E27FC236}">
                <a16:creationId xmlns:a16="http://schemas.microsoft.com/office/drawing/2014/main" id="{A326F0DC-A48C-43DD-81E0-3CB82771CC98}"/>
              </a:ext>
            </a:extLst>
          </p:cNvPr>
          <p:cNvSpPr>
            <a:spLocks noGrp="1"/>
          </p:cNvSpPr>
          <p:nvPr/>
        </p:nvSpPr>
        <p:spPr>
          <a:xfrm>
            <a:off x="85725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DECIDE</a:t>
            </a:r>
          </a:p>
        </p:txBody>
      </p:sp>
      <p:sp>
        <p:nvSpPr>
          <p:cNvPr id="17" name="expanded-takeaway-39">
            <a:extLst>
              <a:ext uri="{FF2B5EF4-FFF2-40B4-BE49-F238E27FC236}">
                <a16:creationId xmlns:a16="http://schemas.microsoft.com/office/drawing/2014/main" id="{0D16C041-C565-411D-A400-22063476C59F}"/>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Seemingly harmless data can reveal identity, health, beliefs, location, and vulnerability through inference.</a:t>
            </a:r>
          </a:p>
        </p:txBody>
      </p:sp>
      <p:sp>
        <p:nvSpPr>
          <p:cNvPr id="18" name="v2-page-mask-50">
            <a:extLst>
              <a:ext uri="{FF2B5EF4-FFF2-40B4-BE49-F238E27FC236}">
                <a16:creationId xmlns:a16="http://schemas.microsoft.com/office/drawing/2014/main" id="{861E8AFA-79D3-4E84-8248-DB9153FAFE27}"/>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50">
            <a:extLst>
              <a:ext uri="{FF2B5EF4-FFF2-40B4-BE49-F238E27FC236}">
                <a16:creationId xmlns:a16="http://schemas.microsoft.com/office/drawing/2014/main" id="{DD35E840-9227-4A55-A94D-F55F9983F110}"/>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50</a:t>
            </a:r>
          </a:p>
        </p:txBody>
      </p:sp>
    </p:spTree>
    <p:extLst>
      <p:ext uri="{BB962C8B-B14F-4D97-AF65-F5344CB8AC3E}">
        <p14:creationId xmlns:p14="http://schemas.microsoft.com/office/powerpoint/2010/main" val="12453753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8E82EF-7E3B-4415-91A4-2F3B7A448615}"/>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C7EBF55A-4B18-4858-B79E-497D4A3B4383}"/>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99D35348-A150-4792-B8C0-4F6C50CD93B4}"/>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Transparency &amp; Explainability</a:t>
            </a:r>
          </a:p>
        </p:txBody>
      </p:sp>
      <p:sp>
        <p:nvSpPr>
          <p:cNvPr id="5" name="Rectangle 4">
            <a:extLst>
              <a:ext uri="{FF2B5EF4-FFF2-40B4-BE49-F238E27FC236}">
                <a16:creationId xmlns:a16="http://schemas.microsoft.com/office/drawing/2014/main" id="{A8369E4A-31C3-4E58-865F-59ACC8397387}"/>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7A7B8CA1-DFFB-4793-A651-2746CBA217B7}"/>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42EA2818-6999-4CC3-9447-80C07C820340}"/>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40</a:t>
            </a:r>
          </a:p>
        </p:txBody>
      </p:sp>
      <p:sp>
        <p:nvSpPr>
          <p:cNvPr id="8" name="TextBox 7">
            <a:extLst>
              <a:ext uri="{FF2B5EF4-FFF2-40B4-BE49-F238E27FC236}">
                <a16:creationId xmlns:a16="http://schemas.microsoft.com/office/drawing/2014/main" id="{382E2032-F87D-4901-AE4D-64C7F434D563}"/>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1" i="0" u="none">
                <a:solidFill>
                  <a:srgbClr val="1F3864"/>
                </a:solidFill>
                <a:latin typeface="Calibri"/>
                <a:ea typeface="Calibri"/>
                <a:cs typeface="Calibri"/>
              </a:rPr>
              <a:t>The question: </a:t>
            </a:r>
            <a:r>
              <a:rPr sz="1700" b="0" i="0" u="none">
                <a:solidFill>
                  <a:srgbClr val="262626"/>
                </a:solidFill>
                <a:latin typeface="Calibri"/>
                <a:ea typeface="Calibri"/>
                <a:cs typeface="Calibri"/>
              </a:rPr>
              <a:t>“Why did the model decide X about me?”</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Many models are </a:t>
            </a:r>
            <a:r>
              <a:rPr sz="1600" b="1" i="0" u="sng">
                <a:solidFill>
                  <a:srgbClr val="262626"/>
                </a:solidFill>
                <a:latin typeface="Calibri"/>
                <a:ea typeface="Calibri"/>
                <a:cs typeface="Calibri"/>
              </a:rPr>
              <a:t>black boxes</a:t>
            </a:r>
            <a:r>
              <a:rPr sz="1600" b="0" i="0" u="none">
                <a:solidFill>
                  <a:srgbClr val="262626"/>
                </a:solidFill>
                <a:latin typeface="Calibri"/>
                <a:ea typeface="Calibri"/>
                <a:cs typeface="Calibri"/>
              </a:rPr>
              <a:t> — hard to inspect or explain.</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Interpretable models vs post-hoc explanations (which can mislead).</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Trade-off: </a:t>
            </a:r>
            <a:r>
              <a:rPr sz="1600" b="0" i="0" u="none">
                <a:solidFill>
                  <a:srgbClr val="262626"/>
                </a:solidFill>
                <a:latin typeface="Calibri"/>
                <a:ea typeface="Calibri"/>
                <a:cs typeface="Calibri"/>
              </a:rPr>
              <a:t>interpretability  ↔  accuracy / proprietary secrecy.</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A “right to an explanation” (GDPR-style) is emerging.</a:t>
            </a:r>
          </a:p>
        </p:txBody>
      </p:sp>
      <p:sp>
        <p:nvSpPr>
          <p:cNvPr id="9" name="expanded-arrow-40-1">
            <a:extLst>
              <a:ext uri="{FF2B5EF4-FFF2-40B4-BE49-F238E27FC236}">
                <a16:creationId xmlns:a16="http://schemas.microsoft.com/office/drawing/2014/main" id="{35BDF9AB-CBED-4FB9-89C4-7FACC2FBBD46}"/>
              </a:ext>
            </a:extLst>
          </p:cNvPr>
          <p:cNvSpPr>
            <a:spLocks noGrp="1"/>
          </p:cNvSpPr>
          <p:nvPr/>
        </p:nvSpPr>
        <p:spPr>
          <a:xfrm>
            <a:off x="3581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40-2">
            <a:extLst>
              <a:ext uri="{FF2B5EF4-FFF2-40B4-BE49-F238E27FC236}">
                <a16:creationId xmlns:a16="http://schemas.microsoft.com/office/drawing/2014/main" id="{FD528F5C-8FF2-4965-987B-404A8143960E}"/>
              </a:ext>
            </a:extLst>
          </p:cNvPr>
          <p:cNvSpPr>
            <a:spLocks noGrp="1"/>
          </p:cNvSpPr>
          <p:nvPr/>
        </p:nvSpPr>
        <p:spPr>
          <a:xfrm>
            <a:off x="5962650"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40-3">
            <a:extLst>
              <a:ext uri="{FF2B5EF4-FFF2-40B4-BE49-F238E27FC236}">
                <a16:creationId xmlns:a16="http://schemas.microsoft.com/office/drawing/2014/main" id="{06BE63D1-3283-48E3-B79F-B09A74FC5896}"/>
              </a:ext>
            </a:extLst>
          </p:cNvPr>
          <p:cNvSpPr>
            <a:spLocks noGrp="1"/>
          </p:cNvSpPr>
          <p:nvPr/>
        </p:nvSpPr>
        <p:spPr>
          <a:xfrm>
            <a:off x="8343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node-40-1">
            <a:extLst>
              <a:ext uri="{FF2B5EF4-FFF2-40B4-BE49-F238E27FC236}">
                <a16:creationId xmlns:a16="http://schemas.microsoft.com/office/drawing/2014/main" id="{51DC90D5-34B1-4D46-A713-EB36D39E7C90}"/>
              </a:ext>
            </a:extLst>
          </p:cNvPr>
          <p:cNvSpPr>
            <a:spLocks noGrp="1"/>
          </p:cNvSpPr>
          <p:nvPr/>
        </p:nvSpPr>
        <p:spPr>
          <a:xfrm>
            <a:off x="14287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SYSTEM</a:t>
            </a:r>
          </a:p>
        </p:txBody>
      </p:sp>
      <p:sp>
        <p:nvSpPr>
          <p:cNvPr id="13" name="expanded-node-40-2">
            <a:extLst>
              <a:ext uri="{FF2B5EF4-FFF2-40B4-BE49-F238E27FC236}">
                <a16:creationId xmlns:a16="http://schemas.microsoft.com/office/drawing/2014/main" id="{E6ACC12D-3C06-456D-8C6F-3617D07068A8}"/>
              </a:ext>
            </a:extLst>
          </p:cNvPr>
          <p:cNvSpPr>
            <a:spLocks noGrp="1"/>
          </p:cNvSpPr>
          <p:nvPr/>
        </p:nvSpPr>
        <p:spPr>
          <a:xfrm>
            <a:off x="38100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DECISION</a:t>
            </a:r>
          </a:p>
        </p:txBody>
      </p:sp>
      <p:sp>
        <p:nvSpPr>
          <p:cNvPr id="14" name="expanded-node-40-3">
            <a:extLst>
              <a:ext uri="{FF2B5EF4-FFF2-40B4-BE49-F238E27FC236}">
                <a16:creationId xmlns:a16="http://schemas.microsoft.com/office/drawing/2014/main" id="{A2FC47E9-5F19-4938-9F40-5BB2BA0D195A}"/>
              </a:ext>
            </a:extLst>
          </p:cNvPr>
          <p:cNvSpPr>
            <a:spLocks noGrp="1"/>
          </p:cNvSpPr>
          <p:nvPr/>
        </p:nvSpPr>
        <p:spPr>
          <a:xfrm>
            <a:off x="61912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REASON</a:t>
            </a:r>
          </a:p>
        </p:txBody>
      </p:sp>
      <p:sp>
        <p:nvSpPr>
          <p:cNvPr id="15" name="expanded-node-40-4">
            <a:extLst>
              <a:ext uri="{FF2B5EF4-FFF2-40B4-BE49-F238E27FC236}">
                <a16:creationId xmlns:a16="http://schemas.microsoft.com/office/drawing/2014/main" id="{3935E3B4-E5AA-41DA-95C7-4BD1D99CCECA}"/>
              </a:ext>
            </a:extLst>
          </p:cNvPr>
          <p:cNvSpPr>
            <a:spLocks noGrp="1"/>
          </p:cNvSpPr>
          <p:nvPr/>
        </p:nvSpPr>
        <p:spPr>
          <a:xfrm>
            <a:off x="85725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APPEAL</a:t>
            </a:r>
          </a:p>
        </p:txBody>
      </p:sp>
      <p:sp>
        <p:nvSpPr>
          <p:cNvPr id="16" name="expanded-takeaway-40">
            <a:extLst>
              <a:ext uri="{FF2B5EF4-FFF2-40B4-BE49-F238E27FC236}">
                <a16:creationId xmlns:a16="http://schemas.microsoft.com/office/drawing/2014/main" id="{DB574269-5B93-4F69-9EAF-E3C4410733A4}"/>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Useful explanation depends on the audience: developers, regulators, deployers, and affected people need different answers.</a:t>
            </a:r>
          </a:p>
        </p:txBody>
      </p:sp>
      <p:sp>
        <p:nvSpPr>
          <p:cNvPr id="17" name="v2-page-mask-51">
            <a:extLst>
              <a:ext uri="{FF2B5EF4-FFF2-40B4-BE49-F238E27FC236}">
                <a16:creationId xmlns:a16="http://schemas.microsoft.com/office/drawing/2014/main" id="{3641D8F2-DBD3-4CA0-897B-C7F7E9580A00}"/>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8" name="v2-page-51">
            <a:extLst>
              <a:ext uri="{FF2B5EF4-FFF2-40B4-BE49-F238E27FC236}">
                <a16:creationId xmlns:a16="http://schemas.microsoft.com/office/drawing/2014/main" id="{1F63A95A-D46F-48DF-B3A2-477131D2DBBD}"/>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51</a:t>
            </a:r>
          </a:p>
        </p:txBody>
      </p:sp>
    </p:spTree>
    <p:extLst>
      <p:ext uri="{BB962C8B-B14F-4D97-AF65-F5344CB8AC3E}">
        <p14:creationId xmlns:p14="http://schemas.microsoft.com/office/powerpoint/2010/main" val="192785775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v2-background">
            <a:extLst>
              <a:ext uri="{FF2B5EF4-FFF2-40B4-BE49-F238E27FC236}">
                <a16:creationId xmlns:a16="http://schemas.microsoft.com/office/drawing/2014/main" id="{111FE2EA-4A50-44A3-A095-A88ED6C8CDD8}"/>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zh-CN" altLang="en-US"/>
          </a:p>
        </p:txBody>
      </p:sp>
      <p:sp>
        <p:nvSpPr>
          <p:cNvPr id="2" name="v2-title-rail">
            <a:extLst>
              <a:ext uri="{FF2B5EF4-FFF2-40B4-BE49-F238E27FC236}">
                <a16:creationId xmlns:a16="http://schemas.microsoft.com/office/drawing/2014/main" id="{32646841-9781-4422-BB68-D015B092F07B}"/>
              </a:ext>
            </a:extLst>
          </p:cNvPr>
          <p:cNvSpPr>
            <a:spLocks noGrp="1"/>
          </p:cNvSpPr>
          <p:nvPr/>
        </p:nvSpPr>
        <p:spPr>
          <a:xfrm>
            <a:off x="628650" y="400050"/>
            <a:ext cx="95250" cy="476250"/>
          </a:xfrm>
          <a:prstGeom prst="rect">
            <a:avLst/>
          </a:prstGeom>
          <a:solidFill>
            <a:srgbClr val="1F3B6D"/>
          </a:solidFill>
          <a:ln w="0">
            <a:solidFill>
              <a:srgbClr val="1F3B6D"/>
            </a:solidFill>
            <a:prstDash val="solid"/>
          </a:ln>
        </p:spPr>
        <p:txBody>
          <a:bodyPr/>
          <a:lstStyle/>
          <a:p>
            <a:endParaRPr lang="zh-CN" altLang="en-US"/>
          </a:p>
        </p:txBody>
      </p:sp>
      <p:sp>
        <p:nvSpPr>
          <p:cNvPr id="3" name="v2-title">
            <a:extLst>
              <a:ext uri="{FF2B5EF4-FFF2-40B4-BE49-F238E27FC236}">
                <a16:creationId xmlns:a16="http://schemas.microsoft.com/office/drawing/2014/main" id="{F122958F-1A71-4908-B27E-AFEE01091D8F}"/>
              </a:ext>
            </a:extLst>
          </p:cNvPr>
          <p:cNvSpPr>
            <a:spLocks noGrp="1"/>
          </p:cNvSpPr>
          <p:nvPr/>
        </p:nvSpPr>
        <p:spPr>
          <a:xfrm>
            <a:off x="981075" y="361950"/>
            <a:ext cx="10287000" cy="552450"/>
          </a:xfrm>
          <a:prstGeom prst="rect">
            <a:avLst/>
          </a:prstGeom>
          <a:noFill/>
          <a:ln w="0">
            <a:noFill/>
            <a:prstDash val="solid"/>
          </a:ln>
        </p:spPr>
        <p:txBody>
          <a:bodyPr/>
          <a:lstStyle/>
          <a:p>
            <a:pPr>
              <a:defRPr sz="2550" b="1">
                <a:solidFill>
                  <a:srgbClr val="1F3B6D"/>
                </a:solidFill>
              </a:defRPr>
            </a:pPr>
            <a:r>
              <a:rPr sz="2550" b="1">
                <a:solidFill>
                  <a:srgbClr val="1F3B6D"/>
                </a:solidFill>
              </a:rPr>
              <a:t>Explainability Depends on Who Is Asking</a:t>
            </a:r>
          </a:p>
        </p:txBody>
      </p:sp>
      <p:sp>
        <p:nvSpPr>
          <p:cNvPr id="4" name="v2-rule">
            <a:extLst>
              <a:ext uri="{FF2B5EF4-FFF2-40B4-BE49-F238E27FC236}">
                <a16:creationId xmlns:a16="http://schemas.microsoft.com/office/drawing/2014/main" id="{F0029AD3-9AD9-486C-889F-92FA071A5307}"/>
              </a:ext>
            </a:extLst>
          </p:cNvPr>
          <p:cNvSpPr>
            <a:spLocks noGrp="1"/>
          </p:cNvSpPr>
          <p:nvPr/>
        </p:nvSpPr>
        <p:spPr>
          <a:xfrm>
            <a:off x="638175" y="1000125"/>
            <a:ext cx="10972800" cy="28575"/>
          </a:xfrm>
          <a:prstGeom prst="rect">
            <a:avLst/>
          </a:prstGeom>
          <a:solidFill>
            <a:srgbClr val="2D78B9"/>
          </a:solidFill>
          <a:ln w="0">
            <a:solidFill>
              <a:srgbClr val="2D78B9"/>
            </a:solidFill>
            <a:prstDash val="solid"/>
          </a:ln>
        </p:spPr>
        <p:txBody>
          <a:bodyPr/>
          <a:lstStyle/>
          <a:p>
            <a:endParaRPr lang="zh-CN" altLang="en-US"/>
          </a:p>
        </p:txBody>
      </p:sp>
      <p:sp>
        <p:nvSpPr>
          <p:cNvPr id="5" name="v2-subtitle">
            <a:extLst>
              <a:ext uri="{FF2B5EF4-FFF2-40B4-BE49-F238E27FC236}">
                <a16:creationId xmlns:a16="http://schemas.microsoft.com/office/drawing/2014/main" id="{7F7DBC4A-48B6-4375-A22A-2C24B5D77EA3}"/>
              </a:ext>
            </a:extLst>
          </p:cNvPr>
          <p:cNvSpPr>
            <a:spLocks noGrp="1"/>
          </p:cNvSpPr>
          <p:nvPr/>
        </p:nvSpPr>
        <p:spPr>
          <a:xfrm>
            <a:off x="981075" y="1104900"/>
            <a:ext cx="10287000" cy="323850"/>
          </a:xfrm>
          <a:prstGeom prst="rect">
            <a:avLst/>
          </a:prstGeom>
          <a:noFill/>
          <a:ln w="0">
            <a:noFill/>
            <a:prstDash val="solid"/>
          </a:ln>
        </p:spPr>
        <p:txBody>
          <a:bodyPr/>
          <a:lstStyle/>
          <a:p>
            <a:pPr>
              <a:defRPr sz="1275" i="1">
                <a:solidFill>
                  <a:srgbClr val="5B6670"/>
                </a:solidFill>
              </a:defRPr>
            </a:pPr>
            <a:r>
              <a:rPr sz="1275" i="1">
                <a:solidFill>
                  <a:srgbClr val="5B6670"/>
                </a:solidFill>
              </a:rPr>
              <a:t>Different audiences need different forms of transparency.</a:t>
            </a:r>
          </a:p>
        </p:txBody>
      </p:sp>
      <p:sp>
        <p:nvSpPr>
          <p:cNvPr id="6" name="v2-accent">
            <a:extLst>
              <a:ext uri="{FF2B5EF4-FFF2-40B4-BE49-F238E27FC236}">
                <a16:creationId xmlns:a16="http://schemas.microsoft.com/office/drawing/2014/main" id="{E2DB7893-E967-467D-9523-115F48D2B529}"/>
              </a:ext>
            </a:extLst>
          </p:cNvPr>
          <p:cNvSpPr>
            <a:spLocks noGrp="1"/>
          </p:cNvSpPr>
          <p:nvPr/>
        </p:nvSpPr>
        <p:spPr>
          <a:xfrm>
            <a:off x="11687175" y="304800"/>
            <a:ext cx="266700" cy="266700"/>
          </a:xfrm>
          <a:prstGeom prst="rect">
            <a:avLst/>
          </a:prstGeom>
          <a:solidFill>
            <a:srgbClr val="2D78B9"/>
          </a:solidFill>
          <a:ln w="0">
            <a:solidFill>
              <a:srgbClr val="2D78B9"/>
            </a:solidFill>
            <a:prstDash val="solid"/>
          </a:ln>
        </p:spPr>
        <p:txBody>
          <a:bodyPr/>
          <a:lstStyle/>
          <a:p>
            <a:endParaRPr lang="zh-CN" altLang="en-US"/>
          </a:p>
        </p:txBody>
      </p:sp>
      <p:sp>
        <p:nvSpPr>
          <p:cNvPr id="7" name="v2-footer">
            <a:extLst>
              <a:ext uri="{FF2B5EF4-FFF2-40B4-BE49-F238E27FC236}">
                <a16:creationId xmlns:a16="http://schemas.microsoft.com/office/drawing/2014/main" id="{2A01AEF3-E10C-4DC6-9E25-FDC91EBFA139}"/>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sp>
        <p:nvSpPr>
          <p:cNvPr id="8" name="aud-0">
            <a:extLst>
              <a:ext uri="{FF2B5EF4-FFF2-40B4-BE49-F238E27FC236}">
                <a16:creationId xmlns:a16="http://schemas.microsoft.com/office/drawing/2014/main" id="{DFDDD6B3-E86E-4588-AD10-51C6220280A4}"/>
              </a:ext>
            </a:extLst>
          </p:cNvPr>
          <p:cNvSpPr>
            <a:spLocks noGrp="1"/>
          </p:cNvSpPr>
          <p:nvPr/>
        </p:nvSpPr>
        <p:spPr>
          <a:xfrm>
            <a:off x="1095375" y="1666875"/>
            <a:ext cx="2476500" cy="666750"/>
          </a:xfrm>
          <a:prstGeom prst="roundRect">
            <a:avLst>
              <a:gd name="adj" fmla="val 11429"/>
            </a:avLst>
          </a:prstGeom>
          <a:solidFill>
            <a:srgbClr val="2D78B9"/>
          </a:solidFill>
          <a:ln w="0">
            <a:solidFill>
              <a:srgbClr val="2D78B9"/>
            </a:solidFill>
            <a:prstDash val="solid"/>
          </a:ln>
        </p:spPr>
        <p:txBody>
          <a:bodyPr anchor="ctr"/>
          <a:lstStyle/>
          <a:p>
            <a:pPr algn="ctr">
              <a:defRPr sz="1350" b="1">
                <a:solidFill>
                  <a:srgbClr val="FFFFFF"/>
                </a:solidFill>
              </a:defRPr>
            </a:pPr>
            <a:r>
              <a:rPr sz="1350" b="1">
                <a:solidFill>
                  <a:srgbClr val="FFFFFF"/>
                </a:solidFill>
              </a:rPr>
              <a:t>DEVELOPERS</a:t>
            </a:r>
          </a:p>
        </p:txBody>
      </p:sp>
      <p:sp>
        <p:nvSpPr>
          <p:cNvPr id="9" name="need-0">
            <a:extLst>
              <a:ext uri="{FF2B5EF4-FFF2-40B4-BE49-F238E27FC236}">
                <a16:creationId xmlns:a16="http://schemas.microsoft.com/office/drawing/2014/main" id="{A849E039-CEA3-4F69-A8D0-FADED8E93057}"/>
              </a:ext>
            </a:extLst>
          </p:cNvPr>
          <p:cNvSpPr>
            <a:spLocks noGrp="1"/>
          </p:cNvSpPr>
          <p:nvPr/>
        </p:nvSpPr>
        <p:spPr>
          <a:xfrm>
            <a:off x="3762375" y="1666875"/>
            <a:ext cx="7334250" cy="666750"/>
          </a:xfrm>
          <a:prstGeom prst="roundRect">
            <a:avLst>
              <a:gd name="adj" fmla="val 11429"/>
            </a:avLst>
          </a:prstGeom>
          <a:solidFill>
            <a:srgbClr val="EAF3FB"/>
          </a:solidFill>
          <a:ln w="9525">
            <a:solidFill>
              <a:srgbClr val="B9D7EF"/>
            </a:solidFill>
            <a:prstDash val="solid"/>
          </a:ln>
        </p:spPr>
        <p:txBody>
          <a:bodyPr anchor="ctr"/>
          <a:lstStyle/>
          <a:p>
            <a:pPr>
              <a:defRPr sz="1425">
                <a:solidFill>
                  <a:srgbClr val="263442"/>
                </a:solidFill>
              </a:defRPr>
            </a:pPr>
            <a:r>
              <a:rPr sz="1425">
                <a:solidFill>
                  <a:srgbClr val="263442"/>
                </a:solidFill>
              </a:rPr>
              <a:t>failure modes, features, data, tests</a:t>
            </a:r>
          </a:p>
        </p:txBody>
      </p:sp>
      <p:sp>
        <p:nvSpPr>
          <p:cNvPr id="10" name="aud-1">
            <a:extLst>
              <a:ext uri="{FF2B5EF4-FFF2-40B4-BE49-F238E27FC236}">
                <a16:creationId xmlns:a16="http://schemas.microsoft.com/office/drawing/2014/main" id="{9F0558F8-E195-45FA-BF3B-441F199FAFEB}"/>
              </a:ext>
            </a:extLst>
          </p:cNvPr>
          <p:cNvSpPr>
            <a:spLocks noGrp="1"/>
          </p:cNvSpPr>
          <p:nvPr/>
        </p:nvSpPr>
        <p:spPr>
          <a:xfrm>
            <a:off x="1095375" y="2600325"/>
            <a:ext cx="2476500" cy="666750"/>
          </a:xfrm>
          <a:prstGeom prst="roundRect">
            <a:avLst>
              <a:gd name="adj" fmla="val 11429"/>
            </a:avLst>
          </a:prstGeom>
          <a:solidFill>
            <a:srgbClr val="1F3B6D"/>
          </a:solidFill>
          <a:ln w="0">
            <a:solidFill>
              <a:srgbClr val="1F3B6D"/>
            </a:solidFill>
            <a:prstDash val="solid"/>
          </a:ln>
        </p:spPr>
        <p:txBody>
          <a:bodyPr anchor="ctr"/>
          <a:lstStyle/>
          <a:p>
            <a:pPr algn="ctr">
              <a:defRPr sz="1350" b="1">
                <a:solidFill>
                  <a:srgbClr val="FFFFFF"/>
                </a:solidFill>
              </a:defRPr>
            </a:pPr>
            <a:r>
              <a:rPr sz="1350" b="1">
                <a:solidFill>
                  <a:srgbClr val="FFFFFF"/>
                </a:solidFill>
              </a:rPr>
              <a:t>DEPLOYERS</a:t>
            </a:r>
          </a:p>
        </p:txBody>
      </p:sp>
      <p:sp>
        <p:nvSpPr>
          <p:cNvPr id="11" name="need-1">
            <a:extLst>
              <a:ext uri="{FF2B5EF4-FFF2-40B4-BE49-F238E27FC236}">
                <a16:creationId xmlns:a16="http://schemas.microsoft.com/office/drawing/2014/main" id="{9AE07664-FE23-4D95-835F-D14BAAAE695E}"/>
              </a:ext>
            </a:extLst>
          </p:cNvPr>
          <p:cNvSpPr>
            <a:spLocks noGrp="1"/>
          </p:cNvSpPr>
          <p:nvPr/>
        </p:nvSpPr>
        <p:spPr>
          <a:xfrm>
            <a:off x="3762375" y="2600325"/>
            <a:ext cx="7334250" cy="666750"/>
          </a:xfrm>
          <a:prstGeom prst="roundRect">
            <a:avLst>
              <a:gd name="adj" fmla="val 11429"/>
            </a:avLst>
          </a:prstGeom>
          <a:solidFill>
            <a:srgbClr val="F5FAFE"/>
          </a:solidFill>
          <a:ln w="9525">
            <a:solidFill>
              <a:srgbClr val="B9D7EF"/>
            </a:solidFill>
            <a:prstDash val="solid"/>
          </a:ln>
        </p:spPr>
        <p:txBody>
          <a:bodyPr anchor="ctr"/>
          <a:lstStyle/>
          <a:p>
            <a:pPr>
              <a:defRPr sz="1425">
                <a:solidFill>
                  <a:srgbClr val="263442"/>
                </a:solidFill>
              </a:defRPr>
            </a:pPr>
            <a:r>
              <a:rPr sz="1425">
                <a:solidFill>
                  <a:srgbClr val="263442"/>
                </a:solidFill>
              </a:rPr>
              <a:t>appropriate use, thresholds, monitoring</a:t>
            </a:r>
          </a:p>
        </p:txBody>
      </p:sp>
      <p:sp>
        <p:nvSpPr>
          <p:cNvPr id="12" name="aud-2">
            <a:extLst>
              <a:ext uri="{FF2B5EF4-FFF2-40B4-BE49-F238E27FC236}">
                <a16:creationId xmlns:a16="http://schemas.microsoft.com/office/drawing/2014/main" id="{B5697A4D-9CCF-49CB-BAF9-1B0E10F697E9}"/>
              </a:ext>
            </a:extLst>
          </p:cNvPr>
          <p:cNvSpPr>
            <a:spLocks noGrp="1"/>
          </p:cNvSpPr>
          <p:nvPr/>
        </p:nvSpPr>
        <p:spPr>
          <a:xfrm>
            <a:off x="1095375" y="3533775"/>
            <a:ext cx="2476500" cy="666750"/>
          </a:xfrm>
          <a:prstGeom prst="roundRect">
            <a:avLst>
              <a:gd name="adj" fmla="val 11429"/>
            </a:avLst>
          </a:prstGeom>
          <a:solidFill>
            <a:srgbClr val="2D78B9"/>
          </a:solidFill>
          <a:ln w="0">
            <a:solidFill>
              <a:srgbClr val="2D78B9"/>
            </a:solidFill>
            <a:prstDash val="solid"/>
          </a:ln>
        </p:spPr>
        <p:txBody>
          <a:bodyPr anchor="ctr"/>
          <a:lstStyle/>
          <a:p>
            <a:pPr algn="ctr">
              <a:defRPr sz="1350" b="1">
                <a:solidFill>
                  <a:srgbClr val="FFFFFF"/>
                </a:solidFill>
              </a:defRPr>
            </a:pPr>
            <a:r>
              <a:rPr sz="1350" b="1">
                <a:solidFill>
                  <a:srgbClr val="FFFFFF"/>
                </a:solidFill>
              </a:rPr>
              <a:t>REGULATORS</a:t>
            </a:r>
          </a:p>
        </p:txBody>
      </p:sp>
      <p:sp>
        <p:nvSpPr>
          <p:cNvPr id="13" name="need-2">
            <a:extLst>
              <a:ext uri="{FF2B5EF4-FFF2-40B4-BE49-F238E27FC236}">
                <a16:creationId xmlns:a16="http://schemas.microsoft.com/office/drawing/2014/main" id="{74312282-AA12-4F13-9B5E-B0307DD25738}"/>
              </a:ext>
            </a:extLst>
          </p:cNvPr>
          <p:cNvSpPr>
            <a:spLocks noGrp="1"/>
          </p:cNvSpPr>
          <p:nvPr/>
        </p:nvSpPr>
        <p:spPr>
          <a:xfrm>
            <a:off x="3762375" y="3533775"/>
            <a:ext cx="7334250" cy="666750"/>
          </a:xfrm>
          <a:prstGeom prst="roundRect">
            <a:avLst>
              <a:gd name="adj" fmla="val 11429"/>
            </a:avLst>
          </a:prstGeom>
          <a:solidFill>
            <a:srgbClr val="EAF3FB"/>
          </a:solidFill>
          <a:ln w="9525">
            <a:solidFill>
              <a:srgbClr val="B9D7EF"/>
            </a:solidFill>
            <a:prstDash val="solid"/>
          </a:ln>
        </p:spPr>
        <p:txBody>
          <a:bodyPr anchor="ctr"/>
          <a:lstStyle/>
          <a:p>
            <a:pPr>
              <a:defRPr sz="1425">
                <a:solidFill>
                  <a:srgbClr val="263442"/>
                </a:solidFill>
              </a:defRPr>
            </a:pPr>
            <a:r>
              <a:rPr sz="1425">
                <a:solidFill>
                  <a:srgbClr val="263442"/>
                </a:solidFill>
              </a:rPr>
              <a:t>compliance evidence, audit trail, impact</a:t>
            </a:r>
          </a:p>
        </p:txBody>
      </p:sp>
      <p:sp>
        <p:nvSpPr>
          <p:cNvPr id="14" name="aud-3">
            <a:extLst>
              <a:ext uri="{FF2B5EF4-FFF2-40B4-BE49-F238E27FC236}">
                <a16:creationId xmlns:a16="http://schemas.microsoft.com/office/drawing/2014/main" id="{F0DB5505-3C35-4140-9F2B-8115FB176688}"/>
              </a:ext>
            </a:extLst>
          </p:cNvPr>
          <p:cNvSpPr>
            <a:spLocks noGrp="1"/>
          </p:cNvSpPr>
          <p:nvPr/>
        </p:nvSpPr>
        <p:spPr>
          <a:xfrm>
            <a:off x="1095375" y="4467225"/>
            <a:ext cx="2476500" cy="666750"/>
          </a:xfrm>
          <a:prstGeom prst="roundRect">
            <a:avLst>
              <a:gd name="adj" fmla="val 11429"/>
            </a:avLst>
          </a:prstGeom>
          <a:solidFill>
            <a:srgbClr val="1F3B6D"/>
          </a:solidFill>
          <a:ln w="0">
            <a:solidFill>
              <a:srgbClr val="1F3B6D"/>
            </a:solidFill>
            <a:prstDash val="solid"/>
          </a:ln>
        </p:spPr>
        <p:txBody>
          <a:bodyPr anchor="ctr"/>
          <a:lstStyle/>
          <a:p>
            <a:pPr algn="ctr">
              <a:defRPr sz="1350" b="1">
                <a:solidFill>
                  <a:srgbClr val="FFFFFF"/>
                </a:solidFill>
              </a:defRPr>
            </a:pPr>
            <a:r>
              <a:rPr sz="1350" b="1">
                <a:solidFill>
                  <a:srgbClr val="FFFFFF"/>
                </a:solidFill>
              </a:rPr>
              <a:t>AFFECTED PEOPLE</a:t>
            </a:r>
          </a:p>
        </p:txBody>
      </p:sp>
      <p:sp>
        <p:nvSpPr>
          <p:cNvPr id="15" name="need-3">
            <a:extLst>
              <a:ext uri="{FF2B5EF4-FFF2-40B4-BE49-F238E27FC236}">
                <a16:creationId xmlns:a16="http://schemas.microsoft.com/office/drawing/2014/main" id="{1B528EFE-412D-41D1-8DC9-AFF28EBE0460}"/>
              </a:ext>
            </a:extLst>
          </p:cNvPr>
          <p:cNvSpPr>
            <a:spLocks noGrp="1"/>
          </p:cNvSpPr>
          <p:nvPr/>
        </p:nvSpPr>
        <p:spPr>
          <a:xfrm>
            <a:off x="3762375" y="4467225"/>
            <a:ext cx="7334250" cy="666750"/>
          </a:xfrm>
          <a:prstGeom prst="roundRect">
            <a:avLst>
              <a:gd name="adj" fmla="val 11429"/>
            </a:avLst>
          </a:prstGeom>
          <a:solidFill>
            <a:srgbClr val="F5FAFE"/>
          </a:solidFill>
          <a:ln w="9525">
            <a:solidFill>
              <a:srgbClr val="B9D7EF"/>
            </a:solidFill>
            <a:prstDash val="solid"/>
          </a:ln>
        </p:spPr>
        <p:txBody>
          <a:bodyPr anchor="ctr"/>
          <a:lstStyle/>
          <a:p>
            <a:pPr>
              <a:defRPr sz="1425">
                <a:solidFill>
                  <a:srgbClr val="263442"/>
                </a:solidFill>
              </a:defRPr>
            </a:pPr>
            <a:r>
              <a:rPr sz="1425">
                <a:solidFill>
                  <a:srgbClr val="263442"/>
                </a:solidFill>
              </a:rPr>
              <a:t>specific reason, consequence, appeal</a:t>
            </a:r>
          </a:p>
        </p:txBody>
      </p:sp>
      <p:sp>
        <p:nvSpPr>
          <p:cNvPr id="16" name="v2-takeaway">
            <a:extLst>
              <a:ext uri="{FF2B5EF4-FFF2-40B4-BE49-F238E27FC236}">
                <a16:creationId xmlns:a16="http://schemas.microsoft.com/office/drawing/2014/main" id="{DC5306FE-1B24-45F0-B33A-993BF20CE5F2}"/>
              </a:ext>
            </a:extLst>
          </p:cNvPr>
          <p:cNvSpPr>
            <a:spLocks noGrp="1"/>
          </p:cNvSpPr>
          <p:nvPr/>
        </p:nvSpPr>
        <p:spPr>
          <a:xfrm>
            <a:off x="876300" y="575310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defRPr sz="1200" b="1">
                <a:solidFill>
                  <a:srgbClr val="1F3B6D"/>
                </a:solidFill>
              </a:defRPr>
            </a:pPr>
            <a:r>
              <a:rPr sz="1200" b="1">
                <a:solidFill>
                  <a:srgbClr val="1F3B6D"/>
                </a:solidFill>
              </a:rPr>
              <a:t>An explanation is useful only when it supports the audience's next legitimate action.</a:t>
            </a:r>
          </a:p>
        </p:txBody>
      </p:sp>
      <p:sp>
        <p:nvSpPr>
          <p:cNvPr id="17" name="v2-page-mask-52">
            <a:extLst>
              <a:ext uri="{FF2B5EF4-FFF2-40B4-BE49-F238E27FC236}">
                <a16:creationId xmlns:a16="http://schemas.microsoft.com/office/drawing/2014/main" id="{5CC93F97-0041-4F00-8BA3-61ED59ED560E}"/>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8" name="v2-page-52">
            <a:extLst>
              <a:ext uri="{FF2B5EF4-FFF2-40B4-BE49-F238E27FC236}">
                <a16:creationId xmlns:a16="http://schemas.microsoft.com/office/drawing/2014/main" id="{4A74D0D9-6027-4209-A200-3880FA11629C}"/>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52</a:t>
            </a:r>
          </a:p>
        </p:txBody>
      </p:sp>
    </p:spTree>
    <p:extLst>
      <p:ext uri="{BB962C8B-B14F-4D97-AF65-F5344CB8AC3E}">
        <p14:creationId xmlns:p14="http://schemas.microsoft.com/office/powerpoint/2010/main" val="41160937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rcRect t="27" b="27"/>
          <a:stretch>
            <a:fillRect/>
          </a:stretch>
        </p:blipFill>
        <p:spPr>
          <a:xfrm>
            <a:off x="0" y="0"/>
            <a:ext cx="12192000" cy="6858000"/>
          </a:xfrm>
          <a:prstGeom prst="rect">
            <a:avLst/>
          </a:prstGeom>
        </p:spPr>
      </p:pic>
      <p:sp>
        <p:nvSpPr>
          <p:cNvPr id="3" name="TextBox 7">
            <a:extLst>
              <a:ext uri="{FF2B5EF4-FFF2-40B4-BE49-F238E27FC236}">
                <a16:creationId xmlns:a16="http://schemas.microsoft.com/office/drawing/2014/main" id="{872662FA-B052-9BFC-1C37-B9214AFE1C59}"/>
              </a:ext>
            </a:extLst>
          </p:cNvPr>
          <p:cNvSpPr>
            <a:spLocks noGrp="1"/>
          </p:cNvSpPr>
          <p:nvPr/>
        </p:nvSpPr>
        <p:spPr>
          <a:xfrm>
            <a:off x="4310742" y="1016224"/>
            <a:ext cx="3802744" cy="103958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0" i="0" u="none" dirty="0">
                <a:solidFill>
                  <a:srgbClr val="262626"/>
                </a:solidFill>
                <a:latin typeface="Calibri"/>
                <a:ea typeface="Calibri"/>
                <a:cs typeface="Calibri"/>
              </a:rPr>
              <a:t>When AI harms, </a:t>
            </a:r>
            <a:r>
              <a:rPr sz="1700" b="1" i="0" u="sng" dirty="0">
                <a:solidFill>
                  <a:srgbClr val="262626"/>
                </a:solidFill>
                <a:latin typeface="Calibri"/>
                <a:ea typeface="Calibri"/>
                <a:cs typeface="Calibri"/>
              </a:rPr>
              <a:t>who answers?</a:t>
            </a:r>
          </a:p>
          <a:p>
            <a:pPr marL="285750" indent="-285750" algn="l">
              <a:lnSpc>
                <a:spcPct val="116000"/>
              </a:lnSpc>
              <a:spcBef>
                <a:spcPts val="0"/>
              </a:spcBef>
              <a:spcAft>
                <a:spcPts val="700"/>
              </a:spcAft>
              <a:buClr>
                <a:srgbClr val="2E75B6"/>
              </a:buClr>
              <a:buSzPct val="100000"/>
              <a:buFont typeface="Arial"/>
              <a:buChar char="•"/>
            </a:pPr>
            <a:r>
              <a:rPr sz="1600" b="0" i="0" u="none" dirty="0">
                <a:solidFill>
                  <a:srgbClr val="262626"/>
                </a:solidFill>
                <a:latin typeface="Calibri"/>
                <a:ea typeface="Calibri"/>
                <a:cs typeface="Calibri"/>
              </a:rPr>
              <a:t>Developer?  Deployer?  User?  The machine itself?</a:t>
            </a:r>
          </a:p>
        </p:txBody>
      </p:sp>
      <p:sp>
        <p:nvSpPr>
          <p:cNvPr id="5" name="文本框 4">
            <a:extLst>
              <a:ext uri="{FF2B5EF4-FFF2-40B4-BE49-F238E27FC236}">
                <a16:creationId xmlns:a16="http://schemas.microsoft.com/office/drawing/2014/main" id="{028F9E56-ECF5-07A2-7D6A-02E3F7CB7997}"/>
              </a:ext>
            </a:extLst>
          </p:cNvPr>
          <p:cNvSpPr txBox="1"/>
          <p:nvPr/>
        </p:nvSpPr>
        <p:spPr>
          <a:xfrm>
            <a:off x="4310742" y="4483199"/>
            <a:ext cx="3526972" cy="1358577"/>
          </a:xfrm>
          <a:prstGeom prst="rect">
            <a:avLst/>
          </a:prstGeom>
          <a:noFill/>
        </p:spPr>
        <p:txBody>
          <a:bodyPr wrap="square">
            <a:spAutoFit/>
          </a:bodyPr>
          <a:lstStyle/>
          <a:p>
            <a:pPr marL="285750" indent="-285750" algn="l">
              <a:lnSpc>
                <a:spcPct val="116000"/>
              </a:lnSpc>
              <a:spcBef>
                <a:spcPts val="0"/>
              </a:spcBef>
              <a:spcAft>
                <a:spcPts val="700"/>
              </a:spcAft>
              <a:buClr>
                <a:srgbClr val="2E75B6"/>
              </a:buClr>
              <a:buSzPct val="100000"/>
              <a:buFont typeface="Arial"/>
              <a:buChar char="•"/>
            </a:pPr>
            <a:r>
              <a:rPr lang="en" altLang="zh-CN" sz="1600" b="0" i="0" u="none" dirty="0">
                <a:solidFill>
                  <a:srgbClr val="262626"/>
                </a:solidFill>
                <a:latin typeface="Calibri"/>
                <a:ea typeface="Calibri"/>
                <a:cs typeface="Calibri"/>
              </a:rPr>
              <a:t>Liability gaps and the </a:t>
            </a:r>
            <a:r>
              <a:rPr lang="en" altLang="zh-CN" sz="1600" b="1" i="0" u="sng" dirty="0">
                <a:solidFill>
                  <a:srgbClr val="262626"/>
                </a:solidFill>
                <a:latin typeface="Calibri"/>
                <a:ea typeface="Calibri"/>
                <a:cs typeface="Calibri"/>
              </a:rPr>
              <a:t>“many hands” problem</a:t>
            </a:r>
            <a:r>
              <a:rPr lang="en" altLang="zh-CN" sz="1600" b="0" i="0" u="none" dirty="0">
                <a:solidFill>
                  <a:srgbClr val="262626"/>
                </a:solidFill>
                <a:latin typeface="Calibri"/>
                <a:ea typeface="Calibri"/>
                <a:cs typeface="Calibri"/>
              </a:rPr>
              <a:t> (recall Dignum, Slide 35).</a:t>
            </a:r>
          </a:p>
          <a:p>
            <a:pPr marL="285750" indent="-285750" algn="l">
              <a:lnSpc>
                <a:spcPct val="116000"/>
              </a:lnSpc>
              <a:spcBef>
                <a:spcPts val="400"/>
              </a:spcBef>
              <a:spcAft>
                <a:spcPts val="700"/>
              </a:spcAft>
              <a:buClr>
                <a:srgbClr val="2E75B6"/>
              </a:buClr>
              <a:buSzPct val="100000"/>
              <a:buFont typeface="Arial"/>
              <a:buChar char="•"/>
            </a:pPr>
            <a:r>
              <a:rPr lang="en" altLang="zh-CN" sz="1600" b="1" i="0" u="none" dirty="0">
                <a:solidFill>
                  <a:srgbClr val="1F3864"/>
                </a:solidFill>
                <a:latin typeface="Calibri"/>
                <a:ea typeface="Calibri"/>
                <a:cs typeface="Calibri"/>
              </a:rPr>
              <a:t>Need: </a:t>
            </a:r>
            <a:r>
              <a:rPr lang="en" altLang="zh-CN" sz="1600" b="0" i="0" u="none" dirty="0">
                <a:solidFill>
                  <a:srgbClr val="262626"/>
                </a:solidFill>
                <a:latin typeface="Calibri"/>
                <a:ea typeface="Calibri"/>
                <a:cs typeface="Calibri"/>
              </a:rPr>
              <a:t>clear responsibility + redress / remedy mechanisms.</a:t>
            </a:r>
          </a:p>
        </p:txBody>
      </p:sp>
    </p:spTree>
    <p:extLst>
      <p:ext uri="{BB962C8B-B14F-4D97-AF65-F5344CB8AC3E}">
        <p14:creationId xmlns:p14="http://schemas.microsoft.com/office/powerpoint/2010/main" val="47702234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9967E87-5C70-48E7-BBB6-85B86CB5D22F}"/>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73CA8444-9CCA-45BF-94F5-2D60ABEA35ED}"/>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18D0526D-0A3A-413A-A221-11998BDD7010}"/>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Safety, Security &amp; Reliability</a:t>
            </a:r>
          </a:p>
        </p:txBody>
      </p:sp>
      <p:sp>
        <p:nvSpPr>
          <p:cNvPr id="5" name="Rectangle 4">
            <a:extLst>
              <a:ext uri="{FF2B5EF4-FFF2-40B4-BE49-F238E27FC236}">
                <a16:creationId xmlns:a16="http://schemas.microsoft.com/office/drawing/2014/main" id="{DE4450DB-7AC0-4C9E-9B22-D359B132B865}"/>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5EFBC47-FE38-4A1B-BAA4-6091022C3F64}"/>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0727E221-3687-4B75-9E14-3390BE020270}"/>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42</a:t>
            </a:r>
          </a:p>
        </p:txBody>
      </p:sp>
      <p:sp>
        <p:nvSpPr>
          <p:cNvPr id="8" name="TextBox 7">
            <a:extLst>
              <a:ext uri="{FF2B5EF4-FFF2-40B4-BE49-F238E27FC236}">
                <a16:creationId xmlns:a16="http://schemas.microsoft.com/office/drawing/2014/main" id="{E6B12B57-271F-470E-91D4-093A70C75B34}"/>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Reliability: </a:t>
            </a:r>
            <a:r>
              <a:rPr sz="1600" b="0" i="0" u="none">
                <a:solidFill>
                  <a:srgbClr val="262626"/>
                </a:solidFill>
                <a:latin typeface="Calibri"/>
                <a:ea typeface="Calibri"/>
                <a:cs typeface="Calibri"/>
              </a:rPr>
              <a:t>fails safely; robust to </a:t>
            </a:r>
            <a:r>
              <a:rPr sz="1600" b="0" i="0" u="sng">
                <a:solidFill>
                  <a:srgbClr val="262626"/>
                </a:solidFill>
                <a:latin typeface="Calibri"/>
                <a:ea typeface="Calibri"/>
                <a:cs typeface="Calibri"/>
              </a:rPr>
              <a:t>distribution shift</a:t>
            </a:r>
            <a:r>
              <a:rPr sz="1600" b="0" i="0" u="none">
                <a:solidFill>
                  <a:srgbClr val="262626"/>
                </a:solidFill>
                <a:latin typeface="Calibri"/>
                <a:ea typeface="Calibri"/>
                <a:cs typeface="Calibri"/>
              </a:rPr>
              <a:t>.</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Security: </a:t>
            </a:r>
            <a:r>
              <a:rPr sz="1600" b="0" i="0" u="none">
                <a:solidFill>
                  <a:srgbClr val="262626"/>
                </a:solidFill>
                <a:latin typeface="Calibri"/>
                <a:ea typeface="Calibri"/>
                <a:cs typeface="Calibri"/>
              </a:rPr>
              <a:t>adversarial attacks, model extraction, data poisoning.</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Dual use: </a:t>
            </a:r>
            <a:r>
              <a:rPr sz="1600" b="0" i="0" u="none">
                <a:solidFill>
                  <a:srgbClr val="262626"/>
                </a:solidFill>
                <a:latin typeface="Calibri"/>
                <a:ea typeface="Calibri"/>
                <a:cs typeface="Calibri"/>
              </a:rPr>
              <a:t>the same tech can heal or harm (e.g., bio-research vs bio-risk; deepfakes).</a:t>
            </a:r>
          </a:p>
          <a:p>
            <a:pPr marL="285750" indent="-285750" algn="l">
              <a:lnSpc>
                <a:spcPct val="116000"/>
              </a:lnSpc>
              <a:spcBef>
                <a:spcPts val="400"/>
              </a:spcBef>
              <a:spcAft>
                <a:spcPts val="700"/>
              </a:spcAft>
              <a:buClr>
                <a:srgbClr val="2E75B6"/>
              </a:buClr>
              <a:buSzPct val="100000"/>
              <a:buFont typeface="Arial"/>
              <a:buChar char="•"/>
            </a:pPr>
            <a:r>
              <a:rPr sz="1500" b="0" i="0" u="none">
                <a:solidFill>
                  <a:srgbClr val="262626"/>
                </a:solidFill>
                <a:latin typeface="Calibri"/>
                <a:ea typeface="Calibri"/>
                <a:cs typeface="Calibri"/>
              </a:rPr>
              <a:t>High confidence ≠ </a:t>
            </a:r>
            <a:r>
              <a:rPr sz="1500" b="1" i="0" u="sng">
                <a:solidFill>
                  <a:srgbClr val="262626"/>
                </a:solidFill>
                <a:latin typeface="Calibri"/>
                <a:ea typeface="Calibri"/>
                <a:cs typeface="Calibri"/>
              </a:rPr>
              <a:t>reliability</a:t>
            </a:r>
            <a:r>
              <a:rPr sz="1500" b="0" i="1" u="none">
                <a:solidFill>
                  <a:srgbClr val="595959"/>
                </a:solidFill>
                <a:latin typeface="Calibri"/>
                <a:ea typeface="Calibri"/>
                <a:cs typeface="Calibri"/>
              </a:rPr>
              <a:t> — test before you trust.</a:t>
            </a:r>
          </a:p>
        </p:txBody>
      </p:sp>
      <p:sp>
        <p:nvSpPr>
          <p:cNvPr id="9" name="expanded-arrow-42-1">
            <a:extLst>
              <a:ext uri="{FF2B5EF4-FFF2-40B4-BE49-F238E27FC236}">
                <a16:creationId xmlns:a16="http://schemas.microsoft.com/office/drawing/2014/main" id="{AD5DE273-DBC3-43B1-9F4B-34BF0C09478C}"/>
              </a:ext>
            </a:extLst>
          </p:cNvPr>
          <p:cNvSpPr>
            <a:spLocks noGrp="1"/>
          </p:cNvSpPr>
          <p:nvPr/>
        </p:nvSpPr>
        <p:spPr>
          <a:xfrm>
            <a:off x="3581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42-2">
            <a:extLst>
              <a:ext uri="{FF2B5EF4-FFF2-40B4-BE49-F238E27FC236}">
                <a16:creationId xmlns:a16="http://schemas.microsoft.com/office/drawing/2014/main" id="{E6A0EA34-FA09-4682-BA28-BF6B614B88C9}"/>
              </a:ext>
            </a:extLst>
          </p:cNvPr>
          <p:cNvSpPr>
            <a:spLocks noGrp="1"/>
          </p:cNvSpPr>
          <p:nvPr/>
        </p:nvSpPr>
        <p:spPr>
          <a:xfrm>
            <a:off x="5962650"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42-3">
            <a:extLst>
              <a:ext uri="{FF2B5EF4-FFF2-40B4-BE49-F238E27FC236}">
                <a16:creationId xmlns:a16="http://schemas.microsoft.com/office/drawing/2014/main" id="{1B1726DA-E30F-45ED-BE5F-11F20496D845}"/>
              </a:ext>
            </a:extLst>
          </p:cNvPr>
          <p:cNvSpPr>
            <a:spLocks noGrp="1"/>
          </p:cNvSpPr>
          <p:nvPr/>
        </p:nvSpPr>
        <p:spPr>
          <a:xfrm>
            <a:off x="8343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node-42-1">
            <a:extLst>
              <a:ext uri="{FF2B5EF4-FFF2-40B4-BE49-F238E27FC236}">
                <a16:creationId xmlns:a16="http://schemas.microsoft.com/office/drawing/2014/main" id="{99A87DE7-4BB1-4336-87CC-08FD1800CCBC}"/>
              </a:ext>
            </a:extLst>
          </p:cNvPr>
          <p:cNvSpPr>
            <a:spLocks noGrp="1"/>
          </p:cNvSpPr>
          <p:nvPr/>
        </p:nvSpPr>
        <p:spPr>
          <a:xfrm>
            <a:off x="14287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TEST</a:t>
            </a:r>
          </a:p>
        </p:txBody>
      </p:sp>
      <p:sp>
        <p:nvSpPr>
          <p:cNvPr id="13" name="expanded-node-42-2">
            <a:extLst>
              <a:ext uri="{FF2B5EF4-FFF2-40B4-BE49-F238E27FC236}">
                <a16:creationId xmlns:a16="http://schemas.microsoft.com/office/drawing/2014/main" id="{B1ABA7AF-5B67-4F7E-979C-92D41C188090}"/>
              </a:ext>
            </a:extLst>
          </p:cNvPr>
          <p:cNvSpPr>
            <a:spLocks noGrp="1"/>
          </p:cNvSpPr>
          <p:nvPr/>
        </p:nvSpPr>
        <p:spPr>
          <a:xfrm>
            <a:off x="38100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SECURE</a:t>
            </a:r>
          </a:p>
        </p:txBody>
      </p:sp>
      <p:sp>
        <p:nvSpPr>
          <p:cNvPr id="14" name="expanded-node-42-3">
            <a:extLst>
              <a:ext uri="{FF2B5EF4-FFF2-40B4-BE49-F238E27FC236}">
                <a16:creationId xmlns:a16="http://schemas.microsoft.com/office/drawing/2014/main" id="{6A74032E-653D-422A-A700-0D4A4E3F2C5D}"/>
              </a:ext>
            </a:extLst>
          </p:cNvPr>
          <p:cNvSpPr>
            <a:spLocks noGrp="1"/>
          </p:cNvSpPr>
          <p:nvPr/>
        </p:nvSpPr>
        <p:spPr>
          <a:xfrm>
            <a:off x="61912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MONITOR</a:t>
            </a:r>
          </a:p>
        </p:txBody>
      </p:sp>
      <p:sp>
        <p:nvSpPr>
          <p:cNvPr id="15" name="expanded-node-42-4">
            <a:extLst>
              <a:ext uri="{FF2B5EF4-FFF2-40B4-BE49-F238E27FC236}">
                <a16:creationId xmlns:a16="http://schemas.microsoft.com/office/drawing/2014/main" id="{B1C150E6-8570-480B-9C07-4BD0D4B0657F}"/>
              </a:ext>
            </a:extLst>
          </p:cNvPr>
          <p:cNvSpPr>
            <a:spLocks noGrp="1"/>
          </p:cNvSpPr>
          <p:nvPr/>
        </p:nvSpPr>
        <p:spPr>
          <a:xfrm>
            <a:off x="85725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RESPOND</a:t>
            </a:r>
          </a:p>
        </p:txBody>
      </p:sp>
      <p:sp>
        <p:nvSpPr>
          <p:cNvPr id="16" name="expanded-takeaway-42">
            <a:extLst>
              <a:ext uri="{FF2B5EF4-FFF2-40B4-BE49-F238E27FC236}">
                <a16:creationId xmlns:a16="http://schemas.microsoft.com/office/drawing/2014/main" id="{0E327890-F0A7-4536-AEE0-DCED6D089978}"/>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Safety and security require testing before deployment and monitoring under real-world change after deployment.</a:t>
            </a:r>
          </a:p>
        </p:txBody>
      </p:sp>
      <p:sp>
        <p:nvSpPr>
          <p:cNvPr id="17" name="v2-page-mask-54">
            <a:extLst>
              <a:ext uri="{FF2B5EF4-FFF2-40B4-BE49-F238E27FC236}">
                <a16:creationId xmlns:a16="http://schemas.microsoft.com/office/drawing/2014/main" id="{C9D8547F-7DA1-458D-9214-FDCF6C07B735}"/>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8" name="v2-page-54">
            <a:extLst>
              <a:ext uri="{FF2B5EF4-FFF2-40B4-BE49-F238E27FC236}">
                <a16:creationId xmlns:a16="http://schemas.microsoft.com/office/drawing/2014/main" id="{C3B3A23E-B152-4166-B442-0EA6E9332749}"/>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54</a:t>
            </a:r>
          </a:p>
        </p:txBody>
      </p:sp>
    </p:spTree>
    <p:extLst>
      <p:ext uri="{BB962C8B-B14F-4D97-AF65-F5344CB8AC3E}">
        <p14:creationId xmlns:p14="http://schemas.microsoft.com/office/powerpoint/2010/main" val="82354994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CC2935-B56B-46BA-809B-B3BF0241C2E5}"/>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00AFC1F4-620E-4F67-97FC-58031276A4B7}"/>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19F8516A-B5AC-4E90-ACDE-3D3F33AD68EF}"/>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Broader Societal Impacts</a:t>
            </a:r>
          </a:p>
        </p:txBody>
      </p:sp>
      <p:sp>
        <p:nvSpPr>
          <p:cNvPr id="5" name="Rectangle 4">
            <a:extLst>
              <a:ext uri="{FF2B5EF4-FFF2-40B4-BE49-F238E27FC236}">
                <a16:creationId xmlns:a16="http://schemas.microsoft.com/office/drawing/2014/main" id="{6DB1528B-CFA7-4625-AF24-E8FDAB23EB90}"/>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D7FE870E-D57B-43D7-87AA-E8558077FBDD}"/>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97E9BC3E-731D-4F8D-A8FD-2A36DA15C654}"/>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43</a:t>
            </a:r>
          </a:p>
        </p:txBody>
      </p:sp>
      <p:sp>
        <p:nvSpPr>
          <p:cNvPr id="8" name="TextBox 7">
            <a:extLst>
              <a:ext uri="{FF2B5EF4-FFF2-40B4-BE49-F238E27FC236}">
                <a16:creationId xmlns:a16="http://schemas.microsoft.com/office/drawing/2014/main" id="{83C5B8E3-A6D0-415B-AF4D-1F051183A975}"/>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Labor: </a:t>
            </a:r>
            <a:r>
              <a:rPr sz="1600" b="0" i="0" u="none">
                <a:solidFill>
                  <a:srgbClr val="262626"/>
                </a:solidFill>
                <a:latin typeface="Calibri"/>
                <a:ea typeface="Calibri"/>
                <a:cs typeface="Calibri"/>
              </a:rPr>
              <a:t>automation &amp; displacement; shifting skill demands.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Inequality &amp; power: </a:t>
            </a:r>
            <a:r>
              <a:rPr sz="1600" b="0" i="0" u="none">
                <a:solidFill>
                  <a:srgbClr val="262626"/>
                </a:solidFill>
                <a:latin typeface="Calibri"/>
                <a:ea typeface="Calibri"/>
                <a:cs typeface="Calibri"/>
              </a:rPr>
              <a:t>benefits concentrate; the poor are over-profiled (O’Neil, Eubanks).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Democracy: </a:t>
            </a:r>
            <a:r>
              <a:rPr sz="1600" b="0" i="0" u="none">
                <a:solidFill>
                  <a:srgbClr val="262626"/>
                </a:solidFill>
                <a:latin typeface="Calibri"/>
                <a:ea typeface="Calibri"/>
                <a:cs typeface="Calibri"/>
              </a:rPr>
              <a:t>misinformation, polarization, manipulation.</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Environment: </a:t>
            </a:r>
            <a:r>
              <a:rPr sz="1600" b="0" i="0" u="none">
                <a:solidFill>
                  <a:srgbClr val="262626"/>
                </a:solidFill>
                <a:latin typeface="Calibri"/>
                <a:ea typeface="Calibri"/>
                <a:cs typeface="Calibri"/>
              </a:rPr>
              <a:t>energy &amp; water footprint of large models.</a:t>
            </a:r>
          </a:p>
        </p:txBody>
      </p:sp>
      <p:sp>
        <p:nvSpPr>
          <p:cNvPr id="9" name="expanded-arrow-43-1">
            <a:extLst>
              <a:ext uri="{FF2B5EF4-FFF2-40B4-BE49-F238E27FC236}">
                <a16:creationId xmlns:a16="http://schemas.microsoft.com/office/drawing/2014/main" id="{FE796830-9A78-415E-BC5F-D5724DB28A8F}"/>
              </a:ext>
            </a:extLst>
          </p:cNvPr>
          <p:cNvSpPr>
            <a:spLocks noGrp="1"/>
          </p:cNvSpPr>
          <p:nvPr/>
        </p:nvSpPr>
        <p:spPr>
          <a:xfrm>
            <a:off x="4772025" y="4872038"/>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43-2">
            <a:extLst>
              <a:ext uri="{FF2B5EF4-FFF2-40B4-BE49-F238E27FC236}">
                <a16:creationId xmlns:a16="http://schemas.microsoft.com/office/drawing/2014/main" id="{B8626024-8B3B-44FE-9F0E-ED2A1B769442}"/>
              </a:ext>
            </a:extLst>
          </p:cNvPr>
          <p:cNvSpPr>
            <a:spLocks noGrp="1"/>
          </p:cNvSpPr>
          <p:nvPr/>
        </p:nvSpPr>
        <p:spPr>
          <a:xfrm>
            <a:off x="7153275" y="4872038"/>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node-43-1">
            <a:extLst>
              <a:ext uri="{FF2B5EF4-FFF2-40B4-BE49-F238E27FC236}">
                <a16:creationId xmlns:a16="http://schemas.microsoft.com/office/drawing/2014/main" id="{E0FF1C19-10C3-40B0-A60C-7F3337719F13}"/>
              </a:ext>
            </a:extLst>
          </p:cNvPr>
          <p:cNvSpPr>
            <a:spLocks noGrp="1"/>
          </p:cNvSpPr>
          <p:nvPr/>
        </p:nvSpPr>
        <p:spPr>
          <a:xfrm>
            <a:off x="26193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INDIVIDUAL</a:t>
            </a:r>
          </a:p>
        </p:txBody>
      </p:sp>
      <p:sp>
        <p:nvSpPr>
          <p:cNvPr id="12" name="expanded-node-43-2">
            <a:extLst>
              <a:ext uri="{FF2B5EF4-FFF2-40B4-BE49-F238E27FC236}">
                <a16:creationId xmlns:a16="http://schemas.microsoft.com/office/drawing/2014/main" id="{53687325-CB62-4B65-B27B-BD2CE60FDE2E}"/>
              </a:ext>
            </a:extLst>
          </p:cNvPr>
          <p:cNvSpPr>
            <a:spLocks noGrp="1"/>
          </p:cNvSpPr>
          <p:nvPr/>
        </p:nvSpPr>
        <p:spPr>
          <a:xfrm>
            <a:off x="5000625"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INSTITUTION</a:t>
            </a:r>
          </a:p>
        </p:txBody>
      </p:sp>
      <p:sp>
        <p:nvSpPr>
          <p:cNvPr id="13" name="expanded-node-43-3">
            <a:extLst>
              <a:ext uri="{FF2B5EF4-FFF2-40B4-BE49-F238E27FC236}">
                <a16:creationId xmlns:a16="http://schemas.microsoft.com/office/drawing/2014/main" id="{D88F2CE0-0568-4F7F-8B83-4747F59AA8E7}"/>
              </a:ext>
            </a:extLst>
          </p:cNvPr>
          <p:cNvSpPr>
            <a:spLocks noGrp="1"/>
          </p:cNvSpPr>
          <p:nvPr/>
        </p:nvSpPr>
        <p:spPr>
          <a:xfrm>
            <a:off x="73818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SOCIETY</a:t>
            </a:r>
          </a:p>
        </p:txBody>
      </p:sp>
      <p:sp>
        <p:nvSpPr>
          <p:cNvPr id="14" name="expanded-takeaway-43">
            <a:extLst>
              <a:ext uri="{FF2B5EF4-FFF2-40B4-BE49-F238E27FC236}">
                <a16:creationId xmlns:a16="http://schemas.microsoft.com/office/drawing/2014/main" id="{4518DCA9-DDCB-4F80-9677-8CB40C3DE4B6}"/>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Aggregate benefits can coexist with concentrated harms, unequal power, and long-term institutional change.</a:t>
            </a:r>
          </a:p>
        </p:txBody>
      </p:sp>
      <p:sp>
        <p:nvSpPr>
          <p:cNvPr id="15" name="v2-page-mask-55">
            <a:extLst>
              <a:ext uri="{FF2B5EF4-FFF2-40B4-BE49-F238E27FC236}">
                <a16:creationId xmlns:a16="http://schemas.microsoft.com/office/drawing/2014/main" id="{2FF2CEB7-E7BF-454E-80D3-E7398875B045}"/>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6" name="v2-page-55">
            <a:extLst>
              <a:ext uri="{FF2B5EF4-FFF2-40B4-BE49-F238E27FC236}">
                <a16:creationId xmlns:a16="http://schemas.microsoft.com/office/drawing/2014/main" id="{EB288EC5-DB02-4CFA-A636-C28E3FBDD21D}"/>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55</a:t>
            </a:r>
          </a:p>
        </p:txBody>
      </p:sp>
    </p:spTree>
    <p:extLst>
      <p:ext uri="{BB962C8B-B14F-4D97-AF65-F5344CB8AC3E}">
        <p14:creationId xmlns:p14="http://schemas.microsoft.com/office/powerpoint/2010/main" val="50361808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12666C-121C-462B-965E-3503C1BD3A88}"/>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C1BDA756-D1DA-4B96-96AF-321C24DED1C2}"/>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63B33F93-6341-4A11-AC8F-CD0A73E43FED}"/>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Moral Status &amp; AI Agency</a:t>
            </a:r>
          </a:p>
        </p:txBody>
      </p:sp>
      <p:sp>
        <p:nvSpPr>
          <p:cNvPr id="5" name="Rectangle 4">
            <a:extLst>
              <a:ext uri="{FF2B5EF4-FFF2-40B4-BE49-F238E27FC236}">
                <a16:creationId xmlns:a16="http://schemas.microsoft.com/office/drawing/2014/main" id="{B608F32E-DD71-4104-9C63-7CE18727768B}"/>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FB03BFEA-DE75-43C8-B111-E96261CD3A05}"/>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A philosophical question (Coeckelbergh).</a:t>
            </a:r>
          </a:p>
        </p:txBody>
      </p:sp>
      <p:sp>
        <p:nvSpPr>
          <p:cNvPr id="7" name="TextBox 6">
            <a:extLst>
              <a:ext uri="{FF2B5EF4-FFF2-40B4-BE49-F238E27FC236}">
                <a16:creationId xmlns:a16="http://schemas.microsoft.com/office/drawing/2014/main" id="{E1375ACE-E82F-4CEE-AB29-F667743376A8}"/>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241518B9-AC0F-4BCE-B41E-1E669A53BD8F}"/>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44</a:t>
            </a:r>
          </a:p>
        </p:txBody>
      </p:sp>
      <p:sp>
        <p:nvSpPr>
          <p:cNvPr id="9" name="TextBox 8">
            <a:extLst>
              <a:ext uri="{FF2B5EF4-FFF2-40B4-BE49-F238E27FC236}">
                <a16:creationId xmlns:a16="http://schemas.microsoft.com/office/drawing/2014/main" id="{56404B58-BC76-4DBC-8EDA-23FBCA7AB5AE}"/>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Moral patient: </a:t>
            </a:r>
            <a:r>
              <a:rPr sz="1600" b="0" i="0" u="none">
                <a:solidFill>
                  <a:srgbClr val="262626"/>
                </a:solidFill>
                <a:latin typeface="Calibri"/>
                <a:ea typeface="Calibri"/>
                <a:cs typeface="Calibri"/>
              </a:rPr>
              <a:t>should we care about AI </a:t>
            </a:r>
            <a:r>
              <a:rPr sz="1600" b="0" i="0" u="sng">
                <a:solidFill>
                  <a:srgbClr val="262626"/>
                </a:solidFill>
                <a:latin typeface="Calibri"/>
                <a:ea typeface="Calibri"/>
                <a:cs typeface="Calibri"/>
              </a:rPr>
              <a:t>itself</a:t>
            </a:r>
            <a:r>
              <a:rPr sz="1600" b="0" i="0" u="none">
                <a:solidFill>
                  <a:srgbClr val="262626"/>
                </a:solidFill>
                <a:latin typeface="Calibri"/>
                <a:ea typeface="Calibri"/>
                <a:cs typeface="Calibri"/>
              </a:rPr>
              <a:t>? (suffering? rights?)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Moral agent: </a:t>
            </a:r>
            <a:r>
              <a:rPr sz="1600" b="0" i="0" u="none">
                <a:solidFill>
                  <a:srgbClr val="262626"/>
                </a:solidFill>
                <a:latin typeface="Calibri"/>
                <a:ea typeface="Calibri"/>
                <a:cs typeface="Calibri"/>
              </a:rPr>
              <a:t>can AI be held responsible? Most say </a:t>
            </a:r>
            <a:r>
              <a:rPr sz="1600" b="0" i="0" u="sng">
                <a:solidFill>
                  <a:srgbClr val="262626"/>
                </a:solidFill>
                <a:latin typeface="Calibri"/>
                <a:ea typeface="Calibri"/>
                <a:cs typeface="Calibri"/>
              </a:rPr>
              <a:t>no</a:t>
            </a:r>
            <a:r>
              <a:rPr sz="1600" b="0" i="0" u="none">
                <a:solidFill>
                  <a:srgbClr val="262626"/>
                </a:solidFill>
                <a:latin typeface="Calibri"/>
                <a:ea typeface="Calibri"/>
                <a:cs typeface="Calibri"/>
              </a:rPr>
              <a:t> — no intent or consciousness.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Coeckelbergh’s relational view: </a:t>
            </a:r>
            <a:r>
              <a:rPr sz="1600" b="0" i="0" u="none">
                <a:solidFill>
                  <a:srgbClr val="262626"/>
                </a:solidFill>
                <a:latin typeface="Calibri"/>
                <a:ea typeface="Calibri"/>
                <a:cs typeface="Calibri"/>
              </a:rPr>
              <a:t>moral status depends on </a:t>
            </a:r>
            <a:r>
              <a:rPr sz="1600" b="1" i="0" u="sng">
                <a:solidFill>
                  <a:srgbClr val="262626"/>
                </a:solidFill>
                <a:latin typeface="Calibri"/>
                <a:ea typeface="Calibri"/>
                <a:cs typeface="Calibri"/>
              </a:rPr>
              <a:t>relations &amp; contexts</a:t>
            </a:r>
            <a:r>
              <a:rPr sz="1600" b="0" i="0" u="none">
                <a:solidFill>
                  <a:srgbClr val="262626"/>
                </a:solidFill>
                <a:latin typeface="Calibri"/>
                <a:ea typeface="Calibri"/>
                <a:cs typeface="Calibri"/>
              </a:rPr>
              <a:t>, not fixed essence.</a:t>
            </a:r>
          </a:p>
          <a:p>
            <a:pPr marL="285750" indent="-285750" algn="l">
              <a:lnSpc>
                <a:spcPct val="116000"/>
              </a:lnSpc>
              <a:spcBef>
                <a:spcPts val="400"/>
              </a:spcBef>
              <a:spcAft>
                <a:spcPts val="700"/>
              </a:spcAft>
              <a:buClr>
                <a:srgbClr val="2E75B6"/>
              </a:buClr>
              <a:buSzPct val="100000"/>
              <a:buFont typeface="Arial"/>
              <a:buChar char="•"/>
            </a:pPr>
            <a:r>
              <a:rPr sz="1500" b="1" i="0" u="none">
                <a:solidFill>
                  <a:srgbClr val="1F3864"/>
                </a:solidFill>
                <a:latin typeface="Calibri"/>
                <a:ea typeface="Calibri"/>
                <a:cs typeface="Calibri"/>
              </a:rPr>
              <a:t>Practical focus: </a:t>
            </a:r>
            <a:r>
              <a:rPr sz="1500" b="0" i="1" u="none">
                <a:solidFill>
                  <a:srgbClr val="595959"/>
                </a:solidFill>
                <a:latin typeface="Calibri"/>
                <a:ea typeface="Calibri"/>
                <a:cs typeface="Calibri"/>
              </a:rPr>
              <a:t>humans affected by AI bear the primary moral weight.</a:t>
            </a:r>
          </a:p>
        </p:txBody>
      </p:sp>
      <p:sp>
        <p:nvSpPr>
          <p:cNvPr id="10" name="expanded-arrow-44-1">
            <a:extLst>
              <a:ext uri="{FF2B5EF4-FFF2-40B4-BE49-F238E27FC236}">
                <a16:creationId xmlns:a16="http://schemas.microsoft.com/office/drawing/2014/main" id="{7D8E9D75-DC45-49B5-A85B-B9BCF9DEA053}"/>
              </a:ext>
            </a:extLst>
          </p:cNvPr>
          <p:cNvSpPr>
            <a:spLocks noGrp="1"/>
          </p:cNvSpPr>
          <p:nvPr/>
        </p:nvSpPr>
        <p:spPr>
          <a:xfrm>
            <a:off x="4772025"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44-2">
            <a:extLst>
              <a:ext uri="{FF2B5EF4-FFF2-40B4-BE49-F238E27FC236}">
                <a16:creationId xmlns:a16="http://schemas.microsoft.com/office/drawing/2014/main" id="{CE93411F-C19B-4115-9DF8-228765BFD173}"/>
              </a:ext>
            </a:extLst>
          </p:cNvPr>
          <p:cNvSpPr>
            <a:spLocks noGrp="1"/>
          </p:cNvSpPr>
          <p:nvPr/>
        </p:nvSpPr>
        <p:spPr>
          <a:xfrm>
            <a:off x="7153275"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node-44-1">
            <a:extLst>
              <a:ext uri="{FF2B5EF4-FFF2-40B4-BE49-F238E27FC236}">
                <a16:creationId xmlns:a16="http://schemas.microsoft.com/office/drawing/2014/main" id="{FAA4A2DC-FEDB-41E5-A1B2-6DEEAC1A5265}"/>
              </a:ext>
            </a:extLst>
          </p:cNvPr>
          <p:cNvSpPr>
            <a:spLocks noGrp="1"/>
          </p:cNvSpPr>
          <p:nvPr/>
        </p:nvSpPr>
        <p:spPr>
          <a:xfrm>
            <a:off x="26193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MORAL PATIENT</a:t>
            </a:r>
          </a:p>
        </p:txBody>
      </p:sp>
      <p:sp>
        <p:nvSpPr>
          <p:cNvPr id="13" name="expanded-node-44-2">
            <a:extLst>
              <a:ext uri="{FF2B5EF4-FFF2-40B4-BE49-F238E27FC236}">
                <a16:creationId xmlns:a16="http://schemas.microsoft.com/office/drawing/2014/main" id="{A64D4371-3A72-42CE-A88B-F0F2FDCA0C33}"/>
              </a:ext>
            </a:extLst>
          </p:cNvPr>
          <p:cNvSpPr>
            <a:spLocks noGrp="1"/>
          </p:cNvSpPr>
          <p:nvPr/>
        </p:nvSpPr>
        <p:spPr>
          <a:xfrm>
            <a:off x="5000625"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MORAL AGENT</a:t>
            </a:r>
          </a:p>
        </p:txBody>
      </p:sp>
      <p:sp>
        <p:nvSpPr>
          <p:cNvPr id="14" name="expanded-node-44-3">
            <a:extLst>
              <a:ext uri="{FF2B5EF4-FFF2-40B4-BE49-F238E27FC236}">
                <a16:creationId xmlns:a16="http://schemas.microsoft.com/office/drawing/2014/main" id="{40C408C4-DCC2-4540-B879-44E4C2E0622A}"/>
              </a:ext>
            </a:extLst>
          </p:cNvPr>
          <p:cNvSpPr>
            <a:spLocks noGrp="1"/>
          </p:cNvSpPr>
          <p:nvPr/>
        </p:nvSpPr>
        <p:spPr>
          <a:xfrm>
            <a:off x="73818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HUMAN RESPONSIBILITY</a:t>
            </a:r>
          </a:p>
        </p:txBody>
      </p:sp>
      <p:sp>
        <p:nvSpPr>
          <p:cNvPr id="15" name="expanded-takeaway-44">
            <a:extLst>
              <a:ext uri="{FF2B5EF4-FFF2-40B4-BE49-F238E27FC236}">
                <a16:creationId xmlns:a16="http://schemas.microsoft.com/office/drawing/2014/main" id="{122401C0-63FE-4419-BE5B-1CCD6E3B0326}"/>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Moral status asks whether AI can be harmed; moral agency asks whether it can be responsible — these are different questions.</a:t>
            </a:r>
          </a:p>
        </p:txBody>
      </p:sp>
      <p:sp>
        <p:nvSpPr>
          <p:cNvPr id="16" name="v2-page-mask-56">
            <a:extLst>
              <a:ext uri="{FF2B5EF4-FFF2-40B4-BE49-F238E27FC236}">
                <a16:creationId xmlns:a16="http://schemas.microsoft.com/office/drawing/2014/main" id="{99A7B57E-E490-4F0E-80C5-555ECA1847BE}"/>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7" name="v2-page-56">
            <a:extLst>
              <a:ext uri="{FF2B5EF4-FFF2-40B4-BE49-F238E27FC236}">
                <a16:creationId xmlns:a16="http://schemas.microsoft.com/office/drawing/2014/main" id="{EE59EE18-7871-44AC-B129-032F0F00E144}"/>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56</a:t>
            </a:r>
          </a:p>
        </p:txBody>
      </p:sp>
    </p:spTree>
    <p:extLst>
      <p:ext uri="{BB962C8B-B14F-4D97-AF65-F5344CB8AC3E}">
        <p14:creationId xmlns:p14="http://schemas.microsoft.com/office/powerpoint/2010/main" val="9756910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v2-background">
            <a:extLst>
              <a:ext uri="{FF2B5EF4-FFF2-40B4-BE49-F238E27FC236}">
                <a16:creationId xmlns:a16="http://schemas.microsoft.com/office/drawing/2014/main" id="{F59C435D-2BDA-426D-874B-AE7591ED26F7}"/>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zh-CN" altLang="en-US"/>
          </a:p>
        </p:txBody>
      </p:sp>
      <p:sp>
        <p:nvSpPr>
          <p:cNvPr id="2" name="v2-title-rail">
            <a:extLst>
              <a:ext uri="{FF2B5EF4-FFF2-40B4-BE49-F238E27FC236}">
                <a16:creationId xmlns:a16="http://schemas.microsoft.com/office/drawing/2014/main" id="{BA55A697-842D-420C-AC85-F1DB04A3EC55}"/>
              </a:ext>
            </a:extLst>
          </p:cNvPr>
          <p:cNvSpPr>
            <a:spLocks noGrp="1"/>
          </p:cNvSpPr>
          <p:nvPr/>
        </p:nvSpPr>
        <p:spPr>
          <a:xfrm>
            <a:off x="628650" y="400050"/>
            <a:ext cx="95250" cy="476250"/>
          </a:xfrm>
          <a:prstGeom prst="rect">
            <a:avLst/>
          </a:prstGeom>
          <a:solidFill>
            <a:srgbClr val="1F3B6D"/>
          </a:solidFill>
          <a:ln w="0">
            <a:solidFill>
              <a:srgbClr val="1F3B6D"/>
            </a:solidFill>
            <a:prstDash val="solid"/>
          </a:ln>
        </p:spPr>
        <p:txBody>
          <a:bodyPr/>
          <a:lstStyle/>
          <a:p>
            <a:endParaRPr lang="zh-CN" altLang="en-US"/>
          </a:p>
        </p:txBody>
      </p:sp>
      <p:sp>
        <p:nvSpPr>
          <p:cNvPr id="3" name="v2-title">
            <a:extLst>
              <a:ext uri="{FF2B5EF4-FFF2-40B4-BE49-F238E27FC236}">
                <a16:creationId xmlns:a16="http://schemas.microsoft.com/office/drawing/2014/main" id="{4A0DAE81-4CFA-44B3-BE97-3CE22C821F71}"/>
              </a:ext>
            </a:extLst>
          </p:cNvPr>
          <p:cNvSpPr>
            <a:spLocks noGrp="1"/>
          </p:cNvSpPr>
          <p:nvPr/>
        </p:nvSpPr>
        <p:spPr>
          <a:xfrm>
            <a:off x="981075" y="361950"/>
            <a:ext cx="10287000" cy="552450"/>
          </a:xfrm>
          <a:prstGeom prst="rect">
            <a:avLst/>
          </a:prstGeom>
          <a:noFill/>
          <a:ln w="0">
            <a:noFill/>
            <a:prstDash val="solid"/>
          </a:ln>
        </p:spPr>
        <p:txBody>
          <a:bodyPr/>
          <a:lstStyle/>
          <a:p>
            <a:pPr>
              <a:defRPr sz="2550" b="1">
                <a:solidFill>
                  <a:srgbClr val="1F3B6D"/>
                </a:solidFill>
              </a:defRPr>
            </a:pPr>
            <a:r>
              <a:rPr sz="2550" b="1">
                <a:solidFill>
                  <a:srgbClr val="1F3B6D"/>
                </a:solidFill>
              </a:rPr>
              <a:t>Debate: Can an AI System Be Morally Responsible?</a:t>
            </a:r>
          </a:p>
        </p:txBody>
      </p:sp>
      <p:sp>
        <p:nvSpPr>
          <p:cNvPr id="4" name="v2-rule">
            <a:extLst>
              <a:ext uri="{FF2B5EF4-FFF2-40B4-BE49-F238E27FC236}">
                <a16:creationId xmlns:a16="http://schemas.microsoft.com/office/drawing/2014/main" id="{FDCCCC25-8352-4269-A7F1-AEACE07C5F00}"/>
              </a:ext>
            </a:extLst>
          </p:cNvPr>
          <p:cNvSpPr>
            <a:spLocks noGrp="1"/>
          </p:cNvSpPr>
          <p:nvPr/>
        </p:nvSpPr>
        <p:spPr>
          <a:xfrm>
            <a:off x="638175" y="1000125"/>
            <a:ext cx="10972800" cy="28575"/>
          </a:xfrm>
          <a:prstGeom prst="rect">
            <a:avLst/>
          </a:prstGeom>
          <a:solidFill>
            <a:srgbClr val="2D78B9"/>
          </a:solidFill>
          <a:ln w="0">
            <a:solidFill>
              <a:srgbClr val="2D78B9"/>
            </a:solidFill>
            <a:prstDash val="solid"/>
          </a:ln>
        </p:spPr>
        <p:txBody>
          <a:bodyPr/>
          <a:lstStyle/>
          <a:p>
            <a:endParaRPr lang="zh-CN" altLang="en-US"/>
          </a:p>
        </p:txBody>
      </p:sp>
      <p:sp>
        <p:nvSpPr>
          <p:cNvPr id="5" name="v2-subtitle">
            <a:extLst>
              <a:ext uri="{FF2B5EF4-FFF2-40B4-BE49-F238E27FC236}">
                <a16:creationId xmlns:a16="http://schemas.microsoft.com/office/drawing/2014/main" id="{90CD249F-89FB-4800-984F-248F24979A56}"/>
              </a:ext>
            </a:extLst>
          </p:cNvPr>
          <p:cNvSpPr>
            <a:spLocks noGrp="1"/>
          </p:cNvSpPr>
          <p:nvPr/>
        </p:nvSpPr>
        <p:spPr>
          <a:xfrm>
            <a:off x="981075" y="1104900"/>
            <a:ext cx="10287000" cy="323850"/>
          </a:xfrm>
          <a:prstGeom prst="rect">
            <a:avLst/>
          </a:prstGeom>
          <a:noFill/>
          <a:ln w="0">
            <a:noFill/>
            <a:prstDash val="solid"/>
          </a:ln>
        </p:spPr>
        <p:txBody>
          <a:bodyPr/>
          <a:lstStyle/>
          <a:p>
            <a:pPr>
              <a:defRPr sz="1275" i="1">
                <a:solidFill>
                  <a:srgbClr val="5B6670"/>
                </a:solidFill>
              </a:defRPr>
            </a:pPr>
            <a:r>
              <a:rPr sz="1275" i="1">
                <a:solidFill>
                  <a:srgbClr val="5B6670"/>
                </a:solidFill>
              </a:rPr>
              <a:t>Separate autonomy in operation from responsibility in the moral and legal sense.</a:t>
            </a:r>
          </a:p>
        </p:txBody>
      </p:sp>
      <p:sp>
        <p:nvSpPr>
          <p:cNvPr id="6" name="v2-accent">
            <a:extLst>
              <a:ext uri="{FF2B5EF4-FFF2-40B4-BE49-F238E27FC236}">
                <a16:creationId xmlns:a16="http://schemas.microsoft.com/office/drawing/2014/main" id="{38787B9E-1888-4E6E-B576-AFCDB5CE61E8}"/>
              </a:ext>
            </a:extLst>
          </p:cNvPr>
          <p:cNvSpPr>
            <a:spLocks noGrp="1"/>
          </p:cNvSpPr>
          <p:nvPr/>
        </p:nvSpPr>
        <p:spPr>
          <a:xfrm>
            <a:off x="11687175" y="304800"/>
            <a:ext cx="266700" cy="266700"/>
          </a:xfrm>
          <a:prstGeom prst="rect">
            <a:avLst/>
          </a:prstGeom>
          <a:solidFill>
            <a:srgbClr val="2D78B9"/>
          </a:solidFill>
          <a:ln w="0">
            <a:solidFill>
              <a:srgbClr val="2D78B9"/>
            </a:solidFill>
            <a:prstDash val="solid"/>
          </a:ln>
        </p:spPr>
        <p:txBody>
          <a:bodyPr/>
          <a:lstStyle/>
          <a:p>
            <a:endParaRPr lang="zh-CN" altLang="en-US"/>
          </a:p>
        </p:txBody>
      </p:sp>
      <p:sp>
        <p:nvSpPr>
          <p:cNvPr id="7" name="v2-footer">
            <a:extLst>
              <a:ext uri="{FF2B5EF4-FFF2-40B4-BE49-F238E27FC236}">
                <a16:creationId xmlns:a16="http://schemas.microsoft.com/office/drawing/2014/main" id="{7929D764-A3E6-4D76-8F98-4185065BAD3D}"/>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sp>
        <p:nvSpPr>
          <p:cNvPr id="8" name="for-bg">
            <a:extLst>
              <a:ext uri="{FF2B5EF4-FFF2-40B4-BE49-F238E27FC236}">
                <a16:creationId xmlns:a16="http://schemas.microsoft.com/office/drawing/2014/main" id="{D980EA32-FD9B-412F-BB3C-DAF1129AFD30}"/>
              </a:ext>
            </a:extLst>
          </p:cNvPr>
          <p:cNvSpPr>
            <a:spLocks noGrp="1"/>
          </p:cNvSpPr>
          <p:nvPr/>
        </p:nvSpPr>
        <p:spPr>
          <a:xfrm>
            <a:off x="1095375" y="1762125"/>
            <a:ext cx="4572000" cy="2714625"/>
          </a:xfrm>
          <a:prstGeom prst="roundRect">
            <a:avLst>
              <a:gd name="adj" fmla="val 2807"/>
            </a:avLst>
          </a:prstGeom>
          <a:solidFill>
            <a:srgbClr val="F8FBFE"/>
          </a:solidFill>
          <a:ln w="11430">
            <a:solidFill>
              <a:srgbClr val="2D78B9"/>
            </a:solidFill>
            <a:prstDash val="solid"/>
          </a:ln>
        </p:spPr>
        <p:txBody>
          <a:bodyPr/>
          <a:lstStyle/>
          <a:p>
            <a:endParaRPr lang="zh-CN" altLang="en-US"/>
          </a:p>
        </p:txBody>
      </p:sp>
      <p:sp>
        <p:nvSpPr>
          <p:cNvPr id="9" name="for-title">
            <a:extLst>
              <a:ext uri="{FF2B5EF4-FFF2-40B4-BE49-F238E27FC236}">
                <a16:creationId xmlns:a16="http://schemas.microsoft.com/office/drawing/2014/main" id="{84F1766B-A624-4F3E-9C03-207F9FD68593}"/>
              </a:ext>
            </a:extLst>
          </p:cNvPr>
          <p:cNvSpPr>
            <a:spLocks noGrp="1"/>
          </p:cNvSpPr>
          <p:nvPr/>
        </p:nvSpPr>
        <p:spPr>
          <a:xfrm>
            <a:off x="1266825" y="1895475"/>
            <a:ext cx="4229100" cy="285750"/>
          </a:xfrm>
          <a:prstGeom prst="rect">
            <a:avLst/>
          </a:prstGeom>
          <a:noFill/>
          <a:ln w="0">
            <a:noFill/>
            <a:prstDash val="solid"/>
          </a:ln>
        </p:spPr>
        <p:txBody>
          <a:bodyPr/>
          <a:lstStyle/>
          <a:p>
            <a:pPr>
              <a:defRPr sz="1350" b="1">
                <a:solidFill>
                  <a:srgbClr val="2D78B9"/>
                </a:solidFill>
              </a:defRPr>
            </a:pPr>
            <a:r>
              <a:rPr sz="1350" b="1">
                <a:solidFill>
                  <a:srgbClr val="2D78B9"/>
                </a:solidFill>
              </a:rPr>
              <a:t>ARGUMENT FOR</a:t>
            </a:r>
          </a:p>
        </p:txBody>
      </p:sp>
      <p:sp>
        <p:nvSpPr>
          <p:cNvPr id="10" name="for-body">
            <a:extLst>
              <a:ext uri="{FF2B5EF4-FFF2-40B4-BE49-F238E27FC236}">
                <a16:creationId xmlns:a16="http://schemas.microsoft.com/office/drawing/2014/main" id="{E69BEAC6-5EBB-49A7-90BD-EE9865225E53}"/>
              </a:ext>
            </a:extLst>
          </p:cNvPr>
          <p:cNvSpPr>
            <a:spLocks noGrp="1"/>
          </p:cNvSpPr>
          <p:nvPr/>
        </p:nvSpPr>
        <p:spPr>
          <a:xfrm>
            <a:off x="1266825" y="2219325"/>
            <a:ext cx="4229100" cy="2143125"/>
          </a:xfrm>
          <a:prstGeom prst="rect">
            <a:avLst/>
          </a:prstGeom>
          <a:noFill/>
          <a:ln w="0">
            <a:noFill/>
            <a:prstDash val="solid"/>
          </a:ln>
        </p:spPr>
        <p:txBody>
          <a:bodyPr/>
          <a:lstStyle/>
          <a:p>
            <a:pPr>
              <a:defRPr sz="1200">
                <a:solidFill>
                  <a:srgbClr val="263442"/>
                </a:solidFill>
              </a:defRPr>
            </a:pPr>
            <a:r>
              <a:rPr sz="1200">
                <a:solidFill>
                  <a:srgbClr val="263442"/>
                </a:solidFill>
              </a:rPr>
              <a:t>Advanced systems can select actions, adapt, and operate beyond immediate human control. Responsibility concepts may need to evolve.</a:t>
            </a:r>
          </a:p>
        </p:txBody>
      </p:sp>
      <p:sp>
        <p:nvSpPr>
          <p:cNvPr id="11" name="against-bg">
            <a:extLst>
              <a:ext uri="{FF2B5EF4-FFF2-40B4-BE49-F238E27FC236}">
                <a16:creationId xmlns:a16="http://schemas.microsoft.com/office/drawing/2014/main" id="{10D4C114-11C6-4CD8-96F3-57A1F1A05899}"/>
              </a:ext>
            </a:extLst>
          </p:cNvPr>
          <p:cNvSpPr>
            <a:spLocks noGrp="1"/>
          </p:cNvSpPr>
          <p:nvPr/>
        </p:nvSpPr>
        <p:spPr>
          <a:xfrm>
            <a:off x="6524625" y="1762125"/>
            <a:ext cx="4572000" cy="2714625"/>
          </a:xfrm>
          <a:prstGeom prst="roundRect">
            <a:avLst>
              <a:gd name="adj" fmla="val 2807"/>
            </a:avLst>
          </a:prstGeom>
          <a:solidFill>
            <a:srgbClr val="F8FBFE"/>
          </a:solidFill>
          <a:ln w="11430">
            <a:solidFill>
              <a:srgbClr val="B42318"/>
            </a:solidFill>
            <a:prstDash val="solid"/>
          </a:ln>
        </p:spPr>
        <p:txBody>
          <a:bodyPr/>
          <a:lstStyle/>
          <a:p>
            <a:endParaRPr lang="zh-CN" altLang="en-US"/>
          </a:p>
        </p:txBody>
      </p:sp>
      <p:sp>
        <p:nvSpPr>
          <p:cNvPr id="12" name="against-title">
            <a:extLst>
              <a:ext uri="{FF2B5EF4-FFF2-40B4-BE49-F238E27FC236}">
                <a16:creationId xmlns:a16="http://schemas.microsoft.com/office/drawing/2014/main" id="{D5692697-0869-4AD3-8046-35947D8F2401}"/>
              </a:ext>
            </a:extLst>
          </p:cNvPr>
          <p:cNvSpPr>
            <a:spLocks noGrp="1"/>
          </p:cNvSpPr>
          <p:nvPr/>
        </p:nvSpPr>
        <p:spPr>
          <a:xfrm>
            <a:off x="6696075" y="1895475"/>
            <a:ext cx="4229100" cy="285750"/>
          </a:xfrm>
          <a:prstGeom prst="rect">
            <a:avLst/>
          </a:prstGeom>
          <a:noFill/>
          <a:ln w="0">
            <a:noFill/>
            <a:prstDash val="solid"/>
          </a:ln>
        </p:spPr>
        <p:txBody>
          <a:bodyPr/>
          <a:lstStyle/>
          <a:p>
            <a:pPr>
              <a:defRPr sz="1350" b="1">
                <a:solidFill>
                  <a:srgbClr val="B42318"/>
                </a:solidFill>
              </a:defRPr>
            </a:pPr>
            <a:r>
              <a:rPr sz="1350" b="1">
                <a:solidFill>
                  <a:srgbClr val="B42318"/>
                </a:solidFill>
              </a:rPr>
              <a:t>ARGUMENT AGAINST</a:t>
            </a:r>
          </a:p>
        </p:txBody>
      </p:sp>
      <p:sp>
        <p:nvSpPr>
          <p:cNvPr id="13" name="against-body">
            <a:extLst>
              <a:ext uri="{FF2B5EF4-FFF2-40B4-BE49-F238E27FC236}">
                <a16:creationId xmlns:a16="http://schemas.microsoft.com/office/drawing/2014/main" id="{68ACC5B3-E526-4F10-8F8F-937B3D7BA6A6}"/>
              </a:ext>
            </a:extLst>
          </p:cNvPr>
          <p:cNvSpPr>
            <a:spLocks noGrp="1"/>
          </p:cNvSpPr>
          <p:nvPr/>
        </p:nvSpPr>
        <p:spPr>
          <a:xfrm>
            <a:off x="6696075" y="2219325"/>
            <a:ext cx="4229100" cy="2143125"/>
          </a:xfrm>
          <a:prstGeom prst="rect">
            <a:avLst/>
          </a:prstGeom>
          <a:noFill/>
          <a:ln w="0">
            <a:noFill/>
            <a:prstDash val="solid"/>
          </a:ln>
        </p:spPr>
        <p:txBody>
          <a:bodyPr/>
          <a:lstStyle/>
          <a:p>
            <a:pPr>
              <a:defRPr sz="1200">
                <a:solidFill>
                  <a:srgbClr val="263442"/>
                </a:solidFill>
              </a:defRPr>
            </a:pPr>
            <a:r>
              <a:rPr sz="1200">
                <a:solidFill>
                  <a:srgbClr val="263442"/>
                </a:solidFill>
              </a:rPr>
              <a:t>Systems lack human intentions, social membership, and moral understanding. Assigning responsibility to AI may let institutions evade accountability.</a:t>
            </a:r>
          </a:p>
        </p:txBody>
      </p:sp>
      <p:sp>
        <p:nvSpPr>
          <p:cNvPr id="14" name="v2-takeaway">
            <a:extLst>
              <a:ext uri="{FF2B5EF4-FFF2-40B4-BE49-F238E27FC236}">
                <a16:creationId xmlns:a16="http://schemas.microsoft.com/office/drawing/2014/main" id="{7F4E0CF0-AEFA-4C6B-B600-11E31829FE76}"/>
              </a:ext>
            </a:extLst>
          </p:cNvPr>
          <p:cNvSpPr>
            <a:spLocks noGrp="1"/>
          </p:cNvSpPr>
          <p:nvPr/>
        </p:nvSpPr>
        <p:spPr>
          <a:xfrm>
            <a:off x="876300" y="575310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defRPr sz="1200" b="1">
                <a:solidFill>
                  <a:srgbClr val="1F3B6D"/>
                </a:solidFill>
              </a:defRPr>
            </a:pPr>
            <a:r>
              <a:rPr sz="1200" b="1">
                <a:solidFill>
                  <a:srgbClr val="1F3B6D"/>
                </a:solidFill>
              </a:rPr>
              <a:t>Even if agency remains contested, human institutions must still assign answerability and remedy.</a:t>
            </a:r>
          </a:p>
        </p:txBody>
      </p:sp>
      <p:sp>
        <p:nvSpPr>
          <p:cNvPr id="15" name="v2-page-mask-57">
            <a:extLst>
              <a:ext uri="{FF2B5EF4-FFF2-40B4-BE49-F238E27FC236}">
                <a16:creationId xmlns:a16="http://schemas.microsoft.com/office/drawing/2014/main" id="{E177AB1B-2214-41BC-915C-5106994483D5}"/>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6" name="v2-page-57">
            <a:extLst>
              <a:ext uri="{FF2B5EF4-FFF2-40B4-BE49-F238E27FC236}">
                <a16:creationId xmlns:a16="http://schemas.microsoft.com/office/drawing/2014/main" id="{CC080CCC-4BF9-408C-81E3-B3FAE0082E78}"/>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57</a:t>
            </a:r>
          </a:p>
        </p:txBody>
      </p:sp>
    </p:spTree>
    <p:extLst>
      <p:ext uri="{BB962C8B-B14F-4D97-AF65-F5344CB8AC3E}">
        <p14:creationId xmlns:p14="http://schemas.microsoft.com/office/powerpoint/2010/main" val="85106479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781AD3-7204-46D3-BE69-6B7C10FF8681}"/>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AE05B748-C264-4DFE-92AD-3E3B109AEC2C}"/>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99E62507-8451-4B15-9B34-C81BA6917915}"/>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Case 1: Algorithmic Bias in Criminal Justice</a:t>
            </a:r>
          </a:p>
        </p:txBody>
      </p:sp>
      <p:sp>
        <p:nvSpPr>
          <p:cNvPr id="5" name="Rectangle 4">
            <a:extLst>
              <a:ext uri="{FF2B5EF4-FFF2-40B4-BE49-F238E27FC236}">
                <a16:creationId xmlns:a16="http://schemas.microsoft.com/office/drawing/2014/main" id="{A88B644E-FE2D-4636-B52F-F57CF95183FF}"/>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CC61F19-8052-40F0-8F51-8A7EEBD1D172}"/>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COMPAS — recidivism risk scoring (O’Neil).</a:t>
            </a:r>
          </a:p>
        </p:txBody>
      </p:sp>
      <p:sp>
        <p:nvSpPr>
          <p:cNvPr id="7" name="TextBox 6">
            <a:extLst>
              <a:ext uri="{FF2B5EF4-FFF2-40B4-BE49-F238E27FC236}">
                <a16:creationId xmlns:a16="http://schemas.microsoft.com/office/drawing/2014/main" id="{13E8D38B-BAF7-4CC7-9B4B-231106477679}"/>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D2C17357-6389-43B6-8C29-556327DCC079}"/>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45</a:t>
            </a:r>
          </a:p>
        </p:txBody>
      </p:sp>
      <p:sp>
        <p:nvSpPr>
          <p:cNvPr id="9" name="TextBox 8">
            <a:extLst>
              <a:ext uri="{FF2B5EF4-FFF2-40B4-BE49-F238E27FC236}">
                <a16:creationId xmlns:a16="http://schemas.microsoft.com/office/drawing/2014/main" id="{64646178-77B7-4E18-A8FF-B06B2C500317}"/>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COMPAS: </a:t>
            </a:r>
            <a:r>
              <a:rPr sz="1600" b="0" i="0" u="none">
                <a:solidFill>
                  <a:srgbClr val="262626"/>
                </a:solidFill>
                <a:latin typeface="Calibri"/>
                <a:ea typeface="Calibri"/>
                <a:cs typeface="Calibri"/>
              </a:rPr>
              <a:t>a recidivism-risk tool used in US sentencing and bail decisions.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ProPublica (2016): </a:t>
            </a:r>
            <a:r>
              <a:rPr sz="1600" b="0" i="0" u="none">
                <a:solidFill>
                  <a:srgbClr val="262626"/>
                </a:solidFill>
                <a:latin typeface="Calibri"/>
                <a:ea typeface="Calibri"/>
                <a:cs typeface="Calibri"/>
              </a:rPr>
              <a:t>over-predicted recidivism for Black defendants; under-predicted for white.</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Tensions: </a:t>
            </a:r>
            <a:r>
              <a:rPr sz="1600" b="0" i="0" u="none">
                <a:solidFill>
                  <a:srgbClr val="262626"/>
                </a:solidFill>
                <a:latin typeface="Calibri"/>
                <a:ea typeface="Calibri"/>
                <a:cs typeface="Calibri"/>
              </a:rPr>
              <a:t>accuracy vs fairness; opacity; stakes = liberty.</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Lesson: </a:t>
            </a:r>
            <a:r>
              <a:rPr sz="1600" b="0" i="0" u="none">
                <a:solidFill>
                  <a:srgbClr val="262626"/>
                </a:solidFill>
                <a:latin typeface="Calibri"/>
                <a:ea typeface="Calibri"/>
                <a:cs typeface="Calibri"/>
              </a:rPr>
              <a:t>a “neutral” score encodes bias; criminal history acts as a </a:t>
            </a:r>
            <a:r>
              <a:rPr sz="1600" b="1" i="0" u="sng">
                <a:solidFill>
                  <a:srgbClr val="262626"/>
                </a:solidFill>
                <a:latin typeface="Calibri"/>
                <a:ea typeface="Calibri"/>
                <a:cs typeface="Calibri"/>
              </a:rPr>
              <a:t>proxy for race</a:t>
            </a:r>
            <a:r>
              <a:rPr sz="1600" b="0" i="0" u="none">
                <a:solidFill>
                  <a:srgbClr val="262626"/>
                </a:solidFill>
                <a:latin typeface="Calibri"/>
                <a:ea typeface="Calibri"/>
                <a:cs typeface="Calibri"/>
              </a:rPr>
              <a:t>.</a:t>
            </a:r>
          </a:p>
        </p:txBody>
      </p:sp>
      <p:sp>
        <p:nvSpPr>
          <p:cNvPr id="10" name="expanded-arrow-45-1">
            <a:extLst>
              <a:ext uri="{FF2B5EF4-FFF2-40B4-BE49-F238E27FC236}">
                <a16:creationId xmlns:a16="http://schemas.microsoft.com/office/drawing/2014/main" id="{D0DB80ED-151E-4541-ADDF-D2C7ECFA107A}"/>
              </a:ext>
            </a:extLst>
          </p:cNvPr>
          <p:cNvSpPr>
            <a:spLocks noGrp="1"/>
          </p:cNvSpPr>
          <p:nvPr/>
        </p:nvSpPr>
        <p:spPr>
          <a:xfrm>
            <a:off x="4772025" y="4872038"/>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45-2">
            <a:extLst>
              <a:ext uri="{FF2B5EF4-FFF2-40B4-BE49-F238E27FC236}">
                <a16:creationId xmlns:a16="http://schemas.microsoft.com/office/drawing/2014/main" id="{659EC5EA-977F-4BC9-8E76-AEFBB6238DC7}"/>
              </a:ext>
            </a:extLst>
          </p:cNvPr>
          <p:cNvSpPr>
            <a:spLocks noGrp="1"/>
          </p:cNvSpPr>
          <p:nvPr/>
        </p:nvSpPr>
        <p:spPr>
          <a:xfrm>
            <a:off x="7153275" y="4872038"/>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node-45-1">
            <a:extLst>
              <a:ext uri="{FF2B5EF4-FFF2-40B4-BE49-F238E27FC236}">
                <a16:creationId xmlns:a16="http://schemas.microsoft.com/office/drawing/2014/main" id="{DB30AA23-2341-4BDF-BD87-A40C970530B9}"/>
              </a:ext>
            </a:extLst>
          </p:cNvPr>
          <p:cNvSpPr>
            <a:spLocks noGrp="1"/>
          </p:cNvSpPr>
          <p:nvPr/>
        </p:nvSpPr>
        <p:spPr>
          <a:xfrm>
            <a:off x="26193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RISK SCORE</a:t>
            </a:r>
          </a:p>
        </p:txBody>
      </p:sp>
      <p:sp>
        <p:nvSpPr>
          <p:cNvPr id="13" name="expanded-node-45-2">
            <a:extLst>
              <a:ext uri="{FF2B5EF4-FFF2-40B4-BE49-F238E27FC236}">
                <a16:creationId xmlns:a16="http://schemas.microsoft.com/office/drawing/2014/main" id="{0318F014-9230-4E47-8EFA-A5FE4F7B56FA}"/>
              </a:ext>
            </a:extLst>
          </p:cNvPr>
          <p:cNvSpPr>
            <a:spLocks noGrp="1"/>
          </p:cNvSpPr>
          <p:nvPr/>
        </p:nvSpPr>
        <p:spPr>
          <a:xfrm>
            <a:off x="5000625"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FAIRNESS CHOICE</a:t>
            </a:r>
          </a:p>
        </p:txBody>
      </p:sp>
      <p:sp>
        <p:nvSpPr>
          <p:cNvPr id="14" name="expanded-node-45-3">
            <a:extLst>
              <a:ext uri="{FF2B5EF4-FFF2-40B4-BE49-F238E27FC236}">
                <a16:creationId xmlns:a16="http://schemas.microsoft.com/office/drawing/2014/main" id="{DA68D840-5CEC-403F-8F36-B0814C788A80}"/>
              </a:ext>
            </a:extLst>
          </p:cNvPr>
          <p:cNvSpPr>
            <a:spLocks noGrp="1"/>
          </p:cNvSpPr>
          <p:nvPr/>
        </p:nvSpPr>
        <p:spPr>
          <a:xfrm>
            <a:off x="73818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LIBERTY IMPACT</a:t>
            </a:r>
          </a:p>
        </p:txBody>
      </p:sp>
      <p:sp>
        <p:nvSpPr>
          <p:cNvPr id="15" name="expanded-takeaway-45">
            <a:extLst>
              <a:ext uri="{FF2B5EF4-FFF2-40B4-BE49-F238E27FC236}">
                <a16:creationId xmlns:a16="http://schemas.microsoft.com/office/drawing/2014/main" id="{22672D6C-72D0-461E-920D-D6AD278DC53A}"/>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The COMPAS debate shows that competing fairness definitions can produce different judgments from the same scores.</a:t>
            </a:r>
          </a:p>
        </p:txBody>
      </p:sp>
      <p:sp>
        <p:nvSpPr>
          <p:cNvPr id="16" name="v2-page-mask-58">
            <a:extLst>
              <a:ext uri="{FF2B5EF4-FFF2-40B4-BE49-F238E27FC236}">
                <a16:creationId xmlns:a16="http://schemas.microsoft.com/office/drawing/2014/main" id="{DCE2F210-23F1-48AC-A241-A836802149A8}"/>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7" name="v2-page-58">
            <a:extLst>
              <a:ext uri="{FF2B5EF4-FFF2-40B4-BE49-F238E27FC236}">
                <a16:creationId xmlns:a16="http://schemas.microsoft.com/office/drawing/2014/main" id="{9DEEF406-685F-425C-8D7E-129009A463D8}"/>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58</a:t>
            </a:r>
          </a:p>
        </p:txBody>
      </p:sp>
    </p:spTree>
    <p:extLst>
      <p:ext uri="{BB962C8B-B14F-4D97-AF65-F5344CB8AC3E}">
        <p14:creationId xmlns:p14="http://schemas.microsoft.com/office/powerpoint/2010/main" val="20043849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rcRect t="27" b="27"/>
          <a:stretch>
            <a:fillRect/>
          </a:stretch>
        </p:blipFill>
        <p:spPr>
          <a:xfrm>
            <a:off x="0" y="0"/>
            <a:ext cx="12192000" cy="6858000"/>
          </a:xfrm>
          <a:prstGeom prst="rect">
            <a:avLst/>
          </a:prstGeom>
        </p:spPr>
      </p:pic>
      <p:sp>
        <p:nvSpPr>
          <p:cNvPr id="3" name="fp-body">
            <a:extLst>
              <a:ext uri="{FF2B5EF4-FFF2-40B4-BE49-F238E27FC236}">
                <a16:creationId xmlns:a16="http://schemas.microsoft.com/office/drawing/2014/main" id="{B50A528F-F2CE-CE63-A054-B9B487570E43}"/>
              </a:ext>
            </a:extLst>
          </p:cNvPr>
          <p:cNvSpPr>
            <a:spLocks noGrp="1"/>
          </p:cNvSpPr>
          <p:nvPr/>
        </p:nvSpPr>
        <p:spPr>
          <a:xfrm>
            <a:off x="286204" y="3429000"/>
            <a:ext cx="4419600" cy="542925"/>
          </a:xfrm>
          <a:prstGeom prst="rect">
            <a:avLst/>
          </a:prstGeom>
          <a:noFill/>
          <a:ln w="0">
            <a:noFill/>
            <a:prstDash val="solid"/>
          </a:ln>
        </p:spPr>
        <p:txBody>
          <a:bodyPr/>
          <a:lstStyle/>
          <a:p>
            <a:pPr>
              <a:defRPr sz="1200">
                <a:solidFill>
                  <a:srgbClr val="263442"/>
                </a:solidFill>
              </a:defRPr>
            </a:pPr>
            <a:r>
              <a:rPr sz="1200" dirty="0">
                <a:solidFill>
                  <a:srgbClr val="263442"/>
                </a:solidFill>
              </a:rPr>
              <a:t>A person is predicted to reoffend but does not. ProPublica reported this error was more common for Black defendants in its analysis.</a:t>
            </a:r>
          </a:p>
        </p:txBody>
      </p:sp>
      <p:sp>
        <p:nvSpPr>
          <p:cNvPr id="4" name="fn-body">
            <a:extLst>
              <a:ext uri="{FF2B5EF4-FFF2-40B4-BE49-F238E27FC236}">
                <a16:creationId xmlns:a16="http://schemas.microsoft.com/office/drawing/2014/main" id="{56CA3142-E409-2089-195A-9F3FDFB81717}"/>
              </a:ext>
            </a:extLst>
          </p:cNvPr>
          <p:cNvSpPr>
            <a:spLocks noGrp="1"/>
          </p:cNvSpPr>
          <p:nvPr/>
        </p:nvSpPr>
        <p:spPr>
          <a:xfrm>
            <a:off x="7772400" y="3429000"/>
            <a:ext cx="4419600" cy="542925"/>
          </a:xfrm>
          <a:prstGeom prst="rect">
            <a:avLst/>
          </a:prstGeom>
          <a:noFill/>
          <a:ln w="0">
            <a:noFill/>
            <a:prstDash val="solid"/>
          </a:ln>
        </p:spPr>
        <p:txBody>
          <a:bodyPr/>
          <a:lstStyle/>
          <a:p>
            <a:pPr>
              <a:defRPr sz="1200">
                <a:solidFill>
                  <a:srgbClr val="263442"/>
                </a:solidFill>
              </a:defRPr>
            </a:pPr>
            <a:r>
              <a:rPr sz="1200" dirty="0">
                <a:solidFill>
                  <a:srgbClr val="263442"/>
                </a:solidFill>
              </a:rPr>
              <a:t>A person is predicted not to reoffend but does. ProPublica reported this error was more common for white defendants.</a:t>
            </a:r>
          </a:p>
        </p:txBody>
      </p:sp>
      <p:sp>
        <p:nvSpPr>
          <p:cNvPr id="7" name="文本框 6">
            <a:extLst>
              <a:ext uri="{FF2B5EF4-FFF2-40B4-BE49-F238E27FC236}">
                <a16:creationId xmlns:a16="http://schemas.microsoft.com/office/drawing/2014/main" id="{FAD2A6C3-F96B-E5F3-7A81-36AA99508707}"/>
              </a:ext>
            </a:extLst>
          </p:cNvPr>
          <p:cNvSpPr txBox="1"/>
          <p:nvPr/>
        </p:nvSpPr>
        <p:spPr>
          <a:xfrm>
            <a:off x="418873" y="5241838"/>
            <a:ext cx="11354253" cy="346249"/>
          </a:xfrm>
          <a:prstGeom prst="rect">
            <a:avLst/>
          </a:prstGeom>
          <a:noFill/>
        </p:spPr>
        <p:txBody>
          <a:bodyPr wrap="square">
            <a:spAutoFit/>
          </a:bodyPr>
          <a:lstStyle/>
          <a:p>
            <a:pPr algn="ctr">
              <a:defRPr sz="1650" b="1">
                <a:solidFill>
                  <a:srgbClr val="1F3B6D"/>
                </a:solidFill>
              </a:defRPr>
            </a:pPr>
            <a:r>
              <a:rPr lang="en" altLang="zh-CN" sz="1650" b="1" dirty="0">
                <a:solidFill>
                  <a:srgbClr val="1F3B6D"/>
                </a:solidFill>
              </a:rPr>
              <a:t>Discussion: Should fairness mean equal error rates, equal calibration, equal treatment, or equal outcomes?</a:t>
            </a:r>
          </a:p>
        </p:txBody>
      </p:sp>
    </p:spTree>
    <p:extLst>
      <p:ext uri="{BB962C8B-B14F-4D97-AF65-F5344CB8AC3E}">
        <p14:creationId xmlns:p14="http://schemas.microsoft.com/office/powerpoint/2010/main" val="6009348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break-background">
            <a:extLst>
              <a:ext uri="{FF2B5EF4-FFF2-40B4-BE49-F238E27FC236}">
                <a16:creationId xmlns:a16="http://schemas.microsoft.com/office/drawing/2014/main" id="{6209033C-A4A6-4716-B1AE-5A0BCA6442E5}"/>
              </a:ext>
            </a:extLst>
          </p:cNvPr>
          <p:cNvSpPr>
            <a:spLocks noGrp="1"/>
          </p:cNvSpPr>
          <p:nvPr/>
        </p:nvSpPr>
        <p:spPr>
          <a:xfrm>
            <a:off x="0" y="0"/>
            <a:ext cx="12192000" cy="6858000"/>
          </a:xfrm>
          <a:prstGeom prst="rect">
            <a:avLst/>
          </a:prstGeom>
          <a:solidFill>
            <a:srgbClr val="F7FAFD"/>
          </a:solidFill>
          <a:ln w="0">
            <a:solidFill>
              <a:srgbClr val="F7FAFD"/>
            </a:solidFill>
            <a:prstDash val="solid"/>
          </a:ln>
        </p:spPr>
        <p:txBody>
          <a:bodyPr/>
          <a:lstStyle/>
          <a:p>
            <a:endParaRPr lang="zh-CN" altLang="en-US"/>
          </a:p>
        </p:txBody>
      </p:sp>
      <p:sp>
        <p:nvSpPr>
          <p:cNvPr id="2" name="break-left">
            <a:extLst>
              <a:ext uri="{FF2B5EF4-FFF2-40B4-BE49-F238E27FC236}">
                <a16:creationId xmlns:a16="http://schemas.microsoft.com/office/drawing/2014/main" id="{8B065595-87DC-463D-905E-495486571B52}"/>
              </a:ext>
            </a:extLst>
          </p:cNvPr>
          <p:cNvSpPr>
            <a:spLocks noGrp="1"/>
          </p:cNvSpPr>
          <p:nvPr/>
        </p:nvSpPr>
        <p:spPr>
          <a:xfrm>
            <a:off x="0" y="0"/>
            <a:ext cx="247650" cy="6858000"/>
          </a:xfrm>
          <a:prstGeom prst="rect">
            <a:avLst/>
          </a:prstGeom>
          <a:solidFill>
            <a:srgbClr val="1F3B6D"/>
          </a:solidFill>
          <a:ln w="0">
            <a:solidFill>
              <a:srgbClr val="1F3B6D"/>
            </a:solidFill>
            <a:prstDash val="solid"/>
          </a:ln>
        </p:spPr>
        <p:txBody>
          <a:bodyPr/>
          <a:lstStyle/>
          <a:p>
            <a:endParaRPr lang="zh-CN" altLang="en-US"/>
          </a:p>
        </p:txBody>
      </p:sp>
      <p:sp>
        <p:nvSpPr>
          <p:cNvPr id="3" name="break-kicker">
            <a:extLst>
              <a:ext uri="{FF2B5EF4-FFF2-40B4-BE49-F238E27FC236}">
                <a16:creationId xmlns:a16="http://schemas.microsoft.com/office/drawing/2014/main" id="{66DDF964-D8CD-4271-BCE9-A87E3EBDD793}"/>
              </a:ext>
            </a:extLst>
          </p:cNvPr>
          <p:cNvSpPr>
            <a:spLocks noGrp="1"/>
          </p:cNvSpPr>
          <p:nvPr/>
        </p:nvSpPr>
        <p:spPr>
          <a:xfrm>
            <a:off x="1047750" y="1428750"/>
            <a:ext cx="5715000" cy="304800"/>
          </a:xfrm>
          <a:prstGeom prst="rect">
            <a:avLst/>
          </a:prstGeom>
          <a:noFill/>
          <a:ln w="0">
            <a:noFill/>
            <a:prstDash val="solid"/>
          </a:ln>
        </p:spPr>
        <p:txBody>
          <a:bodyPr/>
          <a:lstStyle/>
          <a:p>
            <a:pPr>
              <a:defRPr sz="1350" b="1">
                <a:solidFill>
                  <a:srgbClr val="2D78B9"/>
                </a:solidFill>
              </a:defRPr>
            </a:pPr>
            <a:r>
              <a:rPr sz="1350" b="1">
                <a:solidFill>
                  <a:srgbClr val="2D78B9"/>
                </a:solidFill>
              </a:rPr>
              <a:t>MAIE 5103  ·  LECTURE 1</a:t>
            </a:r>
          </a:p>
        </p:txBody>
      </p:sp>
      <p:sp>
        <p:nvSpPr>
          <p:cNvPr id="4" name="break-title">
            <a:extLst>
              <a:ext uri="{FF2B5EF4-FFF2-40B4-BE49-F238E27FC236}">
                <a16:creationId xmlns:a16="http://schemas.microsoft.com/office/drawing/2014/main" id="{BB7D4DCB-9E82-471C-BE17-E6E611CB3959}"/>
              </a:ext>
            </a:extLst>
          </p:cNvPr>
          <p:cNvSpPr>
            <a:spLocks noGrp="1"/>
          </p:cNvSpPr>
          <p:nvPr/>
        </p:nvSpPr>
        <p:spPr>
          <a:xfrm>
            <a:off x="1028700" y="1952625"/>
            <a:ext cx="7620000" cy="904875"/>
          </a:xfrm>
          <a:prstGeom prst="rect">
            <a:avLst/>
          </a:prstGeom>
          <a:noFill/>
          <a:ln w="0">
            <a:noFill/>
            <a:prstDash val="solid"/>
          </a:ln>
        </p:spPr>
        <p:txBody>
          <a:bodyPr/>
          <a:lstStyle/>
          <a:p>
            <a:pPr>
              <a:defRPr sz="4350" b="1">
                <a:solidFill>
                  <a:srgbClr val="1F3B6D"/>
                </a:solidFill>
              </a:defRPr>
            </a:pPr>
            <a:r>
              <a:rPr sz="4350" b="1">
                <a:solidFill>
                  <a:srgbClr val="1F3B6D"/>
                </a:solidFill>
              </a:rPr>
              <a:t>Break 2</a:t>
            </a:r>
          </a:p>
        </p:txBody>
      </p:sp>
      <p:sp>
        <p:nvSpPr>
          <p:cNvPr id="5" name="break-rule">
            <a:extLst>
              <a:ext uri="{FF2B5EF4-FFF2-40B4-BE49-F238E27FC236}">
                <a16:creationId xmlns:a16="http://schemas.microsoft.com/office/drawing/2014/main" id="{18A894B9-7A51-4765-BF17-722CC9075F92}"/>
              </a:ext>
            </a:extLst>
          </p:cNvPr>
          <p:cNvSpPr>
            <a:spLocks noGrp="1"/>
          </p:cNvSpPr>
          <p:nvPr/>
        </p:nvSpPr>
        <p:spPr>
          <a:xfrm>
            <a:off x="1047750" y="3048000"/>
            <a:ext cx="3143250" cy="47625"/>
          </a:xfrm>
          <a:prstGeom prst="rect">
            <a:avLst/>
          </a:prstGeom>
          <a:solidFill>
            <a:srgbClr val="1F3B6D"/>
          </a:solidFill>
          <a:ln w="0">
            <a:solidFill>
              <a:srgbClr val="1F3B6D"/>
            </a:solidFill>
            <a:prstDash val="solid"/>
          </a:ln>
        </p:spPr>
        <p:txBody>
          <a:bodyPr/>
          <a:lstStyle/>
          <a:p>
            <a:endParaRPr lang="zh-CN" altLang="en-US"/>
          </a:p>
        </p:txBody>
      </p:sp>
      <p:sp>
        <p:nvSpPr>
          <p:cNvPr id="6" name="break-prompt">
            <a:extLst>
              <a:ext uri="{FF2B5EF4-FFF2-40B4-BE49-F238E27FC236}">
                <a16:creationId xmlns:a16="http://schemas.microsoft.com/office/drawing/2014/main" id="{14DACE2F-E878-4931-B786-3DE23BA997A2}"/>
              </a:ext>
            </a:extLst>
          </p:cNvPr>
          <p:cNvSpPr>
            <a:spLocks noGrp="1"/>
          </p:cNvSpPr>
          <p:nvPr/>
        </p:nvSpPr>
        <p:spPr>
          <a:xfrm>
            <a:off x="1047750" y="3476625"/>
            <a:ext cx="9429750" cy="952500"/>
          </a:xfrm>
          <a:prstGeom prst="rect">
            <a:avLst/>
          </a:prstGeom>
          <a:noFill/>
          <a:ln w="0">
            <a:noFill/>
            <a:prstDash val="solid"/>
          </a:ln>
        </p:spPr>
        <p:txBody>
          <a:bodyPr/>
          <a:lstStyle/>
          <a:p>
            <a:pPr>
              <a:defRPr sz="1875" i="1">
                <a:solidFill>
                  <a:srgbClr val="5B6670"/>
                </a:solidFill>
              </a:defRPr>
            </a:pPr>
            <a:r>
              <a:rPr sz="1875" i="1">
                <a:solidFill>
                  <a:srgbClr val="5B6670"/>
                </a:solidFill>
              </a:rPr>
              <a:t>Return question: Which AI ethics issue is hardest to govern—and what makes it difficult?</a:t>
            </a:r>
          </a:p>
        </p:txBody>
      </p:sp>
      <p:sp>
        <p:nvSpPr>
          <p:cNvPr id="7" name="break-time">
            <a:extLst>
              <a:ext uri="{FF2B5EF4-FFF2-40B4-BE49-F238E27FC236}">
                <a16:creationId xmlns:a16="http://schemas.microsoft.com/office/drawing/2014/main" id="{9881F21B-03AB-42A3-8D92-0EE887DB7EE0}"/>
              </a:ext>
            </a:extLst>
          </p:cNvPr>
          <p:cNvSpPr>
            <a:spLocks noGrp="1"/>
          </p:cNvSpPr>
          <p:nvPr/>
        </p:nvSpPr>
        <p:spPr>
          <a:xfrm>
            <a:off x="8858250" y="4953000"/>
            <a:ext cx="2286000" cy="666750"/>
          </a:xfrm>
          <a:prstGeom prst="roundRect">
            <a:avLst>
              <a:gd name="adj" fmla="val 11429"/>
            </a:avLst>
          </a:prstGeom>
          <a:solidFill>
            <a:srgbClr val="EAF3FB"/>
          </a:solidFill>
          <a:ln w="9525">
            <a:solidFill>
              <a:srgbClr val="B9D7EF"/>
            </a:solidFill>
            <a:prstDash val="solid"/>
          </a:ln>
        </p:spPr>
        <p:txBody>
          <a:bodyPr anchor="ctr"/>
          <a:lstStyle/>
          <a:p>
            <a:pPr algn="ctr">
              <a:defRPr sz="1650" b="1">
                <a:solidFill>
                  <a:srgbClr val="2D78B9"/>
                </a:solidFill>
              </a:defRPr>
            </a:pPr>
            <a:r>
              <a:rPr sz="1650" b="1">
                <a:solidFill>
                  <a:srgbClr val="2D78B9"/>
                </a:solidFill>
              </a:rPr>
              <a:t>15–20 MINUTES</a:t>
            </a:r>
          </a:p>
        </p:txBody>
      </p:sp>
      <p:sp>
        <p:nvSpPr>
          <p:cNvPr id="8" name="v2-footer">
            <a:extLst>
              <a:ext uri="{FF2B5EF4-FFF2-40B4-BE49-F238E27FC236}">
                <a16:creationId xmlns:a16="http://schemas.microsoft.com/office/drawing/2014/main" id="{C5FDBEC0-80EF-46B2-A595-E0FAF64BE5B5}"/>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sp>
        <p:nvSpPr>
          <p:cNvPr id="9" name="v2-page-mask-48">
            <a:extLst>
              <a:ext uri="{FF2B5EF4-FFF2-40B4-BE49-F238E27FC236}">
                <a16:creationId xmlns:a16="http://schemas.microsoft.com/office/drawing/2014/main" id="{366A0CA4-91BD-40ED-89F8-30E5760FE547}"/>
              </a:ext>
            </a:extLst>
          </p:cNvPr>
          <p:cNvSpPr>
            <a:spLocks noGrp="1"/>
          </p:cNvSpPr>
          <p:nvPr/>
        </p:nvSpPr>
        <p:spPr>
          <a:xfrm>
            <a:off x="11049000" y="6267450"/>
            <a:ext cx="904875" cy="457200"/>
          </a:xfrm>
          <a:prstGeom prst="rect">
            <a:avLst/>
          </a:prstGeom>
          <a:solidFill>
            <a:srgbClr val="F7FAFD"/>
          </a:solidFill>
          <a:ln w="0">
            <a:solidFill>
              <a:srgbClr val="F7FAFD"/>
            </a:solidFill>
            <a:prstDash val="solid"/>
          </a:ln>
        </p:spPr>
        <p:txBody>
          <a:bodyPr/>
          <a:lstStyle/>
          <a:p>
            <a:endParaRPr lang="zh-CN" altLang="en-US"/>
          </a:p>
        </p:txBody>
      </p:sp>
      <p:sp>
        <p:nvSpPr>
          <p:cNvPr id="10" name="v2-page-48">
            <a:extLst>
              <a:ext uri="{FF2B5EF4-FFF2-40B4-BE49-F238E27FC236}">
                <a16:creationId xmlns:a16="http://schemas.microsoft.com/office/drawing/2014/main" id="{51EC754F-E4C8-46B1-A3F1-BE42D67A6C0D}"/>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48</a:t>
            </a:r>
          </a:p>
        </p:txBody>
      </p:sp>
    </p:spTree>
    <p:extLst>
      <p:ext uri="{BB962C8B-B14F-4D97-AF65-F5344CB8AC3E}">
        <p14:creationId xmlns:p14="http://schemas.microsoft.com/office/powerpoint/2010/main" val="5090150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34A4128-8594-4AFF-A1EC-E95A9696625D}"/>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D3712AFD-D105-4572-88C7-2208ABE9AF8B}"/>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62388C6-5720-4167-AC23-40C3CBBDF67C}"/>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Case 2: Scoring the Poor</a:t>
            </a:r>
          </a:p>
        </p:txBody>
      </p:sp>
      <p:sp>
        <p:nvSpPr>
          <p:cNvPr id="5" name="Rectangle 4">
            <a:extLst>
              <a:ext uri="{FF2B5EF4-FFF2-40B4-BE49-F238E27FC236}">
                <a16:creationId xmlns:a16="http://schemas.microsoft.com/office/drawing/2014/main" id="{7ACF53C1-BD09-42A0-89AF-FA8AFB486DBD}"/>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92F7722-13BD-43AD-94EC-1FB302B1DCE9}"/>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The “digital poorhouse” (Eubanks, 2018).</a:t>
            </a:r>
          </a:p>
        </p:txBody>
      </p:sp>
      <p:sp>
        <p:nvSpPr>
          <p:cNvPr id="7" name="TextBox 6">
            <a:extLst>
              <a:ext uri="{FF2B5EF4-FFF2-40B4-BE49-F238E27FC236}">
                <a16:creationId xmlns:a16="http://schemas.microsoft.com/office/drawing/2014/main" id="{76D3A71A-2C4C-471D-B23F-509E9541BC15}"/>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A4CE9461-60FD-405D-89D3-D5EDF76676A6}"/>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46</a:t>
            </a:r>
          </a:p>
        </p:txBody>
      </p:sp>
      <p:sp>
        <p:nvSpPr>
          <p:cNvPr id="9" name="TextBox 8">
            <a:extLst>
              <a:ext uri="{FF2B5EF4-FFF2-40B4-BE49-F238E27FC236}">
                <a16:creationId xmlns:a16="http://schemas.microsoft.com/office/drawing/2014/main" id="{2BFAAE41-1FE2-4553-A170-FC0441772397}"/>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Three systems that </a:t>
            </a:r>
            <a:r>
              <a:rPr sz="1600" b="1" i="0" u="sng">
                <a:solidFill>
                  <a:srgbClr val="262626"/>
                </a:solidFill>
                <a:latin typeface="Calibri"/>
                <a:ea typeface="Calibri"/>
                <a:cs typeface="Calibri"/>
              </a:rPr>
              <a:t>profile, police, and punish the poor</a:t>
            </a:r>
            <a:r>
              <a:rPr sz="1600" b="0" i="0" u="none">
                <a:solidFill>
                  <a:srgbClr val="262626"/>
                </a:solidFill>
                <a:latin typeface="Calibri"/>
                <a:ea typeface="Calibri"/>
                <a:cs typeface="Calibri"/>
              </a:rPr>
              <a:t>:</a:t>
            </a:r>
          </a:p>
          <a:p>
            <a:pPr marL="5143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IN welfare-eligibility automation — benefits denied en masse.</a:t>
            </a:r>
          </a:p>
          <a:p>
            <a:pPr marL="5143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Allegheny County child-welfare predictive-risk model.</a:t>
            </a:r>
          </a:p>
          <a:p>
            <a:pPr marL="514350" indent="-285750" algn="l">
              <a:lnSpc>
                <a:spcPct val="116000"/>
              </a:lnSpc>
              <a:spcBef>
                <a:spcPts val="0"/>
              </a:spcBef>
              <a:spcAft>
                <a:spcPts val="700"/>
              </a:spcAft>
              <a:buClr>
                <a:srgbClr val="2E75B6"/>
              </a:buClr>
              <a:buSzPct val="100000"/>
              <a:buFont typeface="Arial"/>
              <a:buChar char="•"/>
            </a:pPr>
            <a:r>
              <a:rPr sz="1500" b="0" i="0" u="none">
                <a:solidFill>
                  <a:srgbClr val="262626"/>
                </a:solidFill>
                <a:latin typeface="Calibri"/>
                <a:ea typeface="Calibri"/>
                <a:cs typeface="Calibri"/>
              </a:rPr>
              <a:t>LA coordinated-entry system for homelessness triage.</a:t>
            </a:r>
          </a:p>
          <a:p>
            <a:pPr marL="285750" indent="-285750" algn="l">
              <a:lnSpc>
                <a:spcPct val="116000"/>
              </a:lnSpc>
              <a:spcBef>
                <a:spcPts val="400"/>
              </a:spcBef>
              <a:spcAft>
                <a:spcPts val="700"/>
              </a:spcAft>
              <a:buClr>
                <a:srgbClr val="2E75B6"/>
              </a:buClr>
              <a:buSzPct val="100000"/>
              <a:buFont typeface="Arial"/>
              <a:buChar char="•"/>
            </a:pPr>
            <a:r>
              <a:rPr sz="1600" b="1" i="0" u="none">
                <a:solidFill>
                  <a:srgbClr val="1F3864"/>
                </a:solidFill>
                <a:latin typeface="Calibri"/>
                <a:ea typeface="Calibri"/>
                <a:cs typeface="Calibri"/>
              </a:rPr>
              <a:t>Patterns: </a:t>
            </a:r>
            <a:r>
              <a:rPr sz="1600" b="0" i="0" u="none">
                <a:solidFill>
                  <a:srgbClr val="262626"/>
                </a:solidFill>
                <a:latin typeface="Calibri"/>
                <a:ea typeface="Calibri"/>
                <a:cs typeface="Calibri"/>
              </a:rPr>
              <a:t>proxies for poverty; little transparency or recourse; </a:t>
            </a:r>
            <a:r>
              <a:rPr sz="1600" b="0" i="0" u="sng">
                <a:solidFill>
                  <a:srgbClr val="262626"/>
                </a:solidFill>
                <a:latin typeface="Calibri"/>
                <a:ea typeface="Calibri"/>
                <a:cs typeface="Calibri"/>
              </a:rPr>
              <a:t>automation of austerity</a:t>
            </a:r>
            <a:r>
              <a:rPr sz="1600" b="0" i="0" u="none">
                <a:solidFill>
                  <a:srgbClr val="262626"/>
                </a:solidFill>
                <a:latin typeface="Calibri"/>
                <a:ea typeface="Calibri"/>
                <a:cs typeface="Calibri"/>
              </a:rPr>
              <a:t>.</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Lesson: </a:t>
            </a:r>
            <a:r>
              <a:rPr sz="1600" b="0" i="0" u="none">
                <a:solidFill>
                  <a:srgbClr val="262626"/>
                </a:solidFill>
                <a:latin typeface="Calibri"/>
                <a:ea typeface="Calibri"/>
                <a:cs typeface="Calibri"/>
              </a:rPr>
              <a:t>the most vulnerable bear the most opaque, punitive AI.</a:t>
            </a:r>
          </a:p>
        </p:txBody>
      </p:sp>
      <p:sp>
        <p:nvSpPr>
          <p:cNvPr id="10" name="expanded-arrow-46-1">
            <a:extLst>
              <a:ext uri="{FF2B5EF4-FFF2-40B4-BE49-F238E27FC236}">
                <a16:creationId xmlns:a16="http://schemas.microsoft.com/office/drawing/2014/main" id="{F51D159F-663E-4013-9297-46255532589F}"/>
              </a:ext>
            </a:extLst>
          </p:cNvPr>
          <p:cNvSpPr>
            <a:spLocks noGrp="1"/>
          </p:cNvSpPr>
          <p:nvPr/>
        </p:nvSpPr>
        <p:spPr>
          <a:xfrm>
            <a:off x="4772025" y="4872038"/>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46-2">
            <a:extLst>
              <a:ext uri="{FF2B5EF4-FFF2-40B4-BE49-F238E27FC236}">
                <a16:creationId xmlns:a16="http://schemas.microsoft.com/office/drawing/2014/main" id="{45980B71-8257-46C7-B65A-011BD15210F3}"/>
              </a:ext>
            </a:extLst>
          </p:cNvPr>
          <p:cNvSpPr>
            <a:spLocks noGrp="1"/>
          </p:cNvSpPr>
          <p:nvPr/>
        </p:nvSpPr>
        <p:spPr>
          <a:xfrm>
            <a:off x="7153275" y="4872038"/>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node-46-1">
            <a:extLst>
              <a:ext uri="{FF2B5EF4-FFF2-40B4-BE49-F238E27FC236}">
                <a16:creationId xmlns:a16="http://schemas.microsoft.com/office/drawing/2014/main" id="{08E5F234-F954-4CAA-BB91-647267287574}"/>
              </a:ext>
            </a:extLst>
          </p:cNvPr>
          <p:cNvSpPr>
            <a:spLocks noGrp="1"/>
          </p:cNvSpPr>
          <p:nvPr/>
        </p:nvSpPr>
        <p:spPr>
          <a:xfrm>
            <a:off x="26193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APPLICATION</a:t>
            </a:r>
          </a:p>
        </p:txBody>
      </p:sp>
      <p:sp>
        <p:nvSpPr>
          <p:cNvPr id="13" name="expanded-node-46-2">
            <a:extLst>
              <a:ext uri="{FF2B5EF4-FFF2-40B4-BE49-F238E27FC236}">
                <a16:creationId xmlns:a16="http://schemas.microsoft.com/office/drawing/2014/main" id="{C65E51DC-A49C-4FD7-920C-564E03C55445}"/>
              </a:ext>
            </a:extLst>
          </p:cNvPr>
          <p:cNvSpPr>
            <a:spLocks noGrp="1"/>
          </p:cNvSpPr>
          <p:nvPr/>
        </p:nvSpPr>
        <p:spPr>
          <a:xfrm>
            <a:off x="5000625"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AUTOMATED GATE</a:t>
            </a:r>
          </a:p>
        </p:txBody>
      </p:sp>
      <p:sp>
        <p:nvSpPr>
          <p:cNvPr id="14" name="expanded-node-46-3">
            <a:extLst>
              <a:ext uri="{FF2B5EF4-FFF2-40B4-BE49-F238E27FC236}">
                <a16:creationId xmlns:a16="http://schemas.microsoft.com/office/drawing/2014/main" id="{0A760A0D-0ADB-4E27-8315-674D9D1977A6}"/>
              </a:ext>
            </a:extLst>
          </p:cNvPr>
          <p:cNvSpPr>
            <a:spLocks noGrp="1"/>
          </p:cNvSpPr>
          <p:nvPr/>
        </p:nvSpPr>
        <p:spPr>
          <a:xfrm>
            <a:off x="73818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APPEAL</a:t>
            </a:r>
          </a:p>
        </p:txBody>
      </p:sp>
      <p:sp>
        <p:nvSpPr>
          <p:cNvPr id="15" name="expanded-takeaway-46">
            <a:extLst>
              <a:ext uri="{FF2B5EF4-FFF2-40B4-BE49-F238E27FC236}">
                <a16:creationId xmlns:a16="http://schemas.microsoft.com/office/drawing/2014/main" id="{E2C4D1B0-17AB-4BBA-A508-8ABF458EC86D}"/>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Automation can scale administrative burden and denial when notice, human review, and appeal are weak.</a:t>
            </a:r>
          </a:p>
        </p:txBody>
      </p:sp>
      <p:sp>
        <p:nvSpPr>
          <p:cNvPr id="16" name="v2-page-mask-60">
            <a:extLst>
              <a:ext uri="{FF2B5EF4-FFF2-40B4-BE49-F238E27FC236}">
                <a16:creationId xmlns:a16="http://schemas.microsoft.com/office/drawing/2014/main" id="{1A49A2E9-D0C0-4598-ADE9-A0C5BAE8CC12}"/>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7" name="v2-page-60">
            <a:extLst>
              <a:ext uri="{FF2B5EF4-FFF2-40B4-BE49-F238E27FC236}">
                <a16:creationId xmlns:a16="http://schemas.microsoft.com/office/drawing/2014/main" id="{6DBC0B5D-2B56-429B-A109-8B77F8E53FF7}"/>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60</a:t>
            </a:r>
          </a:p>
        </p:txBody>
      </p:sp>
    </p:spTree>
    <p:extLst>
      <p:ext uri="{BB962C8B-B14F-4D97-AF65-F5344CB8AC3E}">
        <p14:creationId xmlns:p14="http://schemas.microsoft.com/office/powerpoint/2010/main" val="146630535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55B854D-FAA2-4422-945C-7290522BE6AD}"/>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12019846-D0EC-40B6-8881-C39AA32878A0}"/>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39154D66-C8C8-4915-89B9-65918BD99DE7}"/>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Case 3: WMDs in Hiring, Credit &amp; Insurance</a:t>
            </a:r>
          </a:p>
        </p:txBody>
      </p:sp>
      <p:sp>
        <p:nvSpPr>
          <p:cNvPr id="5" name="Rectangle 4">
            <a:extLst>
              <a:ext uri="{FF2B5EF4-FFF2-40B4-BE49-F238E27FC236}">
                <a16:creationId xmlns:a16="http://schemas.microsoft.com/office/drawing/2014/main" id="{E853FFE4-6F71-4FCD-8BB0-0404A9BDA4F9}"/>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13FDDCFB-8235-40CF-81A8-A3E3AE043553}"/>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Three O’Neil cases.</a:t>
            </a:r>
          </a:p>
        </p:txBody>
      </p:sp>
      <p:sp>
        <p:nvSpPr>
          <p:cNvPr id="7" name="TextBox 6">
            <a:extLst>
              <a:ext uri="{FF2B5EF4-FFF2-40B4-BE49-F238E27FC236}">
                <a16:creationId xmlns:a16="http://schemas.microsoft.com/office/drawing/2014/main" id="{C2F8770E-2793-4F6A-8FB6-6B581D06502F}"/>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848F27E8-637B-42DA-BAAA-70499C9192B9}"/>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47</a:t>
            </a:r>
          </a:p>
        </p:txBody>
      </p:sp>
      <p:sp>
        <p:nvSpPr>
          <p:cNvPr id="9" name="TextBox 8">
            <a:extLst>
              <a:ext uri="{FF2B5EF4-FFF2-40B4-BE49-F238E27FC236}">
                <a16:creationId xmlns:a16="http://schemas.microsoft.com/office/drawing/2014/main" id="{12F9E9F0-56EC-4BD7-B7F9-1BFE08674CFB}"/>
              </a:ext>
            </a:extLst>
          </p:cNvPr>
          <p:cNvSpPr>
            <a:spLocks noGrp="1"/>
          </p:cNvSpPr>
          <p:nvPr/>
        </p:nvSpPr>
        <p:spPr>
          <a:xfrm>
            <a:off x="896112" y="1554480"/>
            <a:ext cx="3429000" cy="4572000"/>
          </a:xfrm>
          <a:prstGeom prst="rect">
            <a:avLst/>
          </a:prstGeom>
          <a:noFill/>
        </p:spPr>
        <p:txBody>
          <a:bodyPr wrap="square" anchor="t">
            <a:spAutoFit/>
          </a:bodyPr>
          <a:lstStyle/>
          <a:p>
            <a:pPr marL="285750" indent="0" algn="l">
              <a:lnSpc>
                <a:spcPct val="116000"/>
              </a:lnSpc>
              <a:spcBef>
                <a:spcPts val="0"/>
              </a:spcBef>
              <a:spcAft>
                <a:spcPts val="400"/>
              </a:spcAft>
              <a:buNone/>
            </a:pPr>
            <a:r>
              <a:rPr sz="1700" b="1" i="0" u="none">
                <a:solidFill>
                  <a:srgbClr val="1F3864"/>
                </a:solidFill>
                <a:latin typeface="Calibri"/>
                <a:ea typeface="Calibri"/>
                <a:cs typeface="Calibri"/>
              </a:rPr>
              <a:t>Hiring</a:t>
            </a:r>
          </a:p>
          <a:p>
            <a:pPr marL="285750" indent="-285750" algn="l">
              <a:lnSpc>
                <a:spcPct val="116000"/>
              </a:lnSpc>
              <a:spcBef>
                <a:spcPts val="0"/>
              </a:spcBef>
              <a:spcAft>
                <a:spcPts val="700"/>
              </a:spcAft>
              <a:buClr>
                <a:srgbClr val="2E75B6"/>
              </a:buClr>
              <a:buSzPct val="100000"/>
              <a:buFont typeface="Arial"/>
              <a:buChar char="•"/>
            </a:pPr>
            <a:r>
              <a:rPr sz="1400" b="0" i="0" u="none">
                <a:solidFill>
                  <a:srgbClr val="262626"/>
                </a:solidFill>
                <a:latin typeface="Calibri"/>
                <a:ea typeface="Calibri"/>
                <a:cs typeface="Calibri"/>
              </a:rPr>
              <a:t>Resumé-screening models learn biased proxies (e.g., gendered terms).</a:t>
            </a:r>
          </a:p>
          <a:p>
            <a:pPr marL="285750" indent="-285750" algn="l">
              <a:lnSpc>
                <a:spcPct val="116000"/>
              </a:lnSpc>
              <a:spcBef>
                <a:spcPts val="0"/>
              </a:spcBef>
              <a:spcAft>
                <a:spcPts val="700"/>
              </a:spcAft>
              <a:buClr>
                <a:srgbClr val="2E75B6"/>
              </a:buClr>
              <a:buSzPct val="100000"/>
              <a:buFont typeface="Arial"/>
              <a:buChar char="•"/>
            </a:pPr>
            <a:r>
              <a:rPr sz="1300" b="0" i="1" u="none">
                <a:solidFill>
                  <a:srgbClr val="595959"/>
                </a:solidFill>
                <a:latin typeface="Calibri"/>
                <a:ea typeface="Calibri"/>
                <a:cs typeface="Calibri"/>
              </a:rPr>
              <a:t>Opaque + scaled + damaging.</a:t>
            </a:r>
          </a:p>
        </p:txBody>
      </p:sp>
      <p:sp>
        <p:nvSpPr>
          <p:cNvPr id="10" name="TextBox 9">
            <a:extLst>
              <a:ext uri="{FF2B5EF4-FFF2-40B4-BE49-F238E27FC236}">
                <a16:creationId xmlns:a16="http://schemas.microsoft.com/office/drawing/2014/main" id="{D5CDAD90-9225-4D6E-BF79-18A34A4AE95E}"/>
              </a:ext>
            </a:extLst>
          </p:cNvPr>
          <p:cNvSpPr>
            <a:spLocks noGrp="1"/>
          </p:cNvSpPr>
          <p:nvPr/>
        </p:nvSpPr>
        <p:spPr>
          <a:xfrm>
            <a:off x="4434840" y="1554480"/>
            <a:ext cx="3429000" cy="4572000"/>
          </a:xfrm>
          <a:prstGeom prst="rect">
            <a:avLst/>
          </a:prstGeom>
          <a:noFill/>
        </p:spPr>
        <p:txBody>
          <a:bodyPr wrap="square" anchor="t">
            <a:spAutoFit/>
          </a:bodyPr>
          <a:lstStyle/>
          <a:p>
            <a:pPr marL="285750" indent="0" algn="l">
              <a:lnSpc>
                <a:spcPct val="116000"/>
              </a:lnSpc>
              <a:spcBef>
                <a:spcPts val="0"/>
              </a:spcBef>
              <a:spcAft>
                <a:spcPts val="400"/>
              </a:spcAft>
              <a:buNone/>
            </a:pPr>
            <a:r>
              <a:rPr sz="1700" b="1" i="0" u="none">
                <a:solidFill>
                  <a:srgbClr val="1F3864"/>
                </a:solidFill>
                <a:latin typeface="Calibri"/>
                <a:ea typeface="Calibri"/>
                <a:cs typeface="Calibri"/>
              </a:rPr>
              <a:t>Credit &amp; insurance</a:t>
            </a:r>
          </a:p>
          <a:p>
            <a:pPr marL="285750" indent="-285750" algn="l">
              <a:lnSpc>
                <a:spcPct val="116000"/>
              </a:lnSpc>
              <a:spcBef>
                <a:spcPts val="0"/>
              </a:spcBef>
              <a:spcAft>
                <a:spcPts val="700"/>
              </a:spcAft>
              <a:buClr>
                <a:srgbClr val="2E75B6"/>
              </a:buClr>
              <a:buSzPct val="100000"/>
              <a:buFont typeface="Arial"/>
              <a:buChar char="•"/>
            </a:pPr>
            <a:r>
              <a:rPr sz="1400" b="0" i="0" u="none">
                <a:solidFill>
                  <a:srgbClr val="262626"/>
                </a:solidFill>
                <a:latin typeface="Calibri"/>
                <a:ea typeface="Calibri"/>
                <a:cs typeface="Calibri"/>
              </a:rPr>
              <a:t>Zip code as a proxy for race / risk; opaque pricing.</a:t>
            </a:r>
          </a:p>
          <a:p>
            <a:pPr marL="285750" indent="-285750" algn="l">
              <a:lnSpc>
                <a:spcPct val="116000"/>
              </a:lnSpc>
              <a:spcBef>
                <a:spcPts val="0"/>
              </a:spcBef>
              <a:spcAft>
                <a:spcPts val="700"/>
              </a:spcAft>
              <a:buClr>
                <a:srgbClr val="2E75B6"/>
              </a:buClr>
              <a:buSzPct val="100000"/>
              <a:buFont typeface="Arial"/>
              <a:buChar char="•"/>
            </a:pPr>
            <a:r>
              <a:rPr sz="1300" b="0" i="1" u="none">
                <a:solidFill>
                  <a:srgbClr val="595959"/>
                </a:solidFill>
                <a:latin typeface="Calibri"/>
                <a:ea typeface="Calibri"/>
                <a:cs typeface="Calibri"/>
              </a:rPr>
              <a:t>Opaque + scaled + damaging.</a:t>
            </a:r>
          </a:p>
        </p:txBody>
      </p:sp>
      <p:sp>
        <p:nvSpPr>
          <p:cNvPr id="11" name="TextBox 10">
            <a:extLst>
              <a:ext uri="{FF2B5EF4-FFF2-40B4-BE49-F238E27FC236}">
                <a16:creationId xmlns:a16="http://schemas.microsoft.com/office/drawing/2014/main" id="{1E36917B-C074-4105-8F71-8286CFD9FD8F}"/>
              </a:ext>
            </a:extLst>
          </p:cNvPr>
          <p:cNvSpPr>
            <a:spLocks noGrp="1"/>
          </p:cNvSpPr>
          <p:nvPr/>
        </p:nvSpPr>
        <p:spPr>
          <a:xfrm>
            <a:off x="7973568" y="1554480"/>
            <a:ext cx="3429000" cy="4572000"/>
          </a:xfrm>
          <a:prstGeom prst="rect">
            <a:avLst/>
          </a:prstGeom>
          <a:noFill/>
        </p:spPr>
        <p:txBody>
          <a:bodyPr wrap="square" anchor="t">
            <a:spAutoFit/>
          </a:bodyPr>
          <a:lstStyle/>
          <a:p>
            <a:pPr marL="285750" indent="0" algn="l">
              <a:lnSpc>
                <a:spcPct val="116000"/>
              </a:lnSpc>
              <a:spcBef>
                <a:spcPts val="0"/>
              </a:spcBef>
              <a:spcAft>
                <a:spcPts val="400"/>
              </a:spcAft>
              <a:buNone/>
            </a:pPr>
            <a:r>
              <a:rPr sz="1700" b="1" i="0" u="none">
                <a:solidFill>
                  <a:srgbClr val="1F3864"/>
                </a:solidFill>
                <a:latin typeface="Calibri"/>
                <a:ea typeface="Calibri"/>
                <a:cs typeface="Calibri"/>
              </a:rPr>
              <a:t>Teacher eval</a:t>
            </a:r>
          </a:p>
          <a:p>
            <a:pPr marL="285750" indent="-285750" algn="l">
              <a:lnSpc>
                <a:spcPct val="116000"/>
              </a:lnSpc>
              <a:spcBef>
                <a:spcPts val="0"/>
              </a:spcBef>
              <a:spcAft>
                <a:spcPts val="700"/>
              </a:spcAft>
              <a:buClr>
                <a:srgbClr val="2E75B6"/>
              </a:buClr>
              <a:buSzPct val="100000"/>
              <a:buFont typeface="Arial"/>
              <a:buChar char="•"/>
            </a:pPr>
            <a:r>
              <a:rPr sz="1400" b="0" i="0" u="none">
                <a:solidFill>
                  <a:srgbClr val="262626"/>
                </a:solidFill>
                <a:latin typeface="Calibri"/>
                <a:ea typeface="Calibri"/>
                <a:cs typeface="Calibri"/>
              </a:rPr>
              <a:t>Value-Added Models punish teachers for factors beyond their control.</a:t>
            </a:r>
          </a:p>
          <a:p>
            <a:pPr marL="285750" indent="-285750" algn="l">
              <a:lnSpc>
                <a:spcPct val="116000"/>
              </a:lnSpc>
              <a:spcBef>
                <a:spcPts val="0"/>
              </a:spcBef>
              <a:spcAft>
                <a:spcPts val="700"/>
              </a:spcAft>
              <a:buClr>
                <a:srgbClr val="2E75B6"/>
              </a:buClr>
              <a:buSzPct val="100000"/>
              <a:buFont typeface="Arial"/>
              <a:buChar char="•"/>
            </a:pPr>
            <a:r>
              <a:rPr sz="1300" b="0" i="1" u="none">
                <a:solidFill>
                  <a:srgbClr val="595959"/>
                </a:solidFill>
                <a:latin typeface="Calibri"/>
                <a:ea typeface="Calibri"/>
                <a:cs typeface="Calibri"/>
              </a:rPr>
              <a:t>Opaque + scaled + damaging.</a:t>
            </a:r>
          </a:p>
        </p:txBody>
      </p:sp>
      <p:sp>
        <p:nvSpPr>
          <p:cNvPr id="12" name="TextBox 11">
            <a:extLst>
              <a:ext uri="{FF2B5EF4-FFF2-40B4-BE49-F238E27FC236}">
                <a16:creationId xmlns:a16="http://schemas.microsoft.com/office/drawing/2014/main" id="{3B412EC0-D71E-42CB-8C02-525EEABDEFBA}"/>
              </a:ext>
            </a:extLst>
          </p:cNvPr>
          <p:cNvSpPr>
            <a:spLocks noGrp="1"/>
          </p:cNvSpPr>
          <p:nvPr/>
        </p:nvSpPr>
        <p:spPr>
          <a:xfrm>
            <a:off x="896112" y="5806440"/>
            <a:ext cx="10515600" cy="640080"/>
          </a:xfrm>
          <a:prstGeom prst="rect">
            <a:avLst/>
          </a:prstGeom>
          <a:noFill/>
        </p:spPr>
        <p:txBody>
          <a:bodyPr wrap="square" anchor="t">
            <a:spAutoFit/>
          </a:bodyPr>
          <a:lstStyle/>
          <a:p>
            <a:pPr marL="285750" indent="0" algn="ctr">
              <a:lnSpc>
                <a:spcPct val="116000"/>
              </a:lnSpc>
              <a:spcBef>
                <a:spcPts val="0"/>
              </a:spcBef>
              <a:spcAft>
                <a:spcPts val="700"/>
              </a:spcAft>
              <a:buNone/>
            </a:pPr>
            <a:r>
              <a:rPr sz="1400" b="0" i="1" u="none">
                <a:solidFill>
                  <a:srgbClr val="595959"/>
                </a:solidFill>
                <a:latin typeface="Calibri"/>
                <a:ea typeface="Calibri"/>
                <a:cs typeface="Calibri"/>
              </a:rPr>
              <a:t>Each fits O’Neil’s WMD criteria: opaque + at scale + damaging + proxy-driven.</a:t>
            </a:r>
          </a:p>
        </p:txBody>
      </p:sp>
      <p:sp>
        <p:nvSpPr>
          <p:cNvPr id="13" name="expanded-arrow-47-1">
            <a:extLst>
              <a:ext uri="{FF2B5EF4-FFF2-40B4-BE49-F238E27FC236}">
                <a16:creationId xmlns:a16="http://schemas.microsoft.com/office/drawing/2014/main" id="{E7F7DCF8-3C94-4B90-AA80-E201EC160125}"/>
              </a:ext>
            </a:extLst>
          </p:cNvPr>
          <p:cNvSpPr>
            <a:spLocks noGrp="1"/>
          </p:cNvSpPr>
          <p:nvPr/>
        </p:nvSpPr>
        <p:spPr>
          <a:xfrm>
            <a:off x="4801054" y="4378553"/>
            <a:ext cx="457200" cy="171450"/>
          </a:xfrm>
          <a:prstGeom prst="rightArrow">
            <a:avLst/>
          </a:prstGeom>
          <a:solidFill>
            <a:srgbClr val="9EC8E8"/>
          </a:solidFill>
          <a:ln w="0">
            <a:solidFill>
              <a:srgbClr val="9EC8E8"/>
            </a:solidFill>
            <a:prstDash val="solid"/>
          </a:ln>
        </p:spPr>
        <p:txBody>
          <a:bodyPr/>
          <a:lstStyle/>
          <a:p>
            <a:endParaRPr/>
          </a:p>
        </p:txBody>
      </p:sp>
      <p:sp>
        <p:nvSpPr>
          <p:cNvPr id="14" name="expanded-arrow-47-2">
            <a:extLst>
              <a:ext uri="{FF2B5EF4-FFF2-40B4-BE49-F238E27FC236}">
                <a16:creationId xmlns:a16="http://schemas.microsoft.com/office/drawing/2014/main" id="{E0DFE987-0C7F-4FE3-8D72-3901EF956C2A}"/>
              </a:ext>
            </a:extLst>
          </p:cNvPr>
          <p:cNvSpPr>
            <a:spLocks noGrp="1"/>
          </p:cNvSpPr>
          <p:nvPr/>
        </p:nvSpPr>
        <p:spPr>
          <a:xfrm>
            <a:off x="7182304" y="4378553"/>
            <a:ext cx="457200" cy="171450"/>
          </a:xfrm>
          <a:prstGeom prst="rightArrow">
            <a:avLst/>
          </a:prstGeom>
          <a:solidFill>
            <a:srgbClr val="9EC8E8"/>
          </a:solidFill>
          <a:ln w="0">
            <a:solidFill>
              <a:srgbClr val="9EC8E8"/>
            </a:solidFill>
            <a:prstDash val="solid"/>
          </a:ln>
        </p:spPr>
        <p:txBody>
          <a:bodyPr/>
          <a:lstStyle/>
          <a:p>
            <a:endParaRPr/>
          </a:p>
        </p:txBody>
      </p:sp>
      <p:sp>
        <p:nvSpPr>
          <p:cNvPr id="15" name="expanded-node-47-1">
            <a:extLst>
              <a:ext uri="{FF2B5EF4-FFF2-40B4-BE49-F238E27FC236}">
                <a16:creationId xmlns:a16="http://schemas.microsoft.com/office/drawing/2014/main" id="{F627FC38-110E-4D36-8C54-D44BCCF71BEC}"/>
              </a:ext>
            </a:extLst>
          </p:cNvPr>
          <p:cNvSpPr>
            <a:spLocks noGrp="1"/>
          </p:cNvSpPr>
          <p:nvPr/>
        </p:nvSpPr>
        <p:spPr>
          <a:xfrm>
            <a:off x="2648404" y="4078515"/>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HIRING</a:t>
            </a:r>
          </a:p>
        </p:txBody>
      </p:sp>
      <p:sp>
        <p:nvSpPr>
          <p:cNvPr id="16" name="expanded-node-47-2">
            <a:extLst>
              <a:ext uri="{FF2B5EF4-FFF2-40B4-BE49-F238E27FC236}">
                <a16:creationId xmlns:a16="http://schemas.microsoft.com/office/drawing/2014/main" id="{A3D69B99-E524-423D-947E-7FD9BF6DFC1C}"/>
              </a:ext>
            </a:extLst>
          </p:cNvPr>
          <p:cNvSpPr>
            <a:spLocks noGrp="1"/>
          </p:cNvSpPr>
          <p:nvPr/>
        </p:nvSpPr>
        <p:spPr>
          <a:xfrm>
            <a:off x="5029654" y="4173765"/>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CREDIT</a:t>
            </a:r>
          </a:p>
        </p:txBody>
      </p:sp>
      <p:sp>
        <p:nvSpPr>
          <p:cNvPr id="17" name="expanded-node-47-3">
            <a:extLst>
              <a:ext uri="{FF2B5EF4-FFF2-40B4-BE49-F238E27FC236}">
                <a16:creationId xmlns:a16="http://schemas.microsoft.com/office/drawing/2014/main" id="{4364B697-2D17-49C5-A631-8A9B37A4470A}"/>
              </a:ext>
            </a:extLst>
          </p:cNvPr>
          <p:cNvSpPr>
            <a:spLocks noGrp="1"/>
          </p:cNvSpPr>
          <p:nvPr/>
        </p:nvSpPr>
        <p:spPr>
          <a:xfrm>
            <a:off x="7410904" y="4078515"/>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TEACHER EVAL</a:t>
            </a:r>
          </a:p>
        </p:txBody>
      </p:sp>
      <p:sp>
        <p:nvSpPr>
          <p:cNvPr id="18" name="expanded-takeaway-47">
            <a:extLst>
              <a:ext uri="{FF2B5EF4-FFF2-40B4-BE49-F238E27FC236}">
                <a16:creationId xmlns:a16="http://schemas.microsoft.com/office/drawing/2014/main" id="{E8336282-3B19-48AD-9901-CF32213289BE}"/>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Proxy variables and feedback loops allow discrimination to persist even when protected attributes are removed.</a:t>
            </a:r>
          </a:p>
        </p:txBody>
      </p:sp>
      <p:sp>
        <p:nvSpPr>
          <p:cNvPr id="19" name="v2-page-mask-61">
            <a:extLst>
              <a:ext uri="{FF2B5EF4-FFF2-40B4-BE49-F238E27FC236}">
                <a16:creationId xmlns:a16="http://schemas.microsoft.com/office/drawing/2014/main" id="{F5A2F923-F6F9-407E-B26A-371FD90C6512}"/>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20" name="v2-page-61">
            <a:extLst>
              <a:ext uri="{FF2B5EF4-FFF2-40B4-BE49-F238E27FC236}">
                <a16:creationId xmlns:a16="http://schemas.microsoft.com/office/drawing/2014/main" id="{17B5625D-8F84-454A-8FEC-0B99586D3B52}"/>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61</a:t>
            </a:r>
          </a:p>
        </p:txBody>
      </p:sp>
    </p:spTree>
    <p:extLst>
      <p:ext uri="{BB962C8B-B14F-4D97-AF65-F5344CB8AC3E}">
        <p14:creationId xmlns:p14="http://schemas.microsoft.com/office/powerpoint/2010/main" val="82414825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9CF2D8-08CC-4F5C-9630-A6748668954D}"/>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5D71FC5F-2D27-4CFA-956B-13A543E87BE9}"/>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F0AF2CF-83A1-4528-AE1A-8A82DD120660}"/>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Case 4: Facial Recognition &amp; Surveillance</a:t>
            </a:r>
          </a:p>
        </p:txBody>
      </p:sp>
      <p:sp>
        <p:nvSpPr>
          <p:cNvPr id="5" name="Rectangle 4">
            <a:extLst>
              <a:ext uri="{FF2B5EF4-FFF2-40B4-BE49-F238E27FC236}">
                <a16:creationId xmlns:a16="http://schemas.microsoft.com/office/drawing/2014/main" id="{8F66E058-3C14-48C0-A80C-E8F6D77D1656}"/>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CDBCF59-8898-4362-9FA3-287C9A1D9AE8}"/>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8661FCF1-FDC7-42DC-BE72-21D2FD3D59AA}"/>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48</a:t>
            </a:r>
          </a:p>
        </p:txBody>
      </p:sp>
      <p:sp>
        <p:nvSpPr>
          <p:cNvPr id="8" name="TextBox 7">
            <a:extLst>
              <a:ext uri="{FF2B5EF4-FFF2-40B4-BE49-F238E27FC236}">
                <a16:creationId xmlns:a16="http://schemas.microsoft.com/office/drawing/2014/main" id="{C757B51F-3781-44D6-AF7F-08BAD0218B80}"/>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Buolamwini &amp; Gebru (2018), </a:t>
            </a:r>
            <a:r>
              <a:rPr sz="1600" b="1" i="0" u="sng">
                <a:solidFill>
                  <a:srgbClr val="262626"/>
                </a:solidFill>
                <a:latin typeface="Calibri"/>
                <a:ea typeface="Calibri"/>
                <a:cs typeface="Calibri"/>
              </a:rPr>
              <a:t>Gender Shades</a:t>
            </a:r>
            <a:r>
              <a:rPr sz="1600" b="0" i="0" u="none">
                <a:solidFill>
                  <a:srgbClr val="262626"/>
                </a:solidFill>
                <a:latin typeface="Calibri"/>
                <a:ea typeface="Calibri"/>
                <a:cs typeface="Calibri"/>
              </a:rPr>
              <a:t>: error far higher for darker-skinned women than lighter-skinned men.</a:t>
            </a:r>
          </a:p>
          <a:p>
            <a:pPr marL="285750" indent="-285750" algn="l">
              <a:lnSpc>
                <a:spcPct val="116000"/>
              </a:lnSpc>
              <a:spcBef>
                <a:spcPts val="200"/>
              </a:spcBef>
              <a:spcAft>
                <a:spcPts val="700"/>
              </a:spcAft>
              <a:buClr>
                <a:srgbClr val="2E75B6"/>
              </a:buClr>
              <a:buSzPct val="100000"/>
              <a:buFont typeface="Arial"/>
              <a:buChar char="•"/>
            </a:pPr>
            <a:r>
              <a:rPr sz="1600" b="1" i="0" u="none">
                <a:solidFill>
                  <a:srgbClr val="1F3864"/>
                </a:solidFill>
                <a:latin typeface="Calibri"/>
                <a:ea typeface="Calibri"/>
                <a:cs typeface="Calibri"/>
              </a:rPr>
              <a:t>Uses: </a:t>
            </a:r>
            <a:r>
              <a:rPr sz="1600" b="0" i="0" u="none">
                <a:solidFill>
                  <a:srgbClr val="262626"/>
                </a:solidFill>
                <a:latin typeface="Calibri"/>
                <a:ea typeface="Calibri"/>
                <a:cs typeface="Calibri"/>
              </a:rPr>
              <a:t>unlock, tagging, access control.</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Abuses: </a:t>
            </a:r>
            <a:r>
              <a:rPr sz="1600" b="0" i="0" u="none">
                <a:solidFill>
                  <a:srgbClr val="262626"/>
                </a:solidFill>
                <a:latin typeface="Calibri"/>
                <a:ea typeface="Calibri"/>
                <a:cs typeface="Calibri"/>
              </a:rPr>
              <a:t>mass surveillance, wrongful arrest.</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Harms: </a:t>
            </a:r>
            <a:r>
              <a:rPr sz="1600" b="0" i="0" u="none">
                <a:solidFill>
                  <a:srgbClr val="262626"/>
                </a:solidFill>
                <a:latin typeface="Calibri"/>
                <a:ea typeface="Calibri"/>
                <a:cs typeface="Calibri"/>
              </a:rPr>
              <a:t>misidentification → wrongful arrest; chilling effect.</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Need: </a:t>
            </a:r>
            <a:r>
              <a:rPr sz="1600" b="0" i="0" u="none">
                <a:solidFill>
                  <a:srgbClr val="262626"/>
                </a:solidFill>
                <a:latin typeface="Calibri"/>
                <a:ea typeface="Calibri"/>
                <a:cs typeface="Calibri"/>
              </a:rPr>
              <a:t>accuracy equity, consent, and limits on use.</a:t>
            </a:r>
          </a:p>
        </p:txBody>
      </p:sp>
      <p:sp>
        <p:nvSpPr>
          <p:cNvPr id="9" name="expanded-arrow-48-1">
            <a:extLst>
              <a:ext uri="{FF2B5EF4-FFF2-40B4-BE49-F238E27FC236}">
                <a16:creationId xmlns:a16="http://schemas.microsoft.com/office/drawing/2014/main" id="{51F5870D-EE79-4B8E-A88B-F719ECE30BF9}"/>
              </a:ext>
            </a:extLst>
          </p:cNvPr>
          <p:cNvSpPr>
            <a:spLocks noGrp="1"/>
          </p:cNvSpPr>
          <p:nvPr/>
        </p:nvSpPr>
        <p:spPr>
          <a:xfrm>
            <a:off x="4772025" y="4872038"/>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48-2">
            <a:extLst>
              <a:ext uri="{FF2B5EF4-FFF2-40B4-BE49-F238E27FC236}">
                <a16:creationId xmlns:a16="http://schemas.microsoft.com/office/drawing/2014/main" id="{28FEA434-D1A8-4693-B267-3C8627023468}"/>
              </a:ext>
            </a:extLst>
          </p:cNvPr>
          <p:cNvSpPr>
            <a:spLocks noGrp="1"/>
          </p:cNvSpPr>
          <p:nvPr/>
        </p:nvSpPr>
        <p:spPr>
          <a:xfrm>
            <a:off x="7153275" y="4872038"/>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node-48-1">
            <a:extLst>
              <a:ext uri="{FF2B5EF4-FFF2-40B4-BE49-F238E27FC236}">
                <a16:creationId xmlns:a16="http://schemas.microsoft.com/office/drawing/2014/main" id="{31460AAC-99BE-48FC-AD60-39B27E861ADB}"/>
              </a:ext>
            </a:extLst>
          </p:cNvPr>
          <p:cNvSpPr>
            <a:spLocks noGrp="1"/>
          </p:cNvSpPr>
          <p:nvPr/>
        </p:nvSpPr>
        <p:spPr>
          <a:xfrm>
            <a:off x="26193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ACCURACY</a:t>
            </a:r>
          </a:p>
        </p:txBody>
      </p:sp>
      <p:sp>
        <p:nvSpPr>
          <p:cNvPr id="12" name="expanded-node-48-2">
            <a:extLst>
              <a:ext uri="{FF2B5EF4-FFF2-40B4-BE49-F238E27FC236}">
                <a16:creationId xmlns:a16="http://schemas.microsoft.com/office/drawing/2014/main" id="{994570D0-D96B-4FB7-BDF2-E8A7620D795F}"/>
              </a:ext>
            </a:extLst>
          </p:cNvPr>
          <p:cNvSpPr>
            <a:spLocks noGrp="1"/>
          </p:cNvSpPr>
          <p:nvPr/>
        </p:nvSpPr>
        <p:spPr>
          <a:xfrm>
            <a:off x="5000625"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LEGITIMACY</a:t>
            </a:r>
          </a:p>
        </p:txBody>
      </p:sp>
      <p:sp>
        <p:nvSpPr>
          <p:cNvPr id="13" name="expanded-node-48-3">
            <a:extLst>
              <a:ext uri="{FF2B5EF4-FFF2-40B4-BE49-F238E27FC236}">
                <a16:creationId xmlns:a16="http://schemas.microsoft.com/office/drawing/2014/main" id="{0F0F8DB4-7BE2-4FD7-895C-D6783EA1CFFD}"/>
              </a:ext>
            </a:extLst>
          </p:cNvPr>
          <p:cNvSpPr>
            <a:spLocks noGrp="1"/>
          </p:cNvSpPr>
          <p:nvPr/>
        </p:nvSpPr>
        <p:spPr>
          <a:xfrm>
            <a:off x="73818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OVERSIGHT</a:t>
            </a:r>
          </a:p>
        </p:txBody>
      </p:sp>
      <p:sp>
        <p:nvSpPr>
          <p:cNvPr id="14" name="expanded-takeaway-48">
            <a:extLst>
              <a:ext uri="{FF2B5EF4-FFF2-40B4-BE49-F238E27FC236}">
                <a16:creationId xmlns:a16="http://schemas.microsoft.com/office/drawing/2014/main" id="{29CDD668-A0FC-443E-AAC1-02E778716332}"/>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Accuracy alone cannot justify surveillance; legitimacy also depends on purpose, consent, proportionality, and oversight.</a:t>
            </a:r>
          </a:p>
        </p:txBody>
      </p:sp>
      <p:sp>
        <p:nvSpPr>
          <p:cNvPr id="15" name="v2-page-mask-62">
            <a:extLst>
              <a:ext uri="{FF2B5EF4-FFF2-40B4-BE49-F238E27FC236}">
                <a16:creationId xmlns:a16="http://schemas.microsoft.com/office/drawing/2014/main" id="{D4A799BD-68B6-4949-9BCC-7F7C4DAE5FFA}"/>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6" name="v2-page-62">
            <a:extLst>
              <a:ext uri="{FF2B5EF4-FFF2-40B4-BE49-F238E27FC236}">
                <a16:creationId xmlns:a16="http://schemas.microsoft.com/office/drawing/2014/main" id="{7FD8C771-0DFF-4AEE-89F0-50AE3D146F32}"/>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62</a:t>
            </a:r>
          </a:p>
        </p:txBody>
      </p:sp>
    </p:spTree>
    <p:extLst>
      <p:ext uri="{BB962C8B-B14F-4D97-AF65-F5344CB8AC3E}">
        <p14:creationId xmlns:p14="http://schemas.microsoft.com/office/powerpoint/2010/main" val="177946575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v2-background">
            <a:extLst>
              <a:ext uri="{FF2B5EF4-FFF2-40B4-BE49-F238E27FC236}">
                <a16:creationId xmlns:a16="http://schemas.microsoft.com/office/drawing/2014/main" id="{12A85F26-DE3B-47B1-B299-6D40D1A23342}"/>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zh-CN" altLang="en-US"/>
          </a:p>
        </p:txBody>
      </p:sp>
      <p:sp>
        <p:nvSpPr>
          <p:cNvPr id="2" name="v2-title-rail">
            <a:extLst>
              <a:ext uri="{FF2B5EF4-FFF2-40B4-BE49-F238E27FC236}">
                <a16:creationId xmlns:a16="http://schemas.microsoft.com/office/drawing/2014/main" id="{12BED051-0CF2-4EE8-A2BD-09B48521E76E}"/>
              </a:ext>
            </a:extLst>
          </p:cNvPr>
          <p:cNvSpPr>
            <a:spLocks noGrp="1"/>
          </p:cNvSpPr>
          <p:nvPr/>
        </p:nvSpPr>
        <p:spPr>
          <a:xfrm>
            <a:off x="628650" y="400050"/>
            <a:ext cx="95250" cy="476250"/>
          </a:xfrm>
          <a:prstGeom prst="rect">
            <a:avLst/>
          </a:prstGeom>
          <a:solidFill>
            <a:srgbClr val="1F3B6D"/>
          </a:solidFill>
          <a:ln w="0">
            <a:solidFill>
              <a:srgbClr val="1F3B6D"/>
            </a:solidFill>
            <a:prstDash val="solid"/>
          </a:ln>
        </p:spPr>
        <p:txBody>
          <a:bodyPr/>
          <a:lstStyle/>
          <a:p>
            <a:endParaRPr lang="zh-CN" altLang="en-US"/>
          </a:p>
        </p:txBody>
      </p:sp>
      <p:sp>
        <p:nvSpPr>
          <p:cNvPr id="3" name="v2-title">
            <a:extLst>
              <a:ext uri="{FF2B5EF4-FFF2-40B4-BE49-F238E27FC236}">
                <a16:creationId xmlns:a16="http://schemas.microsoft.com/office/drawing/2014/main" id="{D486079A-9D48-48CE-98DA-0BD695C8573C}"/>
              </a:ext>
            </a:extLst>
          </p:cNvPr>
          <p:cNvSpPr>
            <a:spLocks noGrp="1"/>
          </p:cNvSpPr>
          <p:nvPr/>
        </p:nvSpPr>
        <p:spPr>
          <a:xfrm>
            <a:off x="981075" y="361950"/>
            <a:ext cx="10287000" cy="552450"/>
          </a:xfrm>
          <a:prstGeom prst="rect">
            <a:avLst/>
          </a:prstGeom>
          <a:noFill/>
          <a:ln w="0">
            <a:noFill/>
            <a:prstDash val="solid"/>
          </a:ln>
        </p:spPr>
        <p:txBody>
          <a:bodyPr/>
          <a:lstStyle/>
          <a:p>
            <a:pPr>
              <a:defRPr sz="2550" b="1">
                <a:solidFill>
                  <a:srgbClr val="1F3B6D"/>
                </a:solidFill>
              </a:defRPr>
            </a:pPr>
            <a:r>
              <a:rPr sz="2550" b="1">
                <a:solidFill>
                  <a:srgbClr val="1F3B6D"/>
                </a:solidFill>
              </a:rPr>
              <a:t>Gender Shades: Intersectional Evaluation Changes the Result</a:t>
            </a:r>
          </a:p>
        </p:txBody>
      </p:sp>
      <p:sp>
        <p:nvSpPr>
          <p:cNvPr id="4" name="v2-rule">
            <a:extLst>
              <a:ext uri="{FF2B5EF4-FFF2-40B4-BE49-F238E27FC236}">
                <a16:creationId xmlns:a16="http://schemas.microsoft.com/office/drawing/2014/main" id="{B1D53C1A-ABAE-41BD-A606-E0F282A16649}"/>
              </a:ext>
            </a:extLst>
          </p:cNvPr>
          <p:cNvSpPr>
            <a:spLocks noGrp="1"/>
          </p:cNvSpPr>
          <p:nvPr/>
        </p:nvSpPr>
        <p:spPr>
          <a:xfrm>
            <a:off x="638175" y="1000125"/>
            <a:ext cx="10972800" cy="28575"/>
          </a:xfrm>
          <a:prstGeom prst="rect">
            <a:avLst/>
          </a:prstGeom>
          <a:solidFill>
            <a:srgbClr val="2D78B9"/>
          </a:solidFill>
          <a:ln w="0">
            <a:solidFill>
              <a:srgbClr val="2D78B9"/>
            </a:solidFill>
            <a:prstDash val="solid"/>
          </a:ln>
        </p:spPr>
        <p:txBody>
          <a:bodyPr/>
          <a:lstStyle/>
          <a:p>
            <a:endParaRPr lang="zh-CN" altLang="en-US"/>
          </a:p>
        </p:txBody>
      </p:sp>
      <p:sp>
        <p:nvSpPr>
          <p:cNvPr id="5" name="v2-subtitle">
            <a:extLst>
              <a:ext uri="{FF2B5EF4-FFF2-40B4-BE49-F238E27FC236}">
                <a16:creationId xmlns:a16="http://schemas.microsoft.com/office/drawing/2014/main" id="{2920F38A-C99A-4D26-8661-BF3F9E0D33AA}"/>
              </a:ext>
            </a:extLst>
          </p:cNvPr>
          <p:cNvSpPr>
            <a:spLocks noGrp="1"/>
          </p:cNvSpPr>
          <p:nvPr/>
        </p:nvSpPr>
        <p:spPr>
          <a:xfrm>
            <a:off x="981075" y="1104900"/>
            <a:ext cx="10287000" cy="323850"/>
          </a:xfrm>
          <a:prstGeom prst="rect">
            <a:avLst/>
          </a:prstGeom>
          <a:noFill/>
          <a:ln w="0">
            <a:noFill/>
            <a:prstDash val="solid"/>
          </a:ln>
        </p:spPr>
        <p:txBody>
          <a:bodyPr/>
          <a:lstStyle/>
          <a:p>
            <a:pPr>
              <a:defRPr sz="1275" i="1">
                <a:solidFill>
                  <a:srgbClr val="5B6670"/>
                </a:solidFill>
              </a:defRPr>
            </a:pPr>
            <a:r>
              <a:rPr sz="1275" i="1">
                <a:solidFill>
                  <a:srgbClr val="5B6670"/>
                </a:solidFill>
              </a:rPr>
              <a:t>Aggregate accuracy can hide severe subgroup disparities.</a:t>
            </a:r>
          </a:p>
        </p:txBody>
      </p:sp>
      <p:sp>
        <p:nvSpPr>
          <p:cNvPr id="6" name="v2-accent">
            <a:extLst>
              <a:ext uri="{FF2B5EF4-FFF2-40B4-BE49-F238E27FC236}">
                <a16:creationId xmlns:a16="http://schemas.microsoft.com/office/drawing/2014/main" id="{016B1E12-AEB5-4837-A250-E858370D3718}"/>
              </a:ext>
            </a:extLst>
          </p:cNvPr>
          <p:cNvSpPr>
            <a:spLocks noGrp="1"/>
          </p:cNvSpPr>
          <p:nvPr/>
        </p:nvSpPr>
        <p:spPr>
          <a:xfrm>
            <a:off x="11687175" y="304800"/>
            <a:ext cx="266700" cy="266700"/>
          </a:xfrm>
          <a:prstGeom prst="rect">
            <a:avLst/>
          </a:prstGeom>
          <a:solidFill>
            <a:srgbClr val="2D78B9"/>
          </a:solidFill>
          <a:ln w="0">
            <a:solidFill>
              <a:srgbClr val="2D78B9"/>
            </a:solidFill>
            <a:prstDash val="solid"/>
          </a:ln>
        </p:spPr>
        <p:txBody>
          <a:bodyPr/>
          <a:lstStyle/>
          <a:p>
            <a:endParaRPr lang="zh-CN" altLang="en-US"/>
          </a:p>
        </p:txBody>
      </p:sp>
      <p:sp>
        <p:nvSpPr>
          <p:cNvPr id="7" name="v2-footer">
            <a:extLst>
              <a:ext uri="{FF2B5EF4-FFF2-40B4-BE49-F238E27FC236}">
                <a16:creationId xmlns:a16="http://schemas.microsoft.com/office/drawing/2014/main" id="{CEBFDBF1-D5A0-48ED-8E4E-E9A15540DEAE}"/>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sp>
        <p:nvSpPr>
          <p:cNvPr id="8" name="chart-axis">
            <a:extLst>
              <a:ext uri="{FF2B5EF4-FFF2-40B4-BE49-F238E27FC236}">
                <a16:creationId xmlns:a16="http://schemas.microsoft.com/office/drawing/2014/main" id="{61C014C3-369A-4747-AB4D-C7E61D9D8D36}"/>
              </a:ext>
            </a:extLst>
          </p:cNvPr>
          <p:cNvSpPr>
            <a:spLocks noGrp="1"/>
          </p:cNvSpPr>
          <p:nvPr/>
        </p:nvSpPr>
        <p:spPr>
          <a:xfrm>
            <a:off x="1381125" y="4619625"/>
            <a:ext cx="7905750" cy="19050"/>
          </a:xfrm>
          <a:prstGeom prst="rect">
            <a:avLst/>
          </a:prstGeom>
          <a:solidFill>
            <a:srgbClr val="5B6670"/>
          </a:solidFill>
          <a:ln w="0">
            <a:solidFill>
              <a:srgbClr val="5B6670"/>
            </a:solidFill>
            <a:prstDash val="solid"/>
          </a:ln>
        </p:spPr>
        <p:txBody>
          <a:bodyPr/>
          <a:lstStyle/>
          <a:p>
            <a:endParaRPr lang="zh-CN" altLang="en-US"/>
          </a:p>
        </p:txBody>
      </p:sp>
      <p:sp>
        <p:nvSpPr>
          <p:cNvPr id="9" name="bar-0">
            <a:extLst>
              <a:ext uri="{FF2B5EF4-FFF2-40B4-BE49-F238E27FC236}">
                <a16:creationId xmlns:a16="http://schemas.microsoft.com/office/drawing/2014/main" id="{58F086CD-3BBE-4364-8198-3127D4274377}"/>
              </a:ext>
            </a:extLst>
          </p:cNvPr>
          <p:cNvSpPr>
            <a:spLocks noGrp="1"/>
          </p:cNvSpPr>
          <p:nvPr/>
        </p:nvSpPr>
        <p:spPr>
          <a:xfrm>
            <a:off x="2476500" y="4427220"/>
            <a:ext cx="1714500" cy="49530"/>
          </a:xfrm>
          <a:prstGeom prst="rect">
            <a:avLst/>
          </a:prstGeom>
          <a:solidFill>
            <a:srgbClr val="2D78B9"/>
          </a:solidFill>
          <a:ln w="0">
            <a:solidFill>
              <a:srgbClr val="2D78B9"/>
            </a:solidFill>
            <a:prstDash val="solid"/>
          </a:ln>
        </p:spPr>
        <p:txBody>
          <a:bodyPr/>
          <a:lstStyle/>
          <a:p>
            <a:endParaRPr lang="zh-CN" altLang="en-US"/>
          </a:p>
        </p:txBody>
      </p:sp>
      <p:sp>
        <p:nvSpPr>
          <p:cNvPr id="10" name="bar-val-0">
            <a:extLst>
              <a:ext uri="{FF2B5EF4-FFF2-40B4-BE49-F238E27FC236}">
                <a16:creationId xmlns:a16="http://schemas.microsoft.com/office/drawing/2014/main" id="{4B1B2B13-284E-4709-8A34-D0DF8BCABED7}"/>
              </a:ext>
            </a:extLst>
          </p:cNvPr>
          <p:cNvSpPr>
            <a:spLocks noGrp="1"/>
          </p:cNvSpPr>
          <p:nvPr/>
        </p:nvSpPr>
        <p:spPr>
          <a:xfrm>
            <a:off x="2476500" y="4046220"/>
            <a:ext cx="1714500" cy="333375"/>
          </a:xfrm>
          <a:prstGeom prst="rect">
            <a:avLst/>
          </a:prstGeom>
          <a:noFill/>
          <a:ln w="0">
            <a:noFill/>
            <a:prstDash val="solid"/>
          </a:ln>
        </p:spPr>
        <p:txBody>
          <a:bodyPr/>
          <a:lstStyle/>
          <a:p>
            <a:pPr algn="ctr">
              <a:defRPr sz="1800" b="1">
                <a:solidFill>
                  <a:srgbClr val="2D78B9"/>
                </a:solidFill>
              </a:defRPr>
            </a:pPr>
            <a:r>
              <a:rPr sz="1800" b="1">
                <a:solidFill>
                  <a:srgbClr val="2D78B9"/>
                </a:solidFill>
              </a:rPr>
              <a:t>0.8%</a:t>
            </a:r>
          </a:p>
        </p:txBody>
      </p:sp>
      <p:sp>
        <p:nvSpPr>
          <p:cNvPr id="11" name="bar-lab-0">
            <a:extLst>
              <a:ext uri="{FF2B5EF4-FFF2-40B4-BE49-F238E27FC236}">
                <a16:creationId xmlns:a16="http://schemas.microsoft.com/office/drawing/2014/main" id="{EBD49E1F-0BB1-4117-820C-F6655448FC88}"/>
              </a:ext>
            </a:extLst>
          </p:cNvPr>
          <p:cNvSpPr>
            <a:spLocks noGrp="1"/>
          </p:cNvSpPr>
          <p:nvPr/>
        </p:nvSpPr>
        <p:spPr>
          <a:xfrm>
            <a:off x="2000250" y="4762500"/>
            <a:ext cx="2667000" cy="571500"/>
          </a:xfrm>
          <a:prstGeom prst="rect">
            <a:avLst/>
          </a:prstGeom>
          <a:noFill/>
          <a:ln w="0">
            <a:noFill/>
            <a:prstDash val="solid"/>
          </a:ln>
        </p:spPr>
        <p:txBody>
          <a:bodyPr/>
          <a:lstStyle/>
          <a:p>
            <a:pPr algn="ctr">
              <a:defRPr sz="1200" b="1">
                <a:solidFill>
                  <a:srgbClr val="263442"/>
                </a:solidFill>
              </a:defRPr>
            </a:pPr>
            <a:r>
              <a:rPr sz="1200" b="1">
                <a:solidFill>
                  <a:srgbClr val="263442"/>
                </a:solidFill>
              </a:rPr>
              <a:t>Lighter-skinned men</a:t>
            </a:r>
          </a:p>
          <a:p>
            <a:pPr algn="ctr">
              <a:defRPr sz="1200" b="1">
                <a:solidFill>
                  <a:srgbClr val="263442"/>
                </a:solidFill>
              </a:defRPr>
            </a:pPr>
            <a:r>
              <a:rPr sz="1200" b="1">
                <a:solidFill>
                  <a:srgbClr val="263442"/>
                </a:solidFill>
              </a:rPr>
              <a:t>maximum error</a:t>
            </a:r>
          </a:p>
        </p:txBody>
      </p:sp>
      <p:sp>
        <p:nvSpPr>
          <p:cNvPr id="12" name="bar-1">
            <a:extLst>
              <a:ext uri="{FF2B5EF4-FFF2-40B4-BE49-F238E27FC236}">
                <a16:creationId xmlns:a16="http://schemas.microsoft.com/office/drawing/2014/main" id="{350C710C-B7DE-4AAE-BF46-B1833E4C2F58}"/>
              </a:ext>
            </a:extLst>
          </p:cNvPr>
          <p:cNvSpPr>
            <a:spLocks noGrp="1"/>
          </p:cNvSpPr>
          <p:nvPr/>
        </p:nvSpPr>
        <p:spPr>
          <a:xfrm>
            <a:off x="6477000" y="2328386"/>
            <a:ext cx="1714500" cy="2148364"/>
          </a:xfrm>
          <a:prstGeom prst="rect">
            <a:avLst/>
          </a:prstGeom>
          <a:solidFill>
            <a:srgbClr val="B42318"/>
          </a:solidFill>
          <a:ln w="0">
            <a:solidFill>
              <a:srgbClr val="B42318"/>
            </a:solidFill>
            <a:prstDash val="solid"/>
          </a:ln>
        </p:spPr>
        <p:txBody>
          <a:bodyPr/>
          <a:lstStyle/>
          <a:p>
            <a:endParaRPr lang="zh-CN" altLang="en-US"/>
          </a:p>
        </p:txBody>
      </p:sp>
      <p:sp>
        <p:nvSpPr>
          <p:cNvPr id="13" name="bar-val-1">
            <a:extLst>
              <a:ext uri="{FF2B5EF4-FFF2-40B4-BE49-F238E27FC236}">
                <a16:creationId xmlns:a16="http://schemas.microsoft.com/office/drawing/2014/main" id="{926448D9-EAE6-469E-BF84-27B421B7D5A8}"/>
              </a:ext>
            </a:extLst>
          </p:cNvPr>
          <p:cNvSpPr>
            <a:spLocks noGrp="1"/>
          </p:cNvSpPr>
          <p:nvPr/>
        </p:nvSpPr>
        <p:spPr>
          <a:xfrm>
            <a:off x="6477000" y="1947386"/>
            <a:ext cx="1714500" cy="333375"/>
          </a:xfrm>
          <a:prstGeom prst="rect">
            <a:avLst/>
          </a:prstGeom>
          <a:noFill/>
          <a:ln w="0">
            <a:noFill/>
            <a:prstDash val="solid"/>
          </a:ln>
        </p:spPr>
        <p:txBody>
          <a:bodyPr/>
          <a:lstStyle/>
          <a:p>
            <a:pPr algn="ctr">
              <a:defRPr sz="1800" b="1">
                <a:solidFill>
                  <a:srgbClr val="B42318"/>
                </a:solidFill>
              </a:defRPr>
            </a:pPr>
            <a:r>
              <a:rPr sz="1800" b="1">
                <a:solidFill>
                  <a:srgbClr val="B42318"/>
                </a:solidFill>
              </a:rPr>
              <a:t>34.7%</a:t>
            </a:r>
          </a:p>
        </p:txBody>
      </p:sp>
      <p:sp>
        <p:nvSpPr>
          <p:cNvPr id="14" name="bar-lab-1">
            <a:extLst>
              <a:ext uri="{FF2B5EF4-FFF2-40B4-BE49-F238E27FC236}">
                <a16:creationId xmlns:a16="http://schemas.microsoft.com/office/drawing/2014/main" id="{769641D2-480F-4DF6-AE3A-5788F279CC24}"/>
              </a:ext>
            </a:extLst>
          </p:cNvPr>
          <p:cNvSpPr>
            <a:spLocks noGrp="1"/>
          </p:cNvSpPr>
          <p:nvPr/>
        </p:nvSpPr>
        <p:spPr>
          <a:xfrm>
            <a:off x="6000750" y="4762500"/>
            <a:ext cx="2667000" cy="571500"/>
          </a:xfrm>
          <a:prstGeom prst="rect">
            <a:avLst/>
          </a:prstGeom>
          <a:noFill/>
          <a:ln w="0">
            <a:noFill/>
            <a:prstDash val="solid"/>
          </a:ln>
        </p:spPr>
        <p:txBody>
          <a:bodyPr/>
          <a:lstStyle/>
          <a:p>
            <a:pPr algn="ctr">
              <a:defRPr sz="1200" b="1">
                <a:solidFill>
                  <a:srgbClr val="263442"/>
                </a:solidFill>
              </a:defRPr>
            </a:pPr>
            <a:r>
              <a:rPr sz="1200" b="1">
                <a:solidFill>
                  <a:srgbClr val="263442"/>
                </a:solidFill>
              </a:rPr>
              <a:t>Darker-skinned women</a:t>
            </a:r>
          </a:p>
          <a:p>
            <a:pPr algn="ctr">
              <a:defRPr sz="1200" b="1">
                <a:solidFill>
                  <a:srgbClr val="263442"/>
                </a:solidFill>
              </a:defRPr>
            </a:pPr>
            <a:r>
              <a:rPr sz="1200" b="1">
                <a:solidFill>
                  <a:srgbClr val="263442"/>
                </a:solidFill>
              </a:rPr>
              <a:t>maximum error</a:t>
            </a:r>
          </a:p>
        </p:txBody>
      </p:sp>
      <p:sp>
        <p:nvSpPr>
          <p:cNvPr id="15" name="chart-note">
            <a:extLst>
              <a:ext uri="{FF2B5EF4-FFF2-40B4-BE49-F238E27FC236}">
                <a16:creationId xmlns:a16="http://schemas.microsoft.com/office/drawing/2014/main" id="{38CC3A2D-6F7A-4D4B-BA8A-42EC0F9CA9BA}"/>
              </a:ext>
            </a:extLst>
          </p:cNvPr>
          <p:cNvSpPr>
            <a:spLocks noGrp="1"/>
          </p:cNvSpPr>
          <p:nvPr/>
        </p:nvSpPr>
        <p:spPr>
          <a:xfrm>
            <a:off x="2000250" y="5429250"/>
            <a:ext cx="6667500" cy="238125"/>
          </a:xfrm>
          <a:prstGeom prst="rect">
            <a:avLst/>
          </a:prstGeom>
          <a:noFill/>
          <a:ln w="0">
            <a:noFill/>
            <a:prstDash val="solid"/>
          </a:ln>
        </p:spPr>
        <p:txBody>
          <a:bodyPr/>
          <a:lstStyle/>
          <a:p>
            <a:pPr algn="ctr">
              <a:defRPr sz="975" i="1">
                <a:solidFill>
                  <a:srgbClr val="5B6670"/>
                </a:solidFill>
              </a:defRPr>
            </a:pPr>
            <a:r>
              <a:rPr sz="975" i="1">
                <a:solidFill>
                  <a:srgbClr val="5B6670"/>
                </a:solidFill>
              </a:rPr>
              <a:t>Reported maxima across the commercial systems evaluated in the 2018 study</a:t>
            </a:r>
          </a:p>
        </p:txBody>
      </p:sp>
      <p:sp>
        <p:nvSpPr>
          <p:cNvPr id="16" name="v2-takeaway">
            <a:extLst>
              <a:ext uri="{FF2B5EF4-FFF2-40B4-BE49-F238E27FC236}">
                <a16:creationId xmlns:a16="http://schemas.microsoft.com/office/drawing/2014/main" id="{F5148C0C-1BBE-45A5-871F-144F87037019}"/>
              </a:ext>
            </a:extLst>
          </p:cNvPr>
          <p:cNvSpPr>
            <a:spLocks noGrp="1"/>
          </p:cNvSpPr>
          <p:nvPr/>
        </p:nvSpPr>
        <p:spPr>
          <a:xfrm>
            <a:off x="876300" y="575310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defRPr sz="1200" b="1">
                <a:solidFill>
                  <a:srgbClr val="1F3B6D"/>
                </a:solidFill>
              </a:defRPr>
            </a:pPr>
            <a:r>
              <a:rPr sz="1200" b="1">
                <a:solidFill>
                  <a:srgbClr val="1F3B6D"/>
                </a:solidFill>
              </a:rPr>
              <a:t>Disaggregate performance by intersecting groups before concluding that a system is accurate or fair.</a:t>
            </a:r>
          </a:p>
        </p:txBody>
      </p:sp>
      <p:sp>
        <p:nvSpPr>
          <p:cNvPr id="17" name="v2-page-mask-63">
            <a:extLst>
              <a:ext uri="{FF2B5EF4-FFF2-40B4-BE49-F238E27FC236}">
                <a16:creationId xmlns:a16="http://schemas.microsoft.com/office/drawing/2014/main" id="{44957F41-785D-4455-87D1-2E05343BB439}"/>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8" name="v2-page-63">
            <a:extLst>
              <a:ext uri="{FF2B5EF4-FFF2-40B4-BE49-F238E27FC236}">
                <a16:creationId xmlns:a16="http://schemas.microsoft.com/office/drawing/2014/main" id="{8DB7FB83-3E47-4037-8439-74BAE69753CE}"/>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63</a:t>
            </a:r>
          </a:p>
        </p:txBody>
      </p:sp>
    </p:spTree>
    <p:extLst>
      <p:ext uri="{BB962C8B-B14F-4D97-AF65-F5344CB8AC3E}">
        <p14:creationId xmlns:p14="http://schemas.microsoft.com/office/powerpoint/2010/main" val="20269618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0959078-6675-4F0A-91AC-06E580E10CC7}"/>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D5E9372F-3795-4119-8A54-217EC0466376}"/>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C5048F8-3E87-41DA-AB4A-D4A8525A2657}"/>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Case 5: Deepfakes, Misinformation &amp; Generative AI</a:t>
            </a:r>
          </a:p>
        </p:txBody>
      </p:sp>
      <p:sp>
        <p:nvSpPr>
          <p:cNvPr id="5" name="Rectangle 4">
            <a:extLst>
              <a:ext uri="{FF2B5EF4-FFF2-40B4-BE49-F238E27FC236}">
                <a16:creationId xmlns:a16="http://schemas.microsoft.com/office/drawing/2014/main" id="{CDA07478-263C-4568-9392-F75F0B58B780}"/>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C0FBC444-7DC1-4DC3-BD0D-0F76B600D8C5}"/>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F647BFDD-F887-47E6-ACBA-88E600B9BAFE}"/>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49</a:t>
            </a:r>
          </a:p>
        </p:txBody>
      </p:sp>
      <p:sp>
        <p:nvSpPr>
          <p:cNvPr id="8" name="TextBox 7">
            <a:extLst>
              <a:ext uri="{FF2B5EF4-FFF2-40B4-BE49-F238E27FC236}">
                <a16:creationId xmlns:a16="http://schemas.microsoft.com/office/drawing/2014/main" id="{46AB88B9-47C8-4D10-A31E-AEDDA6323E74}"/>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Cheap, convincing synthetic audio / video / images.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Harms: </a:t>
            </a:r>
            <a:r>
              <a:rPr sz="1600" b="0" i="0" u="none">
                <a:solidFill>
                  <a:srgbClr val="262626"/>
                </a:solidFill>
                <a:latin typeface="Calibri"/>
                <a:ea typeface="Calibri"/>
                <a:cs typeface="Calibri"/>
              </a:rPr>
              <a:t>non-consensual intimate imagery; election disinformation; </a:t>
            </a:r>
            <a:r>
              <a:rPr sz="1600" b="1" i="0" u="sng">
                <a:solidFill>
                  <a:srgbClr val="262626"/>
                </a:solidFill>
                <a:latin typeface="Calibri"/>
                <a:ea typeface="Calibri"/>
                <a:cs typeface="Calibri"/>
              </a:rPr>
              <a:t>erosion of trust</a:t>
            </a:r>
            <a:r>
              <a:rPr sz="1600" b="0" i="0" u="none">
                <a:solidFill>
                  <a:srgbClr val="262626"/>
                </a:solidFill>
                <a:latin typeface="Calibri"/>
                <a:ea typeface="Calibri"/>
                <a:cs typeface="Calibri"/>
              </a:rPr>
              <a:t> (“the liar’s dividend”).</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Generative AI lowers the cost of fakes; detection is an arms race.</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Need: </a:t>
            </a:r>
            <a:r>
              <a:rPr sz="1600" b="0" i="0" u="none">
                <a:solidFill>
                  <a:srgbClr val="262626"/>
                </a:solidFill>
                <a:latin typeface="Calibri"/>
                <a:ea typeface="Calibri"/>
                <a:cs typeface="Calibri"/>
              </a:rPr>
              <a:t>provenance / watermarking, media literacy, platform policy.</a:t>
            </a:r>
          </a:p>
        </p:txBody>
      </p:sp>
      <p:sp>
        <p:nvSpPr>
          <p:cNvPr id="9" name="expanded-arrow-49-1">
            <a:extLst>
              <a:ext uri="{FF2B5EF4-FFF2-40B4-BE49-F238E27FC236}">
                <a16:creationId xmlns:a16="http://schemas.microsoft.com/office/drawing/2014/main" id="{6DD8D312-C70F-4CDC-B032-0D35311E8A77}"/>
              </a:ext>
            </a:extLst>
          </p:cNvPr>
          <p:cNvSpPr>
            <a:spLocks noGrp="1"/>
          </p:cNvSpPr>
          <p:nvPr/>
        </p:nvSpPr>
        <p:spPr>
          <a:xfrm>
            <a:off x="3581400" y="4872038"/>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49-2">
            <a:extLst>
              <a:ext uri="{FF2B5EF4-FFF2-40B4-BE49-F238E27FC236}">
                <a16:creationId xmlns:a16="http://schemas.microsoft.com/office/drawing/2014/main" id="{CFC224CA-A92F-4BF8-A1D4-04E10475DFBE}"/>
              </a:ext>
            </a:extLst>
          </p:cNvPr>
          <p:cNvSpPr>
            <a:spLocks noGrp="1"/>
          </p:cNvSpPr>
          <p:nvPr/>
        </p:nvSpPr>
        <p:spPr>
          <a:xfrm>
            <a:off x="5962650" y="4872038"/>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49-3">
            <a:extLst>
              <a:ext uri="{FF2B5EF4-FFF2-40B4-BE49-F238E27FC236}">
                <a16:creationId xmlns:a16="http://schemas.microsoft.com/office/drawing/2014/main" id="{2B987357-BA2F-42E9-99CD-917D7B5EE532}"/>
              </a:ext>
            </a:extLst>
          </p:cNvPr>
          <p:cNvSpPr>
            <a:spLocks noGrp="1"/>
          </p:cNvSpPr>
          <p:nvPr/>
        </p:nvSpPr>
        <p:spPr>
          <a:xfrm>
            <a:off x="8343900" y="4872038"/>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node-49-1">
            <a:extLst>
              <a:ext uri="{FF2B5EF4-FFF2-40B4-BE49-F238E27FC236}">
                <a16:creationId xmlns:a16="http://schemas.microsoft.com/office/drawing/2014/main" id="{CA031723-34A2-4B90-9A60-09549B63A306}"/>
              </a:ext>
            </a:extLst>
          </p:cNvPr>
          <p:cNvSpPr>
            <a:spLocks noGrp="1"/>
          </p:cNvSpPr>
          <p:nvPr/>
        </p:nvSpPr>
        <p:spPr>
          <a:xfrm>
            <a:off x="14287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CREATE</a:t>
            </a:r>
          </a:p>
        </p:txBody>
      </p:sp>
      <p:sp>
        <p:nvSpPr>
          <p:cNvPr id="13" name="expanded-node-49-2">
            <a:extLst>
              <a:ext uri="{FF2B5EF4-FFF2-40B4-BE49-F238E27FC236}">
                <a16:creationId xmlns:a16="http://schemas.microsoft.com/office/drawing/2014/main" id="{69DBEA3E-1F1D-4787-9230-8792E6FDAADB}"/>
              </a:ext>
            </a:extLst>
          </p:cNvPr>
          <p:cNvSpPr>
            <a:spLocks noGrp="1"/>
          </p:cNvSpPr>
          <p:nvPr/>
        </p:nvSpPr>
        <p:spPr>
          <a:xfrm>
            <a:off x="38100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DISTRIBUTE</a:t>
            </a:r>
          </a:p>
        </p:txBody>
      </p:sp>
      <p:sp>
        <p:nvSpPr>
          <p:cNvPr id="14" name="expanded-node-49-3">
            <a:extLst>
              <a:ext uri="{FF2B5EF4-FFF2-40B4-BE49-F238E27FC236}">
                <a16:creationId xmlns:a16="http://schemas.microsoft.com/office/drawing/2014/main" id="{048B3735-C482-4FAA-AC3F-B729ECF24489}"/>
              </a:ext>
            </a:extLst>
          </p:cNvPr>
          <p:cNvSpPr>
            <a:spLocks noGrp="1"/>
          </p:cNvSpPr>
          <p:nvPr/>
        </p:nvSpPr>
        <p:spPr>
          <a:xfrm>
            <a:off x="61912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VERIFY</a:t>
            </a:r>
          </a:p>
        </p:txBody>
      </p:sp>
      <p:sp>
        <p:nvSpPr>
          <p:cNvPr id="15" name="expanded-node-49-4">
            <a:extLst>
              <a:ext uri="{FF2B5EF4-FFF2-40B4-BE49-F238E27FC236}">
                <a16:creationId xmlns:a16="http://schemas.microsoft.com/office/drawing/2014/main" id="{3BB6FEAA-C3E6-4331-9E08-3A5AB3AE2DD2}"/>
              </a:ext>
            </a:extLst>
          </p:cNvPr>
          <p:cNvSpPr>
            <a:spLocks noGrp="1"/>
          </p:cNvSpPr>
          <p:nvPr/>
        </p:nvSpPr>
        <p:spPr>
          <a:xfrm>
            <a:off x="85725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RESPOND</a:t>
            </a:r>
          </a:p>
        </p:txBody>
      </p:sp>
      <p:sp>
        <p:nvSpPr>
          <p:cNvPr id="16" name="expanded-takeaway-49">
            <a:extLst>
              <a:ext uri="{FF2B5EF4-FFF2-40B4-BE49-F238E27FC236}">
                <a16:creationId xmlns:a16="http://schemas.microsoft.com/office/drawing/2014/main" id="{9BC3DC6D-8B97-4652-9AFB-AEF6312A5D79}"/>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Deepfake governance needs layered responses: provenance, detection, platform policy, law, literacy, and victim support.</a:t>
            </a:r>
          </a:p>
        </p:txBody>
      </p:sp>
      <p:sp>
        <p:nvSpPr>
          <p:cNvPr id="17" name="v2-page-mask-64">
            <a:extLst>
              <a:ext uri="{FF2B5EF4-FFF2-40B4-BE49-F238E27FC236}">
                <a16:creationId xmlns:a16="http://schemas.microsoft.com/office/drawing/2014/main" id="{738EFCE4-DD9E-44C9-A4B6-3152A6BD8474}"/>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8" name="v2-page-64">
            <a:extLst>
              <a:ext uri="{FF2B5EF4-FFF2-40B4-BE49-F238E27FC236}">
                <a16:creationId xmlns:a16="http://schemas.microsoft.com/office/drawing/2014/main" id="{91B856BF-5180-41AC-BB9B-AC2E90BBC30E}"/>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64</a:t>
            </a:r>
          </a:p>
        </p:txBody>
      </p:sp>
    </p:spTree>
    <p:extLst>
      <p:ext uri="{BB962C8B-B14F-4D97-AF65-F5344CB8AC3E}">
        <p14:creationId xmlns:p14="http://schemas.microsoft.com/office/powerpoint/2010/main" val="17952249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v2-background">
            <a:extLst>
              <a:ext uri="{FF2B5EF4-FFF2-40B4-BE49-F238E27FC236}">
                <a16:creationId xmlns:a16="http://schemas.microsoft.com/office/drawing/2014/main" id="{4F08FA64-C1F7-4293-9E1C-A63ACD5356AD}"/>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zh-CN" altLang="en-US"/>
          </a:p>
        </p:txBody>
      </p:sp>
      <p:sp>
        <p:nvSpPr>
          <p:cNvPr id="2" name="v2-title-rail">
            <a:extLst>
              <a:ext uri="{FF2B5EF4-FFF2-40B4-BE49-F238E27FC236}">
                <a16:creationId xmlns:a16="http://schemas.microsoft.com/office/drawing/2014/main" id="{8D0BA9C0-6F4D-43D7-AB9F-58F6DAC32476}"/>
              </a:ext>
            </a:extLst>
          </p:cNvPr>
          <p:cNvSpPr>
            <a:spLocks noGrp="1"/>
          </p:cNvSpPr>
          <p:nvPr/>
        </p:nvSpPr>
        <p:spPr>
          <a:xfrm>
            <a:off x="628650" y="400050"/>
            <a:ext cx="95250" cy="476250"/>
          </a:xfrm>
          <a:prstGeom prst="rect">
            <a:avLst/>
          </a:prstGeom>
          <a:solidFill>
            <a:srgbClr val="1F3B6D"/>
          </a:solidFill>
          <a:ln w="0">
            <a:solidFill>
              <a:srgbClr val="1F3B6D"/>
            </a:solidFill>
            <a:prstDash val="solid"/>
          </a:ln>
        </p:spPr>
        <p:txBody>
          <a:bodyPr/>
          <a:lstStyle/>
          <a:p>
            <a:endParaRPr lang="zh-CN" altLang="en-US"/>
          </a:p>
        </p:txBody>
      </p:sp>
      <p:sp>
        <p:nvSpPr>
          <p:cNvPr id="3" name="v2-title">
            <a:extLst>
              <a:ext uri="{FF2B5EF4-FFF2-40B4-BE49-F238E27FC236}">
                <a16:creationId xmlns:a16="http://schemas.microsoft.com/office/drawing/2014/main" id="{E546E267-DF16-4DE2-8629-458C3713213D}"/>
              </a:ext>
            </a:extLst>
          </p:cNvPr>
          <p:cNvSpPr>
            <a:spLocks noGrp="1"/>
          </p:cNvSpPr>
          <p:nvPr/>
        </p:nvSpPr>
        <p:spPr>
          <a:xfrm>
            <a:off x="981075" y="361950"/>
            <a:ext cx="10287000" cy="552450"/>
          </a:xfrm>
          <a:prstGeom prst="rect">
            <a:avLst/>
          </a:prstGeom>
          <a:noFill/>
          <a:ln w="0">
            <a:noFill/>
            <a:prstDash val="solid"/>
          </a:ln>
        </p:spPr>
        <p:txBody>
          <a:bodyPr/>
          <a:lstStyle/>
          <a:p>
            <a:pPr>
              <a:defRPr sz="2550" b="1">
                <a:solidFill>
                  <a:srgbClr val="1F3B6D"/>
                </a:solidFill>
              </a:defRPr>
            </a:pPr>
            <a:r>
              <a:rPr sz="2550" b="1">
                <a:solidFill>
                  <a:srgbClr val="1F3B6D"/>
                </a:solidFill>
              </a:rPr>
              <a:t>Content Provenance: What C2PA Can—and Cannot—Prove</a:t>
            </a:r>
          </a:p>
        </p:txBody>
      </p:sp>
      <p:sp>
        <p:nvSpPr>
          <p:cNvPr id="4" name="v2-rule">
            <a:extLst>
              <a:ext uri="{FF2B5EF4-FFF2-40B4-BE49-F238E27FC236}">
                <a16:creationId xmlns:a16="http://schemas.microsoft.com/office/drawing/2014/main" id="{D426641B-7E38-46E6-B770-D76716B9C685}"/>
              </a:ext>
            </a:extLst>
          </p:cNvPr>
          <p:cNvSpPr>
            <a:spLocks noGrp="1"/>
          </p:cNvSpPr>
          <p:nvPr/>
        </p:nvSpPr>
        <p:spPr>
          <a:xfrm>
            <a:off x="638175" y="1000125"/>
            <a:ext cx="10972800" cy="28575"/>
          </a:xfrm>
          <a:prstGeom prst="rect">
            <a:avLst/>
          </a:prstGeom>
          <a:solidFill>
            <a:srgbClr val="2D78B9"/>
          </a:solidFill>
          <a:ln w="0">
            <a:solidFill>
              <a:srgbClr val="2D78B9"/>
            </a:solidFill>
            <a:prstDash val="solid"/>
          </a:ln>
        </p:spPr>
        <p:txBody>
          <a:bodyPr/>
          <a:lstStyle/>
          <a:p>
            <a:endParaRPr lang="zh-CN" altLang="en-US"/>
          </a:p>
        </p:txBody>
      </p:sp>
      <p:sp>
        <p:nvSpPr>
          <p:cNvPr id="5" name="v2-subtitle">
            <a:extLst>
              <a:ext uri="{FF2B5EF4-FFF2-40B4-BE49-F238E27FC236}">
                <a16:creationId xmlns:a16="http://schemas.microsoft.com/office/drawing/2014/main" id="{ABA84A05-6CBC-43EC-815A-7834E7E28229}"/>
              </a:ext>
            </a:extLst>
          </p:cNvPr>
          <p:cNvSpPr>
            <a:spLocks noGrp="1"/>
          </p:cNvSpPr>
          <p:nvPr/>
        </p:nvSpPr>
        <p:spPr>
          <a:xfrm>
            <a:off x="981075" y="1104900"/>
            <a:ext cx="10287000" cy="323850"/>
          </a:xfrm>
          <a:prstGeom prst="rect">
            <a:avLst/>
          </a:prstGeom>
          <a:noFill/>
          <a:ln w="0">
            <a:noFill/>
            <a:prstDash val="solid"/>
          </a:ln>
        </p:spPr>
        <p:txBody>
          <a:bodyPr/>
          <a:lstStyle/>
          <a:p>
            <a:pPr>
              <a:defRPr sz="1275" i="1">
                <a:solidFill>
                  <a:srgbClr val="5B6670"/>
                </a:solidFill>
              </a:defRPr>
            </a:pPr>
            <a:r>
              <a:rPr sz="1275" i="1">
                <a:solidFill>
                  <a:srgbClr val="5B6670"/>
                </a:solidFill>
              </a:rPr>
              <a:t>Signed provenance can record origin and edits, but it does not certify truth.</a:t>
            </a:r>
          </a:p>
        </p:txBody>
      </p:sp>
      <p:sp>
        <p:nvSpPr>
          <p:cNvPr id="6" name="v2-accent">
            <a:extLst>
              <a:ext uri="{FF2B5EF4-FFF2-40B4-BE49-F238E27FC236}">
                <a16:creationId xmlns:a16="http://schemas.microsoft.com/office/drawing/2014/main" id="{612B31E6-0EDC-4DB7-9D68-1648BA314630}"/>
              </a:ext>
            </a:extLst>
          </p:cNvPr>
          <p:cNvSpPr>
            <a:spLocks noGrp="1"/>
          </p:cNvSpPr>
          <p:nvPr/>
        </p:nvSpPr>
        <p:spPr>
          <a:xfrm>
            <a:off x="11687175" y="304800"/>
            <a:ext cx="266700" cy="266700"/>
          </a:xfrm>
          <a:prstGeom prst="rect">
            <a:avLst/>
          </a:prstGeom>
          <a:solidFill>
            <a:srgbClr val="2D78B9"/>
          </a:solidFill>
          <a:ln w="0">
            <a:solidFill>
              <a:srgbClr val="2D78B9"/>
            </a:solidFill>
            <a:prstDash val="solid"/>
          </a:ln>
        </p:spPr>
        <p:txBody>
          <a:bodyPr/>
          <a:lstStyle/>
          <a:p>
            <a:endParaRPr lang="zh-CN" altLang="en-US"/>
          </a:p>
        </p:txBody>
      </p:sp>
      <p:sp>
        <p:nvSpPr>
          <p:cNvPr id="7" name="v2-footer">
            <a:extLst>
              <a:ext uri="{FF2B5EF4-FFF2-40B4-BE49-F238E27FC236}">
                <a16:creationId xmlns:a16="http://schemas.microsoft.com/office/drawing/2014/main" id="{D1C499E6-5174-4881-931F-1B1641AFFE3B}"/>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pic>
        <p:nvPicPr>
          <p:cNvPr id="20" name="图片 19"/>
          <p:cNvPicPr>
            <a:picLocks noChangeAspect="1"/>
          </p:cNvPicPr>
          <p:nvPr/>
        </p:nvPicPr>
        <p:blipFill>
          <a:blip r:embed="rId3"/>
          <a:stretch/>
        </p:blipFill>
        <p:spPr>
          <a:xfrm>
            <a:off x="5322280" y="1428750"/>
            <a:ext cx="6024190" cy="4000500"/>
          </a:xfrm>
          <a:prstGeom prst="rect">
            <a:avLst/>
          </a:prstGeom>
        </p:spPr>
      </p:pic>
      <p:sp>
        <p:nvSpPr>
          <p:cNvPr id="9" name="v2-bullets">
            <a:extLst>
              <a:ext uri="{FF2B5EF4-FFF2-40B4-BE49-F238E27FC236}">
                <a16:creationId xmlns:a16="http://schemas.microsoft.com/office/drawing/2014/main" id="{DFF7E547-43C8-42FB-A306-3562D59DBAE1}"/>
              </a:ext>
            </a:extLst>
          </p:cNvPr>
          <p:cNvSpPr>
            <a:spLocks noGrp="1"/>
          </p:cNvSpPr>
          <p:nvPr/>
        </p:nvSpPr>
        <p:spPr>
          <a:xfrm>
            <a:off x="857250" y="1809750"/>
            <a:ext cx="3905250" cy="2333625"/>
          </a:xfrm>
          <a:prstGeom prst="rect">
            <a:avLst/>
          </a:prstGeom>
          <a:noFill/>
          <a:ln w="0">
            <a:noFill/>
            <a:prstDash val="solid"/>
          </a:ln>
        </p:spPr>
        <p:txBody>
          <a:bodyPr/>
          <a:lstStyle/>
          <a:p>
            <a:pPr>
              <a:defRPr sz="1500">
                <a:solidFill>
                  <a:srgbClr val="263442"/>
                </a:solidFill>
              </a:defRPr>
            </a:pPr>
            <a:r>
              <a:rPr sz="1500">
                <a:solidFill>
                  <a:srgbClr val="263442"/>
                </a:solidFill>
              </a:rPr>
              <a:t>•  A manifest can bind claims and signatures to an asset.</a:t>
            </a:r>
          </a:p>
          <a:p>
            <a:pPr>
              <a:defRPr sz="1500">
                <a:solidFill>
                  <a:srgbClr val="263442"/>
                </a:solidFill>
              </a:defRPr>
            </a:pPr>
            <a:r>
              <a:rPr sz="1500">
                <a:solidFill>
                  <a:srgbClr val="263442"/>
                </a:solidFill>
              </a:rPr>
              <a:t>•  Edit history helps users inspect provenance and detect tampering.</a:t>
            </a:r>
          </a:p>
          <a:p>
            <a:pPr>
              <a:defRPr sz="1500">
                <a:solidFill>
                  <a:srgbClr val="263442"/>
                </a:solidFill>
              </a:defRPr>
            </a:pPr>
            <a:r>
              <a:rPr sz="1500">
                <a:solidFill>
                  <a:srgbClr val="263442"/>
                </a:solidFill>
              </a:rPr>
              <a:t>•  Authentic provenance can still accompany misleading content.</a:t>
            </a:r>
          </a:p>
        </p:txBody>
      </p:sp>
      <p:sp>
        <p:nvSpPr>
          <p:cNvPr id="10" name="v2-takeaway">
            <a:extLst>
              <a:ext uri="{FF2B5EF4-FFF2-40B4-BE49-F238E27FC236}">
                <a16:creationId xmlns:a16="http://schemas.microsoft.com/office/drawing/2014/main" id="{80333F13-6D47-4C35-B109-B2168AE5E9DA}"/>
              </a:ext>
            </a:extLst>
          </p:cNvPr>
          <p:cNvSpPr>
            <a:spLocks noGrp="1"/>
          </p:cNvSpPr>
          <p:nvPr/>
        </p:nvSpPr>
        <p:spPr>
          <a:xfrm>
            <a:off x="876300" y="575310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defRPr sz="1200" b="1">
                <a:solidFill>
                  <a:srgbClr val="1F3B6D"/>
                </a:solidFill>
              </a:defRPr>
            </a:pPr>
            <a:r>
              <a:rPr sz="1200" b="1">
                <a:solidFill>
                  <a:srgbClr val="1F3B6D"/>
                </a:solidFill>
              </a:rPr>
              <a:t>Provenance supports verification; it does not replace contextual judgment or fact-checking.</a:t>
            </a:r>
          </a:p>
        </p:txBody>
      </p:sp>
      <p:sp>
        <p:nvSpPr>
          <p:cNvPr id="11" name="v2-page-mask-65">
            <a:extLst>
              <a:ext uri="{FF2B5EF4-FFF2-40B4-BE49-F238E27FC236}">
                <a16:creationId xmlns:a16="http://schemas.microsoft.com/office/drawing/2014/main" id="{926BD03D-3059-4A40-ABFF-639332EF06FD}"/>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2" name="v2-page-65">
            <a:extLst>
              <a:ext uri="{FF2B5EF4-FFF2-40B4-BE49-F238E27FC236}">
                <a16:creationId xmlns:a16="http://schemas.microsoft.com/office/drawing/2014/main" id="{60B54F1F-C74D-499C-B425-A5AC26A349F1}"/>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65</a:t>
            </a:r>
          </a:p>
        </p:txBody>
      </p:sp>
    </p:spTree>
    <p:extLst>
      <p:ext uri="{BB962C8B-B14F-4D97-AF65-F5344CB8AC3E}">
        <p14:creationId xmlns:p14="http://schemas.microsoft.com/office/powerpoint/2010/main" val="11161954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0CC3AB8-D132-4BE9-B80C-35D72F90B8A3}"/>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47B9A291-70E6-408F-9D51-4F052D9AE930}"/>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AD0B7785-E7A6-4ED9-AF77-E8632DC45DE3}"/>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Case 6: Autonomous Systems — Vehicles &amp; Weapons</a:t>
            </a:r>
          </a:p>
        </p:txBody>
      </p:sp>
      <p:sp>
        <p:nvSpPr>
          <p:cNvPr id="5" name="Rectangle 4">
            <a:extLst>
              <a:ext uri="{FF2B5EF4-FFF2-40B4-BE49-F238E27FC236}">
                <a16:creationId xmlns:a16="http://schemas.microsoft.com/office/drawing/2014/main" id="{8745A5BF-84F8-49DE-8A6E-48196D66E7E4}"/>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42EC268D-4FFF-4C86-B565-68C33AED56F0}"/>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53408CF8-2E5B-4390-B479-19EF4C7ACF57}"/>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50</a:t>
            </a:r>
          </a:p>
        </p:txBody>
      </p:sp>
      <p:sp>
        <p:nvSpPr>
          <p:cNvPr id="8" name="TextBox 7">
            <a:extLst>
              <a:ext uri="{FF2B5EF4-FFF2-40B4-BE49-F238E27FC236}">
                <a16:creationId xmlns:a16="http://schemas.microsoft.com/office/drawing/2014/main" id="{B8F158EF-6CF1-4A9F-8D99-F6843AEB2DD5}"/>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Autonomous vehicles: </a:t>
            </a:r>
            <a:r>
              <a:rPr sz="1600" b="0" i="0" u="none">
                <a:solidFill>
                  <a:srgbClr val="262626"/>
                </a:solidFill>
                <a:latin typeface="Calibri"/>
                <a:ea typeface="Calibri"/>
                <a:cs typeface="Calibri"/>
              </a:rPr>
              <a:t>split-second harm; the </a:t>
            </a:r>
            <a:r>
              <a:rPr sz="1600" b="1" i="0" u="sng">
                <a:solidFill>
                  <a:srgbClr val="262626"/>
                </a:solidFill>
                <a:latin typeface="Calibri"/>
                <a:ea typeface="Calibri"/>
                <a:cs typeface="Calibri"/>
              </a:rPr>
              <a:t>Moral Machine</a:t>
            </a:r>
            <a:r>
              <a:rPr sz="1600" b="0" i="0" u="none">
                <a:solidFill>
                  <a:srgbClr val="262626"/>
                </a:solidFill>
                <a:latin typeface="Calibri"/>
                <a:ea typeface="Calibri"/>
                <a:cs typeface="Calibri"/>
              </a:rPr>
              <a:t> experiment shows cross-cultural variation.</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Lethal autonomous weapons (LAWS): </a:t>
            </a:r>
            <a:r>
              <a:rPr sz="1600" b="0" i="0" u="none">
                <a:solidFill>
                  <a:srgbClr val="262626"/>
                </a:solidFill>
                <a:latin typeface="Calibri"/>
                <a:ea typeface="Calibri"/>
                <a:cs typeface="Calibri"/>
              </a:rPr>
              <a:t>machines that select targets.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Responsibility gap: </a:t>
            </a:r>
            <a:r>
              <a:rPr sz="1600" b="0" i="0" u="none">
                <a:solidFill>
                  <a:srgbClr val="262626"/>
                </a:solidFill>
                <a:latin typeface="Calibri"/>
                <a:ea typeface="Calibri"/>
                <a:cs typeface="Calibri"/>
              </a:rPr>
              <a:t>who is liable / accountable for an autonomous decision?</a:t>
            </a:r>
          </a:p>
          <a:p>
            <a:pPr marL="285750" indent="-285750" algn="l">
              <a:lnSpc>
                <a:spcPct val="116000"/>
              </a:lnSpc>
              <a:spcBef>
                <a:spcPts val="0"/>
              </a:spcBef>
              <a:spcAft>
                <a:spcPts val="700"/>
              </a:spcAft>
              <a:buClr>
                <a:srgbClr val="2E75B6"/>
              </a:buClr>
              <a:buSzPct val="100000"/>
              <a:buFont typeface="Arial"/>
              <a:buChar char="•"/>
            </a:pPr>
            <a:r>
              <a:rPr sz="1500" b="1" i="0" u="none">
                <a:solidFill>
                  <a:srgbClr val="1F3864"/>
                </a:solidFill>
                <a:latin typeface="Calibri"/>
                <a:ea typeface="Calibri"/>
                <a:cs typeface="Calibri"/>
              </a:rPr>
              <a:t>Stakes: </a:t>
            </a:r>
            <a:r>
              <a:rPr sz="1500" b="0" i="1" u="none">
                <a:solidFill>
                  <a:srgbClr val="595959"/>
                </a:solidFill>
                <a:latin typeface="Calibri"/>
                <a:ea typeface="Calibri"/>
                <a:cs typeface="Calibri"/>
              </a:rPr>
              <a:t>life-and-death decisions delegated to opaque systems.</a:t>
            </a:r>
          </a:p>
        </p:txBody>
      </p:sp>
      <p:sp>
        <p:nvSpPr>
          <p:cNvPr id="9" name="expanded-arrow-50-1">
            <a:extLst>
              <a:ext uri="{FF2B5EF4-FFF2-40B4-BE49-F238E27FC236}">
                <a16:creationId xmlns:a16="http://schemas.microsoft.com/office/drawing/2014/main" id="{4D1F6D1F-E992-4B38-BC68-9C758EFD0179}"/>
              </a:ext>
            </a:extLst>
          </p:cNvPr>
          <p:cNvSpPr>
            <a:spLocks noGrp="1"/>
          </p:cNvSpPr>
          <p:nvPr/>
        </p:nvSpPr>
        <p:spPr>
          <a:xfrm>
            <a:off x="4772025" y="4872038"/>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50-2">
            <a:extLst>
              <a:ext uri="{FF2B5EF4-FFF2-40B4-BE49-F238E27FC236}">
                <a16:creationId xmlns:a16="http://schemas.microsoft.com/office/drawing/2014/main" id="{A4E055B7-5851-4B1B-BF78-7003EA1B96E2}"/>
              </a:ext>
            </a:extLst>
          </p:cNvPr>
          <p:cNvSpPr>
            <a:spLocks noGrp="1"/>
          </p:cNvSpPr>
          <p:nvPr/>
        </p:nvSpPr>
        <p:spPr>
          <a:xfrm>
            <a:off x="7153275" y="4872038"/>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node-50-1">
            <a:extLst>
              <a:ext uri="{FF2B5EF4-FFF2-40B4-BE49-F238E27FC236}">
                <a16:creationId xmlns:a16="http://schemas.microsoft.com/office/drawing/2014/main" id="{C58D993F-A5AA-4911-A526-250726516BBD}"/>
              </a:ext>
            </a:extLst>
          </p:cNvPr>
          <p:cNvSpPr>
            <a:spLocks noGrp="1"/>
          </p:cNvSpPr>
          <p:nvPr/>
        </p:nvSpPr>
        <p:spPr>
          <a:xfrm>
            <a:off x="26193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VEHICLES</a:t>
            </a:r>
          </a:p>
        </p:txBody>
      </p:sp>
      <p:sp>
        <p:nvSpPr>
          <p:cNvPr id="12" name="expanded-node-50-2">
            <a:extLst>
              <a:ext uri="{FF2B5EF4-FFF2-40B4-BE49-F238E27FC236}">
                <a16:creationId xmlns:a16="http://schemas.microsoft.com/office/drawing/2014/main" id="{DE2D5127-0252-4CEE-A4E1-CDDCEE8211D9}"/>
              </a:ext>
            </a:extLst>
          </p:cNvPr>
          <p:cNvSpPr>
            <a:spLocks noGrp="1"/>
          </p:cNvSpPr>
          <p:nvPr/>
        </p:nvSpPr>
        <p:spPr>
          <a:xfrm>
            <a:off x="5000625"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WEAPONS</a:t>
            </a:r>
          </a:p>
        </p:txBody>
      </p:sp>
      <p:sp>
        <p:nvSpPr>
          <p:cNvPr id="13" name="expanded-node-50-3">
            <a:extLst>
              <a:ext uri="{FF2B5EF4-FFF2-40B4-BE49-F238E27FC236}">
                <a16:creationId xmlns:a16="http://schemas.microsoft.com/office/drawing/2014/main" id="{FDA30032-D765-4ABA-9E08-A206FE2893F8}"/>
              </a:ext>
            </a:extLst>
          </p:cNvPr>
          <p:cNvSpPr>
            <a:spLocks noGrp="1"/>
          </p:cNvSpPr>
          <p:nvPr/>
        </p:nvSpPr>
        <p:spPr>
          <a:xfrm>
            <a:off x="7381875"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HUMAN CONTROL</a:t>
            </a:r>
          </a:p>
        </p:txBody>
      </p:sp>
      <p:sp>
        <p:nvSpPr>
          <p:cNvPr id="14" name="expanded-takeaway-50">
            <a:extLst>
              <a:ext uri="{FF2B5EF4-FFF2-40B4-BE49-F238E27FC236}">
                <a16:creationId xmlns:a16="http://schemas.microsoft.com/office/drawing/2014/main" id="{8F2882B3-7809-469E-B7C5-F3C648300313}"/>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Vehicles and weapons differ in purpose, but both raise questions about meaningful human control and accountability.</a:t>
            </a:r>
          </a:p>
        </p:txBody>
      </p:sp>
      <p:sp>
        <p:nvSpPr>
          <p:cNvPr id="15" name="v2-page-mask-66">
            <a:extLst>
              <a:ext uri="{FF2B5EF4-FFF2-40B4-BE49-F238E27FC236}">
                <a16:creationId xmlns:a16="http://schemas.microsoft.com/office/drawing/2014/main" id="{D5D2A237-237A-4F86-AF3C-DA7D970B74CC}"/>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6" name="v2-page-66">
            <a:extLst>
              <a:ext uri="{FF2B5EF4-FFF2-40B4-BE49-F238E27FC236}">
                <a16:creationId xmlns:a16="http://schemas.microsoft.com/office/drawing/2014/main" id="{CC470A7F-5D90-4543-A95C-500C61232550}"/>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66</a:t>
            </a:r>
          </a:p>
        </p:txBody>
      </p:sp>
    </p:spTree>
    <p:extLst>
      <p:ext uri="{BB962C8B-B14F-4D97-AF65-F5344CB8AC3E}">
        <p14:creationId xmlns:p14="http://schemas.microsoft.com/office/powerpoint/2010/main" val="67206740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v2-background">
            <a:extLst>
              <a:ext uri="{FF2B5EF4-FFF2-40B4-BE49-F238E27FC236}">
                <a16:creationId xmlns:a16="http://schemas.microsoft.com/office/drawing/2014/main" id="{70B07A1F-C771-487B-83F2-3ACA36998917}"/>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zh-CN" altLang="en-US"/>
          </a:p>
        </p:txBody>
      </p:sp>
      <p:sp>
        <p:nvSpPr>
          <p:cNvPr id="2" name="v2-title-rail">
            <a:extLst>
              <a:ext uri="{FF2B5EF4-FFF2-40B4-BE49-F238E27FC236}">
                <a16:creationId xmlns:a16="http://schemas.microsoft.com/office/drawing/2014/main" id="{D717AF58-6DC0-431B-8ED3-B4B0F0670EC9}"/>
              </a:ext>
            </a:extLst>
          </p:cNvPr>
          <p:cNvSpPr>
            <a:spLocks noGrp="1"/>
          </p:cNvSpPr>
          <p:nvPr/>
        </p:nvSpPr>
        <p:spPr>
          <a:xfrm>
            <a:off x="628650" y="400050"/>
            <a:ext cx="95250" cy="476250"/>
          </a:xfrm>
          <a:prstGeom prst="rect">
            <a:avLst/>
          </a:prstGeom>
          <a:solidFill>
            <a:srgbClr val="1F3B6D"/>
          </a:solidFill>
          <a:ln w="0">
            <a:solidFill>
              <a:srgbClr val="1F3B6D"/>
            </a:solidFill>
            <a:prstDash val="solid"/>
          </a:ln>
        </p:spPr>
        <p:txBody>
          <a:bodyPr/>
          <a:lstStyle/>
          <a:p>
            <a:endParaRPr lang="zh-CN" altLang="en-US"/>
          </a:p>
        </p:txBody>
      </p:sp>
      <p:sp>
        <p:nvSpPr>
          <p:cNvPr id="3" name="v2-title">
            <a:extLst>
              <a:ext uri="{FF2B5EF4-FFF2-40B4-BE49-F238E27FC236}">
                <a16:creationId xmlns:a16="http://schemas.microsoft.com/office/drawing/2014/main" id="{755212DD-5176-471D-87DC-EEA53D615000}"/>
              </a:ext>
            </a:extLst>
          </p:cNvPr>
          <p:cNvSpPr>
            <a:spLocks noGrp="1"/>
          </p:cNvSpPr>
          <p:nvPr/>
        </p:nvSpPr>
        <p:spPr>
          <a:xfrm>
            <a:off x="981075" y="361950"/>
            <a:ext cx="10287000" cy="552450"/>
          </a:xfrm>
          <a:prstGeom prst="rect">
            <a:avLst/>
          </a:prstGeom>
          <a:noFill/>
          <a:ln w="0">
            <a:noFill/>
            <a:prstDash val="solid"/>
          </a:ln>
        </p:spPr>
        <p:txBody>
          <a:bodyPr/>
          <a:lstStyle/>
          <a:p>
            <a:pPr>
              <a:defRPr sz="2550" b="1">
                <a:solidFill>
                  <a:srgbClr val="1F3B6D"/>
                </a:solidFill>
              </a:defRPr>
            </a:pPr>
            <a:r>
              <a:rPr sz="2550" b="1">
                <a:solidFill>
                  <a:srgbClr val="1F3B6D"/>
                </a:solidFill>
              </a:rPr>
              <a:t>Structured Debate: Meaningful Human Control</a:t>
            </a:r>
          </a:p>
        </p:txBody>
      </p:sp>
      <p:sp>
        <p:nvSpPr>
          <p:cNvPr id="4" name="v2-rule">
            <a:extLst>
              <a:ext uri="{FF2B5EF4-FFF2-40B4-BE49-F238E27FC236}">
                <a16:creationId xmlns:a16="http://schemas.microsoft.com/office/drawing/2014/main" id="{B972C6C7-1E90-4F2A-8C80-F3125A5B1F06}"/>
              </a:ext>
            </a:extLst>
          </p:cNvPr>
          <p:cNvSpPr>
            <a:spLocks noGrp="1"/>
          </p:cNvSpPr>
          <p:nvPr/>
        </p:nvSpPr>
        <p:spPr>
          <a:xfrm>
            <a:off x="638175" y="1000125"/>
            <a:ext cx="10972800" cy="28575"/>
          </a:xfrm>
          <a:prstGeom prst="rect">
            <a:avLst/>
          </a:prstGeom>
          <a:solidFill>
            <a:srgbClr val="2D78B9"/>
          </a:solidFill>
          <a:ln w="0">
            <a:solidFill>
              <a:srgbClr val="2D78B9"/>
            </a:solidFill>
            <a:prstDash val="solid"/>
          </a:ln>
        </p:spPr>
        <p:txBody>
          <a:bodyPr/>
          <a:lstStyle/>
          <a:p>
            <a:endParaRPr lang="zh-CN" altLang="en-US"/>
          </a:p>
        </p:txBody>
      </p:sp>
      <p:sp>
        <p:nvSpPr>
          <p:cNvPr id="5" name="v2-subtitle">
            <a:extLst>
              <a:ext uri="{FF2B5EF4-FFF2-40B4-BE49-F238E27FC236}">
                <a16:creationId xmlns:a16="http://schemas.microsoft.com/office/drawing/2014/main" id="{2C08743F-4560-4B42-857D-028FB976E0D6}"/>
              </a:ext>
            </a:extLst>
          </p:cNvPr>
          <p:cNvSpPr>
            <a:spLocks noGrp="1"/>
          </p:cNvSpPr>
          <p:nvPr/>
        </p:nvSpPr>
        <p:spPr>
          <a:xfrm>
            <a:off x="981075" y="1104900"/>
            <a:ext cx="10287000" cy="323850"/>
          </a:xfrm>
          <a:prstGeom prst="rect">
            <a:avLst/>
          </a:prstGeom>
          <a:noFill/>
          <a:ln w="0">
            <a:noFill/>
            <a:prstDash val="solid"/>
          </a:ln>
        </p:spPr>
        <p:txBody>
          <a:bodyPr/>
          <a:lstStyle/>
          <a:p>
            <a:pPr>
              <a:defRPr sz="1275" i="1">
                <a:solidFill>
                  <a:srgbClr val="5B6670"/>
                </a:solidFill>
              </a:defRPr>
            </a:pPr>
            <a:r>
              <a:rPr sz="1275" i="1">
                <a:solidFill>
                  <a:srgbClr val="5B6670"/>
                </a:solidFill>
              </a:rPr>
              <a:t>Compare autonomous vehicles and lethal autonomous weapons without assuming they are ethically equivalent.</a:t>
            </a:r>
          </a:p>
        </p:txBody>
      </p:sp>
      <p:sp>
        <p:nvSpPr>
          <p:cNvPr id="6" name="v2-accent">
            <a:extLst>
              <a:ext uri="{FF2B5EF4-FFF2-40B4-BE49-F238E27FC236}">
                <a16:creationId xmlns:a16="http://schemas.microsoft.com/office/drawing/2014/main" id="{1315B164-44D0-43AC-9D8E-F1B0607F3C53}"/>
              </a:ext>
            </a:extLst>
          </p:cNvPr>
          <p:cNvSpPr>
            <a:spLocks noGrp="1"/>
          </p:cNvSpPr>
          <p:nvPr/>
        </p:nvSpPr>
        <p:spPr>
          <a:xfrm>
            <a:off x="11687175" y="304800"/>
            <a:ext cx="266700" cy="266700"/>
          </a:xfrm>
          <a:prstGeom prst="rect">
            <a:avLst/>
          </a:prstGeom>
          <a:solidFill>
            <a:srgbClr val="2D78B9"/>
          </a:solidFill>
          <a:ln w="0">
            <a:solidFill>
              <a:srgbClr val="2D78B9"/>
            </a:solidFill>
            <a:prstDash val="solid"/>
          </a:ln>
        </p:spPr>
        <p:txBody>
          <a:bodyPr/>
          <a:lstStyle/>
          <a:p>
            <a:endParaRPr lang="zh-CN" altLang="en-US"/>
          </a:p>
        </p:txBody>
      </p:sp>
      <p:sp>
        <p:nvSpPr>
          <p:cNvPr id="7" name="v2-footer">
            <a:extLst>
              <a:ext uri="{FF2B5EF4-FFF2-40B4-BE49-F238E27FC236}">
                <a16:creationId xmlns:a16="http://schemas.microsoft.com/office/drawing/2014/main" id="{6BDA55D4-EEB3-421E-AD94-53FBA703556A}"/>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sp>
        <p:nvSpPr>
          <p:cNvPr id="8" name="head-a">
            <a:extLst>
              <a:ext uri="{FF2B5EF4-FFF2-40B4-BE49-F238E27FC236}">
                <a16:creationId xmlns:a16="http://schemas.microsoft.com/office/drawing/2014/main" id="{B96C45B3-DA9B-48A3-8D14-B7AC4611EA6E}"/>
              </a:ext>
            </a:extLst>
          </p:cNvPr>
          <p:cNvSpPr>
            <a:spLocks noGrp="1"/>
          </p:cNvSpPr>
          <p:nvPr/>
        </p:nvSpPr>
        <p:spPr>
          <a:xfrm>
            <a:off x="3905250" y="1571625"/>
            <a:ext cx="3333750" cy="523875"/>
          </a:xfrm>
          <a:prstGeom prst="rect">
            <a:avLst/>
          </a:prstGeom>
          <a:solidFill>
            <a:srgbClr val="2D78B9"/>
          </a:solidFill>
          <a:ln w="0">
            <a:solidFill>
              <a:srgbClr val="2D78B9"/>
            </a:solidFill>
            <a:prstDash val="solid"/>
          </a:ln>
        </p:spPr>
        <p:txBody>
          <a:bodyPr anchor="ctr"/>
          <a:lstStyle/>
          <a:p>
            <a:pPr algn="ctr">
              <a:defRPr sz="1350" b="1">
                <a:solidFill>
                  <a:srgbClr val="FFFFFF"/>
                </a:solidFill>
              </a:defRPr>
            </a:pPr>
            <a:r>
              <a:rPr sz="1350" b="1">
                <a:solidFill>
                  <a:srgbClr val="FFFFFF"/>
                </a:solidFill>
              </a:rPr>
              <a:t>AUTONOMOUS VEHICLES</a:t>
            </a:r>
          </a:p>
        </p:txBody>
      </p:sp>
      <p:sp>
        <p:nvSpPr>
          <p:cNvPr id="9" name="head-b">
            <a:extLst>
              <a:ext uri="{FF2B5EF4-FFF2-40B4-BE49-F238E27FC236}">
                <a16:creationId xmlns:a16="http://schemas.microsoft.com/office/drawing/2014/main" id="{AA5C7BE2-161C-42F9-8C0E-DED9924F1205}"/>
              </a:ext>
            </a:extLst>
          </p:cNvPr>
          <p:cNvSpPr>
            <a:spLocks noGrp="1"/>
          </p:cNvSpPr>
          <p:nvPr/>
        </p:nvSpPr>
        <p:spPr>
          <a:xfrm>
            <a:off x="7524750" y="1571625"/>
            <a:ext cx="3333750" cy="523875"/>
          </a:xfrm>
          <a:prstGeom prst="rect">
            <a:avLst/>
          </a:prstGeom>
          <a:solidFill>
            <a:srgbClr val="1F3B6D"/>
          </a:solidFill>
          <a:ln w="0">
            <a:solidFill>
              <a:srgbClr val="1F3B6D"/>
            </a:solidFill>
            <a:prstDash val="solid"/>
          </a:ln>
        </p:spPr>
        <p:txBody>
          <a:bodyPr anchor="ctr"/>
          <a:lstStyle/>
          <a:p>
            <a:pPr algn="ctr">
              <a:defRPr sz="1350" b="1">
                <a:solidFill>
                  <a:srgbClr val="FFFFFF"/>
                </a:solidFill>
              </a:defRPr>
            </a:pPr>
            <a:r>
              <a:rPr sz="1350" b="1">
                <a:solidFill>
                  <a:srgbClr val="FFFFFF"/>
                </a:solidFill>
              </a:rPr>
              <a:t>AUTONOMOUS WEAPONS</a:t>
            </a:r>
          </a:p>
        </p:txBody>
      </p:sp>
      <p:sp>
        <p:nvSpPr>
          <p:cNvPr id="10" name="rowlab-0">
            <a:extLst>
              <a:ext uri="{FF2B5EF4-FFF2-40B4-BE49-F238E27FC236}">
                <a16:creationId xmlns:a16="http://schemas.microsoft.com/office/drawing/2014/main" id="{2B06DDD8-4C95-4EDD-A41A-82C0DD809E1F}"/>
              </a:ext>
            </a:extLst>
          </p:cNvPr>
          <p:cNvSpPr>
            <a:spLocks noGrp="1"/>
          </p:cNvSpPr>
          <p:nvPr/>
        </p:nvSpPr>
        <p:spPr>
          <a:xfrm>
            <a:off x="952500" y="2190750"/>
            <a:ext cx="2667000" cy="514350"/>
          </a:xfrm>
          <a:prstGeom prst="rect">
            <a:avLst/>
          </a:prstGeom>
          <a:noFill/>
          <a:ln w="0">
            <a:noFill/>
            <a:prstDash val="solid"/>
          </a:ln>
        </p:spPr>
        <p:txBody>
          <a:bodyPr anchor="ctr"/>
          <a:lstStyle/>
          <a:p>
            <a:pPr>
              <a:defRPr sz="1200" b="1">
                <a:solidFill>
                  <a:srgbClr val="1F3B6D"/>
                </a:solidFill>
              </a:defRPr>
            </a:pPr>
            <a:r>
              <a:rPr sz="1200" b="1">
                <a:solidFill>
                  <a:srgbClr val="1F3B6D"/>
                </a:solidFill>
              </a:rPr>
              <a:t>PURPOSE</a:t>
            </a:r>
          </a:p>
        </p:txBody>
      </p:sp>
      <p:sp>
        <p:nvSpPr>
          <p:cNvPr id="11" name="ra-0">
            <a:extLst>
              <a:ext uri="{FF2B5EF4-FFF2-40B4-BE49-F238E27FC236}">
                <a16:creationId xmlns:a16="http://schemas.microsoft.com/office/drawing/2014/main" id="{2260C034-814A-4E91-8932-86F369AB46E7}"/>
              </a:ext>
            </a:extLst>
          </p:cNvPr>
          <p:cNvSpPr>
            <a:spLocks noGrp="1"/>
          </p:cNvSpPr>
          <p:nvPr/>
        </p:nvSpPr>
        <p:spPr>
          <a:xfrm>
            <a:off x="3905250" y="2190750"/>
            <a:ext cx="3333750" cy="514350"/>
          </a:xfrm>
          <a:prstGeom prst="rect">
            <a:avLst/>
          </a:prstGeom>
          <a:solidFill>
            <a:srgbClr val="EAF3FB"/>
          </a:solidFill>
          <a:ln w="9525">
            <a:solidFill>
              <a:srgbClr val="B9D7EF"/>
            </a:solidFill>
            <a:prstDash val="solid"/>
          </a:ln>
        </p:spPr>
        <p:txBody>
          <a:bodyPr anchor="ctr"/>
          <a:lstStyle/>
          <a:p>
            <a:pPr algn="ctr">
              <a:defRPr sz="1125">
                <a:solidFill>
                  <a:srgbClr val="263442"/>
                </a:solidFill>
              </a:defRPr>
            </a:pPr>
            <a:r>
              <a:rPr sz="1125">
                <a:solidFill>
                  <a:srgbClr val="263442"/>
                </a:solidFill>
              </a:rPr>
              <a:t>mobility and safety</a:t>
            </a:r>
          </a:p>
        </p:txBody>
      </p:sp>
      <p:sp>
        <p:nvSpPr>
          <p:cNvPr id="12" name="rb-0">
            <a:extLst>
              <a:ext uri="{FF2B5EF4-FFF2-40B4-BE49-F238E27FC236}">
                <a16:creationId xmlns:a16="http://schemas.microsoft.com/office/drawing/2014/main" id="{87F7CFEF-1EEC-473A-97AA-CC9AE3732A17}"/>
              </a:ext>
            </a:extLst>
          </p:cNvPr>
          <p:cNvSpPr>
            <a:spLocks noGrp="1"/>
          </p:cNvSpPr>
          <p:nvPr/>
        </p:nvSpPr>
        <p:spPr>
          <a:xfrm>
            <a:off x="7524750" y="2190750"/>
            <a:ext cx="3333750" cy="514350"/>
          </a:xfrm>
          <a:prstGeom prst="rect">
            <a:avLst/>
          </a:prstGeom>
          <a:solidFill>
            <a:srgbClr val="F5FAFE"/>
          </a:solidFill>
          <a:ln w="9525">
            <a:solidFill>
              <a:srgbClr val="B9D7EF"/>
            </a:solidFill>
            <a:prstDash val="solid"/>
          </a:ln>
        </p:spPr>
        <p:txBody>
          <a:bodyPr anchor="ctr"/>
          <a:lstStyle/>
          <a:p>
            <a:pPr algn="ctr">
              <a:defRPr sz="1125">
                <a:solidFill>
                  <a:srgbClr val="263442"/>
                </a:solidFill>
              </a:defRPr>
            </a:pPr>
            <a:r>
              <a:rPr sz="1125">
                <a:solidFill>
                  <a:srgbClr val="263442"/>
                </a:solidFill>
              </a:rPr>
              <a:t>selection and use of force</a:t>
            </a:r>
          </a:p>
        </p:txBody>
      </p:sp>
      <p:sp>
        <p:nvSpPr>
          <p:cNvPr id="13" name="rowlab-1">
            <a:extLst>
              <a:ext uri="{FF2B5EF4-FFF2-40B4-BE49-F238E27FC236}">
                <a16:creationId xmlns:a16="http://schemas.microsoft.com/office/drawing/2014/main" id="{5BC500BD-1CD0-42AA-9F38-8985EEA045FB}"/>
              </a:ext>
            </a:extLst>
          </p:cNvPr>
          <p:cNvSpPr>
            <a:spLocks noGrp="1"/>
          </p:cNvSpPr>
          <p:nvPr/>
        </p:nvSpPr>
        <p:spPr>
          <a:xfrm>
            <a:off x="952500" y="2819400"/>
            <a:ext cx="2667000" cy="514350"/>
          </a:xfrm>
          <a:prstGeom prst="rect">
            <a:avLst/>
          </a:prstGeom>
          <a:noFill/>
          <a:ln w="0">
            <a:noFill/>
            <a:prstDash val="solid"/>
          </a:ln>
        </p:spPr>
        <p:txBody>
          <a:bodyPr anchor="ctr"/>
          <a:lstStyle/>
          <a:p>
            <a:pPr>
              <a:defRPr sz="1200" b="1">
                <a:solidFill>
                  <a:srgbClr val="1F3B6D"/>
                </a:solidFill>
              </a:defRPr>
            </a:pPr>
            <a:r>
              <a:rPr sz="1200" b="1">
                <a:solidFill>
                  <a:srgbClr val="1F3B6D"/>
                </a:solidFill>
              </a:rPr>
              <a:t>TIME PRESSURE</a:t>
            </a:r>
          </a:p>
        </p:txBody>
      </p:sp>
      <p:sp>
        <p:nvSpPr>
          <p:cNvPr id="14" name="ra-1">
            <a:extLst>
              <a:ext uri="{FF2B5EF4-FFF2-40B4-BE49-F238E27FC236}">
                <a16:creationId xmlns:a16="http://schemas.microsoft.com/office/drawing/2014/main" id="{819E98B7-793A-4AFA-9D9D-7F3759BE88A9}"/>
              </a:ext>
            </a:extLst>
          </p:cNvPr>
          <p:cNvSpPr>
            <a:spLocks noGrp="1"/>
          </p:cNvSpPr>
          <p:nvPr/>
        </p:nvSpPr>
        <p:spPr>
          <a:xfrm>
            <a:off x="3905250" y="2819400"/>
            <a:ext cx="3333750" cy="514350"/>
          </a:xfrm>
          <a:prstGeom prst="rect">
            <a:avLst/>
          </a:prstGeom>
          <a:solidFill>
            <a:srgbClr val="F5FAFE"/>
          </a:solidFill>
          <a:ln w="9525">
            <a:solidFill>
              <a:srgbClr val="B9D7EF"/>
            </a:solidFill>
            <a:prstDash val="solid"/>
          </a:ln>
        </p:spPr>
        <p:txBody>
          <a:bodyPr anchor="ctr"/>
          <a:lstStyle/>
          <a:p>
            <a:pPr algn="ctr">
              <a:defRPr sz="1125">
                <a:solidFill>
                  <a:srgbClr val="263442"/>
                </a:solidFill>
              </a:defRPr>
            </a:pPr>
            <a:r>
              <a:rPr sz="1125">
                <a:solidFill>
                  <a:srgbClr val="263442"/>
                </a:solidFill>
              </a:rPr>
              <a:t>collision avoidance</a:t>
            </a:r>
          </a:p>
        </p:txBody>
      </p:sp>
      <p:sp>
        <p:nvSpPr>
          <p:cNvPr id="15" name="rb-1">
            <a:extLst>
              <a:ext uri="{FF2B5EF4-FFF2-40B4-BE49-F238E27FC236}">
                <a16:creationId xmlns:a16="http://schemas.microsoft.com/office/drawing/2014/main" id="{8B9FD848-4D55-4B0A-A45C-939A2FC2E004}"/>
              </a:ext>
            </a:extLst>
          </p:cNvPr>
          <p:cNvSpPr>
            <a:spLocks noGrp="1"/>
          </p:cNvSpPr>
          <p:nvPr/>
        </p:nvSpPr>
        <p:spPr>
          <a:xfrm>
            <a:off x="7524750" y="2819400"/>
            <a:ext cx="3333750" cy="514350"/>
          </a:xfrm>
          <a:prstGeom prst="rect">
            <a:avLst/>
          </a:prstGeom>
          <a:solidFill>
            <a:srgbClr val="EAF3FB"/>
          </a:solidFill>
          <a:ln w="9525">
            <a:solidFill>
              <a:srgbClr val="B9D7EF"/>
            </a:solidFill>
            <a:prstDash val="solid"/>
          </a:ln>
        </p:spPr>
        <p:txBody>
          <a:bodyPr anchor="ctr"/>
          <a:lstStyle/>
          <a:p>
            <a:pPr algn="ctr">
              <a:defRPr sz="1125">
                <a:solidFill>
                  <a:srgbClr val="263442"/>
                </a:solidFill>
              </a:defRPr>
            </a:pPr>
            <a:r>
              <a:rPr sz="1125">
                <a:solidFill>
                  <a:srgbClr val="263442"/>
                </a:solidFill>
              </a:rPr>
              <a:t>targeting and engagement</a:t>
            </a:r>
          </a:p>
        </p:txBody>
      </p:sp>
      <p:sp>
        <p:nvSpPr>
          <p:cNvPr id="16" name="rowlab-2">
            <a:extLst>
              <a:ext uri="{FF2B5EF4-FFF2-40B4-BE49-F238E27FC236}">
                <a16:creationId xmlns:a16="http://schemas.microsoft.com/office/drawing/2014/main" id="{EA14C41D-BC5A-4376-A85D-FBCA565232F7}"/>
              </a:ext>
            </a:extLst>
          </p:cNvPr>
          <p:cNvSpPr>
            <a:spLocks noGrp="1"/>
          </p:cNvSpPr>
          <p:nvPr/>
        </p:nvSpPr>
        <p:spPr>
          <a:xfrm>
            <a:off x="952500" y="3448050"/>
            <a:ext cx="2667000" cy="514350"/>
          </a:xfrm>
          <a:prstGeom prst="rect">
            <a:avLst/>
          </a:prstGeom>
          <a:noFill/>
          <a:ln w="0">
            <a:noFill/>
            <a:prstDash val="solid"/>
          </a:ln>
        </p:spPr>
        <p:txBody>
          <a:bodyPr anchor="ctr"/>
          <a:lstStyle/>
          <a:p>
            <a:pPr>
              <a:defRPr sz="1200" b="1">
                <a:solidFill>
                  <a:srgbClr val="1F3B6D"/>
                </a:solidFill>
              </a:defRPr>
            </a:pPr>
            <a:r>
              <a:rPr sz="1200" b="1">
                <a:solidFill>
                  <a:srgbClr val="1F3B6D"/>
                </a:solidFill>
              </a:rPr>
              <a:t>HUMAN ROLE</a:t>
            </a:r>
          </a:p>
        </p:txBody>
      </p:sp>
      <p:sp>
        <p:nvSpPr>
          <p:cNvPr id="17" name="ra-2">
            <a:extLst>
              <a:ext uri="{FF2B5EF4-FFF2-40B4-BE49-F238E27FC236}">
                <a16:creationId xmlns:a16="http://schemas.microsoft.com/office/drawing/2014/main" id="{D46ACA23-C5B2-4941-A335-79AF7C599EE8}"/>
              </a:ext>
            </a:extLst>
          </p:cNvPr>
          <p:cNvSpPr>
            <a:spLocks noGrp="1"/>
          </p:cNvSpPr>
          <p:nvPr/>
        </p:nvSpPr>
        <p:spPr>
          <a:xfrm>
            <a:off x="3905250" y="3448050"/>
            <a:ext cx="3333750" cy="514350"/>
          </a:xfrm>
          <a:prstGeom prst="rect">
            <a:avLst/>
          </a:prstGeom>
          <a:solidFill>
            <a:srgbClr val="EAF3FB"/>
          </a:solidFill>
          <a:ln w="9525">
            <a:solidFill>
              <a:srgbClr val="B9D7EF"/>
            </a:solidFill>
            <a:prstDash val="solid"/>
          </a:ln>
        </p:spPr>
        <p:txBody>
          <a:bodyPr anchor="ctr"/>
          <a:lstStyle/>
          <a:p>
            <a:pPr algn="ctr">
              <a:defRPr sz="1125">
                <a:solidFill>
                  <a:srgbClr val="263442"/>
                </a:solidFill>
              </a:defRPr>
            </a:pPr>
            <a:r>
              <a:rPr sz="1125">
                <a:solidFill>
                  <a:srgbClr val="263442"/>
                </a:solidFill>
              </a:rPr>
              <a:t>design, supervision, takeover</a:t>
            </a:r>
          </a:p>
        </p:txBody>
      </p:sp>
      <p:sp>
        <p:nvSpPr>
          <p:cNvPr id="18" name="rb-2">
            <a:extLst>
              <a:ext uri="{FF2B5EF4-FFF2-40B4-BE49-F238E27FC236}">
                <a16:creationId xmlns:a16="http://schemas.microsoft.com/office/drawing/2014/main" id="{58F73223-FE29-4007-9285-6E1B8C55D15E}"/>
              </a:ext>
            </a:extLst>
          </p:cNvPr>
          <p:cNvSpPr>
            <a:spLocks noGrp="1"/>
          </p:cNvSpPr>
          <p:nvPr/>
        </p:nvSpPr>
        <p:spPr>
          <a:xfrm>
            <a:off x="7524750" y="3448050"/>
            <a:ext cx="3333750" cy="514350"/>
          </a:xfrm>
          <a:prstGeom prst="rect">
            <a:avLst/>
          </a:prstGeom>
          <a:solidFill>
            <a:srgbClr val="F5FAFE"/>
          </a:solidFill>
          <a:ln w="9525">
            <a:solidFill>
              <a:srgbClr val="B9D7EF"/>
            </a:solidFill>
            <a:prstDash val="solid"/>
          </a:ln>
        </p:spPr>
        <p:txBody>
          <a:bodyPr anchor="ctr"/>
          <a:lstStyle/>
          <a:p>
            <a:pPr algn="ctr">
              <a:defRPr sz="1125">
                <a:solidFill>
                  <a:srgbClr val="263442"/>
                </a:solidFill>
              </a:defRPr>
            </a:pPr>
            <a:r>
              <a:rPr sz="1125">
                <a:solidFill>
                  <a:srgbClr val="263442"/>
                </a:solidFill>
              </a:rPr>
              <a:t>authorization, judgment, abort</a:t>
            </a:r>
          </a:p>
        </p:txBody>
      </p:sp>
      <p:sp>
        <p:nvSpPr>
          <p:cNvPr id="19" name="rowlab-3">
            <a:extLst>
              <a:ext uri="{FF2B5EF4-FFF2-40B4-BE49-F238E27FC236}">
                <a16:creationId xmlns:a16="http://schemas.microsoft.com/office/drawing/2014/main" id="{EBE7A486-8B6A-49F7-B522-53BA9B6E826F}"/>
              </a:ext>
            </a:extLst>
          </p:cNvPr>
          <p:cNvSpPr>
            <a:spLocks noGrp="1"/>
          </p:cNvSpPr>
          <p:nvPr/>
        </p:nvSpPr>
        <p:spPr>
          <a:xfrm>
            <a:off x="952500" y="4076700"/>
            <a:ext cx="2667000" cy="514350"/>
          </a:xfrm>
          <a:prstGeom prst="rect">
            <a:avLst/>
          </a:prstGeom>
          <a:noFill/>
          <a:ln w="0">
            <a:noFill/>
            <a:prstDash val="solid"/>
          </a:ln>
        </p:spPr>
        <p:txBody>
          <a:bodyPr anchor="ctr"/>
          <a:lstStyle/>
          <a:p>
            <a:pPr>
              <a:defRPr sz="1200" b="1">
                <a:solidFill>
                  <a:srgbClr val="1F3B6D"/>
                </a:solidFill>
              </a:defRPr>
            </a:pPr>
            <a:r>
              <a:rPr sz="1200" b="1">
                <a:solidFill>
                  <a:srgbClr val="1F3B6D"/>
                </a:solidFill>
              </a:rPr>
              <a:t>FAILURE IMPACT</a:t>
            </a:r>
          </a:p>
        </p:txBody>
      </p:sp>
      <p:sp>
        <p:nvSpPr>
          <p:cNvPr id="20" name="ra-3">
            <a:extLst>
              <a:ext uri="{FF2B5EF4-FFF2-40B4-BE49-F238E27FC236}">
                <a16:creationId xmlns:a16="http://schemas.microsoft.com/office/drawing/2014/main" id="{ACB8F764-CCBB-4CC8-A375-64CF57F3F32F}"/>
              </a:ext>
            </a:extLst>
          </p:cNvPr>
          <p:cNvSpPr>
            <a:spLocks noGrp="1"/>
          </p:cNvSpPr>
          <p:nvPr/>
        </p:nvSpPr>
        <p:spPr>
          <a:xfrm>
            <a:off x="3905250" y="4076700"/>
            <a:ext cx="3333750" cy="514350"/>
          </a:xfrm>
          <a:prstGeom prst="rect">
            <a:avLst/>
          </a:prstGeom>
          <a:solidFill>
            <a:srgbClr val="F5FAFE"/>
          </a:solidFill>
          <a:ln w="9525">
            <a:solidFill>
              <a:srgbClr val="B9D7EF"/>
            </a:solidFill>
            <a:prstDash val="solid"/>
          </a:ln>
        </p:spPr>
        <p:txBody>
          <a:bodyPr anchor="ctr"/>
          <a:lstStyle/>
          <a:p>
            <a:pPr algn="ctr">
              <a:defRPr sz="1125">
                <a:solidFill>
                  <a:srgbClr val="263442"/>
                </a:solidFill>
              </a:defRPr>
            </a:pPr>
            <a:r>
              <a:rPr sz="1125">
                <a:solidFill>
                  <a:srgbClr val="263442"/>
                </a:solidFill>
              </a:rPr>
              <a:t>injury and public safety</a:t>
            </a:r>
          </a:p>
        </p:txBody>
      </p:sp>
      <p:sp>
        <p:nvSpPr>
          <p:cNvPr id="21" name="rb-3">
            <a:extLst>
              <a:ext uri="{FF2B5EF4-FFF2-40B4-BE49-F238E27FC236}">
                <a16:creationId xmlns:a16="http://schemas.microsoft.com/office/drawing/2014/main" id="{9287467B-A647-40EA-8D77-66F79658B14C}"/>
              </a:ext>
            </a:extLst>
          </p:cNvPr>
          <p:cNvSpPr>
            <a:spLocks noGrp="1"/>
          </p:cNvSpPr>
          <p:nvPr/>
        </p:nvSpPr>
        <p:spPr>
          <a:xfrm>
            <a:off x="7524750" y="4076700"/>
            <a:ext cx="3333750" cy="514350"/>
          </a:xfrm>
          <a:prstGeom prst="rect">
            <a:avLst/>
          </a:prstGeom>
          <a:solidFill>
            <a:srgbClr val="EAF3FB"/>
          </a:solidFill>
          <a:ln w="9525">
            <a:solidFill>
              <a:srgbClr val="B9D7EF"/>
            </a:solidFill>
            <a:prstDash val="solid"/>
          </a:ln>
        </p:spPr>
        <p:txBody>
          <a:bodyPr anchor="ctr"/>
          <a:lstStyle/>
          <a:p>
            <a:pPr algn="ctr">
              <a:defRPr sz="1125">
                <a:solidFill>
                  <a:srgbClr val="263442"/>
                </a:solidFill>
              </a:defRPr>
            </a:pPr>
            <a:r>
              <a:rPr sz="1125">
                <a:solidFill>
                  <a:srgbClr val="263442"/>
                </a:solidFill>
              </a:rPr>
              <a:t>life, conflict, international law</a:t>
            </a:r>
          </a:p>
        </p:txBody>
      </p:sp>
      <p:sp>
        <p:nvSpPr>
          <p:cNvPr id="22" name="rowlab-4">
            <a:extLst>
              <a:ext uri="{FF2B5EF4-FFF2-40B4-BE49-F238E27FC236}">
                <a16:creationId xmlns:a16="http://schemas.microsoft.com/office/drawing/2014/main" id="{1784448B-6D48-47EA-9076-816D17870EA1}"/>
              </a:ext>
            </a:extLst>
          </p:cNvPr>
          <p:cNvSpPr>
            <a:spLocks noGrp="1"/>
          </p:cNvSpPr>
          <p:nvPr/>
        </p:nvSpPr>
        <p:spPr>
          <a:xfrm>
            <a:off x="952500" y="4705350"/>
            <a:ext cx="2667000" cy="514350"/>
          </a:xfrm>
          <a:prstGeom prst="rect">
            <a:avLst/>
          </a:prstGeom>
          <a:noFill/>
          <a:ln w="0">
            <a:noFill/>
            <a:prstDash val="solid"/>
          </a:ln>
        </p:spPr>
        <p:txBody>
          <a:bodyPr anchor="ctr"/>
          <a:lstStyle/>
          <a:p>
            <a:pPr>
              <a:defRPr sz="1200" b="1">
                <a:solidFill>
                  <a:srgbClr val="1F3B6D"/>
                </a:solidFill>
              </a:defRPr>
            </a:pPr>
            <a:r>
              <a:rPr sz="1200" b="1">
                <a:solidFill>
                  <a:srgbClr val="1F3B6D"/>
                </a:solidFill>
              </a:rPr>
              <a:t>ACCOUNTABILITY</a:t>
            </a:r>
          </a:p>
        </p:txBody>
      </p:sp>
      <p:sp>
        <p:nvSpPr>
          <p:cNvPr id="23" name="ra-4">
            <a:extLst>
              <a:ext uri="{FF2B5EF4-FFF2-40B4-BE49-F238E27FC236}">
                <a16:creationId xmlns:a16="http://schemas.microsoft.com/office/drawing/2014/main" id="{6C941156-0D0C-46A1-9A3D-CAB5EFE2A147}"/>
              </a:ext>
            </a:extLst>
          </p:cNvPr>
          <p:cNvSpPr>
            <a:spLocks noGrp="1"/>
          </p:cNvSpPr>
          <p:nvPr/>
        </p:nvSpPr>
        <p:spPr>
          <a:xfrm>
            <a:off x="3905250" y="4705350"/>
            <a:ext cx="3333750" cy="514350"/>
          </a:xfrm>
          <a:prstGeom prst="rect">
            <a:avLst/>
          </a:prstGeom>
          <a:solidFill>
            <a:srgbClr val="EAF3FB"/>
          </a:solidFill>
          <a:ln w="9525">
            <a:solidFill>
              <a:srgbClr val="B9D7EF"/>
            </a:solidFill>
            <a:prstDash val="solid"/>
          </a:ln>
        </p:spPr>
        <p:txBody>
          <a:bodyPr anchor="ctr"/>
          <a:lstStyle/>
          <a:p>
            <a:pPr algn="ctr">
              <a:defRPr sz="1125">
                <a:solidFill>
                  <a:srgbClr val="263442"/>
                </a:solidFill>
              </a:defRPr>
            </a:pPr>
            <a:r>
              <a:rPr sz="1125">
                <a:solidFill>
                  <a:srgbClr val="263442"/>
                </a:solidFill>
              </a:rPr>
              <a:t>manufacturer, operator, regulator</a:t>
            </a:r>
          </a:p>
        </p:txBody>
      </p:sp>
      <p:sp>
        <p:nvSpPr>
          <p:cNvPr id="24" name="rb-4">
            <a:extLst>
              <a:ext uri="{FF2B5EF4-FFF2-40B4-BE49-F238E27FC236}">
                <a16:creationId xmlns:a16="http://schemas.microsoft.com/office/drawing/2014/main" id="{1789A2B4-AB60-46D5-9327-1E7909C3E16A}"/>
              </a:ext>
            </a:extLst>
          </p:cNvPr>
          <p:cNvSpPr>
            <a:spLocks noGrp="1"/>
          </p:cNvSpPr>
          <p:nvPr/>
        </p:nvSpPr>
        <p:spPr>
          <a:xfrm>
            <a:off x="7524750" y="4705350"/>
            <a:ext cx="3333750" cy="514350"/>
          </a:xfrm>
          <a:prstGeom prst="rect">
            <a:avLst/>
          </a:prstGeom>
          <a:solidFill>
            <a:srgbClr val="F5FAFE"/>
          </a:solidFill>
          <a:ln w="9525">
            <a:solidFill>
              <a:srgbClr val="B9D7EF"/>
            </a:solidFill>
            <a:prstDash val="solid"/>
          </a:ln>
        </p:spPr>
        <p:txBody>
          <a:bodyPr anchor="ctr"/>
          <a:lstStyle/>
          <a:p>
            <a:pPr algn="ctr">
              <a:defRPr sz="1125">
                <a:solidFill>
                  <a:srgbClr val="263442"/>
                </a:solidFill>
              </a:defRPr>
            </a:pPr>
            <a:r>
              <a:rPr sz="1125">
                <a:solidFill>
                  <a:srgbClr val="263442"/>
                </a:solidFill>
              </a:rPr>
              <a:t>commanders, states, developers</a:t>
            </a:r>
          </a:p>
        </p:txBody>
      </p:sp>
      <p:sp>
        <p:nvSpPr>
          <p:cNvPr id="25" name="v2-takeaway">
            <a:extLst>
              <a:ext uri="{FF2B5EF4-FFF2-40B4-BE49-F238E27FC236}">
                <a16:creationId xmlns:a16="http://schemas.microsoft.com/office/drawing/2014/main" id="{5C3112BC-7248-4664-B23A-D73CE150DF2C}"/>
              </a:ext>
            </a:extLst>
          </p:cNvPr>
          <p:cNvSpPr>
            <a:spLocks noGrp="1"/>
          </p:cNvSpPr>
          <p:nvPr/>
        </p:nvSpPr>
        <p:spPr>
          <a:xfrm>
            <a:off x="876300" y="575310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defRPr sz="1200" b="1">
                <a:solidFill>
                  <a:srgbClr val="1F3B6D"/>
                </a:solidFill>
              </a:defRPr>
            </a:pPr>
            <a:r>
              <a:rPr sz="1200" b="1">
                <a:solidFill>
                  <a:srgbClr val="1F3B6D"/>
                </a:solidFill>
              </a:rPr>
              <a:t>Meaningful control requires timely information, genuine authority, and an identifiable responsible actor.</a:t>
            </a:r>
          </a:p>
        </p:txBody>
      </p:sp>
      <p:sp>
        <p:nvSpPr>
          <p:cNvPr id="26" name="v2-page-mask-67">
            <a:extLst>
              <a:ext uri="{FF2B5EF4-FFF2-40B4-BE49-F238E27FC236}">
                <a16:creationId xmlns:a16="http://schemas.microsoft.com/office/drawing/2014/main" id="{38851E2A-5B8E-4193-9534-1BA89CAE01F4}"/>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27" name="v2-page-67">
            <a:extLst>
              <a:ext uri="{FF2B5EF4-FFF2-40B4-BE49-F238E27FC236}">
                <a16:creationId xmlns:a16="http://schemas.microsoft.com/office/drawing/2014/main" id="{B34C1D3B-8936-41E0-BB98-FAED08F6CD5E}"/>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67</a:t>
            </a:r>
          </a:p>
        </p:txBody>
      </p:sp>
    </p:spTree>
    <p:extLst>
      <p:ext uri="{BB962C8B-B14F-4D97-AF65-F5344CB8AC3E}">
        <p14:creationId xmlns:p14="http://schemas.microsoft.com/office/powerpoint/2010/main" val="186070882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3525193-AFFD-465D-A20C-65427ABFA018}"/>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B7FAEA06-9024-4E9B-89E9-04E35832227B}"/>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D25D8F69-426A-4FBD-B651-10D3F3CD10DB}"/>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“Responsible AI” — the Triad</a:t>
            </a:r>
          </a:p>
        </p:txBody>
      </p:sp>
      <p:sp>
        <p:nvSpPr>
          <p:cNvPr id="5" name="Rectangle 4">
            <a:extLst>
              <a:ext uri="{FF2B5EF4-FFF2-40B4-BE49-F238E27FC236}">
                <a16:creationId xmlns:a16="http://schemas.microsoft.com/office/drawing/2014/main" id="{1F848EBF-4299-4ED9-A4B1-57F1A78AE3F4}"/>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01487EB7-B747-4C92-B4A7-F94C872611A2}"/>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Dignum: Responsible AI is socio-technical.</a:t>
            </a:r>
          </a:p>
        </p:txBody>
      </p:sp>
      <p:sp>
        <p:nvSpPr>
          <p:cNvPr id="7" name="TextBox 6">
            <a:extLst>
              <a:ext uri="{FF2B5EF4-FFF2-40B4-BE49-F238E27FC236}">
                <a16:creationId xmlns:a16="http://schemas.microsoft.com/office/drawing/2014/main" id="{800E6CAF-BB69-4303-B528-688630CB27AC}"/>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CD416102-B6AD-4E22-9CC3-40484F040CFA}"/>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51</a:t>
            </a:r>
          </a:p>
        </p:txBody>
      </p:sp>
      <p:sp>
        <p:nvSpPr>
          <p:cNvPr id="9" name="TextBox 8">
            <a:extLst>
              <a:ext uri="{FF2B5EF4-FFF2-40B4-BE49-F238E27FC236}">
                <a16:creationId xmlns:a16="http://schemas.microsoft.com/office/drawing/2014/main" id="{D3C7A8B1-70D7-4832-9A36-D9C597771A96}"/>
              </a:ext>
            </a:extLst>
          </p:cNvPr>
          <p:cNvSpPr>
            <a:spLocks noGrp="1"/>
          </p:cNvSpPr>
          <p:nvPr/>
        </p:nvSpPr>
        <p:spPr>
          <a:xfrm>
            <a:off x="896112" y="155448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800" b="1" i="0" u="none">
                <a:solidFill>
                  <a:srgbClr val="1F3864"/>
                </a:solidFill>
                <a:latin typeface="Calibri"/>
                <a:ea typeface="Calibri"/>
                <a:cs typeface="Calibri"/>
              </a:rPr>
              <a:t>Responsible AI = </a:t>
            </a:r>
            <a:r>
              <a:rPr sz="1800" b="1" i="0" u="sng">
                <a:solidFill>
                  <a:srgbClr val="262626"/>
                </a:solidFill>
                <a:latin typeface="Calibri"/>
                <a:ea typeface="Calibri"/>
                <a:cs typeface="Calibri"/>
              </a:rPr>
              <a:t>Responsibility + Design + Governance</a:t>
            </a:r>
            <a:r>
              <a:rPr sz="1800" b="0" i="0" u="none">
                <a:solidFill>
                  <a:srgbClr val="262626"/>
                </a:solidFill>
                <a:latin typeface="Calibri"/>
                <a:ea typeface="Calibri"/>
                <a:cs typeface="Calibri"/>
              </a:rPr>
              <a:t>.</a:t>
            </a:r>
          </a:p>
          <a:p>
            <a:pPr marL="285750" indent="-285750" algn="l">
              <a:lnSpc>
                <a:spcPct val="116000"/>
              </a:lnSpc>
              <a:spcBef>
                <a:spcPts val="400"/>
              </a:spcBef>
              <a:spcAft>
                <a:spcPts val="700"/>
              </a:spcAft>
              <a:buClr>
                <a:srgbClr val="2E75B6"/>
              </a:buClr>
              <a:buSzPct val="100000"/>
              <a:buFont typeface="Arial"/>
              <a:buChar char="•"/>
            </a:pPr>
            <a:r>
              <a:rPr sz="1600" b="1" i="0" u="none">
                <a:solidFill>
                  <a:srgbClr val="2E75B6"/>
                </a:solidFill>
                <a:latin typeface="Calibri"/>
                <a:ea typeface="Calibri"/>
                <a:cs typeface="Calibri"/>
              </a:rPr>
              <a:t>Who is responsible: </a:t>
            </a:r>
            <a:r>
              <a:rPr sz="1600" b="0" i="0" u="none">
                <a:solidFill>
                  <a:srgbClr val="262626"/>
                </a:solidFill>
                <a:latin typeface="Calibri"/>
                <a:ea typeface="Calibri"/>
                <a:cs typeface="Calibri"/>
              </a:rPr>
              <a:t>agency &amp; accountability across the pipeline.</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What we design: </a:t>
            </a:r>
            <a:r>
              <a:rPr sz="1600" b="0" i="0" u="none">
                <a:solidFill>
                  <a:srgbClr val="262626"/>
                </a:solidFill>
                <a:latin typeface="Calibri"/>
                <a:ea typeface="Calibri"/>
                <a:cs typeface="Calibri"/>
              </a:rPr>
              <a:t>values-by-design — ethics built into the system.</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How we govern: </a:t>
            </a:r>
            <a:r>
              <a:rPr sz="1600" b="0" i="0" u="none">
                <a:solidFill>
                  <a:srgbClr val="262626"/>
                </a:solidFill>
                <a:latin typeface="Calibri"/>
                <a:ea typeface="Calibri"/>
                <a:cs typeface="Calibri"/>
              </a:rPr>
              <a:t>oversight, auditing, and redress.</a:t>
            </a:r>
          </a:p>
          <a:p>
            <a:pPr marL="285750" indent="-285750" algn="l">
              <a:lnSpc>
                <a:spcPct val="116000"/>
              </a:lnSpc>
              <a:spcBef>
                <a:spcPts val="400"/>
              </a:spcBef>
              <a:spcAft>
                <a:spcPts val="700"/>
              </a:spcAft>
              <a:buClr>
                <a:srgbClr val="2E75B6"/>
              </a:buClr>
              <a:buSzPct val="100000"/>
              <a:buFont typeface="Arial"/>
              <a:buChar char="•"/>
            </a:pPr>
            <a:r>
              <a:rPr sz="1500" b="0" i="0" u="none">
                <a:solidFill>
                  <a:srgbClr val="262626"/>
                </a:solidFill>
                <a:latin typeface="Calibri"/>
                <a:ea typeface="Calibri"/>
                <a:cs typeface="Calibri"/>
              </a:rPr>
              <a:t>Integrates ethics across the </a:t>
            </a:r>
            <a:r>
              <a:rPr sz="1500" b="0" i="0" u="sng">
                <a:solidFill>
                  <a:srgbClr val="262626"/>
                </a:solidFill>
                <a:latin typeface="Calibri"/>
                <a:ea typeface="Calibri"/>
                <a:cs typeface="Calibri"/>
              </a:rPr>
              <a:t>whole lifecycle</a:t>
            </a:r>
            <a:r>
              <a:rPr sz="1500" b="0" i="1" u="none">
                <a:solidFill>
                  <a:srgbClr val="595959"/>
                </a:solidFill>
                <a:latin typeface="Calibri"/>
                <a:ea typeface="Calibri"/>
                <a:cs typeface="Calibri"/>
              </a:rPr>
              <a:t>, not just the code.</a:t>
            </a:r>
          </a:p>
        </p:txBody>
      </p:sp>
      <p:sp>
        <p:nvSpPr>
          <p:cNvPr id="10" name="expanded-arrow-51-1">
            <a:extLst>
              <a:ext uri="{FF2B5EF4-FFF2-40B4-BE49-F238E27FC236}">
                <a16:creationId xmlns:a16="http://schemas.microsoft.com/office/drawing/2014/main" id="{154A313B-8605-4A5A-A7BB-239F8D72729C}"/>
              </a:ext>
            </a:extLst>
          </p:cNvPr>
          <p:cNvSpPr>
            <a:spLocks noGrp="1"/>
          </p:cNvSpPr>
          <p:nvPr/>
        </p:nvSpPr>
        <p:spPr>
          <a:xfrm>
            <a:off x="4772025"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51-2">
            <a:extLst>
              <a:ext uri="{FF2B5EF4-FFF2-40B4-BE49-F238E27FC236}">
                <a16:creationId xmlns:a16="http://schemas.microsoft.com/office/drawing/2014/main" id="{122B05F6-AED8-4EE6-8946-C077F2030995}"/>
              </a:ext>
            </a:extLst>
          </p:cNvPr>
          <p:cNvSpPr>
            <a:spLocks noGrp="1"/>
          </p:cNvSpPr>
          <p:nvPr/>
        </p:nvSpPr>
        <p:spPr>
          <a:xfrm>
            <a:off x="7153275"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node-51-1">
            <a:extLst>
              <a:ext uri="{FF2B5EF4-FFF2-40B4-BE49-F238E27FC236}">
                <a16:creationId xmlns:a16="http://schemas.microsoft.com/office/drawing/2014/main" id="{B100DC84-DCF1-4594-B8DA-46AA32F8056D}"/>
              </a:ext>
            </a:extLst>
          </p:cNvPr>
          <p:cNvSpPr>
            <a:spLocks noGrp="1"/>
          </p:cNvSpPr>
          <p:nvPr/>
        </p:nvSpPr>
        <p:spPr>
          <a:xfrm>
            <a:off x="26193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RESPONSIBILITY</a:t>
            </a:r>
          </a:p>
        </p:txBody>
      </p:sp>
      <p:sp>
        <p:nvSpPr>
          <p:cNvPr id="13" name="expanded-node-51-2">
            <a:extLst>
              <a:ext uri="{FF2B5EF4-FFF2-40B4-BE49-F238E27FC236}">
                <a16:creationId xmlns:a16="http://schemas.microsoft.com/office/drawing/2014/main" id="{33CE25BB-E457-4A4C-82EE-669F0AEFB756}"/>
              </a:ext>
            </a:extLst>
          </p:cNvPr>
          <p:cNvSpPr>
            <a:spLocks noGrp="1"/>
          </p:cNvSpPr>
          <p:nvPr/>
        </p:nvSpPr>
        <p:spPr>
          <a:xfrm>
            <a:off x="5000625"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DESIGN</a:t>
            </a:r>
          </a:p>
        </p:txBody>
      </p:sp>
      <p:sp>
        <p:nvSpPr>
          <p:cNvPr id="14" name="expanded-node-51-3">
            <a:extLst>
              <a:ext uri="{FF2B5EF4-FFF2-40B4-BE49-F238E27FC236}">
                <a16:creationId xmlns:a16="http://schemas.microsoft.com/office/drawing/2014/main" id="{20E58F99-F9D7-49B5-8F5F-C90D42803A30}"/>
              </a:ext>
            </a:extLst>
          </p:cNvPr>
          <p:cNvSpPr>
            <a:spLocks noGrp="1"/>
          </p:cNvSpPr>
          <p:nvPr/>
        </p:nvSpPr>
        <p:spPr>
          <a:xfrm>
            <a:off x="73818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GOVERNANCE</a:t>
            </a:r>
          </a:p>
        </p:txBody>
      </p:sp>
      <p:sp>
        <p:nvSpPr>
          <p:cNvPr id="15" name="expanded-takeaway-51">
            <a:extLst>
              <a:ext uri="{FF2B5EF4-FFF2-40B4-BE49-F238E27FC236}">
                <a16:creationId xmlns:a16="http://schemas.microsoft.com/office/drawing/2014/main" id="{BE96EF86-57C6-4D99-B09C-CBE862ACB7C7}"/>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Responsible AI links who is accountable, what is designed, and how governance verifies performance in practice.</a:t>
            </a:r>
          </a:p>
        </p:txBody>
      </p:sp>
      <p:sp>
        <p:nvSpPr>
          <p:cNvPr id="16" name="v2-page-mask-68">
            <a:extLst>
              <a:ext uri="{FF2B5EF4-FFF2-40B4-BE49-F238E27FC236}">
                <a16:creationId xmlns:a16="http://schemas.microsoft.com/office/drawing/2014/main" id="{706DAF19-A177-4C49-BF68-F67C7B6EC911}"/>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7" name="v2-page-68">
            <a:extLst>
              <a:ext uri="{FF2B5EF4-FFF2-40B4-BE49-F238E27FC236}">
                <a16:creationId xmlns:a16="http://schemas.microsoft.com/office/drawing/2014/main" id="{5CEE7711-A834-42DE-9905-CDD80905679B}"/>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68</a:t>
            </a:r>
          </a:p>
        </p:txBody>
      </p:sp>
    </p:spTree>
    <p:extLst>
      <p:ext uri="{BB962C8B-B14F-4D97-AF65-F5344CB8AC3E}">
        <p14:creationId xmlns:p14="http://schemas.microsoft.com/office/powerpoint/2010/main" val="83493142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F57D170-5887-47EB-9B02-02FB312AEFFF}"/>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EEFA2104-F2A5-475A-A28C-E52A1D59C660}"/>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929D838-DF35-433D-8FA9-A350999F6802}"/>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Ethical Principles for AI</a:t>
            </a:r>
          </a:p>
        </p:txBody>
      </p:sp>
      <p:sp>
        <p:nvSpPr>
          <p:cNvPr id="5" name="Rectangle 4">
            <a:extLst>
              <a:ext uri="{FF2B5EF4-FFF2-40B4-BE49-F238E27FC236}">
                <a16:creationId xmlns:a16="http://schemas.microsoft.com/office/drawing/2014/main" id="{7FE00361-239F-4A10-B950-91E82D4F71D1}"/>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FAFC8F9-EF3E-4FC6-B853-14B15F46E18F}"/>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Many frameworks converge on a core set (Floridi et al.).</a:t>
            </a:r>
          </a:p>
        </p:txBody>
      </p:sp>
      <p:sp>
        <p:nvSpPr>
          <p:cNvPr id="7" name="TextBox 6">
            <a:extLst>
              <a:ext uri="{FF2B5EF4-FFF2-40B4-BE49-F238E27FC236}">
                <a16:creationId xmlns:a16="http://schemas.microsoft.com/office/drawing/2014/main" id="{C1EFD849-B4C9-41EB-AE0B-89C74405FAC5}"/>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A83F25CB-0416-465B-B0C9-FCCF131C3F50}"/>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52</a:t>
            </a:r>
          </a:p>
        </p:txBody>
      </p:sp>
      <p:sp>
        <p:nvSpPr>
          <p:cNvPr id="9" name="TextBox 8">
            <a:extLst>
              <a:ext uri="{FF2B5EF4-FFF2-40B4-BE49-F238E27FC236}">
                <a16:creationId xmlns:a16="http://schemas.microsoft.com/office/drawing/2014/main" id="{166A5613-726B-47D4-B86D-F29449C049AF}"/>
              </a:ext>
            </a:extLst>
          </p:cNvPr>
          <p:cNvSpPr>
            <a:spLocks noGrp="1"/>
          </p:cNvSpPr>
          <p:nvPr/>
        </p:nvSpPr>
        <p:spPr>
          <a:xfrm>
            <a:off x="896112" y="150876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Beneficence: </a:t>
            </a:r>
            <a:r>
              <a:rPr sz="1600" b="0" i="0" u="none">
                <a:solidFill>
                  <a:srgbClr val="262626"/>
                </a:solidFill>
                <a:latin typeface="Calibri"/>
                <a:ea typeface="Calibri"/>
                <a:cs typeface="Calibri"/>
              </a:rPr>
              <a:t>do good — promote well-being.</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Non-maleficence: </a:t>
            </a:r>
            <a:r>
              <a:rPr sz="1600" b="0" i="0" u="none">
                <a:solidFill>
                  <a:srgbClr val="262626"/>
                </a:solidFill>
                <a:latin typeface="Calibri"/>
                <a:ea typeface="Calibri"/>
                <a:cs typeface="Calibri"/>
              </a:rPr>
              <a:t>do no harm.</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Autonomy: </a:t>
            </a:r>
            <a:r>
              <a:rPr sz="1600" b="0" i="0" u="none">
                <a:solidFill>
                  <a:srgbClr val="262626"/>
                </a:solidFill>
                <a:latin typeface="Calibri"/>
                <a:ea typeface="Calibri"/>
                <a:cs typeface="Calibri"/>
              </a:rPr>
              <a:t>preserve human agency and choice.</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Justice: </a:t>
            </a:r>
            <a:r>
              <a:rPr sz="1600" b="0" i="0" u="none">
                <a:solidFill>
                  <a:srgbClr val="262626"/>
                </a:solidFill>
                <a:latin typeface="Calibri"/>
                <a:ea typeface="Calibri"/>
                <a:cs typeface="Calibri"/>
              </a:rPr>
              <a:t>fair and equitable.</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Explicability: </a:t>
            </a:r>
            <a:r>
              <a:rPr sz="1600" b="0" i="0" u="none">
                <a:solidFill>
                  <a:srgbClr val="262626"/>
                </a:solidFill>
                <a:latin typeface="Calibri"/>
                <a:ea typeface="Calibri"/>
                <a:cs typeface="Calibri"/>
              </a:rPr>
              <a:t>intelligible and accountable.</a:t>
            </a:r>
          </a:p>
          <a:p>
            <a:pPr marL="285750" indent="-285750" algn="l">
              <a:lnSpc>
                <a:spcPct val="116000"/>
              </a:lnSpc>
              <a:spcBef>
                <a:spcPts val="400"/>
              </a:spcBef>
              <a:spcAft>
                <a:spcPts val="700"/>
              </a:spcAft>
              <a:buClr>
                <a:srgbClr val="2E75B6"/>
              </a:buClr>
              <a:buSzPct val="100000"/>
              <a:buFont typeface="Arial"/>
              <a:buChar char="•"/>
            </a:pPr>
            <a:r>
              <a:rPr sz="1400" b="0" i="1" u="none">
                <a:solidFill>
                  <a:srgbClr val="595959"/>
                </a:solidFill>
                <a:latin typeface="Calibri"/>
                <a:ea typeface="Calibri"/>
                <a:cs typeface="Calibri"/>
              </a:rPr>
              <a:t>Also: EU Ethics Guidelines, UNESCO, OECD AI Principles.</a:t>
            </a:r>
          </a:p>
        </p:txBody>
      </p:sp>
      <p:sp>
        <p:nvSpPr>
          <p:cNvPr id="10" name="expanded-arrow-52-1">
            <a:extLst>
              <a:ext uri="{FF2B5EF4-FFF2-40B4-BE49-F238E27FC236}">
                <a16:creationId xmlns:a16="http://schemas.microsoft.com/office/drawing/2014/main" id="{CAAF0EB2-E0EA-41CB-84C0-571F93F6CF7A}"/>
              </a:ext>
            </a:extLst>
          </p:cNvPr>
          <p:cNvSpPr>
            <a:spLocks noGrp="1"/>
          </p:cNvSpPr>
          <p:nvPr/>
        </p:nvSpPr>
        <p:spPr>
          <a:xfrm>
            <a:off x="3581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52-2">
            <a:extLst>
              <a:ext uri="{FF2B5EF4-FFF2-40B4-BE49-F238E27FC236}">
                <a16:creationId xmlns:a16="http://schemas.microsoft.com/office/drawing/2014/main" id="{68FCF74A-79F5-451B-8C7A-E5C3689B7292}"/>
              </a:ext>
            </a:extLst>
          </p:cNvPr>
          <p:cNvSpPr>
            <a:spLocks noGrp="1"/>
          </p:cNvSpPr>
          <p:nvPr/>
        </p:nvSpPr>
        <p:spPr>
          <a:xfrm>
            <a:off x="5962650"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52-3">
            <a:extLst>
              <a:ext uri="{FF2B5EF4-FFF2-40B4-BE49-F238E27FC236}">
                <a16:creationId xmlns:a16="http://schemas.microsoft.com/office/drawing/2014/main" id="{4431BC00-563B-49B4-8D30-CC655FF250B6}"/>
              </a:ext>
            </a:extLst>
          </p:cNvPr>
          <p:cNvSpPr>
            <a:spLocks noGrp="1"/>
          </p:cNvSpPr>
          <p:nvPr/>
        </p:nvSpPr>
        <p:spPr>
          <a:xfrm>
            <a:off x="8343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52-1">
            <a:extLst>
              <a:ext uri="{FF2B5EF4-FFF2-40B4-BE49-F238E27FC236}">
                <a16:creationId xmlns:a16="http://schemas.microsoft.com/office/drawing/2014/main" id="{6145291D-1FE9-4115-AC28-5D6154E136FC}"/>
              </a:ext>
            </a:extLst>
          </p:cNvPr>
          <p:cNvSpPr>
            <a:spLocks noGrp="1"/>
          </p:cNvSpPr>
          <p:nvPr/>
        </p:nvSpPr>
        <p:spPr>
          <a:xfrm>
            <a:off x="14287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BENEFICENCE</a:t>
            </a:r>
          </a:p>
        </p:txBody>
      </p:sp>
      <p:sp>
        <p:nvSpPr>
          <p:cNvPr id="14" name="expanded-node-52-2">
            <a:extLst>
              <a:ext uri="{FF2B5EF4-FFF2-40B4-BE49-F238E27FC236}">
                <a16:creationId xmlns:a16="http://schemas.microsoft.com/office/drawing/2014/main" id="{FD7E7FBA-7BB1-46AD-9692-9E6CA0DDBDBE}"/>
              </a:ext>
            </a:extLst>
          </p:cNvPr>
          <p:cNvSpPr>
            <a:spLocks noGrp="1"/>
          </p:cNvSpPr>
          <p:nvPr/>
        </p:nvSpPr>
        <p:spPr>
          <a:xfrm>
            <a:off x="38100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AUTONOMY</a:t>
            </a:r>
          </a:p>
        </p:txBody>
      </p:sp>
      <p:sp>
        <p:nvSpPr>
          <p:cNvPr id="15" name="expanded-node-52-3">
            <a:extLst>
              <a:ext uri="{FF2B5EF4-FFF2-40B4-BE49-F238E27FC236}">
                <a16:creationId xmlns:a16="http://schemas.microsoft.com/office/drawing/2014/main" id="{105C251E-19B9-43DF-8D26-A3CD2FAB8DD2}"/>
              </a:ext>
            </a:extLst>
          </p:cNvPr>
          <p:cNvSpPr>
            <a:spLocks noGrp="1"/>
          </p:cNvSpPr>
          <p:nvPr/>
        </p:nvSpPr>
        <p:spPr>
          <a:xfrm>
            <a:off x="61912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JUSTICE</a:t>
            </a:r>
          </a:p>
        </p:txBody>
      </p:sp>
      <p:sp>
        <p:nvSpPr>
          <p:cNvPr id="16" name="expanded-node-52-4">
            <a:extLst>
              <a:ext uri="{FF2B5EF4-FFF2-40B4-BE49-F238E27FC236}">
                <a16:creationId xmlns:a16="http://schemas.microsoft.com/office/drawing/2014/main" id="{F281150C-38AF-43AF-A9D9-B86F10D9E1D4}"/>
              </a:ext>
            </a:extLst>
          </p:cNvPr>
          <p:cNvSpPr>
            <a:spLocks noGrp="1"/>
          </p:cNvSpPr>
          <p:nvPr/>
        </p:nvSpPr>
        <p:spPr>
          <a:xfrm>
            <a:off x="85725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EXPLICABILITY</a:t>
            </a:r>
          </a:p>
        </p:txBody>
      </p:sp>
      <p:sp>
        <p:nvSpPr>
          <p:cNvPr id="17" name="expanded-takeaway-52">
            <a:extLst>
              <a:ext uri="{FF2B5EF4-FFF2-40B4-BE49-F238E27FC236}">
                <a16:creationId xmlns:a16="http://schemas.microsoft.com/office/drawing/2014/main" id="{2EF7F33E-9964-417C-888F-6E427E7C8F39}"/>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Ethical principles work best as review questions that guide design evidence, not as slogans.</a:t>
            </a:r>
          </a:p>
        </p:txBody>
      </p:sp>
      <p:sp>
        <p:nvSpPr>
          <p:cNvPr id="18" name="v2-page-mask-69">
            <a:extLst>
              <a:ext uri="{FF2B5EF4-FFF2-40B4-BE49-F238E27FC236}">
                <a16:creationId xmlns:a16="http://schemas.microsoft.com/office/drawing/2014/main" id="{A8A9F3EC-A472-4D4B-A625-82426B911AAA}"/>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69">
            <a:extLst>
              <a:ext uri="{FF2B5EF4-FFF2-40B4-BE49-F238E27FC236}">
                <a16:creationId xmlns:a16="http://schemas.microsoft.com/office/drawing/2014/main" id="{DC1855B1-8A41-4D02-87EE-98CB6546EC86}"/>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69</a:t>
            </a:r>
          </a:p>
        </p:txBody>
      </p:sp>
    </p:spTree>
    <p:extLst>
      <p:ext uri="{BB962C8B-B14F-4D97-AF65-F5344CB8AC3E}">
        <p14:creationId xmlns:p14="http://schemas.microsoft.com/office/powerpoint/2010/main" val="10074056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2117315458"/>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a:srcRect t="27" b="27"/>
          <a:stretch>
            <a:fillRect/>
          </a:stretch>
        </p:blipFill>
        <p:spPr>
          <a:xfrm>
            <a:off x="0" y="0"/>
            <a:ext cx="12192000" cy="6858000"/>
          </a:xfrm>
          <a:prstGeom prst="rect">
            <a:avLst/>
          </a:prstGeom>
        </p:spPr>
      </p:pic>
    </p:spTree>
    <p:extLst>
      <p:ext uri="{BB962C8B-B14F-4D97-AF65-F5344CB8AC3E}">
        <p14:creationId xmlns:p14="http://schemas.microsoft.com/office/powerpoint/2010/main" val="2387682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078B4A9-85A6-4B10-8288-43C90F7B2027}"/>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396DA202-0C73-4881-984C-CE3B4DE7A177}"/>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CB773250-AE33-407B-B951-9375B280B060}"/>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Common Tensions &amp; Trade-offs</a:t>
            </a:r>
          </a:p>
        </p:txBody>
      </p:sp>
      <p:sp>
        <p:nvSpPr>
          <p:cNvPr id="5" name="Rectangle 4">
            <a:extLst>
              <a:ext uri="{FF2B5EF4-FFF2-40B4-BE49-F238E27FC236}">
                <a16:creationId xmlns:a16="http://schemas.microsoft.com/office/drawing/2014/main" id="{02A7526F-AA6C-4C41-A197-CD3D3BF463F2}"/>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E3B27EA1-55D6-4E41-BD8A-9DE4C26199F1}"/>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Principles rarely give a single answer.</a:t>
            </a:r>
          </a:p>
        </p:txBody>
      </p:sp>
      <p:sp>
        <p:nvSpPr>
          <p:cNvPr id="7" name="TextBox 6">
            <a:extLst>
              <a:ext uri="{FF2B5EF4-FFF2-40B4-BE49-F238E27FC236}">
                <a16:creationId xmlns:a16="http://schemas.microsoft.com/office/drawing/2014/main" id="{E04B1363-8A73-4509-9C61-37665D4A27A5}"/>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B0809C35-65C4-4958-9A49-EDC97450C395}"/>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53</a:t>
            </a:r>
          </a:p>
        </p:txBody>
      </p:sp>
      <p:sp>
        <p:nvSpPr>
          <p:cNvPr id="9" name="TextBox 8">
            <a:extLst>
              <a:ext uri="{FF2B5EF4-FFF2-40B4-BE49-F238E27FC236}">
                <a16:creationId xmlns:a16="http://schemas.microsoft.com/office/drawing/2014/main" id="{B9A865DE-D49C-444A-9463-5DCC9A79F16F}"/>
              </a:ext>
            </a:extLst>
          </p:cNvPr>
          <p:cNvSpPr>
            <a:spLocks noGrp="1"/>
          </p:cNvSpPr>
          <p:nvPr/>
        </p:nvSpPr>
        <p:spPr>
          <a:xfrm>
            <a:off x="896112" y="155448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1" i="0" u="none">
                <a:solidFill>
                  <a:srgbClr val="262626"/>
                </a:solidFill>
                <a:latin typeface="Calibri"/>
                <a:ea typeface="Calibri"/>
                <a:cs typeface="Calibri"/>
              </a:rPr>
              <a:t>Accuracy</a:t>
            </a:r>
            <a:r>
              <a:rPr sz="1700" b="0" i="0" u="none">
                <a:solidFill>
                  <a:srgbClr val="262626"/>
                </a:solidFill>
                <a:latin typeface="Calibri"/>
                <a:ea typeface="Calibri"/>
                <a:cs typeface="Calibri"/>
              </a:rPr>
              <a:t>  ↔  </a:t>
            </a:r>
            <a:r>
              <a:rPr sz="1700" b="1" i="0" u="sng">
                <a:solidFill>
                  <a:srgbClr val="262626"/>
                </a:solidFill>
                <a:latin typeface="Calibri"/>
                <a:ea typeface="Calibri"/>
                <a:cs typeface="Calibri"/>
              </a:rPr>
              <a:t>Fairness</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262626"/>
                </a:solidFill>
                <a:latin typeface="Calibri"/>
                <a:ea typeface="Calibri"/>
                <a:cs typeface="Calibri"/>
              </a:rPr>
              <a:t>Privacy</a:t>
            </a:r>
            <a:r>
              <a:rPr sz="1700" b="0" i="0" u="none">
                <a:solidFill>
                  <a:srgbClr val="262626"/>
                </a:solidFill>
                <a:latin typeface="Calibri"/>
                <a:ea typeface="Calibri"/>
                <a:cs typeface="Calibri"/>
              </a:rPr>
              <a:t>  ↔  </a:t>
            </a:r>
            <a:r>
              <a:rPr sz="1700" b="1" i="0" u="sng">
                <a:solidFill>
                  <a:srgbClr val="262626"/>
                </a:solidFill>
                <a:latin typeface="Calibri"/>
                <a:ea typeface="Calibri"/>
                <a:cs typeface="Calibri"/>
              </a:rPr>
              <a:t>Utility</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262626"/>
                </a:solidFill>
                <a:latin typeface="Calibri"/>
                <a:ea typeface="Calibri"/>
                <a:cs typeface="Calibri"/>
              </a:rPr>
              <a:t>Transparency</a:t>
            </a:r>
            <a:r>
              <a:rPr sz="1700" b="0" i="0" u="none">
                <a:solidFill>
                  <a:srgbClr val="262626"/>
                </a:solidFill>
                <a:latin typeface="Calibri"/>
                <a:ea typeface="Calibri"/>
                <a:cs typeface="Calibri"/>
              </a:rPr>
              <a:t>  ↔  </a:t>
            </a:r>
            <a:r>
              <a:rPr sz="1700" b="1" i="0" u="sng">
                <a:solidFill>
                  <a:srgbClr val="262626"/>
                </a:solidFill>
                <a:latin typeface="Calibri"/>
                <a:ea typeface="Calibri"/>
                <a:cs typeface="Calibri"/>
              </a:rPr>
              <a:t>IP / Security</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262626"/>
                </a:solidFill>
                <a:latin typeface="Calibri"/>
                <a:ea typeface="Calibri"/>
                <a:cs typeface="Calibri"/>
              </a:rPr>
              <a:t>Innovation</a:t>
            </a:r>
            <a:r>
              <a:rPr sz="1700" b="0" i="0" u="none">
                <a:solidFill>
                  <a:srgbClr val="262626"/>
                </a:solidFill>
                <a:latin typeface="Calibri"/>
                <a:ea typeface="Calibri"/>
                <a:cs typeface="Calibri"/>
              </a:rPr>
              <a:t>  ↔  </a:t>
            </a:r>
            <a:r>
              <a:rPr sz="1700" b="1" i="0" u="sng">
                <a:solidFill>
                  <a:srgbClr val="262626"/>
                </a:solidFill>
                <a:latin typeface="Calibri"/>
                <a:ea typeface="Calibri"/>
                <a:cs typeface="Calibri"/>
              </a:rPr>
              <a:t>Precaution</a:t>
            </a:r>
          </a:p>
          <a:p>
            <a:pPr marL="285750" indent="-285750" algn="l">
              <a:lnSpc>
                <a:spcPct val="116000"/>
              </a:lnSpc>
              <a:spcBef>
                <a:spcPts val="0"/>
              </a:spcBef>
              <a:spcAft>
                <a:spcPts val="700"/>
              </a:spcAft>
              <a:buClr>
                <a:srgbClr val="2E75B6"/>
              </a:buClr>
              <a:buSzPct val="100000"/>
              <a:buFont typeface="Arial"/>
              <a:buChar char="•"/>
            </a:pPr>
            <a:r>
              <a:rPr sz="1700" b="1" i="0" u="none">
                <a:solidFill>
                  <a:srgbClr val="262626"/>
                </a:solidFill>
                <a:latin typeface="Calibri"/>
                <a:ea typeface="Calibri"/>
                <a:cs typeface="Calibri"/>
              </a:rPr>
              <a:t>Automation</a:t>
            </a:r>
            <a:r>
              <a:rPr sz="1700" b="0" i="0" u="none">
                <a:solidFill>
                  <a:srgbClr val="262626"/>
                </a:solidFill>
                <a:latin typeface="Calibri"/>
                <a:ea typeface="Calibri"/>
                <a:cs typeface="Calibri"/>
              </a:rPr>
              <a:t>  ↔  </a:t>
            </a:r>
            <a:r>
              <a:rPr sz="1700" b="1" i="0" u="sng">
                <a:solidFill>
                  <a:srgbClr val="262626"/>
                </a:solidFill>
                <a:latin typeface="Calibri"/>
                <a:ea typeface="Calibri"/>
                <a:cs typeface="Calibri"/>
              </a:rPr>
              <a:t>Human dignity / oversight</a:t>
            </a:r>
          </a:p>
          <a:p>
            <a:pPr marL="285750" indent="-285750" algn="l">
              <a:lnSpc>
                <a:spcPct val="116000"/>
              </a:lnSpc>
              <a:spcBef>
                <a:spcPts val="400"/>
              </a:spcBef>
              <a:spcAft>
                <a:spcPts val="700"/>
              </a:spcAft>
              <a:buClr>
                <a:srgbClr val="2E75B6"/>
              </a:buClr>
              <a:buSzPct val="100000"/>
              <a:buFont typeface="Arial"/>
              <a:buChar char="•"/>
            </a:pPr>
            <a:r>
              <a:rPr sz="1500" b="0" i="0" u="none">
                <a:solidFill>
                  <a:srgbClr val="262626"/>
                </a:solidFill>
                <a:latin typeface="Calibri"/>
                <a:ea typeface="Calibri"/>
                <a:cs typeface="Calibri"/>
              </a:rPr>
              <a:t>Trade-offs require </a:t>
            </a:r>
            <a:r>
              <a:rPr sz="1500" b="1" i="0" u="sng">
                <a:solidFill>
                  <a:srgbClr val="262626"/>
                </a:solidFill>
                <a:latin typeface="Calibri"/>
                <a:ea typeface="Calibri"/>
                <a:cs typeface="Calibri"/>
              </a:rPr>
              <a:t>judgment + context</a:t>
            </a:r>
            <a:r>
              <a:rPr sz="1500" b="0" i="1" u="none">
                <a:solidFill>
                  <a:srgbClr val="595959"/>
                </a:solidFill>
                <a:latin typeface="Calibri"/>
                <a:ea typeface="Calibri"/>
                <a:cs typeface="Calibri"/>
              </a:rPr>
              <a:t>.</a:t>
            </a:r>
          </a:p>
        </p:txBody>
      </p:sp>
      <p:sp>
        <p:nvSpPr>
          <p:cNvPr id="10" name="expanded-arrow-53-1">
            <a:extLst>
              <a:ext uri="{FF2B5EF4-FFF2-40B4-BE49-F238E27FC236}">
                <a16:creationId xmlns:a16="http://schemas.microsoft.com/office/drawing/2014/main" id="{051B99A5-1A84-4503-A09C-DFC024D60F80}"/>
              </a:ext>
            </a:extLst>
          </p:cNvPr>
          <p:cNvSpPr>
            <a:spLocks noGrp="1"/>
          </p:cNvSpPr>
          <p:nvPr/>
        </p:nvSpPr>
        <p:spPr>
          <a:xfrm>
            <a:off x="4772025"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53-2">
            <a:extLst>
              <a:ext uri="{FF2B5EF4-FFF2-40B4-BE49-F238E27FC236}">
                <a16:creationId xmlns:a16="http://schemas.microsoft.com/office/drawing/2014/main" id="{FF08AC2A-E3B0-49FD-B1E4-8FB34FCF4393}"/>
              </a:ext>
            </a:extLst>
          </p:cNvPr>
          <p:cNvSpPr>
            <a:spLocks noGrp="1"/>
          </p:cNvSpPr>
          <p:nvPr/>
        </p:nvSpPr>
        <p:spPr>
          <a:xfrm>
            <a:off x="7153275"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node-53-1">
            <a:extLst>
              <a:ext uri="{FF2B5EF4-FFF2-40B4-BE49-F238E27FC236}">
                <a16:creationId xmlns:a16="http://schemas.microsoft.com/office/drawing/2014/main" id="{AFCB1DEA-0C13-4380-AE54-1DF244295F7B}"/>
              </a:ext>
            </a:extLst>
          </p:cNvPr>
          <p:cNvSpPr>
            <a:spLocks noGrp="1"/>
          </p:cNvSpPr>
          <p:nvPr/>
        </p:nvSpPr>
        <p:spPr>
          <a:xfrm>
            <a:off x="26193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ACCURACY ↔ FAIRNESS</a:t>
            </a:r>
          </a:p>
        </p:txBody>
      </p:sp>
      <p:sp>
        <p:nvSpPr>
          <p:cNvPr id="13" name="expanded-node-53-2">
            <a:extLst>
              <a:ext uri="{FF2B5EF4-FFF2-40B4-BE49-F238E27FC236}">
                <a16:creationId xmlns:a16="http://schemas.microsoft.com/office/drawing/2014/main" id="{F97136BB-FAA7-4587-B5C0-6FDE868A95EB}"/>
              </a:ext>
            </a:extLst>
          </p:cNvPr>
          <p:cNvSpPr>
            <a:spLocks noGrp="1"/>
          </p:cNvSpPr>
          <p:nvPr/>
        </p:nvSpPr>
        <p:spPr>
          <a:xfrm>
            <a:off x="5000625"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PRIVACY ↔ UTILITY</a:t>
            </a:r>
          </a:p>
        </p:txBody>
      </p:sp>
      <p:sp>
        <p:nvSpPr>
          <p:cNvPr id="14" name="expanded-node-53-3">
            <a:extLst>
              <a:ext uri="{FF2B5EF4-FFF2-40B4-BE49-F238E27FC236}">
                <a16:creationId xmlns:a16="http://schemas.microsoft.com/office/drawing/2014/main" id="{2B985D76-3597-4374-B632-9A6C70722A31}"/>
              </a:ext>
            </a:extLst>
          </p:cNvPr>
          <p:cNvSpPr>
            <a:spLocks noGrp="1"/>
          </p:cNvSpPr>
          <p:nvPr/>
        </p:nvSpPr>
        <p:spPr>
          <a:xfrm>
            <a:off x="73818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INNOVATION ↔ PRECAUTION</a:t>
            </a:r>
          </a:p>
        </p:txBody>
      </p:sp>
      <p:sp>
        <p:nvSpPr>
          <p:cNvPr id="15" name="expanded-takeaway-53">
            <a:extLst>
              <a:ext uri="{FF2B5EF4-FFF2-40B4-BE49-F238E27FC236}">
                <a16:creationId xmlns:a16="http://schemas.microsoft.com/office/drawing/2014/main" id="{D1CEC688-96D1-48C0-99ED-CF5801FE5083}"/>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Trade-offs should be demonstrated, documented, and monitored — not assumed before better options are explored.</a:t>
            </a:r>
          </a:p>
        </p:txBody>
      </p:sp>
      <p:sp>
        <p:nvSpPr>
          <p:cNvPr id="16" name="v2-page-mask-72">
            <a:extLst>
              <a:ext uri="{FF2B5EF4-FFF2-40B4-BE49-F238E27FC236}">
                <a16:creationId xmlns:a16="http://schemas.microsoft.com/office/drawing/2014/main" id="{5AF0BD7E-8614-4E12-B289-EF89C700A7B2}"/>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7" name="v2-page-72">
            <a:extLst>
              <a:ext uri="{FF2B5EF4-FFF2-40B4-BE49-F238E27FC236}">
                <a16:creationId xmlns:a16="http://schemas.microsoft.com/office/drawing/2014/main" id="{CB4AF759-55D0-4721-9954-E561ACE062F4}"/>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72</a:t>
            </a:r>
          </a:p>
        </p:txBody>
      </p:sp>
    </p:spTree>
    <p:extLst>
      <p:ext uri="{BB962C8B-B14F-4D97-AF65-F5344CB8AC3E}">
        <p14:creationId xmlns:p14="http://schemas.microsoft.com/office/powerpoint/2010/main" val="19326149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8725C7B-B920-45E5-8E71-7CA451C2E936}"/>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65261368-08DD-4829-B9F6-0D2F27961FF9}"/>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9CC71D3F-D8D5-4C0B-A8C1-E48C3A2C7698}"/>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A Practical Ethical Decision-Making Framework</a:t>
            </a:r>
          </a:p>
        </p:txBody>
      </p:sp>
      <p:sp>
        <p:nvSpPr>
          <p:cNvPr id="5" name="Rectangle 4">
            <a:extLst>
              <a:ext uri="{FF2B5EF4-FFF2-40B4-BE49-F238E27FC236}">
                <a16:creationId xmlns:a16="http://schemas.microsoft.com/office/drawing/2014/main" id="{26FD5AAE-9510-406C-B688-DDFDE524900E}"/>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0595546D-1BAB-4B8C-A416-0F7EC106D96B}"/>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AC4D8CE7-AE47-4E54-B61F-D41D5B0C0BA1}"/>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54</a:t>
            </a:r>
          </a:p>
        </p:txBody>
      </p:sp>
      <p:sp>
        <p:nvSpPr>
          <p:cNvPr id="8" name="TextBox 7">
            <a:extLst>
              <a:ext uri="{FF2B5EF4-FFF2-40B4-BE49-F238E27FC236}">
                <a16:creationId xmlns:a16="http://schemas.microsoft.com/office/drawing/2014/main" id="{45D55869-1A0A-4DBC-AAA7-77F9009A4CC5}"/>
              </a:ext>
            </a:extLst>
          </p:cNvPr>
          <p:cNvSpPr>
            <a:spLocks noGrp="1"/>
          </p:cNvSpPr>
          <p:nvPr/>
        </p:nvSpPr>
        <p:spPr>
          <a:xfrm>
            <a:off x="896112" y="1508760"/>
            <a:ext cx="10607040" cy="466344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1.  Identify </a:t>
            </a:r>
            <a:r>
              <a:rPr sz="1600" b="0" i="0" u="none">
                <a:solidFill>
                  <a:srgbClr val="262626"/>
                </a:solidFill>
                <a:latin typeface="Calibri"/>
                <a:ea typeface="Calibri"/>
                <a:cs typeface="Calibri"/>
              </a:rPr>
              <a:t>stakeholders &amp; affected groups.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2.  Map </a:t>
            </a:r>
            <a:r>
              <a:rPr sz="1600" b="0" i="0" u="none">
                <a:solidFill>
                  <a:srgbClr val="262626"/>
                </a:solidFill>
                <a:latin typeface="Calibri"/>
                <a:ea typeface="Calibri"/>
                <a:cs typeface="Calibri"/>
              </a:rPr>
              <a:t>values &amp; potential harms (benefits, risks, rights).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3.  Apply </a:t>
            </a:r>
            <a:r>
              <a:rPr sz="1600" b="0" i="0" u="none">
                <a:solidFill>
                  <a:srgbClr val="262626"/>
                </a:solidFill>
                <a:latin typeface="Calibri"/>
                <a:ea typeface="Calibri"/>
                <a:cs typeface="Calibri"/>
              </a:rPr>
              <a:t>ethical lenses (consequentialist, deontological, virtue, justice).</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4.  Generate &amp; compare </a:t>
            </a:r>
            <a:r>
              <a:rPr sz="1600" b="0" i="0" u="none">
                <a:solidFill>
                  <a:srgbClr val="262626"/>
                </a:solidFill>
                <a:latin typeface="Calibri"/>
                <a:ea typeface="Calibri"/>
                <a:cs typeface="Calibri"/>
              </a:rPr>
              <a:t>options.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5.  Decide, document &amp; justify </a:t>
            </a:r>
            <a:r>
              <a:rPr sz="1600" b="0" i="0" u="none">
                <a:solidFill>
                  <a:srgbClr val="262626"/>
                </a:solidFill>
                <a:latin typeface="Calibri"/>
                <a:ea typeface="Calibri"/>
                <a:cs typeface="Calibri"/>
              </a:rPr>
              <a:t>(accountability).</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2E75B6"/>
                </a:solidFill>
                <a:latin typeface="Calibri"/>
                <a:ea typeface="Calibri"/>
                <a:cs typeface="Calibri"/>
              </a:rPr>
              <a:t>6.  Monitor &amp; review </a:t>
            </a:r>
            <a:r>
              <a:rPr sz="1600" b="0" i="0" u="none">
                <a:solidFill>
                  <a:srgbClr val="262626"/>
                </a:solidFill>
                <a:latin typeface="Calibri"/>
                <a:ea typeface="Calibri"/>
                <a:cs typeface="Calibri"/>
              </a:rPr>
              <a:t>(iterative).</a:t>
            </a:r>
          </a:p>
        </p:txBody>
      </p:sp>
      <p:sp>
        <p:nvSpPr>
          <p:cNvPr id="9" name="expanded-arrow-54-1">
            <a:extLst>
              <a:ext uri="{FF2B5EF4-FFF2-40B4-BE49-F238E27FC236}">
                <a16:creationId xmlns:a16="http://schemas.microsoft.com/office/drawing/2014/main" id="{2DCA22A8-A895-4B1C-8410-C0D4231E6423}"/>
              </a:ext>
            </a:extLst>
          </p:cNvPr>
          <p:cNvSpPr>
            <a:spLocks noGrp="1"/>
          </p:cNvSpPr>
          <p:nvPr/>
        </p:nvSpPr>
        <p:spPr>
          <a:xfrm>
            <a:off x="2819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54-2">
            <a:extLst>
              <a:ext uri="{FF2B5EF4-FFF2-40B4-BE49-F238E27FC236}">
                <a16:creationId xmlns:a16="http://schemas.microsoft.com/office/drawing/2014/main" id="{0A219481-0AF9-4B9D-B835-D69EEAEC689A}"/>
              </a:ext>
            </a:extLst>
          </p:cNvPr>
          <p:cNvSpPr>
            <a:spLocks noGrp="1"/>
          </p:cNvSpPr>
          <p:nvPr/>
        </p:nvSpPr>
        <p:spPr>
          <a:xfrm>
            <a:off x="4914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54-3">
            <a:extLst>
              <a:ext uri="{FF2B5EF4-FFF2-40B4-BE49-F238E27FC236}">
                <a16:creationId xmlns:a16="http://schemas.microsoft.com/office/drawing/2014/main" id="{8B2BB18F-784D-4C66-8F90-E33A91590A96}"/>
              </a:ext>
            </a:extLst>
          </p:cNvPr>
          <p:cNvSpPr>
            <a:spLocks noGrp="1"/>
          </p:cNvSpPr>
          <p:nvPr/>
        </p:nvSpPr>
        <p:spPr>
          <a:xfrm>
            <a:off x="7010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54-4">
            <a:extLst>
              <a:ext uri="{FF2B5EF4-FFF2-40B4-BE49-F238E27FC236}">
                <a16:creationId xmlns:a16="http://schemas.microsoft.com/office/drawing/2014/main" id="{ACDB7409-8E15-4F67-B4EF-267B3270E994}"/>
              </a:ext>
            </a:extLst>
          </p:cNvPr>
          <p:cNvSpPr>
            <a:spLocks noGrp="1"/>
          </p:cNvSpPr>
          <p:nvPr/>
        </p:nvSpPr>
        <p:spPr>
          <a:xfrm>
            <a:off x="9105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54-1">
            <a:extLst>
              <a:ext uri="{FF2B5EF4-FFF2-40B4-BE49-F238E27FC236}">
                <a16:creationId xmlns:a16="http://schemas.microsoft.com/office/drawing/2014/main" id="{FCF643E8-D389-452A-B791-28D675C37A44}"/>
              </a:ext>
            </a:extLst>
          </p:cNvPr>
          <p:cNvSpPr>
            <a:spLocks noGrp="1"/>
          </p:cNvSpPr>
          <p:nvPr/>
        </p:nvSpPr>
        <p:spPr>
          <a:xfrm>
            <a:off x="952500" y="4210050"/>
            <a:ext cx="190500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975" b="1">
                <a:solidFill>
                  <a:srgbClr val="1F3B6D"/>
                </a:solidFill>
              </a:defRPr>
            </a:pPr>
            <a:r>
              <a:rPr sz="975" b="1">
                <a:solidFill>
                  <a:srgbClr val="1F3B6D"/>
                </a:solidFill>
              </a:rPr>
              <a:t>STAKEHOLDERS</a:t>
            </a:r>
          </a:p>
        </p:txBody>
      </p:sp>
      <p:sp>
        <p:nvSpPr>
          <p:cNvPr id="14" name="expanded-node-54-2">
            <a:extLst>
              <a:ext uri="{FF2B5EF4-FFF2-40B4-BE49-F238E27FC236}">
                <a16:creationId xmlns:a16="http://schemas.microsoft.com/office/drawing/2014/main" id="{E6D5577B-0005-431D-9D81-C0DECF7C94B9}"/>
              </a:ext>
            </a:extLst>
          </p:cNvPr>
          <p:cNvSpPr>
            <a:spLocks noGrp="1"/>
          </p:cNvSpPr>
          <p:nvPr/>
        </p:nvSpPr>
        <p:spPr>
          <a:xfrm>
            <a:off x="3048000" y="4305300"/>
            <a:ext cx="190500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975" b="1">
                <a:solidFill>
                  <a:srgbClr val="2D78B9"/>
                </a:solidFill>
              </a:defRPr>
            </a:pPr>
            <a:r>
              <a:rPr sz="975" b="1">
                <a:solidFill>
                  <a:srgbClr val="2D78B9"/>
                </a:solidFill>
              </a:rPr>
              <a:t>HARMS &amp; VALUES</a:t>
            </a:r>
          </a:p>
        </p:txBody>
      </p:sp>
      <p:sp>
        <p:nvSpPr>
          <p:cNvPr id="15" name="expanded-node-54-3">
            <a:extLst>
              <a:ext uri="{FF2B5EF4-FFF2-40B4-BE49-F238E27FC236}">
                <a16:creationId xmlns:a16="http://schemas.microsoft.com/office/drawing/2014/main" id="{D391CFED-F5AB-4910-BF51-0A8B67EF4754}"/>
              </a:ext>
            </a:extLst>
          </p:cNvPr>
          <p:cNvSpPr>
            <a:spLocks noGrp="1"/>
          </p:cNvSpPr>
          <p:nvPr/>
        </p:nvSpPr>
        <p:spPr>
          <a:xfrm>
            <a:off x="5143500" y="4210050"/>
            <a:ext cx="190500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975" b="1">
                <a:solidFill>
                  <a:srgbClr val="1F3B6D"/>
                </a:solidFill>
              </a:defRPr>
            </a:pPr>
            <a:r>
              <a:rPr sz="975" b="1">
                <a:solidFill>
                  <a:srgbClr val="1F3B6D"/>
                </a:solidFill>
              </a:rPr>
              <a:t>OPTIONS</a:t>
            </a:r>
          </a:p>
        </p:txBody>
      </p:sp>
      <p:sp>
        <p:nvSpPr>
          <p:cNvPr id="16" name="expanded-node-54-4">
            <a:extLst>
              <a:ext uri="{FF2B5EF4-FFF2-40B4-BE49-F238E27FC236}">
                <a16:creationId xmlns:a16="http://schemas.microsoft.com/office/drawing/2014/main" id="{81780379-5607-421C-A45E-4DFB567EE171}"/>
              </a:ext>
            </a:extLst>
          </p:cNvPr>
          <p:cNvSpPr>
            <a:spLocks noGrp="1"/>
          </p:cNvSpPr>
          <p:nvPr/>
        </p:nvSpPr>
        <p:spPr>
          <a:xfrm>
            <a:off x="7239000" y="4305300"/>
            <a:ext cx="190500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975" b="1">
                <a:solidFill>
                  <a:srgbClr val="2D78B9"/>
                </a:solidFill>
              </a:defRPr>
            </a:pPr>
            <a:r>
              <a:rPr sz="975" b="1">
                <a:solidFill>
                  <a:srgbClr val="2D78B9"/>
                </a:solidFill>
              </a:rPr>
              <a:t>DECIDE</a:t>
            </a:r>
          </a:p>
        </p:txBody>
      </p:sp>
      <p:sp>
        <p:nvSpPr>
          <p:cNvPr id="17" name="expanded-node-54-5">
            <a:extLst>
              <a:ext uri="{FF2B5EF4-FFF2-40B4-BE49-F238E27FC236}">
                <a16:creationId xmlns:a16="http://schemas.microsoft.com/office/drawing/2014/main" id="{4A01C08A-6533-4E41-B9AD-CAAB9F50C5A2}"/>
              </a:ext>
            </a:extLst>
          </p:cNvPr>
          <p:cNvSpPr>
            <a:spLocks noGrp="1"/>
          </p:cNvSpPr>
          <p:nvPr/>
        </p:nvSpPr>
        <p:spPr>
          <a:xfrm>
            <a:off x="9334500" y="4210050"/>
            <a:ext cx="190500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975" b="1">
                <a:solidFill>
                  <a:srgbClr val="1F3B6D"/>
                </a:solidFill>
              </a:defRPr>
            </a:pPr>
            <a:r>
              <a:rPr sz="975" b="1">
                <a:solidFill>
                  <a:srgbClr val="1F3B6D"/>
                </a:solidFill>
              </a:rPr>
              <a:t>MONITOR</a:t>
            </a:r>
          </a:p>
        </p:txBody>
      </p:sp>
      <p:sp>
        <p:nvSpPr>
          <p:cNvPr id="18" name="expanded-takeaway-54">
            <a:extLst>
              <a:ext uri="{FF2B5EF4-FFF2-40B4-BE49-F238E27FC236}">
                <a16:creationId xmlns:a16="http://schemas.microsoft.com/office/drawing/2014/main" id="{9772E314-B0D6-462B-9283-46DA43BA5C7B}"/>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A defensible decision identifies stakeholders, maps harms, applies lenses, compares options, justifies action, and monitors outcomes.</a:t>
            </a:r>
          </a:p>
        </p:txBody>
      </p:sp>
      <p:sp>
        <p:nvSpPr>
          <p:cNvPr id="19" name="v2-page-mask-73">
            <a:extLst>
              <a:ext uri="{FF2B5EF4-FFF2-40B4-BE49-F238E27FC236}">
                <a16:creationId xmlns:a16="http://schemas.microsoft.com/office/drawing/2014/main" id="{63FB6929-2F4F-4909-A98E-AAA5F1CB6007}"/>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20" name="v2-page-73">
            <a:extLst>
              <a:ext uri="{FF2B5EF4-FFF2-40B4-BE49-F238E27FC236}">
                <a16:creationId xmlns:a16="http://schemas.microsoft.com/office/drawing/2014/main" id="{10AF09C5-BC4E-40BA-A6CF-34748BF31203}"/>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73</a:t>
            </a:r>
          </a:p>
        </p:txBody>
      </p:sp>
    </p:spTree>
    <p:extLst>
      <p:ext uri="{BB962C8B-B14F-4D97-AF65-F5344CB8AC3E}">
        <p14:creationId xmlns:p14="http://schemas.microsoft.com/office/powerpoint/2010/main" val="8297879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711BE4C-A33F-4847-8DD1-3FD33818C5D4}"/>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7392D4C3-DBA0-450B-A89D-9841307454E7}"/>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241E07E1-9C0E-4AF5-AB19-15C493DD7F14}"/>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Applying the Framework</a:t>
            </a:r>
          </a:p>
        </p:txBody>
      </p:sp>
      <p:sp>
        <p:nvSpPr>
          <p:cNvPr id="5" name="Rectangle 4">
            <a:extLst>
              <a:ext uri="{FF2B5EF4-FFF2-40B4-BE49-F238E27FC236}">
                <a16:creationId xmlns:a16="http://schemas.microsoft.com/office/drawing/2014/main" id="{5FF0F77D-7545-40EE-9595-5E3343989A95}"/>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CC6E2E1-7411-423D-BD76-BA034DFD7ED9}"/>
              </a:ext>
            </a:extLst>
          </p:cNvPr>
          <p:cNvSpPr>
            <a:spLocks noGrp="1"/>
          </p:cNvSpPr>
          <p:nvPr/>
        </p:nvSpPr>
        <p:spPr>
          <a:xfrm>
            <a:off x="896112" y="1060704"/>
            <a:ext cx="10515600" cy="310896"/>
          </a:xfrm>
          <a:prstGeom prst="rect">
            <a:avLst/>
          </a:prstGeom>
          <a:noFill/>
        </p:spPr>
        <p:txBody>
          <a:bodyPr wrap="square">
            <a:spAutoFit/>
          </a:bodyPr>
          <a:lstStyle/>
          <a:p>
            <a:r>
              <a:rPr sz="1300" i="1">
                <a:solidFill>
                  <a:srgbClr val="595959"/>
                </a:solidFill>
                <a:latin typeface="Calibri"/>
                <a:ea typeface="Calibri"/>
                <a:cs typeface="Calibri"/>
              </a:rPr>
              <a:t>Walkthrough: an AI hiring tool.</a:t>
            </a:r>
          </a:p>
        </p:txBody>
      </p:sp>
      <p:sp>
        <p:nvSpPr>
          <p:cNvPr id="7" name="TextBox 6">
            <a:extLst>
              <a:ext uri="{FF2B5EF4-FFF2-40B4-BE49-F238E27FC236}">
                <a16:creationId xmlns:a16="http://schemas.microsoft.com/office/drawing/2014/main" id="{D290140D-F349-4CBA-BCA2-20D2427E4ABF}"/>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8" name="TextBox 7">
            <a:extLst>
              <a:ext uri="{FF2B5EF4-FFF2-40B4-BE49-F238E27FC236}">
                <a16:creationId xmlns:a16="http://schemas.microsoft.com/office/drawing/2014/main" id="{A6578A01-DFF8-4ECB-A6C9-E94F219FEE89}"/>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55</a:t>
            </a:r>
          </a:p>
        </p:txBody>
      </p:sp>
      <p:sp>
        <p:nvSpPr>
          <p:cNvPr id="9" name="TextBox 8">
            <a:extLst>
              <a:ext uri="{FF2B5EF4-FFF2-40B4-BE49-F238E27FC236}">
                <a16:creationId xmlns:a16="http://schemas.microsoft.com/office/drawing/2014/main" id="{0A58605A-379B-4DA6-84B5-84A28B9472E2}"/>
              </a:ext>
            </a:extLst>
          </p:cNvPr>
          <p:cNvSpPr>
            <a:spLocks noGrp="1"/>
          </p:cNvSpPr>
          <p:nvPr/>
        </p:nvSpPr>
        <p:spPr>
          <a:xfrm>
            <a:off x="896112" y="1508760"/>
            <a:ext cx="5120640" cy="4663440"/>
          </a:xfrm>
          <a:prstGeom prst="rect">
            <a:avLst/>
          </a:prstGeom>
          <a:noFill/>
        </p:spPr>
        <p:txBody>
          <a:bodyPr wrap="square" anchor="t">
            <a:spAutoFit/>
          </a:bodyPr>
          <a:lstStyle/>
          <a:p>
            <a:pPr marL="285750" indent="0" algn="l">
              <a:lnSpc>
                <a:spcPct val="116000"/>
              </a:lnSpc>
              <a:spcBef>
                <a:spcPts val="0"/>
              </a:spcBef>
              <a:spcAft>
                <a:spcPts val="400"/>
              </a:spcAft>
              <a:buNone/>
            </a:pPr>
            <a:r>
              <a:rPr sz="1700" b="1" i="0" u="none">
                <a:solidFill>
                  <a:srgbClr val="1F3864"/>
                </a:solidFill>
                <a:latin typeface="Calibri"/>
                <a:ea typeface="Calibri"/>
                <a:cs typeface="Calibri"/>
              </a:rPr>
              <a:t>The case</a:t>
            </a:r>
          </a:p>
          <a:p>
            <a:pPr marL="285750" indent="-285750" algn="l">
              <a:lnSpc>
                <a:spcPct val="116000"/>
              </a:lnSpc>
              <a:spcBef>
                <a:spcPts val="0"/>
              </a:spcBef>
              <a:spcAft>
                <a:spcPts val="700"/>
              </a:spcAft>
              <a:buClr>
                <a:srgbClr val="2E75B6"/>
              </a:buClr>
              <a:buSzPct val="100000"/>
              <a:buFont typeface="Arial"/>
              <a:buChar char="•"/>
            </a:pPr>
            <a:r>
              <a:rPr sz="1400" b="0" i="0" u="none">
                <a:solidFill>
                  <a:srgbClr val="262626"/>
                </a:solidFill>
                <a:latin typeface="Calibri"/>
                <a:ea typeface="Calibri"/>
                <a:cs typeface="Calibri"/>
              </a:rPr>
              <a:t>A tool that screens resumés and ranks applicants.</a:t>
            </a:r>
          </a:p>
          <a:p>
            <a:pPr marL="285750" indent="0" algn="l">
              <a:lnSpc>
                <a:spcPct val="116000"/>
              </a:lnSpc>
              <a:spcBef>
                <a:spcPts val="400"/>
              </a:spcBef>
              <a:spcAft>
                <a:spcPts val="300"/>
              </a:spcAft>
              <a:buNone/>
            </a:pPr>
            <a:r>
              <a:rPr sz="1700" b="1" i="0" u="none">
                <a:solidFill>
                  <a:srgbClr val="1F3864"/>
                </a:solidFill>
                <a:latin typeface="Calibri"/>
                <a:ea typeface="Calibri"/>
                <a:cs typeface="Calibri"/>
              </a:rPr>
              <a:t>Stakeholders</a:t>
            </a:r>
          </a:p>
          <a:p>
            <a:pPr marL="285750" indent="-285750" algn="l">
              <a:lnSpc>
                <a:spcPct val="116000"/>
              </a:lnSpc>
              <a:spcBef>
                <a:spcPts val="0"/>
              </a:spcBef>
              <a:spcAft>
                <a:spcPts val="700"/>
              </a:spcAft>
              <a:buClr>
                <a:srgbClr val="2E75B6"/>
              </a:buClr>
              <a:buSzPct val="100000"/>
              <a:buFont typeface="Arial"/>
              <a:buChar char="•"/>
            </a:pPr>
            <a:r>
              <a:rPr sz="1400" b="0" i="0" u="none">
                <a:solidFill>
                  <a:srgbClr val="262626"/>
                </a:solidFill>
                <a:latin typeface="Calibri"/>
                <a:ea typeface="Calibri"/>
                <a:cs typeface="Calibri"/>
              </a:rPr>
              <a:t>Applicants (esp. minorities), employer, society.</a:t>
            </a:r>
          </a:p>
          <a:p>
            <a:pPr marL="285750" indent="0" algn="l">
              <a:lnSpc>
                <a:spcPct val="116000"/>
              </a:lnSpc>
              <a:spcBef>
                <a:spcPts val="400"/>
              </a:spcBef>
              <a:spcAft>
                <a:spcPts val="300"/>
              </a:spcAft>
              <a:buNone/>
            </a:pPr>
            <a:r>
              <a:rPr sz="1700" b="1" i="0" u="none">
                <a:solidFill>
                  <a:srgbClr val="1F3864"/>
                </a:solidFill>
                <a:latin typeface="Calibri"/>
                <a:ea typeface="Calibri"/>
                <a:cs typeface="Calibri"/>
              </a:rPr>
              <a:t>Harms / values</a:t>
            </a:r>
          </a:p>
          <a:p>
            <a:pPr marL="285750" indent="-285750" algn="l">
              <a:lnSpc>
                <a:spcPct val="116000"/>
              </a:lnSpc>
              <a:spcBef>
                <a:spcPts val="0"/>
              </a:spcBef>
              <a:spcAft>
                <a:spcPts val="700"/>
              </a:spcAft>
              <a:buClr>
                <a:srgbClr val="2E75B6"/>
              </a:buClr>
              <a:buSzPct val="100000"/>
              <a:buFont typeface="Arial"/>
              <a:buChar char="•"/>
            </a:pPr>
            <a:r>
              <a:rPr sz="1400" b="0" i="0" u="none">
                <a:solidFill>
                  <a:srgbClr val="262626"/>
                </a:solidFill>
                <a:latin typeface="Calibri"/>
                <a:ea typeface="Calibri"/>
                <a:cs typeface="Calibri"/>
              </a:rPr>
              <a:t>Bias, privacy, fairness, efficiency.</a:t>
            </a:r>
          </a:p>
        </p:txBody>
      </p:sp>
      <p:sp>
        <p:nvSpPr>
          <p:cNvPr id="10" name="TextBox 9">
            <a:extLst>
              <a:ext uri="{FF2B5EF4-FFF2-40B4-BE49-F238E27FC236}">
                <a16:creationId xmlns:a16="http://schemas.microsoft.com/office/drawing/2014/main" id="{36CD28DF-E01F-46CF-B265-F8441D8A969E}"/>
              </a:ext>
            </a:extLst>
          </p:cNvPr>
          <p:cNvSpPr>
            <a:spLocks noGrp="1"/>
          </p:cNvSpPr>
          <p:nvPr/>
        </p:nvSpPr>
        <p:spPr>
          <a:xfrm>
            <a:off x="6355080" y="1508760"/>
            <a:ext cx="5212080" cy="4663440"/>
          </a:xfrm>
          <a:prstGeom prst="rect">
            <a:avLst/>
          </a:prstGeom>
          <a:noFill/>
        </p:spPr>
        <p:txBody>
          <a:bodyPr wrap="square" anchor="t">
            <a:spAutoFit/>
          </a:bodyPr>
          <a:lstStyle/>
          <a:p>
            <a:pPr marL="285750" indent="0" algn="l">
              <a:lnSpc>
                <a:spcPct val="116000"/>
              </a:lnSpc>
              <a:spcBef>
                <a:spcPts val="0"/>
              </a:spcBef>
              <a:spcAft>
                <a:spcPts val="400"/>
              </a:spcAft>
              <a:buNone/>
            </a:pPr>
            <a:r>
              <a:rPr sz="1700" b="1" i="0" u="none">
                <a:solidFill>
                  <a:srgbClr val="1F3864"/>
                </a:solidFill>
                <a:latin typeface="Calibri"/>
                <a:ea typeface="Calibri"/>
                <a:cs typeface="Calibri"/>
              </a:rPr>
              <a:t>Applying the 6 steps</a:t>
            </a:r>
          </a:p>
          <a:p>
            <a:pPr marL="285750" indent="-285750" algn="l">
              <a:lnSpc>
                <a:spcPct val="116000"/>
              </a:lnSpc>
              <a:spcBef>
                <a:spcPts val="0"/>
              </a:spcBef>
              <a:spcAft>
                <a:spcPts val="700"/>
              </a:spcAft>
              <a:buClr>
                <a:srgbClr val="2E75B6"/>
              </a:buClr>
              <a:buSzPct val="100000"/>
              <a:buFont typeface="Arial"/>
              <a:buChar char="•"/>
            </a:pPr>
            <a:r>
              <a:rPr sz="1400" b="1" i="0" u="none">
                <a:solidFill>
                  <a:srgbClr val="2E75B6"/>
                </a:solidFill>
                <a:latin typeface="Calibri"/>
                <a:ea typeface="Calibri"/>
                <a:cs typeface="Calibri"/>
              </a:rPr>
              <a:t>3–</a:t>
            </a:r>
            <a:r>
              <a:rPr sz="1400" b="0" i="0" u="none">
                <a:solidFill>
                  <a:srgbClr val="262626"/>
                </a:solidFill>
                <a:latin typeface="Calibri"/>
                <a:ea typeface="Calibri"/>
                <a:cs typeface="Calibri"/>
              </a:rPr>
              <a:t> Lenses: justice; non-maleficence.</a:t>
            </a:r>
          </a:p>
          <a:p>
            <a:pPr marL="285750" indent="-285750" algn="l">
              <a:lnSpc>
                <a:spcPct val="116000"/>
              </a:lnSpc>
              <a:spcBef>
                <a:spcPts val="0"/>
              </a:spcBef>
              <a:spcAft>
                <a:spcPts val="700"/>
              </a:spcAft>
              <a:buClr>
                <a:srgbClr val="2E75B6"/>
              </a:buClr>
              <a:buSzPct val="100000"/>
              <a:buFont typeface="Arial"/>
              <a:buChar char="•"/>
            </a:pPr>
            <a:r>
              <a:rPr sz="1400" b="1" i="0" u="none">
                <a:solidFill>
                  <a:srgbClr val="2E75B6"/>
                </a:solidFill>
                <a:latin typeface="Calibri"/>
                <a:ea typeface="Calibri"/>
                <a:cs typeface="Calibri"/>
              </a:rPr>
              <a:t>4.  </a:t>
            </a:r>
            <a:r>
              <a:rPr sz="1400" b="0" i="0" u="none">
                <a:solidFill>
                  <a:srgbClr val="262626"/>
                </a:solidFill>
                <a:latin typeface="Calibri"/>
                <a:ea typeface="Calibri"/>
                <a:cs typeface="Calibri"/>
              </a:rPr>
              <a:t>Options: deploy / audit-first / human-in-loop / don’t deploy.</a:t>
            </a:r>
          </a:p>
          <a:p>
            <a:pPr marL="285750" indent="-285750" algn="l">
              <a:lnSpc>
                <a:spcPct val="116000"/>
              </a:lnSpc>
              <a:spcBef>
                <a:spcPts val="0"/>
              </a:spcBef>
              <a:spcAft>
                <a:spcPts val="700"/>
              </a:spcAft>
              <a:buClr>
                <a:srgbClr val="2E75B6"/>
              </a:buClr>
              <a:buSzPct val="100000"/>
              <a:buFont typeface="Arial"/>
              <a:buChar char="•"/>
            </a:pPr>
            <a:r>
              <a:rPr sz="1400" b="1" i="0" u="none">
                <a:solidFill>
                  <a:srgbClr val="2E75B6"/>
                </a:solidFill>
                <a:latin typeface="Calibri"/>
                <a:ea typeface="Calibri"/>
                <a:cs typeface="Calibri"/>
              </a:rPr>
              <a:t>5.  </a:t>
            </a:r>
            <a:r>
              <a:rPr sz="1400" b="0" i="0" u="none">
                <a:solidFill>
                  <a:srgbClr val="262626"/>
                </a:solidFill>
                <a:latin typeface="Calibri"/>
                <a:ea typeface="Calibri"/>
                <a:cs typeface="Calibri"/>
              </a:rPr>
              <a:t>Decision: audit + human review + document.</a:t>
            </a:r>
          </a:p>
          <a:p>
            <a:pPr marL="285750" indent="-285750" algn="l">
              <a:lnSpc>
                <a:spcPct val="116000"/>
              </a:lnSpc>
              <a:spcBef>
                <a:spcPts val="0"/>
              </a:spcBef>
              <a:spcAft>
                <a:spcPts val="700"/>
              </a:spcAft>
              <a:buClr>
                <a:srgbClr val="2E75B6"/>
              </a:buClr>
              <a:buSzPct val="100000"/>
              <a:buFont typeface="Arial"/>
              <a:buChar char="•"/>
            </a:pPr>
            <a:r>
              <a:rPr sz="1400" b="1" i="0" u="none">
                <a:solidFill>
                  <a:srgbClr val="2E75B6"/>
                </a:solidFill>
                <a:latin typeface="Calibri"/>
                <a:ea typeface="Calibri"/>
                <a:cs typeface="Calibri"/>
              </a:rPr>
              <a:t>6.  </a:t>
            </a:r>
            <a:r>
              <a:rPr sz="1400" b="0" i="0" u="none">
                <a:solidFill>
                  <a:srgbClr val="262626"/>
                </a:solidFill>
                <a:latin typeface="Calibri"/>
                <a:ea typeface="Calibri"/>
                <a:cs typeface="Calibri"/>
              </a:rPr>
              <a:t>Monitor: adverse-impact ratios; retrain; review.</a:t>
            </a:r>
          </a:p>
        </p:txBody>
      </p:sp>
      <p:sp>
        <p:nvSpPr>
          <p:cNvPr id="11" name="expanded-arrow-55-1">
            <a:extLst>
              <a:ext uri="{FF2B5EF4-FFF2-40B4-BE49-F238E27FC236}">
                <a16:creationId xmlns:a16="http://schemas.microsoft.com/office/drawing/2014/main" id="{C6909F6E-CAC2-413E-91A7-E0FA7EFC2117}"/>
              </a:ext>
            </a:extLst>
          </p:cNvPr>
          <p:cNvSpPr>
            <a:spLocks noGrp="1"/>
          </p:cNvSpPr>
          <p:nvPr/>
        </p:nvSpPr>
        <p:spPr>
          <a:xfrm>
            <a:off x="3581400" y="4872038"/>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55-2">
            <a:extLst>
              <a:ext uri="{FF2B5EF4-FFF2-40B4-BE49-F238E27FC236}">
                <a16:creationId xmlns:a16="http://schemas.microsoft.com/office/drawing/2014/main" id="{C20F779F-B244-469B-A8FD-C9764F622112}"/>
              </a:ext>
            </a:extLst>
          </p:cNvPr>
          <p:cNvSpPr>
            <a:spLocks noGrp="1"/>
          </p:cNvSpPr>
          <p:nvPr/>
        </p:nvSpPr>
        <p:spPr>
          <a:xfrm>
            <a:off x="5962650" y="4872038"/>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arrow-55-3">
            <a:extLst>
              <a:ext uri="{FF2B5EF4-FFF2-40B4-BE49-F238E27FC236}">
                <a16:creationId xmlns:a16="http://schemas.microsoft.com/office/drawing/2014/main" id="{2973E36F-14DA-4894-A928-A243A6F1D9FE}"/>
              </a:ext>
            </a:extLst>
          </p:cNvPr>
          <p:cNvSpPr>
            <a:spLocks noGrp="1"/>
          </p:cNvSpPr>
          <p:nvPr/>
        </p:nvSpPr>
        <p:spPr>
          <a:xfrm>
            <a:off x="8343900" y="4872038"/>
            <a:ext cx="457200" cy="171450"/>
          </a:xfrm>
          <a:prstGeom prst="rightArrow">
            <a:avLst/>
          </a:prstGeom>
          <a:solidFill>
            <a:srgbClr val="9EC8E8"/>
          </a:solidFill>
          <a:ln w="0">
            <a:solidFill>
              <a:srgbClr val="9EC8E8"/>
            </a:solidFill>
            <a:prstDash val="solid"/>
          </a:ln>
        </p:spPr>
        <p:txBody>
          <a:bodyPr/>
          <a:lstStyle/>
          <a:p>
            <a:endParaRPr/>
          </a:p>
        </p:txBody>
      </p:sp>
      <p:sp>
        <p:nvSpPr>
          <p:cNvPr id="14" name="expanded-node-55-1">
            <a:extLst>
              <a:ext uri="{FF2B5EF4-FFF2-40B4-BE49-F238E27FC236}">
                <a16:creationId xmlns:a16="http://schemas.microsoft.com/office/drawing/2014/main" id="{614D85C6-1A20-43A3-9AEE-F1712A876BF6}"/>
              </a:ext>
            </a:extLst>
          </p:cNvPr>
          <p:cNvSpPr>
            <a:spLocks noGrp="1"/>
          </p:cNvSpPr>
          <p:nvPr/>
        </p:nvSpPr>
        <p:spPr>
          <a:xfrm>
            <a:off x="14287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AUDIT</a:t>
            </a:r>
          </a:p>
        </p:txBody>
      </p:sp>
      <p:sp>
        <p:nvSpPr>
          <p:cNvPr id="15" name="expanded-node-55-2">
            <a:extLst>
              <a:ext uri="{FF2B5EF4-FFF2-40B4-BE49-F238E27FC236}">
                <a16:creationId xmlns:a16="http://schemas.microsoft.com/office/drawing/2014/main" id="{8E4F3963-47D7-46CC-AF29-54284E65B73B}"/>
              </a:ext>
            </a:extLst>
          </p:cNvPr>
          <p:cNvSpPr>
            <a:spLocks noGrp="1"/>
          </p:cNvSpPr>
          <p:nvPr/>
        </p:nvSpPr>
        <p:spPr>
          <a:xfrm>
            <a:off x="38100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REDESIGN</a:t>
            </a:r>
          </a:p>
        </p:txBody>
      </p:sp>
      <p:sp>
        <p:nvSpPr>
          <p:cNvPr id="16" name="expanded-node-55-3">
            <a:extLst>
              <a:ext uri="{FF2B5EF4-FFF2-40B4-BE49-F238E27FC236}">
                <a16:creationId xmlns:a16="http://schemas.microsoft.com/office/drawing/2014/main" id="{8CDDEE54-CB1D-462F-9909-7C0E044407CA}"/>
              </a:ext>
            </a:extLst>
          </p:cNvPr>
          <p:cNvSpPr>
            <a:spLocks noGrp="1"/>
          </p:cNvSpPr>
          <p:nvPr/>
        </p:nvSpPr>
        <p:spPr>
          <a:xfrm>
            <a:off x="6191250" y="4572000"/>
            <a:ext cx="2190750" cy="771525"/>
          </a:xfrm>
          <a:prstGeom prst="roundRect">
            <a:avLst>
              <a:gd name="adj" fmla="val 987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HUMAN REVIEW</a:t>
            </a:r>
          </a:p>
        </p:txBody>
      </p:sp>
      <p:sp>
        <p:nvSpPr>
          <p:cNvPr id="17" name="expanded-node-55-4">
            <a:extLst>
              <a:ext uri="{FF2B5EF4-FFF2-40B4-BE49-F238E27FC236}">
                <a16:creationId xmlns:a16="http://schemas.microsoft.com/office/drawing/2014/main" id="{3D483A38-74EB-4449-B756-2DF3A61B8FC7}"/>
              </a:ext>
            </a:extLst>
          </p:cNvPr>
          <p:cNvSpPr>
            <a:spLocks noGrp="1"/>
          </p:cNvSpPr>
          <p:nvPr/>
        </p:nvSpPr>
        <p:spPr>
          <a:xfrm>
            <a:off x="8572500" y="4667250"/>
            <a:ext cx="2190750" cy="676275"/>
          </a:xfrm>
          <a:prstGeom prst="roundRect">
            <a:avLst>
              <a:gd name="adj" fmla="val 11268"/>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MONITOR</a:t>
            </a:r>
          </a:p>
        </p:txBody>
      </p:sp>
      <p:sp>
        <p:nvSpPr>
          <p:cNvPr id="18" name="expanded-takeaway-55">
            <a:extLst>
              <a:ext uri="{FF2B5EF4-FFF2-40B4-BE49-F238E27FC236}">
                <a16:creationId xmlns:a16="http://schemas.microsoft.com/office/drawing/2014/main" id="{F86F0A0A-E2A9-4F96-AECD-F0E914AD3A1B}"/>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For a hiring tool, audit and redesign before deployment is often more defensible than deploying first and repairing harm later.</a:t>
            </a:r>
          </a:p>
        </p:txBody>
      </p:sp>
      <p:sp>
        <p:nvSpPr>
          <p:cNvPr id="19" name="v2-page-mask-74">
            <a:extLst>
              <a:ext uri="{FF2B5EF4-FFF2-40B4-BE49-F238E27FC236}">
                <a16:creationId xmlns:a16="http://schemas.microsoft.com/office/drawing/2014/main" id="{6572F150-75D7-4143-A9F6-85340D41DB62}"/>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20" name="v2-page-74">
            <a:extLst>
              <a:ext uri="{FF2B5EF4-FFF2-40B4-BE49-F238E27FC236}">
                <a16:creationId xmlns:a16="http://schemas.microsoft.com/office/drawing/2014/main" id="{6560002E-3A41-4358-9132-463CB9E55376}"/>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74</a:t>
            </a:r>
          </a:p>
        </p:txBody>
      </p:sp>
    </p:spTree>
    <p:extLst>
      <p:ext uri="{BB962C8B-B14F-4D97-AF65-F5344CB8AC3E}">
        <p14:creationId xmlns:p14="http://schemas.microsoft.com/office/powerpoint/2010/main" val="179349409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v2-background">
            <a:extLst>
              <a:ext uri="{FF2B5EF4-FFF2-40B4-BE49-F238E27FC236}">
                <a16:creationId xmlns:a16="http://schemas.microsoft.com/office/drawing/2014/main" id="{D55A4740-D85B-4AC1-A671-1E53B3FE2DDA}"/>
              </a:ext>
            </a:extLst>
          </p:cNvPr>
          <p:cNvSpPr>
            <a:spLocks noGrp="1"/>
          </p:cNvSpPr>
          <p:nvPr/>
        </p:nvSpPr>
        <p:spPr>
          <a:xfrm>
            <a:off x="0" y="0"/>
            <a:ext cx="12192000" cy="6858000"/>
          </a:xfrm>
          <a:prstGeom prst="rect">
            <a:avLst/>
          </a:prstGeom>
          <a:solidFill>
            <a:srgbClr val="FFFFFF"/>
          </a:solidFill>
          <a:ln w="0">
            <a:solidFill>
              <a:srgbClr val="FFFFFF"/>
            </a:solidFill>
            <a:prstDash val="solid"/>
          </a:ln>
        </p:spPr>
        <p:txBody>
          <a:bodyPr/>
          <a:lstStyle/>
          <a:p>
            <a:endParaRPr lang="zh-CN" altLang="en-US"/>
          </a:p>
        </p:txBody>
      </p:sp>
      <p:sp>
        <p:nvSpPr>
          <p:cNvPr id="2" name="v2-title-rail">
            <a:extLst>
              <a:ext uri="{FF2B5EF4-FFF2-40B4-BE49-F238E27FC236}">
                <a16:creationId xmlns:a16="http://schemas.microsoft.com/office/drawing/2014/main" id="{F790FF78-65A1-41B8-9748-9BCC03B3203A}"/>
              </a:ext>
            </a:extLst>
          </p:cNvPr>
          <p:cNvSpPr>
            <a:spLocks noGrp="1"/>
          </p:cNvSpPr>
          <p:nvPr/>
        </p:nvSpPr>
        <p:spPr>
          <a:xfrm>
            <a:off x="628650" y="400050"/>
            <a:ext cx="95250" cy="476250"/>
          </a:xfrm>
          <a:prstGeom prst="rect">
            <a:avLst/>
          </a:prstGeom>
          <a:solidFill>
            <a:srgbClr val="1F3B6D"/>
          </a:solidFill>
          <a:ln w="0">
            <a:solidFill>
              <a:srgbClr val="1F3B6D"/>
            </a:solidFill>
            <a:prstDash val="solid"/>
          </a:ln>
        </p:spPr>
        <p:txBody>
          <a:bodyPr/>
          <a:lstStyle/>
          <a:p>
            <a:endParaRPr lang="zh-CN" altLang="en-US"/>
          </a:p>
        </p:txBody>
      </p:sp>
      <p:sp>
        <p:nvSpPr>
          <p:cNvPr id="3" name="v2-title">
            <a:extLst>
              <a:ext uri="{FF2B5EF4-FFF2-40B4-BE49-F238E27FC236}">
                <a16:creationId xmlns:a16="http://schemas.microsoft.com/office/drawing/2014/main" id="{723D8AF2-206D-4BBF-817C-6254C342DFC8}"/>
              </a:ext>
            </a:extLst>
          </p:cNvPr>
          <p:cNvSpPr>
            <a:spLocks noGrp="1"/>
          </p:cNvSpPr>
          <p:nvPr/>
        </p:nvSpPr>
        <p:spPr>
          <a:xfrm>
            <a:off x="981075" y="361950"/>
            <a:ext cx="10287000" cy="552450"/>
          </a:xfrm>
          <a:prstGeom prst="rect">
            <a:avLst/>
          </a:prstGeom>
          <a:noFill/>
          <a:ln w="0">
            <a:noFill/>
            <a:prstDash val="solid"/>
          </a:ln>
        </p:spPr>
        <p:txBody>
          <a:bodyPr/>
          <a:lstStyle/>
          <a:p>
            <a:pPr>
              <a:defRPr sz="2550" b="1">
                <a:solidFill>
                  <a:srgbClr val="1F3B6D"/>
                </a:solidFill>
              </a:defRPr>
            </a:pPr>
            <a:r>
              <a:rPr sz="2550" b="1">
                <a:solidFill>
                  <a:srgbClr val="1F3B6D"/>
                </a:solidFill>
              </a:rPr>
              <a:t>Capstone Exercise: Ethical Review of an AI Hiring Tool</a:t>
            </a:r>
          </a:p>
        </p:txBody>
      </p:sp>
      <p:sp>
        <p:nvSpPr>
          <p:cNvPr id="4" name="v2-rule">
            <a:extLst>
              <a:ext uri="{FF2B5EF4-FFF2-40B4-BE49-F238E27FC236}">
                <a16:creationId xmlns:a16="http://schemas.microsoft.com/office/drawing/2014/main" id="{F171A1BE-5F1F-40D2-AAEF-EE202C6D5A08}"/>
              </a:ext>
            </a:extLst>
          </p:cNvPr>
          <p:cNvSpPr>
            <a:spLocks noGrp="1"/>
          </p:cNvSpPr>
          <p:nvPr/>
        </p:nvSpPr>
        <p:spPr>
          <a:xfrm>
            <a:off x="638175" y="1000125"/>
            <a:ext cx="10972800" cy="28575"/>
          </a:xfrm>
          <a:prstGeom prst="rect">
            <a:avLst/>
          </a:prstGeom>
          <a:solidFill>
            <a:srgbClr val="2D78B9"/>
          </a:solidFill>
          <a:ln w="0">
            <a:solidFill>
              <a:srgbClr val="2D78B9"/>
            </a:solidFill>
            <a:prstDash val="solid"/>
          </a:ln>
        </p:spPr>
        <p:txBody>
          <a:bodyPr/>
          <a:lstStyle/>
          <a:p>
            <a:endParaRPr lang="zh-CN" altLang="en-US"/>
          </a:p>
        </p:txBody>
      </p:sp>
      <p:sp>
        <p:nvSpPr>
          <p:cNvPr id="5" name="v2-subtitle">
            <a:extLst>
              <a:ext uri="{FF2B5EF4-FFF2-40B4-BE49-F238E27FC236}">
                <a16:creationId xmlns:a16="http://schemas.microsoft.com/office/drawing/2014/main" id="{50B61455-4DD0-4D3B-A783-B02AE9298BED}"/>
              </a:ext>
            </a:extLst>
          </p:cNvPr>
          <p:cNvSpPr>
            <a:spLocks noGrp="1"/>
          </p:cNvSpPr>
          <p:nvPr/>
        </p:nvSpPr>
        <p:spPr>
          <a:xfrm>
            <a:off x="981075" y="1104900"/>
            <a:ext cx="10287000" cy="323850"/>
          </a:xfrm>
          <a:prstGeom prst="rect">
            <a:avLst/>
          </a:prstGeom>
          <a:noFill/>
          <a:ln w="0">
            <a:noFill/>
            <a:prstDash val="solid"/>
          </a:ln>
        </p:spPr>
        <p:txBody>
          <a:bodyPr/>
          <a:lstStyle/>
          <a:p>
            <a:pPr>
              <a:defRPr sz="1275" i="1">
                <a:solidFill>
                  <a:srgbClr val="5B6670"/>
                </a:solidFill>
              </a:defRPr>
            </a:pPr>
            <a:r>
              <a:rPr sz="1275" i="1">
                <a:solidFill>
                  <a:srgbClr val="5B6670"/>
                </a:solidFill>
              </a:rPr>
              <a:t>Work in groups: 10 minutes analysis + 5 minutes debrief.</a:t>
            </a:r>
          </a:p>
        </p:txBody>
      </p:sp>
      <p:sp>
        <p:nvSpPr>
          <p:cNvPr id="6" name="v2-accent">
            <a:extLst>
              <a:ext uri="{FF2B5EF4-FFF2-40B4-BE49-F238E27FC236}">
                <a16:creationId xmlns:a16="http://schemas.microsoft.com/office/drawing/2014/main" id="{9003784E-321E-4328-BAB7-3DA07044D174}"/>
              </a:ext>
            </a:extLst>
          </p:cNvPr>
          <p:cNvSpPr>
            <a:spLocks noGrp="1"/>
          </p:cNvSpPr>
          <p:nvPr/>
        </p:nvSpPr>
        <p:spPr>
          <a:xfrm>
            <a:off x="11687175" y="304800"/>
            <a:ext cx="266700" cy="266700"/>
          </a:xfrm>
          <a:prstGeom prst="rect">
            <a:avLst/>
          </a:prstGeom>
          <a:solidFill>
            <a:srgbClr val="2D78B9"/>
          </a:solidFill>
          <a:ln w="0">
            <a:solidFill>
              <a:srgbClr val="2D78B9"/>
            </a:solidFill>
            <a:prstDash val="solid"/>
          </a:ln>
        </p:spPr>
        <p:txBody>
          <a:bodyPr/>
          <a:lstStyle/>
          <a:p>
            <a:endParaRPr lang="zh-CN" altLang="en-US"/>
          </a:p>
        </p:txBody>
      </p:sp>
      <p:sp>
        <p:nvSpPr>
          <p:cNvPr id="7" name="v2-footer">
            <a:extLst>
              <a:ext uri="{FF2B5EF4-FFF2-40B4-BE49-F238E27FC236}">
                <a16:creationId xmlns:a16="http://schemas.microsoft.com/office/drawing/2014/main" id="{18E237D3-CC37-4938-8944-6E43A1AB04C3}"/>
              </a:ext>
            </a:extLst>
          </p:cNvPr>
          <p:cNvSpPr>
            <a:spLocks noGrp="1"/>
          </p:cNvSpPr>
          <p:nvPr/>
        </p:nvSpPr>
        <p:spPr>
          <a:xfrm>
            <a:off x="733425" y="6477000"/>
            <a:ext cx="4000500" cy="190500"/>
          </a:xfrm>
          <a:prstGeom prst="rect">
            <a:avLst/>
          </a:prstGeom>
          <a:noFill/>
          <a:ln w="0">
            <a:noFill/>
            <a:prstDash val="solid"/>
          </a:ln>
        </p:spPr>
        <p:txBody>
          <a:bodyPr/>
          <a:lstStyle/>
          <a:p>
            <a:pPr>
              <a:defRPr sz="825">
                <a:solidFill>
                  <a:srgbClr val="5B6670"/>
                </a:solidFill>
              </a:defRPr>
            </a:pPr>
            <a:r>
              <a:rPr sz="825">
                <a:solidFill>
                  <a:srgbClr val="5B6670"/>
                </a:solidFill>
              </a:rPr>
              <a:t>MAIE 5103  ·  Artificial Intelligence Ethics</a:t>
            </a:r>
          </a:p>
        </p:txBody>
      </p:sp>
      <p:sp>
        <p:nvSpPr>
          <p:cNvPr id="8" name="cap-0">
            <a:extLst>
              <a:ext uri="{FF2B5EF4-FFF2-40B4-BE49-F238E27FC236}">
                <a16:creationId xmlns:a16="http://schemas.microsoft.com/office/drawing/2014/main" id="{B69587D7-9D3E-469A-8920-71A6F60128FB}"/>
              </a:ext>
            </a:extLst>
          </p:cNvPr>
          <p:cNvSpPr>
            <a:spLocks noGrp="1"/>
          </p:cNvSpPr>
          <p:nvPr/>
        </p:nvSpPr>
        <p:spPr>
          <a:xfrm>
            <a:off x="904875" y="1666875"/>
            <a:ext cx="2381250" cy="1000125"/>
          </a:xfrm>
          <a:prstGeom prst="roundRect">
            <a:avLst>
              <a:gd name="adj" fmla="val 7619"/>
            </a:avLst>
          </a:prstGeom>
          <a:solidFill>
            <a:srgbClr val="EAF3FB"/>
          </a:solidFill>
          <a:ln w="10478">
            <a:solidFill>
              <a:srgbClr val="5B9BD5"/>
            </a:solidFill>
            <a:prstDash val="solid"/>
          </a:ln>
        </p:spPr>
        <p:txBody>
          <a:bodyPr anchor="ctr"/>
          <a:lstStyle/>
          <a:p>
            <a:pPr algn="ctr">
              <a:defRPr sz="1275" b="1">
                <a:solidFill>
                  <a:srgbClr val="1F3B6D"/>
                </a:solidFill>
              </a:defRPr>
            </a:pPr>
            <a:r>
              <a:rPr sz="1275" b="1">
                <a:solidFill>
                  <a:srgbClr val="1F3B6D"/>
                </a:solidFill>
              </a:rPr>
              <a:t>1  Stakeholders</a:t>
            </a:r>
          </a:p>
        </p:txBody>
      </p:sp>
      <p:sp>
        <p:nvSpPr>
          <p:cNvPr id="9" name="cap-1">
            <a:extLst>
              <a:ext uri="{FF2B5EF4-FFF2-40B4-BE49-F238E27FC236}">
                <a16:creationId xmlns:a16="http://schemas.microsoft.com/office/drawing/2014/main" id="{8AB25278-E91C-479C-AF4C-5589F18B10C2}"/>
              </a:ext>
            </a:extLst>
          </p:cNvPr>
          <p:cNvSpPr>
            <a:spLocks noGrp="1"/>
          </p:cNvSpPr>
          <p:nvPr/>
        </p:nvSpPr>
        <p:spPr>
          <a:xfrm>
            <a:off x="3619500" y="1666875"/>
            <a:ext cx="2381250" cy="1000125"/>
          </a:xfrm>
          <a:prstGeom prst="roundRect">
            <a:avLst>
              <a:gd name="adj" fmla="val 7619"/>
            </a:avLst>
          </a:prstGeom>
          <a:solidFill>
            <a:srgbClr val="F5FAFE"/>
          </a:solidFill>
          <a:ln w="10478">
            <a:solidFill>
              <a:srgbClr val="5B9BD5"/>
            </a:solidFill>
            <a:prstDash val="solid"/>
          </a:ln>
        </p:spPr>
        <p:txBody>
          <a:bodyPr anchor="ctr"/>
          <a:lstStyle/>
          <a:p>
            <a:pPr algn="ctr">
              <a:defRPr sz="1275" b="1">
                <a:solidFill>
                  <a:srgbClr val="2D78B9"/>
                </a:solidFill>
              </a:defRPr>
            </a:pPr>
            <a:r>
              <a:rPr sz="1275" b="1">
                <a:solidFill>
                  <a:srgbClr val="2D78B9"/>
                </a:solidFill>
              </a:rPr>
              <a:t>2  Evidence needed</a:t>
            </a:r>
          </a:p>
        </p:txBody>
      </p:sp>
      <p:sp>
        <p:nvSpPr>
          <p:cNvPr id="10" name="cap-2">
            <a:extLst>
              <a:ext uri="{FF2B5EF4-FFF2-40B4-BE49-F238E27FC236}">
                <a16:creationId xmlns:a16="http://schemas.microsoft.com/office/drawing/2014/main" id="{DE91B215-DAD5-458E-8AB3-23A6E95BE811}"/>
              </a:ext>
            </a:extLst>
          </p:cNvPr>
          <p:cNvSpPr>
            <a:spLocks noGrp="1"/>
          </p:cNvSpPr>
          <p:nvPr/>
        </p:nvSpPr>
        <p:spPr>
          <a:xfrm>
            <a:off x="6334125" y="1666875"/>
            <a:ext cx="2381250" cy="1000125"/>
          </a:xfrm>
          <a:prstGeom prst="roundRect">
            <a:avLst>
              <a:gd name="adj" fmla="val 7619"/>
            </a:avLst>
          </a:prstGeom>
          <a:solidFill>
            <a:srgbClr val="EAF3FB"/>
          </a:solidFill>
          <a:ln w="10478">
            <a:solidFill>
              <a:srgbClr val="5B9BD5"/>
            </a:solidFill>
            <a:prstDash val="solid"/>
          </a:ln>
        </p:spPr>
        <p:txBody>
          <a:bodyPr anchor="ctr"/>
          <a:lstStyle/>
          <a:p>
            <a:pPr algn="ctr">
              <a:defRPr sz="1275" b="1">
                <a:solidFill>
                  <a:srgbClr val="1F3B6D"/>
                </a:solidFill>
              </a:defRPr>
            </a:pPr>
            <a:r>
              <a:rPr sz="1275" b="1">
                <a:solidFill>
                  <a:srgbClr val="1F3B6D"/>
                </a:solidFill>
              </a:rPr>
              <a:t>3  Benefits &amp; harms</a:t>
            </a:r>
          </a:p>
        </p:txBody>
      </p:sp>
      <p:sp>
        <p:nvSpPr>
          <p:cNvPr id="11" name="cap-3">
            <a:extLst>
              <a:ext uri="{FF2B5EF4-FFF2-40B4-BE49-F238E27FC236}">
                <a16:creationId xmlns:a16="http://schemas.microsoft.com/office/drawing/2014/main" id="{65B65192-14EB-4A55-B6E9-7D9593690F9D}"/>
              </a:ext>
            </a:extLst>
          </p:cNvPr>
          <p:cNvSpPr>
            <a:spLocks noGrp="1"/>
          </p:cNvSpPr>
          <p:nvPr/>
        </p:nvSpPr>
        <p:spPr>
          <a:xfrm>
            <a:off x="9048750" y="1666875"/>
            <a:ext cx="2381250" cy="1000125"/>
          </a:xfrm>
          <a:prstGeom prst="roundRect">
            <a:avLst>
              <a:gd name="adj" fmla="val 7619"/>
            </a:avLst>
          </a:prstGeom>
          <a:solidFill>
            <a:srgbClr val="F5FAFE"/>
          </a:solidFill>
          <a:ln w="10478">
            <a:solidFill>
              <a:srgbClr val="5B9BD5"/>
            </a:solidFill>
            <a:prstDash val="solid"/>
          </a:ln>
        </p:spPr>
        <p:txBody>
          <a:bodyPr anchor="ctr"/>
          <a:lstStyle/>
          <a:p>
            <a:pPr algn="ctr">
              <a:defRPr sz="1275" b="1">
                <a:solidFill>
                  <a:srgbClr val="2D78B9"/>
                </a:solidFill>
              </a:defRPr>
            </a:pPr>
            <a:r>
              <a:rPr sz="1275" b="1">
                <a:solidFill>
                  <a:srgbClr val="2D78B9"/>
                </a:solidFill>
              </a:rPr>
              <a:t>4  Ethical lenses</a:t>
            </a:r>
          </a:p>
        </p:txBody>
      </p:sp>
      <p:sp>
        <p:nvSpPr>
          <p:cNvPr id="12" name="cap-4">
            <a:extLst>
              <a:ext uri="{FF2B5EF4-FFF2-40B4-BE49-F238E27FC236}">
                <a16:creationId xmlns:a16="http://schemas.microsoft.com/office/drawing/2014/main" id="{56229BCB-3B44-47A5-8DD6-448BACDA7CC2}"/>
              </a:ext>
            </a:extLst>
          </p:cNvPr>
          <p:cNvSpPr>
            <a:spLocks noGrp="1"/>
          </p:cNvSpPr>
          <p:nvPr/>
        </p:nvSpPr>
        <p:spPr>
          <a:xfrm>
            <a:off x="904875" y="2952750"/>
            <a:ext cx="2381250" cy="1000125"/>
          </a:xfrm>
          <a:prstGeom prst="roundRect">
            <a:avLst>
              <a:gd name="adj" fmla="val 7619"/>
            </a:avLst>
          </a:prstGeom>
          <a:solidFill>
            <a:srgbClr val="EAF3FB"/>
          </a:solidFill>
          <a:ln w="10478">
            <a:solidFill>
              <a:srgbClr val="5B9BD5"/>
            </a:solidFill>
            <a:prstDash val="solid"/>
          </a:ln>
        </p:spPr>
        <p:txBody>
          <a:bodyPr anchor="ctr"/>
          <a:lstStyle/>
          <a:p>
            <a:pPr algn="ctr">
              <a:defRPr sz="1275" b="1">
                <a:solidFill>
                  <a:srgbClr val="1F3B6D"/>
                </a:solidFill>
              </a:defRPr>
            </a:pPr>
            <a:r>
              <a:rPr sz="1275" b="1">
                <a:solidFill>
                  <a:srgbClr val="1F3B6D"/>
                </a:solidFill>
              </a:rPr>
              <a:t>5  Options</a:t>
            </a:r>
          </a:p>
        </p:txBody>
      </p:sp>
      <p:sp>
        <p:nvSpPr>
          <p:cNvPr id="13" name="cap-5">
            <a:extLst>
              <a:ext uri="{FF2B5EF4-FFF2-40B4-BE49-F238E27FC236}">
                <a16:creationId xmlns:a16="http://schemas.microsoft.com/office/drawing/2014/main" id="{5A9247AB-04B6-40AE-8F1E-554F26A02170}"/>
              </a:ext>
            </a:extLst>
          </p:cNvPr>
          <p:cNvSpPr>
            <a:spLocks noGrp="1"/>
          </p:cNvSpPr>
          <p:nvPr/>
        </p:nvSpPr>
        <p:spPr>
          <a:xfrm>
            <a:off x="3619500" y="2952750"/>
            <a:ext cx="2381250" cy="1000125"/>
          </a:xfrm>
          <a:prstGeom prst="roundRect">
            <a:avLst>
              <a:gd name="adj" fmla="val 7619"/>
            </a:avLst>
          </a:prstGeom>
          <a:solidFill>
            <a:srgbClr val="F5FAFE"/>
          </a:solidFill>
          <a:ln w="10478">
            <a:solidFill>
              <a:srgbClr val="5B9BD5"/>
            </a:solidFill>
            <a:prstDash val="solid"/>
          </a:ln>
        </p:spPr>
        <p:txBody>
          <a:bodyPr anchor="ctr"/>
          <a:lstStyle/>
          <a:p>
            <a:pPr algn="ctr">
              <a:defRPr sz="1275" b="1">
                <a:solidFill>
                  <a:srgbClr val="2D78B9"/>
                </a:solidFill>
              </a:defRPr>
            </a:pPr>
            <a:r>
              <a:rPr sz="1275" b="1">
                <a:solidFill>
                  <a:srgbClr val="2D78B9"/>
                </a:solidFill>
              </a:rPr>
              <a:t>6  Decision</a:t>
            </a:r>
          </a:p>
        </p:txBody>
      </p:sp>
      <p:sp>
        <p:nvSpPr>
          <p:cNvPr id="14" name="cap-6">
            <a:extLst>
              <a:ext uri="{FF2B5EF4-FFF2-40B4-BE49-F238E27FC236}">
                <a16:creationId xmlns:a16="http://schemas.microsoft.com/office/drawing/2014/main" id="{9C0A51C4-8E2A-47CB-BC58-DD4E4F6023F7}"/>
              </a:ext>
            </a:extLst>
          </p:cNvPr>
          <p:cNvSpPr>
            <a:spLocks noGrp="1"/>
          </p:cNvSpPr>
          <p:nvPr/>
        </p:nvSpPr>
        <p:spPr>
          <a:xfrm>
            <a:off x="6334125" y="2952750"/>
            <a:ext cx="2381250" cy="1000125"/>
          </a:xfrm>
          <a:prstGeom prst="roundRect">
            <a:avLst>
              <a:gd name="adj" fmla="val 7619"/>
            </a:avLst>
          </a:prstGeom>
          <a:solidFill>
            <a:srgbClr val="EAF3FB"/>
          </a:solidFill>
          <a:ln w="10478">
            <a:solidFill>
              <a:srgbClr val="5B9BD5"/>
            </a:solidFill>
            <a:prstDash val="solid"/>
          </a:ln>
        </p:spPr>
        <p:txBody>
          <a:bodyPr anchor="ctr"/>
          <a:lstStyle/>
          <a:p>
            <a:pPr algn="ctr">
              <a:defRPr sz="1275" b="1">
                <a:solidFill>
                  <a:srgbClr val="1F3B6D"/>
                </a:solidFill>
              </a:defRPr>
            </a:pPr>
            <a:r>
              <a:rPr sz="1275" b="1">
                <a:solidFill>
                  <a:srgbClr val="1F3B6D"/>
                </a:solidFill>
              </a:rPr>
              <a:t>7  Monitoring</a:t>
            </a:r>
          </a:p>
        </p:txBody>
      </p:sp>
      <p:sp>
        <p:nvSpPr>
          <p:cNvPr id="15" name="cap-7">
            <a:extLst>
              <a:ext uri="{FF2B5EF4-FFF2-40B4-BE49-F238E27FC236}">
                <a16:creationId xmlns:a16="http://schemas.microsoft.com/office/drawing/2014/main" id="{991BF6EE-B6CB-42E4-95B9-26AB4D4A0FE5}"/>
              </a:ext>
            </a:extLst>
          </p:cNvPr>
          <p:cNvSpPr>
            <a:spLocks noGrp="1"/>
          </p:cNvSpPr>
          <p:nvPr/>
        </p:nvSpPr>
        <p:spPr>
          <a:xfrm>
            <a:off x="9048750" y="2952750"/>
            <a:ext cx="2381250" cy="1000125"/>
          </a:xfrm>
          <a:prstGeom prst="roundRect">
            <a:avLst>
              <a:gd name="adj" fmla="val 7619"/>
            </a:avLst>
          </a:prstGeom>
          <a:solidFill>
            <a:srgbClr val="F5FAFE"/>
          </a:solidFill>
          <a:ln w="10478">
            <a:solidFill>
              <a:srgbClr val="5B9BD5"/>
            </a:solidFill>
            <a:prstDash val="solid"/>
          </a:ln>
        </p:spPr>
        <p:txBody>
          <a:bodyPr anchor="ctr"/>
          <a:lstStyle/>
          <a:p>
            <a:pPr algn="ctr">
              <a:defRPr sz="1275" b="1">
                <a:solidFill>
                  <a:srgbClr val="2D78B9"/>
                </a:solidFill>
              </a:defRPr>
            </a:pPr>
            <a:r>
              <a:rPr sz="1275" b="1">
                <a:solidFill>
                  <a:srgbClr val="2D78B9"/>
                </a:solidFill>
              </a:rPr>
              <a:t>8  Remedy</a:t>
            </a:r>
          </a:p>
        </p:txBody>
      </p:sp>
      <p:sp>
        <p:nvSpPr>
          <p:cNvPr id="16" name="deliverable">
            <a:extLst>
              <a:ext uri="{FF2B5EF4-FFF2-40B4-BE49-F238E27FC236}">
                <a16:creationId xmlns:a16="http://schemas.microsoft.com/office/drawing/2014/main" id="{AE7D3B9F-9468-465B-A394-DCACC73F5288}"/>
              </a:ext>
            </a:extLst>
          </p:cNvPr>
          <p:cNvSpPr>
            <a:spLocks noGrp="1"/>
          </p:cNvSpPr>
          <p:nvPr/>
        </p:nvSpPr>
        <p:spPr>
          <a:xfrm>
            <a:off x="1238250" y="4572000"/>
            <a:ext cx="9715500" cy="762000"/>
          </a:xfrm>
          <a:prstGeom prst="roundRect">
            <a:avLst>
              <a:gd name="adj" fmla="val 10000"/>
            </a:avLst>
          </a:prstGeom>
          <a:solidFill>
            <a:srgbClr val="F8FBFE"/>
          </a:solidFill>
          <a:ln w="14288">
            <a:solidFill>
              <a:srgbClr val="2D78B9"/>
            </a:solidFill>
            <a:prstDash val="solid"/>
          </a:ln>
        </p:spPr>
        <p:txBody>
          <a:bodyPr anchor="ctr"/>
          <a:lstStyle/>
          <a:p>
            <a:pPr algn="ctr">
              <a:defRPr sz="1575" b="1">
                <a:solidFill>
                  <a:srgbClr val="1F3B6D"/>
                </a:solidFill>
              </a:defRPr>
            </a:pPr>
            <a:r>
              <a:rPr sz="1575" b="1">
                <a:solidFill>
                  <a:srgbClr val="1F3B6D"/>
                </a:solidFill>
              </a:rPr>
              <a:t>Deliverable: a two-sentence recommendation, the evidence that could change it, and one safeguard for affected applicants.</a:t>
            </a:r>
          </a:p>
        </p:txBody>
      </p:sp>
      <p:sp>
        <p:nvSpPr>
          <p:cNvPr id="17" name="v2-takeaway">
            <a:extLst>
              <a:ext uri="{FF2B5EF4-FFF2-40B4-BE49-F238E27FC236}">
                <a16:creationId xmlns:a16="http://schemas.microsoft.com/office/drawing/2014/main" id="{C60FA9E6-53EF-416D-9423-96E98D0ED1C4}"/>
              </a:ext>
            </a:extLst>
          </p:cNvPr>
          <p:cNvSpPr>
            <a:spLocks noGrp="1"/>
          </p:cNvSpPr>
          <p:nvPr/>
        </p:nvSpPr>
        <p:spPr>
          <a:xfrm>
            <a:off x="876300" y="575310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defRPr sz="1200" b="1">
                <a:solidFill>
                  <a:srgbClr val="1F3B6D"/>
                </a:solidFill>
              </a:defRPr>
            </a:pPr>
            <a:r>
              <a:rPr sz="1200" b="1">
                <a:solidFill>
                  <a:srgbClr val="1F3B6D"/>
                </a:solidFill>
              </a:rPr>
              <a:t>A defensible ethical review links values to evidence, options, accountability, and remedy.</a:t>
            </a:r>
          </a:p>
        </p:txBody>
      </p:sp>
      <p:sp>
        <p:nvSpPr>
          <p:cNvPr id="18" name="v2-page-mask-75">
            <a:extLst>
              <a:ext uri="{FF2B5EF4-FFF2-40B4-BE49-F238E27FC236}">
                <a16:creationId xmlns:a16="http://schemas.microsoft.com/office/drawing/2014/main" id="{A4EDF99C-56FD-46ED-879C-DF9AD0C5BC8B}"/>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9" name="v2-page-75">
            <a:extLst>
              <a:ext uri="{FF2B5EF4-FFF2-40B4-BE49-F238E27FC236}">
                <a16:creationId xmlns:a16="http://schemas.microsoft.com/office/drawing/2014/main" id="{9E43B04B-1853-4590-B266-9178ED823062}"/>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75</a:t>
            </a:r>
          </a:p>
        </p:txBody>
      </p:sp>
    </p:spTree>
    <p:extLst>
      <p:ext uri="{BB962C8B-B14F-4D97-AF65-F5344CB8AC3E}">
        <p14:creationId xmlns:p14="http://schemas.microsoft.com/office/powerpoint/2010/main" val="21290973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82B76C9-47A5-4590-8504-D13CA41F4689}"/>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53DDA2D5-DE19-481C-9A45-971C4B1D7075}"/>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4E0E60BD-EC1A-4D63-9CA8-CF3CAA9A26D0}"/>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Limits of Principles &amp; the Need for Governance</a:t>
            </a:r>
          </a:p>
        </p:txBody>
      </p:sp>
      <p:sp>
        <p:nvSpPr>
          <p:cNvPr id="5" name="Rectangle 4">
            <a:extLst>
              <a:ext uri="{FF2B5EF4-FFF2-40B4-BE49-F238E27FC236}">
                <a16:creationId xmlns:a16="http://schemas.microsoft.com/office/drawing/2014/main" id="{AAD32552-AF56-4E43-BC2F-6780FEDDDC70}"/>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96E76FA2-B7DE-4EEC-B4E8-EF9836156390}"/>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84E7BAEC-C558-4A5B-9C8B-DD16F5E7F1E1}"/>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56</a:t>
            </a:r>
          </a:p>
        </p:txBody>
      </p:sp>
      <p:sp>
        <p:nvSpPr>
          <p:cNvPr id="8" name="TextBox 7">
            <a:extLst>
              <a:ext uri="{FF2B5EF4-FFF2-40B4-BE49-F238E27FC236}">
                <a16:creationId xmlns:a16="http://schemas.microsoft.com/office/drawing/2014/main" id="{7F088F88-8F45-42FB-9D33-208C103186F3}"/>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Principles are necessary but </a:t>
            </a:r>
            <a:r>
              <a:rPr sz="1700" b="1" i="0" u="sng">
                <a:solidFill>
                  <a:srgbClr val="262626"/>
                </a:solidFill>
                <a:latin typeface="Calibri"/>
                <a:ea typeface="Calibri"/>
                <a:cs typeface="Calibri"/>
              </a:rPr>
              <a:t>not sufficient</a:t>
            </a:r>
            <a:r>
              <a:rPr sz="1700" b="0" i="0" u="none">
                <a:solidFill>
                  <a:srgbClr val="262626"/>
                </a:solidFill>
                <a:latin typeface="Calibri"/>
                <a:ea typeface="Calibri"/>
                <a:cs typeface="Calibri"/>
              </a:rPr>
              <a:t>.</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They can’t resolve hard trade-offs or prevent </a:t>
            </a:r>
            <a:r>
              <a:rPr sz="1600" b="1" i="0" u="sng">
                <a:solidFill>
                  <a:srgbClr val="262626"/>
                </a:solidFill>
                <a:latin typeface="Calibri"/>
                <a:ea typeface="Calibri"/>
                <a:cs typeface="Calibri"/>
              </a:rPr>
              <a:t>“ethics washing”</a:t>
            </a:r>
            <a:r>
              <a:rPr sz="1600" b="0" i="0" u="none">
                <a:solidFill>
                  <a:srgbClr val="262626"/>
                </a:solidFill>
                <a:latin typeface="Calibri"/>
                <a:ea typeface="Calibri"/>
                <a:cs typeface="Calibri"/>
              </a:rPr>
              <a:t>.</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Need governance &amp; regulation: </a:t>
            </a:r>
            <a:r>
              <a:rPr sz="1600" b="0" i="0" u="none">
                <a:solidFill>
                  <a:srgbClr val="262626"/>
                </a:solidFill>
                <a:latin typeface="Calibri"/>
                <a:ea typeface="Calibri"/>
                <a:cs typeface="Calibri"/>
              </a:rPr>
              <a:t>audits, liability, standards, oversight.</a:t>
            </a:r>
          </a:p>
          <a:p>
            <a:pPr marL="285750" indent="-285750" algn="l">
              <a:lnSpc>
                <a:spcPct val="116000"/>
              </a:lnSpc>
              <a:spcBef>
                <a:spcPts val="400"/>
              </a:spcBef>
              <a:spcAft>
                <a:spcPts val="700"/>
              </a:spcAft>
              <a:buClr>
                <a:srgbClr val="2E75B6"/>
              </a:buClr>
              <a:buSzPct val="100000"/>
              <a:buFont typeface="Arial"/>
              <a:buChar char="•"/>
            </a:pPr>
            <a:r>
              <a:rPr sz="1600" b="0" i="0" u="none">
                <a:solidFill>
                  <a:srgbClr val="262626"/>
                </a:solidFill>
                <a:latin typeface="Calibri"/>
                <a:ea typeface="Calibri"/>
                <a:cs typeface="Calibri"/>
              </a:rPr>
              <a:t>“Ethics is the floor; </a:t>
            </a:r>
            <a:r>
              <a:rPr sz="1600" b="1" i="0" u="sng">
                <a:solidFill>
                  <a:srgbClr val="262626"/>
                </a:solidFill>
                <a:latin typeface="Calibri"/>
                <a:ea typeface="Calibri"/>
                <a:cs typeface="Calibri"/>
              </a:rPr>
              <a:t>law / governance is the enforceable structure</a:t>
            </a:r>
            <a:r>
              <a:rPr sz="1600" b="0" i="0" u="none">
                <a:solidFill>
                  <a:srgbClr val="262626"/>
                </a:solidFill>
                <a:latin typeface="Calibri"/>
                <a:ea typeface="Calibri"/>
                <a:cs typeface="Calibri"/>
              </a:rPr>
              <a:t>.”</a:t>
            </a:r>
          </a:p>
          <a:p>
            <a:pPr marL="285750" indent="-285750" algn="l">
              <a:lnSpc>
                <a:spcPct val="116000"/>
              </a:lnSpc>
              <a:spcBef>
                <a:spcPts val="400"/>
              </a:spcBef>
              <a:spcAft>
                <a:spcPts val="700"/>
              </a:spcAft>
              <a:buClr>
                <a:srgbClr val="2E75B6"/>
              </a:buClr>
              <a:buSzPct val="100000"/>
              <a:buFont typeface="Arial"/>
              <a:buChar char="•"/>
            </a:pPr>
            <a:r>
              <a:rPr sz="1500" b="1" i="0" u="none">
                <a:solidFill>
                  <a:srgbClr val="1F3864"/>
                </a:solidFill>
                <a:latin typeface="Calibri"/>
                <a:ea typeface="Calibri"/>
                <a:cs typeface="Calibri"/>
              </a:rPr>
              <a:t>Preview: </a:t>
            </a:r>
            <a:r>
              <a:rPr sz="1500" b="0" i="1" u="none">
                <a:solidFill>
                  <a:srgbClr val="595959"/>
                </a:solidFill>
                <a:latin typeface="Calibri"/>
                <a:ea typeface="Calibri"/>
                <a:cs typeface="Calibri"/>
              </a:rPr>
              <a:t>Week 11 — AI Policy &amp; Regulations.</a:t>
            </a:r>
          </a:p>
        </p:txBody>
      </p:sp>
      <p:sp>
        <p:nvSpPr>
          <p:cNvPr id="9" name="expanded-arrow-56-1">
            <a:extLst>
              <a:ext uri="{FF2B5EF4-FFF2-40B4-BE49-F238E27FC236}">
                <a16:creationId xmlns:a16="http://schemas.microsoft.com/office/drawing/2014/main" id="{878651C7-3C1B-4F79-B712-84FC985514AD}"/>
              </a:ext>
            </a:extLst>
          </p:cNvPr>
          <p:cNvSpPr>
            <a:spLocks noGrp="1"/>
          </p:cNvSpPr>
          <p:nvPr/>
        </p:nvSpPr>
        <p:spPr>
          <a:xfrm>
            <a:off x="3581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56-2">
            <a:extLst>
              <a:ext uri="{FF2B5EF4-FFF2-40B4-BE49-F238E27FC236}">
                <a16:creationId xmlns:a16="http://schemas.microsoft.com/office/drawing/2014/main" id="{52ECB298-2DA3-4019-B980-255EDC2A64C7}"/>
              </a:ext>
            </a:extLst>
          </p:cNvPr>
          <p:cNvSpPr>
            <a:spLocks noGrp="1"/>
          </p:cNvSpPr>
          <p:nvPr/>
        </p:nvSpPr>
        <p:spPr>
          <a:xfrm>
            <a:off x="5962650"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56-3">
            <a:extLst>
              <a:ext uri="{FF2B5EF4-FFF2-40B4-BE49-F238E27FC236}">
                <a16:creationId xmlns:a16="http://schemas.microsoft.com/office/drawing/2014/main" id="{EA585644-9AC0-4A5A-8264-FA7B1E661281}"/>
              </a:ext>
            </a:extLst>
          </p:cNvPr>
          <p:cNvSpPr>
            <a:spLocks noGrp="1"/>
          </p:cNvSpPr>
          <p:nvPr/>
        </p:nvSpPr>
        <p:spPr>
          <a:xfrm>
            <a:off x="8343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node-56-1">
            <a:extLst>
              <a:ext uri="{FF2B5EF4-FFF2-40B4-BE49-F238E27FC236}">
                <a16:creationId xmlns:a16="http://schemas.microsoft.com/office/drawing/2014/main" id="{263166AD-24AD-48EC-AEF1-764853715E71}"/>
              </a:ext>
            </a:extLst>
          </p:cNvPr>
          <p:cNvSpPr>
            <a:spLocks noGrp="1"/>
          </p:cNvSpPr>
          <p:nvPr/>
        </p:nvSpPr>
        <p:spPr>
          <a:xfrm>
            <a:off x="14287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PRINCIPLES</a:t>
            </a:r>
          </a:p>
        </p:txBody>
      </p:sp>
      <p:sp>
        <p:nvSpPr>
          <p:cNvPr id="13" name="expanded-node-56-2">
            <a:extLst>
              <a:ext uri="{FF2B5EF4-FFF2-40B4-BE49-F238E27FC236}">
                <a16:creationId xmlns:a16="http://schemas.microsoft.com/office/drawing/2014/main" id="{86FB0149-2A3A-4680-BF32-9C7FED162518}"/>
              </a:ext>
            </a:extLst>
          </p:cNvPr>
          <p:cNvSpPr>
            <a:spLocks noGrp="1"/>
          </p:cNvSpPr>
          <p:nvPr/>
        </p:nvSpPr>
        <p:spPr>
          <a:xfrm>
            <a:off x="38100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STANDARDS</a:t>
            </a:r>
          </a:p>
        </p:txBody>
      </p:sp>
      <p:sp>
        <p:nvSpPr>
          <p:cNvPr id="14" name="expanded-node-56-3">
            <a:extLst>
              <a:ext uri="{FF2B5EF4-FFF2-40B4-BE49-F238E27FC236}">
                <a16:creationId xmlns:a16="http://schemas.microsoft.com/office/drawing/2014/main" id="{8854AB23-85BE-483F-834D-51D2E54C3D13}"/>
              </a:ext>
            </a:extLst>
          </p:cNvPr>
          <p:cNvSpPr>
            <a:spLocks noGrp="1"/>
          </p:cNvSpPr>
          <p:nvPr/>
        </p:nvSpPr>
        <p:spPr>
          <a:xfrm>
            <a:off x="6191250"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ENFORCEMENT</a:t>
            </a:r>
          </a:p>
        </p:txBody>
      </p:sp>
      <p:sp>
        <p:nvSpPr>
          <p:cNvPr id="15" name="expanded-node-56-4">
            <a:extLst>
              <a:ext uri="{FF2B5EF4-FFF2-40B4-BE49-F238E27FC236}">
                <a16:creationId xmlns:a16="http://schemas.microsoft.com/office/drawing/2014/main" id="{4EE5FF15-FD1C-4588-A576-8EEDC43AAAB5}"/>
              </a:ext>
            </a:extLst>
          </p:cNvPr>
          <p:cNvSpPr>
            <a:spLocks noGrp="1"/>
          </p:cNvSpPr>
          <p:nvPr/>
        </p:nvSpPr>
        <p:spPr>
          <a:xfrm>
            <a:off x="8572500"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REMEDY</a:t>
            </a:r>
          </a:p>
        </p:txBody>
      </p:sp>
      <p:sp>
        <p:nvSpPr>
          <p:cNvPr id="16" name="expanded-takeaway-56">
            <a:extLst>
              <a:ext uri="{FF2B5EF4-FFF2-40B4-BE49-F238E27FC236}">
                <a16:creationId xmlns:a16="http://schemas.microsoft.com/office/drawing/2014/main" id="{1CE418CE-DAA8-459E-B913-A68FC28E5448}"/>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Principles set direction; governance assigns authority, incentives, evidence requirements, enforcement, and remedy.</a:t>
            </a:r>
          </a:p>
        </p:txBody>
      </p:sp>
      <p:sp>
        <p:nvSpPr>
          <p:cNvPr id="17" name="v2-page-mask-76">
            <a:extLst>
              <a:ext uri="{FF2B5EF4-FFF2-40B4-BE49-F238E27FC236}">
                <a16:creationId xmlns:a16="http://schemas.microsoft.com/office/drawing/2014/main" id="{E3831A86-ADA3-421A-B91A-9B23B9B5895D}"/>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8" name="v2-page-76">
            <a:extLst>
              <a:ext uri="{FF2B5EF4-FFF2-40B4-BE49-F238E27FC236}">
                <a16:creationId xmlns:a16="http://schemas.microsoft.com/office/drawing/2014/main" id="{EA3AE23E-E466-468C-BB8A-8B18D2B7D173}"/>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76</a:t>
            </a:r>
          </a:p>
        </p:txBody>
      </p:sp>
    </p:spTree>
    <p:extLst>
      <p:ext uri="{BB962C8B-B14F-4D97-AF65-F5344CB8AC3E}">
        <p14:creationId xmlns:p14="http://schemas.microsoft.com/office/powerpoint/2010/main" val="63476582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03961D-27E1-4423-BBE5-90E5913BCFFA}"/>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AB1BBFB1-71DD-4E5B-95B5-03FB5025A563}"/>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58CF2206-BC82-4BB8-8115-98ED96DD7F42}"/>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How This Course Approaches AI Ethics</a:t>
            </a:r>
          </a:p>
        </p:txBody>
      </p:sp>
      <p:sp>
        <p:nvSpPr>
          <p:cNvPr id="5" name="Rectangle 4">
            <a:extLst>
              <a:ext uri="{FF2B5EF4-FFF2-40B4-BE49-F238E27FC236}">
                <a16:creationId xmlns:a16="http://schemas.microsoft.com/office/drawing/2014/main" id="{9E98FE66-2C54-4F2B-B845-A0A574C84F8E}"/>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1B6EB8F0-CF9A-4B68-AAC4-9E7805E72D18}"/>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6A5FF742-7638-456B-9748-847DEA81B00A}"/>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57</a:t>
            </a:r>
          </a:p>
        </p:txBody>
      </p:sp>
      <p:sp>
        <p:nvSpPr>
          <p:cNvPr id="8" name="TextBox 7">
            <a:extLst>
              <a:ext uri="{FF2B5EF4-FFF2-40B4-BE49-F238E27FC236}">
                <a16:creationId xmlns:a16="http://schemas.microsoft.com/office/drawing/2014/main" id="{FAB38C0B-6809-4A40-82DD-3DEDDEF5452C}"/>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Case-based learning: </a:t>
            </a:r>
            <a:r>
              <a:rPr sz="1600" b="0" i="0" u="none">
                <a:solidFill>
                  <a:srgbClr val="262626"/>
                </a:solidFill>
                <a:latin typeface="Calibri"/>
                <a:ea typeface="Calibri"/>
                <a:cs typeface="Calibri"/>
              </a:rPr>
              <a:t>real cases ground abstract principles.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Weekly readings: </a:t>
            </a:r>
            <a:r>
              <a:rPr sz="1600" b="0" i="0" u="none">
                <a:solidFill>
                  <a:srgbClr val="262626"/>
                </a:solidFill>
                <a:latin typeface="Calibri"/>
                <a:ea typeface="Calibri"/>
                <a:cs typeface="Calibri"/>
              </a:rPr>
              <a:t>the five books + Canvas resources.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Active participation: </a:t>
            </a:r>
            <a:r>
              <a:rPr sz="1600" b="0" i="0" u="none">
                <a:solidFill>
                  <a:srgbClr val="262626"/>
                </a:solidFill>
                <a:latin typeface="Calibri"/>
                <a:ea typeface="Calibri"/>
                <a:cs typeface="Calibri"/>
              </a:rPr>
              <a:t>discussions, quizzes, AI news presentations.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Capstone: </a:t>
            </a:r>
            <a:r>
              <a:rPr sz="1600" b="0" i="0" u="none">
                <a:solidFill>
                  <a:srgbClr val="262626"/>
                </a:solidFill>
                <a:latin typeface="Calibri"/>
                <a:ea typeface="Calibri"/>
                <a:cs typeface="Calibri"/>
              </a:rPr>
              <a:t>final project — report + presentation.</a:t>
            </a:r>
          </a:p>
          <a:p>
            <a:pPr marL="285750" indent="-285750" algn="l">
              <a:lnSpc>
                <a:spcPct val="116000"/>
              </a:lnSpc>
              <a:spcBef>
                <a:spcPts val="0"/>
              </a:spcBef>
              <a:spcAft>
                <a:spcPts val="700"/>
              </a:spcAft>
              <a:buClr>
                <a:srgbClr val="2E75B6"/>
              </a:buClr>
              <a:buSzPct val="100000"/>
              <a:buFont typeface="Arial"/>
              <a:buChar char="•"/>
            </a:pPr>
            <a:r>
              <a:rPr sz="1600" b="0" i="0" u="none">
                <a:solidFill>
                  <a:srgbClr val="262626"/>
                </a:solidFill>
                <a:latin typeface="Calibri"/>
                <a:ea typeface="Calibri"/>
                <a:cs typeface="Calibri"/>
              </a:rPr>
              <a:t>Each upcoming week deep-dives one theme from today’s map.</a:t>
            </a:r>
          </a:p>
        </p:txBody>
      </p:sp>
      <p:sp>
        <p:nvSpPr>
          <p:cNvPr id="9" name="expanded-arrow-57-1">
            <a:extLst>
              <a:ext uri="{FF2B5EF4-FFF2-40B4-BE49-F238E27FC236}">
                <a16:creationId xmlns:a16="http://schemas.microsoft.com/office/drawing/2014/main" id="{6B581133-2BD3-4E72-A2F8-5B91B418BF52}"/>
              </a:ext>
            </a:extLst>
          </p:cNvPr>
          <p:cNvSpPr>
            <a:spLocks noGrp="1"/>
          </p:cNvSpPr>
          <p:nvPr/>
        </p:nvSpPr>
        <p:spPr>
          <a:xfrm>
            <a:off x="2819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57-2">
            <a:extLst>
              <a:ext uri="{FF2B5EF4-FFF2-40B4-BE49-F238E27FC236}">
                <a16:creationId xmlns:a16="http://schemas.microsoft.com/office/drawing/2014/main" id="{E74A25B3-2886-46ED-A6EA-560E93EE0538}"/>
              </a:ext>
            </a:extLst>
          </p:cNvPr>
          <p:cNvSpPr>
            <a:spLocks noGrp="1"/>
          </p:cNvSpPr>
          <p:nvPr/>
        </p:nvSpPr>
        <p:spPr>
          <a:xfrm>
            <a:off x="4914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arrow-57-3">
            <a:extLst>
              <a:ext uri="{FF2B5EF4-FFF2-40B4-BE49-F238E27FC236}">
                <a16:creationId xmlns:a16="http://schemas.microsoft.com/office/drawing/2014/main" id="{135BC15F-56FE-49A0-AFA8-AA15D302D2A0}"/>
              </a:ext>
            </a:extLst>
          </p:cNvPr>
          <p:cNvSpPr>
            <a:spLocks noGrp="1"/>
          </p:cNvSpPr>
          <p:nvPr/>
        </p:nvSpPr>
        <p:spPr>
          <a:xfrm>
            <a:off x="7010400" y="4652963"/>
            <a:ext cx="457200" cy="171450"/>
          </a:xfrm>
          <a:prstGeom prst="rightArrow">
            <a:avLst/>
          </a:prstGeom>
          <a:solidFill>
            <a:srgbClr val="9EC8E8"/>
          </a:solidFill>
          <a:ln w="0">
            <a:solidFill>
              <a:srgbClr val="9EC8E8"/>
            </a:solidFill>
            <a:prstDash val="solid"/>
          </a:ln>
        </p:spPr>
        <p:txBody>
          <a:bodyPr/>
          <a:lstStyle/>
          <a:p>
            <a:endParaRPr/>
          </a:p>
        </p:txBody>
      </p:sp>
      <p:sp>
        <p:nvSpPr>
          <p:cNvPr id="12" name="expanded-arrow-57-4">
            <a:extLst>
              <a:ext uri="{FF2B5EF4-FFF2-40B4-BE49-F238E27FC236}">
                <a16:creationId xmlns:a16="http://schemas.microsoft.com/office/drawing/2014/main" id="{1CC2A054-8042-4DB9-B59D-513F3C81D170}"/>
              </a:ext>
            </a:extLst>
          </p:cNvPr>
          <p:cNvSpPr>
            <a:spLocks noGrp="1"/>
          </p:cNvSpPr>
          <p:nvPr/>
        </p:nvSpPr>
        <p:spPr>
          <a:xfrm>
            <a:off x="9105900" y="4652963"/>
            <a:ext cx="457200" cy="171450"/>
          </a:xfrm>
          <a:prstGeom prst="rightArrow">
            <a:avLst/>
          </a:prstGeom>
          <a:solidFill>
            <a:srgbClr val="9EC8E8"/>
          </a:solidFill>
          <a:ln w="0">
            <a:solidFill>
              <a:srgbClr val="9EC8E8"/>
            </a:solidFill>
            <a:prstDash val="solid"/>
          </a:ln>
        </p:spPr>
        <p:txBody>
          <a:bodyPr/>
          <a:lstStyle/>
          <a:p>
            <a:endParaRPr/>
          </a:p>
        </p:txBody>
      </p:sp>
      <p:sp>
        <p:nvSpPr>
          <p:cNvPr id="13" name="expanded-node-57-1">
            <a:extLst>
              <a:ext uri="{FF2B5EF4-FFF2-40B4-BE49-F238E27FC236}">
                <a16:creationId xmlns:a16="http://schemas.microsoft.com/office/drawing/2014/main" id="{ABB31182-325C-43BF-B2DA-F85D135AC924}"/>
              </a:ext>
            </a:extLst>
          </p:cNvPr>
          <p:cNvSpPr>
            <a:spLocks noGrp="1"/>
          </p:cNvSpPr>
          <p:nvPr/>
        </p:nvSpPr>
        <p:spPr>
          <a:xfrm>
            <a:off x="952500" y="4210050"/>
            <a:ext cx="190500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975" b="1">
                <a:solidFill>
                  <a:srgbClr val="1F3B6D"/>
                </a:solidFill>
              </a:defRPr>
            </a:pPr>
            <a:r>
              <a:rPr sz="975" b="1">
                <a:solidFill>
                  <a:srgbClr val="1F3B6D"/>
                </a:solidFill>
              </a:rPr>
              <a:t>ENCOUNTER</a:t>
            </a:r>
          </a:p>
        </p:txBody>
      </p:sp>
      <p:sp>
        <p:nvSpPr>
          <p:cNvPr id="14" name="expanded-node-57-2">
            <a:extLst>
              <a:ext uri="{FF2B5EF4-FFF2-40B4-BE49-F238E27FC236}">
                <a16:creationId xmlns:a16="http://schemas.microsoft.com/office/drawing/2014/main" id="{5EE73C08-AC40-4904-8786-F04F75BB0C90}"/>
              </a:ext>
            </a:extLst>
          </p:cNvPr>
          <p:cNvSpPr>
            <a:spLocks noGrp="1"/>
          </p:cNvSpPr>
          <p:nvPr/>
        </p:nvSpPr>
        <p:spPr>
          <a:xfrm>
            <a:off x="3048000" y="4305300"/>
            <a:ext cx="190500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975" b="1">
                <a:solidFill>
                  <a:srgbClr val="2D78B9"/>
                </a:solidFill>
              </a:defRPr>
            </a:pPr>
            <a:r>
              <a:rPr sz="975" b="1">
                <a:solidFill>
                  <a:srgbClr val="2D78B9"/>
                </a:solidFill>
              </a:rPr>
              <a:t>ANALYZE</a:t>
            </a:r>
          </a:p>
        </p:txBody>
      </p:sp>
      <p:sp>
        <p:nvSpPr>
          <p:cNvPr id="15" name="expanded-node-57-3">
            <a:extLst>
              <a:ext uri="{FF2B5EF4-FFF2-40B4-BE49-F238E27FC236}">
                <a16:creationId xmlns:a16="http://schemas.microsoft.com/office/drawing/2014/main" id="{25C6E722-8065-4AB9-8C26-69628FD08E5C}"/>
              </a:ext>
            </a:extLst>
          </p:cNvPr>
          <p:cNvSpPr>
            <a:spLocks noGrp="1"/>
          </p:cNvSpPr>
          <p:nvPr/>
        </p:nvSpPr>
        <p:spPr>
          <a:xfrm>
            <a:off x="5143500" y="4210050"/>
            <a:ext cx="190500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975" b="1">
                <a:solidFill>
                  <a:srgbClr val="1F3B6D"/>
                </a:solidFill>
              </a:defRPr>
            </a:pPr>
            <a:r>
              <a:rPr sz="975" b="1">
                <a:solidFill>
                  <a:srgbClr val="1F3B6D"/>
                </a:solidFill>
              </a:rPr>
              <a:t>DEBATE</a:t>
            </a:r>
          </a:p>
        </p:txBody>
      </p:sp>
      <p:sp>
        <p:nvSpPr>
          <p:cNvPr id="16" name="expanded-node-57-4">
            <a:extLst>
              <a:ext uri="{FF2B5EF4-FFF2-40B4-BE49-F238E27FC236}">
                <a16:creationId xmlns:a16="http://schemas.microsoft.com/office/drawing/2014/main" id="{A406D105-8EC5-4B87-A52B-505220E8EF05}"/>
              </a:ext>
            </a:extLst>
          </p:cNvPr>
          <p:cNvSpPr>
            <a:spLocks noGrp="1"/>
          </p:cNvSpPr>
          <p:nvPr/>
        </p:nvSpPr>
        <p:spPr>
          <a:xfrm>
            <a:off x="7239000" y="4305300"/>
            <a:ext cx="190500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975" b="1">
                <a:solidFill>
                  <a:srgbClr val="2D78B9"/>
                </a:solidFill>
              </a:defRPr>
            </a:pPr>
            <a:r>
              <a:rPr sz="975" b="1">
                <a:solidFill>
                  <a:srgbClr val="2D78B9"/>
                </a:solidFill>
              </a:rPr>
              <a:t>DECIDE</a:t>
            </a:r>
          </a:p>
        </p:txBody>
      </p:sp>
      <p:sp>
        <p:nvSpPr>
          <p:cNvPr id="17" name="expanded-node-57-5">
            <a:extLst>
              <a:ext uri="{FF2B5EF4-FFF2-40B4-BE49-F238E27FC236}">
                <a16:creationId xmlns:a16="http://schemas.microsoft.com/office/drawing/2014/main" id="{8F2E3B48-1BC8-4D9B-8866-B21B786349A5}"/>
              </a:ext>
            </a:extLst>
          </p:cNvPr>
          <p:cNvSpPr>
            <a:spLocks noGrp="1"/>
          </p:cNvSpPr>
          <p:nvPr/>
        </p:nvSpPr>
        <p:spPr>
          <a:xfrm>
            <a:off x="9334500" y="4210050"/>
            <a:ext cx="190500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975" b="1">
                <a:solidFill>
                  <a:srgbClr val="1F3B6D"/>
                </a:solidFill>
              </a:defRPr>
            </a:pPr>
            <a:r>
              <a:rPr sz="975" b="1">
                <a:solidFill>
                  <a:srgbClr val="1F3B6D"/>
                </a:solidFill>
              </a:rPr>
              <a:t>REFLECT</a:t>
            </a:r>
          </a:p>
        </p:txBody>
      </p:sp>
      <p:sp>
        <p:nvSpPr>
          <p:cNvPr id="18" name="expanded-takeaway-57">
            <a:extLst>
              <a:ext uri="{FF2B5EF4-FFF2-40B4-BE49-F238E27FC236}">
                <a16:creationId xmlns:a16="http://schemas.microsoft.com/office/drawing/2014/main" id="{6687947E-6BA0-4CC2-AAE5-EEEF16C4BFA7}"/>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The course repeatedly practices a cycle: encounter a case, analyze it, debate options, decide, and reflect.</a:t>
            </a:r>
          </a:p>
        </p:txBody>
      </p:sp>
      <p:sp>
        <p:nvSpPr>
          <p:cNvPr id="19" name="v2-page-mask-77">
            <a:extLst>
              <a:ext uri="{FF2B5EF4-FFF2-40B4-BE49-F238E27FC236}">
                <a16:creationId xmlns:a16="http://schemas.microsoft.com/office/drawing/2014/main" id="{52D23E2A-FF1C-46A2-9834-C43A347B6976}"/>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20" name="v2-page-77">
            <a:extLst>
              <a:ext uri="{FF2B5EF4-FFF2-40B4-BE49-F238E27FC236}">
                <a16:creationId xmlns:a16="http://schemas.microsoft.com/office/drawing/2014/main" id="{15AE4B2E-9C21-47CD-9F9D-7B23BB77AF4A}"/>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77</a:t>
            </a:r>
          </a:p>
        </p:txBody>
      </p:sp>
    </p:spTree>
    <p:extLst>
      <p:ext uri="{BB962C8B-B14F-4D97-AF65-F5344CB8AC3E}">
        <p14:creationId xmlns:p14="http://schemas.microsoft.com/office/powerpoint/2010/main" val="2922692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2E6CDE6-F727-4C6C-9F7A-C880DEE3B3B6}"/>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50FC66C3-7EEA-4079-9F25-21EDF8004902}"/>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B9F2FED6-7377-45EC-A609-978383C674F1}"/>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Key Takeaways</a:t>
            </a:r>
          </a:p>
        </p:txBody>
      </p:sp>
      <p:sp>
        <p:nvSpPr>
          <p:cNvPr id="5" name="Rectangle 4">
            <a:extLst>
              <a:ext uri="{FF2B5EF4-FFF2-40B4-BE49-F238E27FC236}">
                <a16:creationId xmlns:a16="http://schemas.microsoft.com/office/drawing/2014/main" id="{0C3BEB03-8872-4362-B225-F48611E8AA59}"/>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35AF9382-2801-483A-AA4B-846D1C80B3DF}"/>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71BB08C8-D94F-410E-B427-EEEC4DEFB904}"/>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58</a:t>
            </a:r>
          </a:p>
        </p:txBody>
      </p:sp>
      <p:sp>
        <p:nvSpPr>
          <p:cNvPr id="8" name="TextBox 7">
            <a:extLst>
              <a:ext uri="{FF2B5EF4-FFF2-40B4-BE49-F238E27FC236}">
                <a16:creationId xmlns:a16="http://schemas.microsoft.com/office/drawing/2014/main" id="{FD4B695A-AF11-4A97-92E7-B339D0D3E751}"/>
              </a:ext>
            </a:extLst>
          </p:cNvPr>
          <p:cNvSpPr>
            <a:spLocks noGrp="1"/>
          </p:cNvSpPr>
          <p:nvPr/>
        </p:nvSpPr>
        <p:spPr>
          <a:xfrm>
            <a:off x="896112" y="1508760"/>
            <a:ext cx="10607040" cy="466344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AI is </a:t>
            </a:r>
            <a:r>
              <a:rPr sz="1700" b="1" i="0" u="sng">
                <a:solidFill>
                  <a:srgbClr val="262626"/>
                </a:solidFill>
                <a:latin typeface="Calibri"/>
                <a:ea typeface="Calibri"/>
                <a:cs typeface="Calibri"/>
              </a:rPr>
              <a:t>powerful + opaque + pervasive</a:t>
            </a:r>
            <a:r>
              <a:rPr sz="1700" b="0" i="0" u="none">
                <a:solidFill>
                  <a:srgbClr val="262626"/>
                </a:solidFill>
                <a:latin typeface="Calibri"/>
                <a:ea typeface="Calibri"/>
                <a:cs typeface="Calibri"/>
              </a:rPr>
              <a:t> → ethics is essential.</a:t>
            </a:r>
          </a:p>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Multiple ethical lenses illuminate </a:t>
            </a:r>
            <a:r>
              <a:rPr sz="1700" b="1" i="0" u="sng">
                <a:solidFill>
                  <a:srgbClr val="262626"/>
                </a:solidFill>
                <a:latin typeface="Calibri"/>
                <a:ea typeface="Calibri"/>
                <a:cs typeface="Calibri"/>
              </a:rPr>
              <a:t>different facets</a:t>
            </a:r>
            <a:r>
              <a:rPr sz="1700" b="0" i="0" u="none">
                <a:solidFill>
                  <a:srgbClr val="262626"/>
                </a:solidFill>
                <a:latin typeface="Calibri"/>
                <a:ea typeface="Calibri"/>
                <a:cs typeface="Calibri"/>
              </a:rPr>
              <a:t> of a problem.</a:t>
            </a:r>
          </a:p>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Principles converge, but </a:t>
            </a:r>
            <a:r>
              <a:rPr sz="1700" b="1" i="0" u="sng">
                <a:solidFill>
                  <a:srgbClr val="262626"/>
                </a:solidFill>
                <a:latin typeface="Calibri"/>
                <a:ea typeface="Calibri"/>
                <a:cs typeface="Calibri"/>
              </a:rPr>
              <a:t>implementation is hard</a:t>
            </a:r>
            <a:r>
              <a:rPr sz="1700" b="0" i="0" u="none">
                <a:solidFill>
                  <a:srgbClr val="262626"/>
                </a:solidFill>
                <a:latin typeface="Calibri"/>
                <a:ea typeface="Calibri"/>
                <a:cs typeface="Calibri"/>
              </a:rPr>
              <a:t> and governance matters.</a:t>
            </a:r>
          </a:p>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Real cases (O’Neil, Eubanks) show harms fall hardest on </a:t>
            </a:r>
            <a:r>
              <a:rPr sz="1700" b="1" i="0" u="sng">
                <a:solidFill>
                  <a:srgbClr val="262626"/>
                </a:solidFill>
                <a:latin typeface="Calibri"/>
                <a:ea typeface="Calibri"/>
                <a:cs typeface="Calibri"/>
              </a:rPr>
              <a:t>the vulnerable</a:t>
            </a:r>
            <a:r>
              <a:rPr sz="1700" b="0" i="0" u="none">
                <a:solidFill>
                  <a:srgbClr val="262626"/>
                </a:solidFill>
                <a:latin typeface="Calibri"/>
                <a:ea typeface="Calibri"/>
                <a:cs typeface="Calibri"/>
              </a:rPr>
              <a:t>.</a:t>
            </a:r>
          </a:p>
          <a:p>
            <a:pPr marL="285750" indent="-285750" algn="l">
              <a:lnSpc>
                <a:spcPct val="116000"/>
              </a:lnSpc>
              <a:spcBef>
                <a:spcPts val="0"/>
              </a:spcBef>
              <a:spcAft>
                <a:spcPts val="700"/>
              </a:spcAft>
              <a:buClr>
                <a:srgbClr val="2E75B6"/>
              </a:buClr>
              <a:buSzPct val="100000"/>
              <a:buFont typeface="Arial"/>
              <a:buChar char="•"/>
            </a:pPr>
            <a:r>
              <a:rPr sz="1700" b="0" i="0" u="none">
                <a:solidFill>
                  <a:srgbClr val="262626"/>
                </a:solidFill>
                <a:latin typeface="Calibri"/>
                <a:ea typeface="Calibri"/>
                <a:cs typeface="Calibri"/>
              </a:rPr>
              <a:t>You will build your own </a:t>
            </a:r>
            <a:r>
              <a:rPr sz="1700" b="1" i="0" u="sng">
                <a:solidFill>
                  <a:srgbClr val="262626"/>
                </a:solidFill>
                <a:latin typeface="Calibri"/>
                <a:ea typeface="Calibri"/>
                <a:cs typeface="Calibri"/>
              </a:rPr>
              <a:t>ethical-reasoning toolkit</a:t>
            </a:r>
            <a:r>
              <a:rPr sz="1700" b="0" i="0" u="none">
                <a:solidFill>
                  <a:srgbClr val="262626"/>
                </a:solidFill>
                <a:latin typeface="Calibri"/>
                <a:ea typeface="Calibri"/>
                <a:cs typeface="Calibri"/>
              </a:rPr>
              <a:t> over the term.</a:t>
            </a:r>
          </a:p>
        </p:txBody>
      </p:sp>
      <p:sp>
        <p:nvSpPr>
          <p:cNvPr id="9" name="expanded-arrow-58-1">
            <a:extLst>
              <a:ext uri="{FF2B5EF4-FFF2-40B4-BE49-F238E27FC236}">
                <a16:creationId xmlns:a16="http://schemas.microsoft.com/office/drawing/2014/main" id="{173625B7-4EAC-4B32-BF0D-F93AB06DC4EB}"/>
              </a:ext>
            </a:extLst>
          </p:cNvPr>
          <p:cNvSpPr>
            <a:spLocks noGrp="1"/>
          </p:cNvSpPr>
          <p:nvPr/>
        </p:nvSpPr>
        <p:spPr>
          <a:xfrm>
            <a:off x="4772025" y="4652963"/>
            <a:ext cx="457200" cy="171450"/>
          </a:xfrm>
          <a:prstGeom prst="rightArrow">
            <a:avLst/>
          </a:prstGeom>
          <a:solidFill>
            <a:srgbClr val="9EC8E8"/>
          </a:solidFill>
          <a:ln w="0">
            <a:solidFill>
              <a:srgbClr val="9EC8E8"/>
            </a:solidFill>
            <a:prstDash val="solid"/>
          </a:ln>
        </p:spPr>
        <p:txBody>
          <a:bodyPr/>
          <a:lstStyle/>
          <a:p>
            <a:endParaRPr/>
          </a:p>
        </p:txBody>
      </p:sp>
      <p:sp>
        <p:nvSpPr>
          <p:cNvPr id="10" name="expanded-arrow-58-2">
            <a:extLst>
              <a:ext uri="{FF2B5EF4-FFF2-40B4-BE49-F238E27FC236}">
                <a16:creationId xmlns:a16="http://schemas.microsoft.com/office/drawing/2014/main" id="{8767D438-96AE-4E5E-84E9-0CDC4FACC66C}"/>
              </a:ext>
            </a:extLst>
          </p:cNvPr>
          <p:cNvSpPr>
            <a:spLocks noGrp="1"/>
          </p:cNvSpPr>
          <p:nvPr/>
        </p:nvSpPr>
        <p:spPr>
          <a:xfrm>
            <a:off x="7153275" y="4652963"/>
            <a:ext cx="457200" cy="171450"/>
          </a:xfrm>
          <a:prstGeom prst="rightArrow">
            <a:avLst/>
          </a:prstGeom>
          <a:solidFill>
            <a:srgbClr val="9EC8E8"/>
          </a:solidFill>
          <a:ln w="0">
            <a:solidFill>
              <a:srgbClr val="9EC8E8"/>
            </a:solidFill>
            <a:prstDash val="solid"/>
          </a:ln>
        </p:spPr>
        <p:txBody>
          <a:bodyPr/>
          <a:lstStyle/>
          <a:p>
            <a:endParaRPr/>
          </a:p>
        </p:txBody>
      </p:sp>
      <p:sp>
        <p:nvSpPr>
          <p:cNvPr id="11" name="expanded-node-58-1">
            <a:extLst>
              <a:ext uri="{FF2B5EF4-FFF2-40B4-BE49-F238E27FC236}">
                <a16:creationId xmlns:a16="http://schemas.microsoft.com/office/drawing/2014/main" id="{C9A77431-9DB4-4EC7-B80F-93C4B266828A}"/>
              </a:ext>
            </a:extLst>
          </p:cNvPr>
          <p:cNvSpPr>
            <a:spLocks noGrp="1"/>
          </p:cNvSpPr>
          <p:nvPr/>
        </p:nvSpPr>
        <p:spPr>
          <a:xfrm>
            <a:off x="26193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AI CHARACTERISTICS</a:t>
            </a:r>
          </a:p>
        </p:txBody>
      </p:sp>
      <p:sp>
        <p:nvSpPr>
          <p:cNvPr id="12" name="expanded-node-58-2">
            <a:extLst>
              <a:ext uri="{FF2B5EF4-FFF2-40B4-BE49-F238E27FC236}">
                <a16:creationId xmlns:a16="http://schemas.microsoft.com/office/drawing/2014/main" id="{743A8715-54CA-41B4-AFDE-1CBCB0A0AF52}"/>
              </a:ext>
            </a:extLst>
          </p:cNvPr>
          <p:cNvSpPr>
            <a:spLocks noGrp="1"/>
          </p:cNvSpPr>
          <p:nvPr/>
        </p:nvSpPr>
        <p:spPr>
          <a:xfrm>
            <a:off x="5000625" y="4305300"/>
            <a:ext cx="2190750" cy="962025"/>
          </a:xfrm>
          <a:prstGeom prst="roundRect">
            <a:avLst>
              <a:gd name="adj" fmla="val 7921"/>
            </a:avLst>
          </a:prstGeom>
          <a:solidFill>
            <a:srgbClr val="F5FAFE"/>
          </a:solidFill>
          <a:ln w="14288">
            <a:solidFill>
              <a:srgbClr val="8FC0E2"/>
            </a:solidFill>
            <a:prstDash val="solid"/>
          </a:ln>
        </p:spPr>
        <p:txBody>
          <a:bodyPr anchor="ctr"/>
          <a:lstStyle/>
          <a:p>
            <a:pPr algn="ctr">
              <a:buNone/>
              <a:defRPr sz="1125" b="1">
                <a:solidFill>
                  <a:srgbClr val="2D78B9"/>
                </a:solidFill>
              </a:defRPr>
            </a:pPr>
            <a:r>
              <a:rPr sz="1125" b="1">
                <a:solidFill>
                  <a:srgbClr val="2D78B9"/>
                </a:solidFill>
              </a:rPr>
              <a:t>ETHICAL LENSES</a:t>
            </a:r>
          </a:p>
        </p:txBody>
      </p:sp>
      <p:sp>
        <p:nvSpPr>
          <p:cNvPr id="13" name="expanded-node-58-3">
            <a:extLst>
              <a:ext uri="{FF2B5EF4-FFF2-40B4-BE49-F238E27FC236}">
                <a16:creationId xmlns:a16="http://schemas.microsoft.com/office/drawing/2014/main" id="{64F82D91-427F-443D-B44B-7E30D7D52886}"/>
              </a:ext>
            </a:extLst>
          </p:cNvPr>
          <p:cNvSpPr>
            <a:spLocks noGrp="1"/>
          </p:cNvSpPr>
          <p:nvPr/>
        </p:nvSpPr>
        <p:spPr>
          <a:xfrm>
            <a:off x="7381875" y="4210050"/>
            <a:ext cx="2190750" cy="1057275"/>
          </a:xfrm>
          <a:prstGeom prst="roundRect">
            <a:avLst>
              <a:gd name="adj" fmla="val 7207"/>
            </a:avLst>
          </a:prstGeom>
          <a:solidFill>
            <a:srgbClr val="E8F2FA"/>
          </a:solidFill>
          <a:ln w="14288">
            <a:solidFill>
              <a:srgbClr val="5B9BD5"/>
            </a:solidFill>
            <a:prstDash val="solid"/>
          </a:ln>
        </p:spPr>
        <p:txBody>
          <a:bodyPr anchor="ctr"/>
          <a:lstStyle/>
          <a:p>
            <a:pPr algn="ctr">
              <a:buNone/>
              <a:defRPr sz="1125" b="1">
                <a:solidFill>
                  <a:srgbClr val="1F3B6D"/>
                </a:solidFill>
              </a:defRPr>
            </a:pPr>
            <a:r>
              <a:rPr sz="1125" b="1">
                <a:solidFill>
                  <a:srgbClr val="1F3B6D"/>
                </a:solidFill>
              </a:rPr>
              <a:t>GOVERNANCE</a:t>
            </a:r>
          </a:p>
        </p:txBody>
      </p:sp>
      <p:sp>
        <p:nvSpPr>
          <p:cNvPr id="14" name="expanded-takeaway-58">
            <a:extLst>
              <a:ext uri="{FF2B5EF4-FFF2-40B4-BE49-F238E27FC236}">
                <a16:creationId xmlns:a16="http://schemas.microsoft.com/office/drawing/2014/main" id="{8AB1D610-4873-4AA3-9BA1-CC00807203B7}"/>
              </a:ext>
            </a:extLst>
          </p:cNvPr>
          <p:cNvSpPr>
            <a:spLocks noGrp="1"/>
          </p:cNvSpPr>
          <p:nvPr/>
        </p:nvSpPr>
        <p:spPr>
          <a:xfrm>
            <a:off x="876300" y="5734050"/>
            <a:ext cx="10439400" cy="457200"/>
          </a:xfrm>
          <a:prstGeom prst="roundRect">
            <a:avLst>
              <a:gd name="adj" fmla="val 16667"/>
            </a:avLst>
          </a:prstGeom>
          <a:solidFill>
            <a:srgbClr val="EAF3FB"/>
          </a:solidFill>
          <a:ln w="9525">
            <a:solidFill>
              <a:srgbClr val="B9D7EF"/>
            </a:solidFill>
            <a:prstDash val="solid"/>
          </a:ln>
        </p:spPr>
        <p:txBody>
          <a:bodyPr anchor="ctr"/>
          <a:lstStyle/>
          <a:p>
            <a:pPr algn="ctr">
              <a:buNone/>
              <a:defRPr sz="1200" b="1">
                <a:solidFill>
                  <a:srgbClr val="1F3B6D"/>
                </a:solidFill>
              </a:defRPr>
            </a:pPr>
            <a:r>
              <a:rPr sz="1200" b="1">
                <a:solidFill>
                  <a:srgbClr val="1F3B6D"/>
                </a:solidFill>
              </a:rPr>
              <a:t>Responsible AI requires both ethical reasoning and institutional mechanisms that make responsibility real.</a:t>
            </a:r>
          </a:p>
        </p:txBody>
      </p:sp>
      <p:sp>
        <p:nvSpPr>
          <p:cNvPr id="15" name="v2-page-mask-78">
            <a:extLst>
              <a:ext uri="{FF2B5EF4-FFF2-40B4-BE49-F238E27FC236}">
                <a16:creationId xmlns:a16="http://schemas.microsoft.com/office/drawing/2014/main" id="{8943924C-9759-4F79-9918-E794919DAB71}"/>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6" name="v2-page-78">
            <a:extLst>
              <a:ext uri="{FF2B5EF4-FFF2-40B4-BE49-F238E27FC236}">
                <a16:creationId xmlns:a16="http://schemas.microsoft.com/office/drawing/2014/main" id="{A540CC3C-4EBC-455A-9EE0-C557EE18AC5F}"/>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78</a:t>
            </a:r>
          </a:p>
        </p:txBody>
      </p:sp>
    </p:spTree>
    <p:extLst>
      <p:ext uri="{BB962C8B-B14F-4D97-AF65-F5344CB8AC3E}">
        <p14:creationId xmlns:p14="http://schemas.microsoft.com/office/powerpoint/2010/main" val="41300284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4334621-EB76-4273-A520-4B8A1F48DA33}"/>
              </a:ext>
            </a:extLst>
          </p:cNvPr>
          <p:cNvSpPr>
            <a:spLocks noGrp="1"/>
          </p:cNvSpPr>
          <p:nvPr/>
        </p:nvSpPr>
        <p:spPr>
          <a:xfrm>
            <a:off x="640080" y="402336"/>
            <a:ext cx="91440" cy="4572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0D98E7DC-50DD-4765-810E-F874D55C07D5}"/>
              </a:ext>
            </a:extLst>
          </p:cNvPr>
          <p:cNvSpPr>
            <a:spLocks noGrp="1"/>
          </p:cNvSpPr>
          <p:nvPr/>
        </p:nvSpPr>
        <p:spPr>
          <a:xfrm>
            <a:off x="11686032" y="310896"/>
            <a:ext cx="256032" cy="2560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TextBox 3">
            <a:extLst>
              <a:ext uri="{FF2B5EF4-FFF2-40B4-BE49-F238E27FC236}">
                <a16:creationId xmlns:a16="http://schemas.microsoft.com/office/drawing/2014/main" id="{D6338634-D642-43EC-9670-26ADE7FB0372}"/>
              </a:ext>
            </a:extLst>
          </p:cNvPr>
          <p:cNvSpPr>
            <a:spLocks noGrp="1"/>
          </p:cNvSpPr>
          <p:nvPr/>
        </p:nvSpPr>
        <p:spPr>
          <a:xfrm>
            <a:off x="896112" y="310896"/>
            <a:ext cx="10515600" cy="658368"/>
          </a:xfrm>
          <a:prstGeom prst="rect">
            <a:avLst/>
          </a:prstGeom>
          <a:noFill/>
        </p:spPr>
        <p:txBody>
          <a:bodyPr wrap="square">
            <a:spAutoFit/>
          </a:bodyPr>
          <a:lstStyle/>
          <a:p>
            <a:r>
              <a:rPr sz="2600" b="1">
                <a:solidFill>
                  <a:srgbClr val="1F3864"/>
                </a:solidFill>
                <a:latin typeface="Georgia"/>
                <a:ea typeface="Georgia"/>
                <a:cs typeface="Georgia"/>
              </a:rPr>
              <a:t>Reading, Next Lecture &amp; Q&amp;A</a:t>
            </a:r>
          </a:p>
        </p:txBody>
      </p:sp>
      <p:sp>
        <p:nvSpPr>
          <p:cNvPr id="5" name="Rectangle 4">
            <a:extLst>
              <a:ext uri="{FF2B5EF4-FFF2-40B4-BE49-F238E27FC236}">
                <a16:creationId xmlns:a16="http://schemas.microsoft.com/office/drawing/2014/main" id="{956F974B-13FC-4FBB-A342-4D946141950B}"/>
              </a:ext>
            </a:extLst>
          </p:cNvPr>
          <p:cNvSpPr>
            <a:spLocks noGrp="1"/>
          </p:cNvSpPr>
          <p:nvPr/>
        </p:nvSpPr>
        <p:spPr>
          <a:xfrm>
            <a:off x="640080" y="1005840"/>
            <a:ext cx="1097280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TextBox 5">
            <a:extLst>
              <a:ext uri="{FF2B5EF4-FFF2-40B4-BE49-F238E27FC236}">
                <a16:creationId xmlns:a16="http://schemas.microsoft.com/office/drawing/2014/main" id="{21358E2D-3031-4D17-9915-6A0AA55BB4FE}"/>
              </a:ext>
            </a:extLst>
          </p:cNvPr>
          <p:cNvSpPr>
            <a:spLocks noGrp="1"/>
          </p:cNvSpPr>
          <p:nvPr/>
        </p:nvSpPr>
        <p:spPr>
          <a:xfrm>
            <a:off x="640080" y="6455664"/>
            <a:ext cx="7315200" cy="292608"/>
          </a:xfrm>
          <a:prstGeom prst="rect">
            <a:avLst/>
          </a:prstGeom>
          <a:noFill/>
        </p:spPr>
        <p:txBody>
          <a:bodyPr wrap="square">
            <a:spAutoFit/>
          </a:bodyPr>
          <a:lstStyle/>
          <a:p>
            <a:r>
              <a:rPr sz="900">
                <a:solidFill>
                  <a:srgbClr val="595959"/>
                </a:solidFill>
                <a:latin typeface="Calibri"/>
                <a:ea typeface="Calibri"/>
                <a:cs typeface="Calibri"/>
              </a:rPr>
              <a:t>MAIE 5103  ·  Artificial Intelligence Ethics</a:t>
            </a:r>
          </a:p>
        </p:txBody>
      </p:sp>
      <p:sp>
        <p:nvSpPr>
          <p:cNvPr id="7" name="TextBox 6">
            <a:extLst>
              <a:ext uri="{FF2B5EF4-FFF2-40B4-BE49-F238E27FC236}">
                <a16:creationId xmlns:a16="http://schemas.microsoft.com/office/drawing/2014/main" id="{7B6CCBE0-E29C-4336-A9CC-E1F0A951D72F}"/>
              </a:ext>
            </a:extLst>
          </p:cNvPr>
          <p:cNvSpPr>
            <a:spLocks noGrp="1"/>
          </p:cNvSpPr>
          <p:nvPr/>
        </p:nvSpPr>
        <p:spPr>
          <a:xfrm>
            <a:off x="10241280" y="6455664"/>
            <a:ext cx="1371600" cy="292608"/>
          </a:xfrm>
          <a:prstGeom prst="rect">
            <a:avLst/>
          </a:prstGeom>
          <a:noFill/>
        </p:spPr>
        <p:txBody>
          <a:bodyPr wrap="square">
            <a:spAutoFit/>
          </a:bodyPr>
          <a:lstStyle/>
          <a:p>
            <a:pPr algn="r">
              <a:buNone/>
            </a:pPr>
            <a:r>
              <a:rPr sz="900">
                <a:solidFill>
                  <a:srgbClr val="595959"/>
                </a:solidFill>
                <a:latin typeface="Calibri"/>
                <a:ea typeface="Calibri"/>
                <a:cs typeface="Calibri"/>
              </a:rPr>
              <a:t>59</a:t>
            </a:r>
          </a:p>
        </p:txBody>
      </p:sp>
      <p:sp>
        <p:nvSpPr>
          <p:cNvPr id="8" name="TextBox 7">
            <a:extLst>
              <a:ext uri="{FF2B5EF4-FFF2-40B4-BE49-F238E27FC236}">
                <a16:creationId xmlns:a16="http://schemas.microsoft.com/office/drawing/2014/main" id="{EC972AFE-9FE8-4576-9150-3426A24A440C}"/>
              </a:ext>
            </a:extLst>
          </p:cNvPr>
          <p:cNvSpPr>
            <a:spLocks noGrp="1"/>
          </p:cNvSpPr>
          <p:nvPr/>
        </p:nvSpPr>
        <p:spPr>
          <a:xfrm>
            <a:off x="896112" y="1463040"/>
            <a:ext cx="10607040" cy="4572000"/>
          </a:xfrm>
          <a:prstGeom prst="rect">
            <a:avLst/>
          </a:prstGeom>
          <a:noFill/>
        </p:spPr>
        <p:txBody>
          <a:bodyPr wrap="square" anchor="t">
            <a:spAutoFit/>
          </a:bodyPr>
          <a:lstStyle/>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Read: </a:t>
            </a:r>
            <a:r>
              <a:rPr sz="1600" b="0" i="0" u="none">
                <a:solidFill>
                  <a:srgbClr val="262626"/>
                </a:solidFill>
                <a:latin typeface="Calibri"/>
                <a:ea typeface="Calibri"/>
                <a:cs typeface="Calibri"/>
              </a:rPr>
              <a:t>Coeckelbergh (intro) + O’Neil Ch.1 (released on Canvas).</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Next: </a:t>
            </a:r>
            <a:r>
              <a:rPr sz="1600" b="0" i="0" u="none">
                <a:solidFill>
                  <a:srgbClr val="262626"/>
                </a:solidFill>
                <a:latin typeface="Calibri"/>
                <a:ea typeface="Calibri"/>
                <a:cs typeface="Calibri"/>
              </a:rPr>
              <a:t>Lecture 2 — Privacy and Data Protection.</a:t>
            </a:r>
          </a:p>
          <a:p>
            <a:pPr marL="285750" indent="-285750" algn="l">
              <a:lnSpc>
                <a:spcPct val="116000"/>
              </a:lnSpc>
              <a:spcBef>
                <a:spcPts val="0"/>
              </a:spcBef>
              <a:spcAft>
                <a:spcPts val="700"/>
              </a:spcAft>
              <a:buClr>
                <a:srgbClr val="2E75B6"/>
              </a:buClr>
              <a:buSzPct val="100000"/>
              <a:buFont typeface="Arial"/>
              <a:buChar char="•"/>
            </a:pPr>
            <a:r>
              <a:rPr sz="1600" b="1" i="0" u="none">
                <a:solidFill>
                  <a:srgbClr val="1F3864"/>
                </a:solidFill>
                <a:latin typeface="Calibri"/>
                <a:ea typeface="Calibri"/>
                <a:cs typeface="Calibri"/>
              </a:rPr>
              <a:t>Reflect: </a:t>
            </a:r>
            <a:r>
              <a:rPr sz="1600" b="0" i="0" u="none">
                <a:solidFill>
                  <a:srgbClr val="262626"/>
                </a:solidFill>
                <a:latin typeface="Calibri"/>
                <a:ea typeface="Calibri"/>
                <a:cs typeface="Calibri"/>
              </a:rPr>
              <a:t>“Name an AI system you use daily — what ethical questions does it raise?”</a:t>
            </a:r>
          </a:p>
          <a:p>
            <a:pPr marL="285750" indent="-285750" algn="l">
              <a:lnSpc>
                <a:spcPct val="116000"/>
              </a:lnSpc>
              <a:spcBef>
                <a:spcPts val="600"/>
              </a:spcBef>
              <a:spcAft>
                <a:spcPts val="700"/>
              </a:spcAft>
              <a:buClr>
                <a:srgbClr val="2E75B6"/>
              </a:buClr>
              <a:buSzPct val="100000"/>
              <a:buFont typeface="Arial"/>
              <a:buChar char="•"/>
            </a:pPr>
            <a:r>
              <a:rPr sz="1600" b="1" i="0" u="none">
                <a:solidFill>
                  <a:srgbClr val="1F3864"/>
                </a:solidFill>
                <a:latin typeface="Calibri"/>
                <a:ea typeface="Calibri"/>
                <a:cs typeface="Calibri"/>
              </a:rPr>
              <a:t>Thank you!  Questions are welcome.</a:t>
            </a:r>
          </a:p>
          <a:p>
            <a:pPr marL="285750" indent="0" algn="l">
              <a:lnSpc>
                <a:spcPct val="116000"/>
              </a:lnSpc>
              <a:spcBef>
                <a:spcPts val="200"/>
              </a:spcBef>
              <a:spcAft>
                <a:spcPts val="700"/>
              </a:spcAft>
              <a:buNone/>
            </a:pPr>
            <a:r>
              <a:rPr sz="1400" b="0" i="1" u="none">
                <a:solidFill>
                  <a:srgbClr val="595959"/>
                </a:solidFill>
                <a:latin typeface="Calibri"/>
                <a:ea typeface="Calibri"/>
                <a:cs typeface="Calibri"/>
              </a:rPr>
              <a:t>siruihan@ust.hk  ·  Office hours: TBD</a:t>
            </a:r>
          </a:p>
        </p:txBody>
      </p:sp>
      <p:sp>
        <p:nvSpPr>
          <p:cNvPr id="15" name="v2-page-mask-79">
            <a:extLst>
              <a:ext uri="{FF2B5EF4-FFF2-40B4-BE49-F238E27FC236}">
                <a16:creationId xmlns:a16="http://schemas.microsoft.com/office/drawing/2014/main" id="{8791FB5C-4B69-4EF9-BDC9-5AD0DF2B96D2}"/>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6" name="v2-page-79">
            <a:extLst>
              <a:ext uri="{FF2B5EF4-FFF2-40B4-BE49-F238E27FC236}">
                <a16:creationId xmlns:a16="http://schemas.microsoft.com/office/drawing/2014/main" id="{CA678115-50A5-44EF-8E4C-01966B2E94FB}"/>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79</a:t>
            </a:r>
          </a:p>
        </p:txBody>
      </p:sp>
    </p:spTree>
    <p:extLst>
      <p:ext uri="{BB962C8B-B14F-4D97-AF65-F5344CB8AC3E}">
        <p14:creationId xmlns:p14="http://schemas.microsoft.com/office/powerpoint/2010/main" val="530784812"/>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5E8113-4330-E7BF-C2CB-E7876A4E2858}"/>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117C822F-271A-5424-45DC-00BB8D2C9ED7}"/>
              </a:ext>
            </a:extLst>
          </p:cNvPr>
          <p:cNvSpPr>
            <a:spLocks noGrp="1"/>
          </p:cNvSpPr>
          <p:nvPr/>
        </p:nvSpPr>
        <p:spPr>
          <a:xfrm>
            <a:off x="0" y="0"/>
            <a:ext cx="164592" cy="6858000"/>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 name="Rectangle 2">
            <a:extLst>
              <a:ext uri="{FF2B5EF4-FFF2-40B4-BE49-F238E27FC236}">
                <a16:creationId xmlns:a16="http://schemas.microsoft.com/office/drawing/2014/main" id="{6315478A-A4C4-CE5B-5F9E-9C3D9A573384}"/>
              </a:ext>
            </a:extLst>
          </p:cNvPr>
          <p:cNvSpPr>
            <a:spLocks noGrp="1"/>
          </p:cNvSpPr>
          <p:nvPr/>
        </p:nvSpPr>
        <p:spPr>
          <a:xfrm>
            <a:off x="11795760" y="0"/>
            <a:ext cx="393192" cy="6858000"/>
          </a:xfrm>
          <a:prstGeom prst="rect">
            <a:avLst/>
          </a:prstGeom>
          <a:solidFill>
            <a:srgbClr val="DEEAF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 name="Rectangle 3">
            <a:extLst>
              <a:ext uri="{FF2B5EF4-FFF2-40B4-BE49-F238E27FC236}">
                <a16:creationId xmlns:a16="http://schemas.microsoft.com/office/drawing/2014/main" id="{320DA1CB-26ED-B039-C09E-C2C541E483C2}"/>
              </a:ext>
            </a:extLst>
          </p:cNvPr>
          <p:cNvSpPr>
            <a:spLocks noGrp="1"/>
          </p:cNvSpPr>
          <p:nvPr/>
        </p:nvSpPr>
        <p:spPr>
          <a:xfrm>
            <a:off x="11430000" y="411480"/>
            <a:ext cx="274320" cy="1097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5" name="Rectangle 4">
            <a:extLst>
              <a:ext uri="{FF2B5EF4-FFF2-40B4-BE49-F238E27FC236}">
                <a16:creationId xmlns:a16="http://schemas.microsoft.com/office/drawing/2014/main" id="{1BC89110-7180-0291-C5E2-474ED195AA30}"/>
              </a:ext>
            </a:extLst>
          </p:cNvPr>
          <p:cNvSpPr>
            <a:spLocks noGrp="1"/>
          </p:cNvSpPr>
          <p:nvPr/>
        </p:nvSpPr>
        <p:spPr>
          <a:xfrm>
            <a:off x="11430000" y="868680"/>
            <a:ext cx="274320" cy="109728"/>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6" name="Rectangle 5">
            <a:extLst>
              <a:ext uri="{FF2B5EF4-FFF2-40B4-BE49-F238E27FC236}">
                <a16:creationId xmlns:a16="http://schemas.microsoft.com/office/drawing/2014/main" id="{EF1E1892-7EB2-BDB0-EF1F-77A7BDCCDFEB}"/>
              </a:ext>
            </a:extLst>
          </p:cNvPr>
          <p:cNvSpPr>
            <a:spLocks noGrp="1"/>
          </p:cNvSpPr>
          <p:nvPr/>
        </p:nvSpPr>
        <p:spPr>
          <a:xfrm>
            <a:off x="11430000" y="1325880"/>
            <a:ext cx="274320" cy="109728"/>
          </a:xfrm>
          <a:prstGeom prst="rect">
            <a:avLst/>
          </a:prstGeom>
          <a:solidFill>
            <a:srgbClr val="1F3864"/>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7" name="TextBox 6">
            <a:extLst>
              <a:ext uri="{FF2B5EF4-FFF2-40B4-BE49-F238E27FC236}">
                <a16:creationId xmlns:a16="http://schemas.microsoft.com/office/drawing/2014/main" id="{214C35B3-E6A9-60A2-21BF-3C909718B4F7}"/>
              </a:ext>
            </a:extLst>
          </p:cNvPr>
          <p:cNvSpPr>
            <a:spLocks noGrp="1"/>
          </p:cNvSpPr>
          <p:nvPr/>
        </p:nvSpPr>
        <p:spPr>
          <a:xfrm>
            <a:off x="868680" y="566928"/>
            <a:ext cx="10241280" cy="365760"/>
          </a:xfrm>
          <a:prstGeom prst="rect">
            <a:avLst/>
          </a:prstGeom>
          <a:noFill/>
        </p:spPr>
        <p:txBody>
          <a:bodyPr wrap="square">
            <a:spAutoFit/>
          </a:bodyPr>
          <a:lstStyle/>
          <a:p>
            <a:r>
              <a:rPr sz="1400" b="1" dirty="0">
                <a:solidFill>
                  <a:srgbClr val="2E75B6"/>
                </a:solidFill>
                <a:latin typeface="Calibri"/>
                <a:ea typeface="Calibri"/>
                <a:cs typeface="Calibri"/>
              </a:rPr>
              <a:t>HKUST  ·  MSc(AIE) Program  ·  Fall 2026/27</a:t>
            </a:r>
          </a:p>
        </p:txBody>
      </p:sp>
      <p:sp>
        <p:nvSpPr>
          <p:cNvPr id="8" name="Rectangle 7">
            <a:extLst>
              <a:ext uri="{FF2B5EF4-FFF2-40B4-BE49-F238E27FC236}">
                <a16:creationId xmlns:a16="http://schemas.microsoft.com/office/drawing/2014/main" id="{ADCE6B4D-6C4C-6D22-31AB-0C3EDDA25E5B}"/>
              </a:ext>
            </a:extLst>
          </p:cNvPr>
          <p:cNvSpPr>
            <a:spLocks noGrp="1"/>
          </p:cNvSpPr>
          <p:nvPr/>
        </p:nvSpPr>
        <p:spPr>
          <a:xfrm>
            <a:off x="896112" y="969264"/>
            <a:ext cx="3840480" cy="25603"/>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9" name="TextBox 8">
            <a:extLst>
              <a:ext uri="{FF2B5EF4-FFF2-40B4-BE49-F238E27FC236}">
                <a16:creationId xmlns:a16="http://schemas.microsoft.com/office/drawing/2014/main" id="{7D5AB689-E796-C0F6-937B-2B2B4FB66F48}"/>
              </a:ext>
            </a:extLst>
          </p:cNvPr>
          <p:cNvSpPr>
            <a:spLocks noGrp="1"/>
          </p:cNvSpPr>
          <p:nvPr/>
        </p:nvSpPr>
        <p:spPr>
          <a:xfrm>
            <a:off x="3013617" y="2705725"/>
            <a:ext cx="5951406" cy="1446550"/>
          </a:xfrm>
          <a:prstGeom prst="rect">
            <a:avLst/>
          </a:prstGeom>
          <a:noFill/>
        </p:spPr>
        <p:txBody>
          <a:bodyPr wrap="square">
            <a:spAutoFit/>
          </a:bodyPr>
          <a:lstStyle/>
          <a:p>
            <a:pPr algn="ctr"/>
            <a:r>
              <a:rPr lang="en-US" sz="4400" b="1" dirty="0">
                <a:solidFill>
                  <a:srgbClr val="1F3864"/>
                </a:solidFill>
                <a:latin typeface="Georgia"/>
                <a:ea typeface="Georgia"/>
                <a:cs typeface="Georgia"/>
              </a:rPr>
              <a:t>Thank you!</a:t>
            </a:r>
          </a:p>
          <a:p>
            <a:pPr algn="ctr"/>
            <a:r>
              <a:rPr lang="en-US" sz="4400" b="1" dirty="0">
                <a:solidFill>
                  <a:srgbClr val="1F3864"/>
                </a:solidFill>
                <a:latin typeface="Georgia"/>
                <a:ea typeface="Georgia"/>
                <a:cs typeface="Georgia"/>
              </a:rPr>
              <a:t>Q&amp;A</a:t>
            </a:r>
            <a:endParaRPr sz="4400" b="1" dirty="0">
              <a:solidFill>
                <a:srgbClr val="1F3864"/>
              </a:solidFill>
              <a:latin typeface="Georgia"/>
              <a:ea typeface="Georgia"/>
              <a:cs typeface="Georgia"/>
            </a:endParaRPr>
          </a:p>
        </p:txBody>
      </p:sp>
      <p:sp>
        <p:nvSpPr>
          <p:cNvPr id="12" name="TextBox 11">
            <a:extLst>
              <a:ext uri="{FF2B5EF4-FFF2-40B4-BE49-F238E27FC236}">
                <a16:creationId xmlns:a16="http://schemas.microsoft.com/office/drawing/2014/main" id="{2B521E92-1C4A-6DE3-A91F-049BB3AB50EB}"/>
              </a:ext>
            </a:extLst>
          </p:cNvPr>
          <p:cNvSpPr>
            <a:spLocks noGrp="1"/>
          </p:cNvSpPr>
          <p:nvPr/>
        </p:nvSpPr>
        <p:spPr>
          <a:xfrm>
            <a:off x="886968" y="3886200"/>
            <a:ext cx="10058400" cy="1280160"/>
          </a:xfrm>
          <a:prstGeom prst="rect">
            <a:avLst/>
          </a:prstGeom>
          <a:noFill/>
        </p:spPr>
        <p:txBody>
          <a:bodyPr wrap="square">
            <a:spAutoFit/>
          </a:bodyPr>
          <a:lstStyle/>
          <a:p>
            <a:endParaRPr/>
          </a:p>
        </p:txBody>
      </p:sp>
      <p:sp>
        <p:nvSpPr>
          <p:cNvPr id="17" name="v2-page-mask-1">
            <a:extLst>
              <a:ext uri="{FF2B5EF4-FFF2-40B4-BE49-F238E27FC236}">
                <a16:creationId xmlns:a16="http://schemas.microsoft.com/office/drawing/2014/main" id="{254C461C-008E-52FE-AD6C-DF8383CF34D8}"/>
              </a:ext>
            </a:extLst>
          </p:cNvPr>
          <p:cNvSpPr>
            <a:spLocks noGrp="1"/>
          </p:cNvSpPr>
          <p:nvPr/>
        </p:nvSpPr>
        <p:spPr>
          <a:xfrm>
            <a:off x="11049000" y="6267450"/>
            <a:ext cx="904875" cy="457200"/>
          </a:xfrm>
          <a:prstGeom prst="rect">
            <a:avLst/>
          </a:prstGeom>
          <a:solidFill>
            <a:srgbClr val="FFFFFF"/>
          </a:solidFill>
          <a:ln w="0">
            <a:solidFill>
              <a:srgbClr val="FFFFFF"/>
            </a:solidFill>
            <a:prstDash val="solid"/>
          </a:ln>
        </p:spPr>
        <p:txBody>
          <a:bodyPr/>
          <a:lstStyle/>
          <a:p>
            <a:endParaRPr lang="zh-CN" altLang="en-US"/>
          </a:p>
        </p:txBody>
      </p:sp>
      <p:sp>
        <p:nvSpPr>
          <p:cNvPr id="18" name="v2-page-1">
            <a:extLst>
              <a:ext uri="{FF2B5EF4-FFF2-40B4-BE49-F238E27FC236}">
                <a16:creationId xmlns:a16="http://schemas.microsoft.com/office/drawing/2014/main" id="{FAA928D8-C1F5-02F9-93E6-8B623FC2661D}"/>
              </a:ext>
            </a:extLst>
          </p:cNvPr>
          <p:cNvSpPr>
            <a:spLocks noGrp="1"/>
          </p:cNvSpPr>
          <p:nvPr/>
        </p:nvSpPr>
        <p:spPr>
          <a:xfrm>
            <a:off x="11239500" y="6429375"/>
            <a:ext cx="361950" cy="209550"/>
          </a:xfrm>
          <a:prstGeom prst="rect">
            <a:avLst/>
          </a:prstGeom>
          <a:noFill/>
          <a:ln w="0">
            <a:noFill/>
            <a:prstDash val="solid"/>
          </a:ln>
        </p:spPr>
        <p:txBody>
          <a:bodyPr/>
          <a:lstStyle/>
          <a:p>
            <a:pPr algn="r">
              <a:defRPr sz="825">
                <a:solidFill>
                  <a:srgbClr val="5B6670"/>
                </a:solidFill>
              </a:defRPr>
            </a:pPr>
            <a:r>
              <a:rPr sz="825">
                <a:solidFill>
                  <a:srgbClr val="5B6670"/>
                </a:solidFill>
              </a:rPr>
              <a:t>1</a:t>
            </a:r>
          </a:p>
        </p:txBody>
      </p:sp>
    </p:spTree>
    <p:extLst>
      <p:ext uri="{BB962C8B-B14F-4D97-AF65-F5344CB8AC3E}">
        <p14:creationId xmlns:p14="http://schemas.microsoft.com/office/powerpoint/2010/main" val="13817326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TotalTime>
  <Words>13494</Words>
  <Application>Microsoft Macintosh PowerPoint</Application>
  <DocSecurity>0</DocSecurity>
  <PresentationFormat>宽屏</PresentationFormat>
  <Paragraphs>1361</Paragraphs>
  <Slides>80</Slides>
  <Notes>80</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80</vt:i4>
      </vt:variant>
    </vt:vector>
  </HeadingPairs>
  <TitlesOfParts>
    <vt:vector size="84" baseType="lpstr">
      <vt:lpstr>Arial</vt:lpstr>
      <vt:lpstr>Calibri</vt:lpstr>
      <vt:lpstr>Georgia</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ZHANG Yanting</cp:lastModifiedBy>
  <cp:revision>8</cp:revision>
  <dcterms:created xsi:type="dcterms:W3CDTF">2026-09-01T09:29:24Z</dcterms:created>
  <dcterms:modified xsi:type="dcterms:W3CDTF">2026-09-01T10:57:06Z</dcterms:modified>
</cp:coreProperties>
</file>