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35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47" r:id="rId66"/>
    <p:sldId id="321" r:id="rId67"/>
    <p:sldId id="322" r:id="rId68"/>
    <p:sldId id="323" r:id="rId69"/>
    <p:sldId id="324" r:id="rId70"/>
    <p:sldId id="348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49" r:id="rId79"/>
    <p:sldId id="334" r:id="rId80"/>
    <p:sldId id="335" r:id="rId81"/>
    <p:sldId id="336" r:id="rId82"/>
    <p:sldId id="337" r:id="rId83"/>
    <p:sldId id="345" r:id="rId84"/>
    <p:sldId id="346" r:id="rId85"/>
    <p:sldId id="340" r:id="rId86"/>
    <p:sldId id="341" r:id="rId87"/>
    <p:sldId id="342" r:id="rId88"/>
    <p:sldId id="343" r:id="rId89"/>
    <p:sldId id="344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76043"/>
  </p:normalViewPr>
  <p:slideViewPr>
    <p:cSldViewPr snapToGrid="0">
      <p:cViewPr varScale="1">
        <p:scale>
          <a:sx n="97" d="100"/>
          <a:sy n="97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Course details and framing adapted from the supplied Lecture 2 deck.</a:t>
            </a:r>
          </a:p>
          <a:p>
            <a:endParaRPr/>
          </a:p>
          <a:p>
            <a:r>
              <a:t>[Image credits]</a:t>
            </a:r>
          </a:p>
          <a:p>
            <a:r>
              <a:t>- Unsplash, photo by Growtika: https://unsplash.com/photos/1644088379091-d574269d422f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Learning objectives adapted from the supplied Lecture 2 deck and the expanded lecture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Roadmap adapted from the user's expanded 89-slide lecture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  <a:p>
            <a:r>
              <a:t>- Dignum, V. (2019). Responsible Artificial Intelligence.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framing adapted from the user's lecture plan.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Vladimír Stránský: https://www.pexels.com/photo/city-surveillance-cameras-18693311/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Content adapted from the supplied MAIE5103 Lecture 2 Part 1 deck.</a:t>
            </a:r>
          </a:p>
          <a:p>
            <a:endParaRPr/>
          </a:p>
          <a:p>
            <a:r>
              <a:t>[Image credits]</a:t>
            </a:r>
          </a:p>
          <a:p>
            <a:r>
              <a:t>- Roadmap background generated with OpenAI image generation for this replacement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Coeckelbergh, M. (2020). AI Ethics. MIT Press, chapter on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Warren, S. D., &amp; Brandeis, L. D. (1890). The Right to Privacy: https://www.brandeis.edu/library/archives/exhibits/ldb-100/career/privacy.shtml</a:t>
            </a:r>
          </a:p>
          <a:p>
            <a:r>
              <a:t>- Westin, A. F. (1967). Privacy and Freedom. Atheneum.</a:t>
            </a:r>
          </a:p>
          <a:p>
            <a:r>
              <a:t>- EU Charter of Fundamental Rights, Articles 7 and 8: https://eur-lex.europa.eu/legal-content/EN/TXT/?uri=CELEX:12012P/TXT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Westin, A. F. (1967). Privacy and Freedom. Atheneum.</a:t>
            </a:r>
          </a:p>
          <a:p>
            <a:r>
              <a:t>- Coeckelbergh, M. (2020). AI Ethics.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Dignum, V. (2019). Responsible Artificial Intelligence. Springer.</a:t>
            </a:r>
          </a:p>
          <a:p>
            <a:r>
              <a:t>- O'Neil, C. (2016). Weapons of Math Destruction. Crown.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Regulation (EU) 2016/679, Article 4(1): https://eur-lex.europa.eu/eli/reg/2016/679/oj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Regulation (EU) 2016/679, Article 9 and Recital 51: https://eur-lex.europa.eu/eli/reg/2016/679/oj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Regulation (EU) 2016/679, Article 4(5) and Recital 26: https://eur-lex.europa.eu/eli/reg/2016/679/oj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Dignum, V. (2019). Responsible Artificial Intelligence. Springer.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Nissenbaum, H. (2004). Privacy as Contextual Integrity. Washington Law Review 79: https://nissenbaum.tech.cornell.edu/papers/H.%20Nissenbaum%2C%20_Privacy%20as%20Contextual%20Integrity.pdf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Nissenbaum, H. (2004). Privacy as Contextual Integrity: https://digitalcommons.law.uw.edu/wlr/vol79/iss1/10/</a:t>
            </a:r>
          </a:p>
          <a:p>
            <a:r>
              <a:t>- Case references from the supplied Lecture 2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Zuboff, S. (2019). The Age of Surveillance Capitalism. PublicAffairs.</a:t>
            </a:r>
          </a:p>
          <a:p>
            <a:endParaRPr/>
          </a:p>
          <a:p>
            <a:r>
              <a:t>[Image credits]</a:t>
            </a:r>
          </a:p>
          <a:p>
            <a:r>
              <a:t>- Unsplash, photo by imgix: https://unsplash.com/photos/server-racks-in-data-center-klWUhr-wPJ8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O'Neil, C. (2016). Weapons of Math Destruction. Crown.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Regulation (EU) 2016/679, Articles 4(11), 7, and Recital 42: https://eur-lex.europa.eu/eli/reg/2016/679/oj</a:t>
            </a:r>
          </a:p>
          <a:p>
            <a:r>
              <a:t>- Solove, D. J. (2013). Privacy Self-Management and the Consent Dilemma. Harvard Law Review 126.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Solove, D. J. (2013). Privacy Self-Management and the Consent Dilemma. Harvard Law Review 126.</a:t>
            </a:r>
          </a:p>
          <a:p>
            <a:r>
              <a:t>- Regulation (EU) 2016/679, Article 7: https://eur-lex.europa.eu/eli/reg/2016/679/oj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Solove, D. J. (2006). A Taxonomy of Privacy. University of Pennsylvania Law Review 154(3): https://pennlawreview.com/2020/04/28/a-taxonomy-of-privacy/</a:t>
            </a:r>
          </a:p>
          <a:p>
            <a:r>
              <a:t>- Case mappings are teaching applications based on the supplied Lecture 2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Taylor, L., Floridi, L., &amp; van der Sloot, B. (eds.) (2017). Group Privacy. Springer.</a:t>
            </a:r>
          </a:p>
          <a:p>
            <a:r>
              <a:t>- Coeckelbergh, M. (2020). AI Ethics.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Eubanks, V. (2018). Automating Inequality: How High-Tech Tools Profile, Police, and Punish the Poor. St. Martin's Press.</a:t>
            </a:r>
          </a:p>
          <a:p>
            <a:endParaRPr/>
          </a:p>
          <a:p>
            <a:r>
              <a:t>[Image credits]</a:t>
            </a:r>
          </a:p>
          <a:p>
            <a:r>
              <a:t>- Unsplash, photo by Jadon Johnson: https://unsplash.com/photos/a-group-of-people-waiting-outside-a-building-wJDUVwhd-2k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Eubanks, V. (2018). Automating Inequality. St. Martin's Press, chapters on Indiana welfare automation, Allegheny County, and Los Angeles homelessness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Eubanks, V. (2018). Automating Inequality. St. Martin's Press.</a:t>
            </a:r>
          </a:p>
          <a:p>
            <a:r>
              <a:t>- Solove, D. J. (2006). A Taxonomy of Privacy: https://pennlawreview.com/2020/04/28/a-taxonomy-of-privacy/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O'Neil, C. (2016). Weapons of Math Destruction. Crown.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O'Neil, C. (2016). Weapons of Math Destruction. Crown.</a:t>
            </a:r>
          </a:p>
          <a:p>
            <a:r>
              <a:t>- Regulation (EU) 2016/679, Article 9: https://eur-lex.europa.eu/eli/reg/2016/679/oj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OECD Guidelines on the Protection of Privacy and Transborder Flows of Personal Data: https://legalinstruments.oecd.org/public/doc/114/body-text.en.html</a:t>
            </a:r>
          </a:p>
          <a:p>
            <a:r>
              <a:t>- OECD (2002), Privacy Guidelines: https://doi.org/10.1787/9789264196391-en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OECD Privacy Guidelines: https://legalinstruments.oecd.org/public/doc/114/body-text.en.html</a:t>
            </a:r>
          </a:p>
          <a:p>
            <a:r>
              <a:t>- Directive 95/46/EC: https://eur-lex.europa.eu/legal-content/EN/TXT/?uri=CELEX:31995L0046</a:t>
            </a:r>
          </a:p>
          <a:p>
            <a:r>
              <a:t>- Regulation (EU) 2016/679: https://eur-lex.europa.eu/eli/reg/2016/679/oj</a:t>
            </a:r>
          </a:p>
          <a:p>
            <a:r>
              <a:t>- European Commission, EU AI Act: https://digital-strategy.ec.europa.eu/en/policies/regulatory-framework-ai</a:t>
            </a:r>
          </a:p>
          <a:p>
            <a:r>
              <a:t>- European Data Protection Board, Opinion 28/2024: https://www.edpb.europa.eu/documents/opinion-of-the-board-art-64/opinion-282024-on-certain-data-protection-aspects-related-to_en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Reflection prompt adapted from the user's lecture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Transition structure adapted from the supplied Lecture 2 deck and expanded lecture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Definitions synthesise Regulation (EU) 2016/679, Nissenbaum (2004), Zuboff (2019), O'Neil (2016), and Eubanks (2018).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framing adapted from the user's lecture plan.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Mads Thomsen: https://www.pexels.com/photo/cctv-camera-on-a-post-outside-a-building-3714318/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content adapted from the supplied Lecture 2 deck.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dogadakisakal: https://www.pexels.com/photo/people-walking-on-street-13362900/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Facial recognition: 20 million euro penalty against Clearview AI: https://www.cnil.fr/en/facial-recognition-20-million-euro-penalty-against-clearview-ai</a:t>
            </a:r>
          </a:p>
          <a:p>
            <a:r>
              <a:t>- ICO, UK Upper Tribunal judgment on Clearview AI, 8 October 2025: https://ico.org.uk/about-the-ico/media-centre/news-and-blogs/2025/10/uk-upper-tribunal-hands-down-judgment-on-clearview-ai-inc/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Clearview AI penalty: https://www.cnil.fr/en/facial-recognition-20-million-euro-penalty-against-clearview-ai</a:t>
            </a:r>
          </a:p>
          <a:p>
            <a:r>
              <a:t>- ICO, Clearview AI judgment update: https://ico.org.uk/about-the-ico/media-centre/news-and-blogs/2025/10/uk-upper-tribunal-hands-down-judgment-on-clearview-ai-inc/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cottonbro studio: https://www.pexels.com/photo/side-view-photo-of-man-8090303/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Clearview AI penalty: https://www.cnil.fr/en/facial-recognition-20-million-euro-penalty-against-clearview-ai</a:t>
            </a:r>
          </a:p>
          <a:p>
            <a:r>
              <a:t>- Nissenbaum, H. (2004). Privacy as Contextual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Clearview AI penalty: https://www.cnil.fr/en/facial-recognition-20-million-euro-penalty-against-clearview-ai</a:t>
            </a:r>
          </a:p>
          <a:p>
            <a:r>
              <a:t>- ICO, Clearview AI judgment update: https://ico.org.uk/about-the-ico/media-centre/news-and-blogs/2025/10/uk-upper-tribunal-hands-down-judgment-on-clearview-ai-inc/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20 October 2022: https://www.cnil.fr/en/facial-recognition-20-million-euro-penalty-against-clearview-ai</a:t>
            </a:r>
          </a:p>
          <a:p>
            <a:r>
              <a:t>- ICO, 8 October 2025; updated 19 December 2025: https://ico.org.uk/about-the-ico/media-centre/news-and-blogs/2025/10/uk-upper-tribunal-hands-down-judgment-on-clearview-ai-inc/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content adapted from the supplied Lecture 2 deck.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Tang: https://www.pexels.com/photo/people-in-a-grocery-store-5380919/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Rite Aid facial recognition press release, 19 December 2023: https://www.ftc.gov/news-events/news/press-releases/2023/12/rite-aid-banned-using-ai-facial-recognition-after-ftc-says-retailer-deployed-technology-without</a:t>
            </a:r>
          </a:p>
          <a:p>
            <a:r>
              <a:t>- FTC, Rite Aid matter and orders: https://www.ftc.gov/legal-library/browse/cases-proceedings/2023190-rite-aid-corporation-ftc-v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Rite Aid facial recognition press release: https://www.ftc.gov/news-events/news/press-releases/2023/12/rite-aid-banned-using-ai-facial-recognition-after-ftc-says-retailer-deployed-technology-without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Rite Aid facial recognition press release: https://www.ftc.gov/news-events/news/press-releases/2023/12/rite-aid-banned-using-ai-facial-recognition-after-ftc-says-retailer-deployed-technology-without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cottonbro studio: https://www.pexels.com/photo/photo-of-woman-being-examined-8090126/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Rite Aid facial recognition press release: https://www.ftc.gov/news-events/news/press-releases/2023/12/rite-aid-banned-using-ai-facial-recognition-after-ftc-says-retailer-deployed-technology-without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Rite Aid facial recognition press release: https://www.ftc.gov/news-events/news/press-releases/2023/12/rite-aid-banned-using-ai-facial-recognition-after-ftc-says-retailer-deployed-technology-without</a:t>
            </a:r>
          </a:p>
          <a:p>
            <a:r>
              <a:t>- FTC, Modified Decision and Order: https://www.ftc.gov/system/files/ftc_gov/pdf/c4308riteaidmodifiedorder.pdf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content adapted from the supplied Lecture 2 deck.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Polina Zimmerman: https://www.pexels.com/photo/therapist-taking-notes-3958401/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BetterHelp final order, 14 July 2023: https://www.ftc.gov/news-events/news/press-releases/2023/07/ftc-gives-final-approval-order-banning-betterhelp-sharing-sensitive-health-data-advertising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BetterHelp final order: https://www.ftc.gov/news-events/news/press-releases/2023/07/ftc-gives-final-approval-order-banning-betterhelp-sharing-sensitive-health-data-advertising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BetterHelp final order: https://www.ftc.gov/news-events/news/press-releases/2023/07/ftc-gives-final-approval-order-banning-betterhelp-sharing-sensitive-health-data-advertising</a:t>
            </a:r>
          </a:p>
          <a:p>
            <a:r>
              <a:t>- Nissenbaum, H. (2004). Privacy as Contextual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BetterHelp final order: https://www.ftc.gov/news-events/news/press-releases/2023/07/ftc-gives-final-approval-order-banning-betterhelp-sharing-sensitive-health-data-advertising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FTC, BetterHelp final order: https://www.ftc.gov/news-events/news/press-releases/2023/07/ftc-gives-final-approval-order-banning-betterhelp-sharing-sensitive-health-data-advertising</a:t>
            </a:r>
          </a:p>
          <a:p>
            <a:r>
              <a:t>- FTC, BetterHelp refund notices, May 2024: https://www.ftc.gov/news-events/news/press-releases/2024/05/betterhelp-customers-will-begin-receiving-notices-about-refunds-related-2023-privacy-settlement-ftc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content adapted from the supplied Lecture 2 deck.</a:t>
            </a:r>
          </a:p>
          <a:p>
            <a:endParaRPr/>
          </a:p>
          <a:p>
            <a:r>
              <a:t>[Image credits]</a:t>
            </a:r>
          </a:p>
          <a:p>
            <a:r>
              <a:t>- Pexels, photo by Beyzaa Yurtkuran: https://www.pexels.com/photo/chatgpt-a-chatbot-for-your-website-16245254/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Italian Garante, measures concerning ChatGPT, 30 March 2023: https://www.garanteprivacy.it/web/garante-privacy-en/home/docweb/-/docweb-display/docweb/9870847</a:t>
            </a:r>
          </a:p>
          <a:p>
            <a:r>
              <a:t>- EDPB, ChatGPT Taskforce report, 24 May 2024: https://www.edpb.europa.eu/documents/task-force-report/report-of-the-work-undertaken-by-the-chatgpt-taskforce_en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Italian Garante, ChatGPT measures: https://www.garanteprivacy.it/web/garante-privacy-en/home/docweb/-/docweb-display/docweb/9870847</a:t>
            </a:r>
          </a:p>
          <a:p>
            <a:r>
              <a:t>- EDPB, ChatGPT Taskforce report: https://www.edpb.europa.eu/documents/task-force-report/report-of-the-work-undertaken-by-the-chatgpt-taskforce_en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EDPB, ChatGPT Taskforce report: https://www.edpb.europa.eu/documents/task-force-report/report-of-the-work-undertaken-by-the-chatgpt-taskforce_en</a:t>
            </a:r>
          </a:p>
          <a:p>
            <a:r>
              <a:t>- GDPR Articles 5, 6, 12-17, 21, and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Italian Garante, ChatGPT measures: https://www.garanteprivacy.it/web/garante-privacy-en/home/docweb/-/docweb-display/docweb/9870847</a:t>
            </a:r>
          </a:p>
          <a:p>
            <a:r>
              <a:t>- EDPB, ChatGPT Taskforce report: https://www.edpb.europa.eu/documents/task-force-report/report-of-the-work-undertaken-by-the-chatgpt-taskforce_en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Italian Garante, 20 December 2024; page updated after judgment No. 4153/2026: https://www.garanteprivacy.it/home/docweb/-/docweb-display/docweb/10085432</a:t>
            </a:r>
          </a:p>
          <a:p>
            <a:r>
              <a:t>- EDPB, ChatGPT Taskforce report: https://www.edpb.europa.eu/documents/task-force-report/report-of-the-work-undertaken-by-the-chatgpt-taskforce_en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Clearview AI: https://www.cnil.fr/en/facial-recognition-20-million-euro-penalty-against-clearview-ai</a:t>
            </a:r>
          </a:p>
          <a:p>
            <a:r>
              <a:t>- FTC, Rite Aid: https://www.ftc.gov/news-events/news/press-releases/2023/12/rite-aid-banned-using-ai-facial-recognition-after-ftc-says-retailer-deployed-technology-without</a:t>
            </a:r>
          </a:p>
          <a:p>
            <a:r>
              <a:t>- FTC, BetterHelp: https://www.ftc.gov/news-events/news/press-releases/2023/07/ftc-gives-final-approval-order-banning-betterhelp-sharing-sensitive-health-data-advertising</a:t>
            </a:r>
          </a:p>
          <a:p>
            <a:r>
              <a:t>- EDPB, ChatGPT Taskforce: https://www.edpb.europa.eu/documents/task-force-report/report-of-the-work-undertaken-by-the-chatgpt-taskforce_en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EDPB Opinion 28/2024 on AI models: https://www.edpb.europa.eu/documents/opinion-of-the-board-art-64/opinion-282024-on-certain-data-protection-aspects-related-to_en</a:t>
            </a:r>
          </a:p>
          <a:p>
            <a:r>
              <a:t>- Dignum, V. (2019). Responsible Artificial Intelligence.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CNIL, Clearview AI: https://www.cnil.fr/en/facial-recognition-20-million-euro-penalty-against-clearview-ai</a:t>
            </a:r>
          </a:p>
          <a:p>
            <a:r>
              <a:t>- ICO, Clearview AI judgment update: https://ico.org.uk/about-the-ico/media-centre/news-and-blogs/2025/10/uk-upper-tribunal-hands-down-judgment-on-clearview-ai-inc/</a:t>
            </a:r>
          </a:p>
          <a:p>
            <a:r>
              <a:t>- FTC, Rite Aid: https://www.ftc.gov/news-events/news/press-releases/2023/12/rite-aid-banned-using-ai-facial-recognition-after-ftc-says-retailer-deployed-technology-without</a:t>
            </a:r>
          </a:p>
          <a:p>
            <a:r>
              <a:t>- FTC, BetterHelp: https://www.ftc.gov/news-events/news/press-releases/2023/07/ftc-gives-final-approval-order-banning-betterhelp-sharing-sensitive-health-data-advertising</a:t>
            </a:r>
          </a:p>
          <a:p>
            <a:r>
              <a:t>- Italian Garante, ChatGPT decision update: https://www.garanteprivacy.it/home/docweb/-/docweb-display/docweb/10085432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Reflection prompt adapted from the user's expanded lecture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Section structure follows the user's expanded Lecture 2 plan.</a:t>
            </a:r>
          </a:p>
          <a:p>
            <a:endParaRPr/>
          </a:p>
          <a:p>
            <a:r>
              <a:t>[Image credits]</a:t>
            </a:r>
          </a:p>
          <a:p>
            <a:r>
              <a:t>- Image generated for this deck with OpenAI image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ICO, Data protection principles: https://ico.org.uk/for-organisations/uk-gdpr-guidance-and-resources/data-protection-principles/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EDPB, Opinion 28/2024 on AI models: https://www.edpb.europa.eu/documents/opinion-of-the-board-art-64/opinion-282024-on-certain-data-protection-aspects-related-to_en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 Chapter III, Rights of the data subject, Articles 12–22: https://eur-lex.europa.eu/eli/reg/2016/679/oj</a:t>
            </a:r>
          </a:p>
          <a:p>
            <a:r>
              <a:t>- ICO, A guide to individual rights: https://ico.org.uk/for-organisations/uk-gdpr-guidance-and-resources/individual-rights/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EDPB, Opinion 28/2024 on AI models: https://www.edpb.europa.eu/documents/opinion-of-the-board-art-64/opinion-282024-on-certain-data-protection-aspects-related-to_en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ICO, Individual rights guidance: https://ico.org.uk/for-organisations/uk-gdpr-guidance-and-resources/individual-rights/</a:t>
            </a:r>
          </a:p>
          <a:p>
            <a:r>
              <a:t>- FTC, Rite Aid facial recognition order: https://www.ftc.gov/news-events/news/press-releases/2023/12/rite-aid-banned-using-ai-facial-recognition-after-ftc-says-retailer-deployed-technology-without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EDPB, Opinion 28/2024 on AI models: https://www.edpb.europa.eu/documents/opinion-of-the-board-art-64/opinion-282024-on-certain-data-protection-aspects-related-to_en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EDPB, Opinion 28/2024 on AI models: https://www.edpb.europa.eu/documents/opinion-of-the-board-art-64/opinion-282024-on-certain-data-protection-aspects-related-to_en</a:t>
            </a:r>
          </a:p>
          <a:p>
            <a:r>
              <a:t>- ICO, A guide to lawful basis: https://ico.org.uk/for-organisations/uk-gdpr-guidance-and-resources/lawful-basis/a-guide-to-lawful-basis/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Information and Privacy Commissioner of Ontario, Privacy by Design: The 7 Foundational Principles: https://www.ipc.on.ca/en/resources-and-decisions/privacy-by-design/</a:t>
            </a:r>
          </a:p>
          <a:p>
            <a:r>
              <a:t>- GDPR Article 25, data protection by design and by default: https://eur-lex.europa.eu/eli/reg/2016/679/art_25/oj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Information and Privacy Commissioner of Ontario, Privacy by Design: The 7 Foundational Principles: https://www.ipc.on.ca/en/media/1195/download?attachment=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  <a:p>
            <a:r>
              <a:t>- Dignum, V. (2019), Responsible Artificial Intelligence, Springer.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Dwork, C. (2006), Differential Privacy: https://www.microsoft.com/en-us/research/publication/differential-privacy/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McMahan et al. (2017), Communication-Efficient Learning of Deep Networks from Decentralized Data: https://arxiv.org/abs/1602.05629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ICO, What is a DPIA?: https://ico.org.uk/for-organisations/uk-gdpr-guidance-and-resources/accountability-and-governance/data-protection-impact-assessments-dpias/what-is-a-dpia/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 Article 35, Data protection impact assessment: https://eur-lex.europa.eu/eli/reg/2016/679/art_35/oj</a:t>
            </a:r>
          </a:p>
          <a:p>
            <a:r>
              <a:t>- ICO, What is a DPIA?: https://ico.org.uk/for-organisations/uk-gdpr-guidance-and-resources/accountability-and-governance/data-protection-impact-assessments-dpias/what-is-a-dpia/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884500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European Commission, AI Act regulatory framework and implementation timeline, updated 2026: https://digital-strategy.ec.europa.eu/en/policies/regulatory-framework-ai</a:t>
            </a:r>
          </a:p>
          <a:p>
            <a:r>
              <a:t>- European Commission, Enforcement framework of the AI Act: https://digital-strategy.ec.europa.eu/en/policies/enforcement-ai-act</a:t>
            </a:r>
          </a:p>
          <a:p>
            <a:r>
              <a:t>- GDPR, Regulation (EU) 2016/679: https://eur-lex.europa.eu/eli/reg/2016/679/oj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European Commission, AI Act regulatory framework and implementation timeline, updated 2026: https://digital-strategy.ec.europa.eu/en/policies/regulatory-framework-ai</a:t>
            </a:r>
          </a:p>
          <a:p>
            <a:r>
              <a:t>- FTC Act Section 5: https://www.ftc.gov/legal-library/browse/statutes/federal-trade-commission-act</a:t>
            </a:r>
          </a:p>
          <a:p>
            <a:r>
              <a:t>- Personal Information Protection Law of the People's Republic of China, official English translation: https://en.spp.gov.cn/2021-12/29/c_948419_2.htm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Dignum, V. (2019), Responsible Artificial Intelligence, Springer.</a:t>
            </a:r>
          </a:p>
          <a:p>
            <a:r>
              <a:t>- Dignum, V. (2018), Ethics in artificial intelligence: introduction to the special issue, Ethics and Information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Eubanks, V. (2018), Automating Inequality, St. Martin's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 synthesis based on GDPR principles and rights: https://eur-lex.europa.eu/eli/reg/2016/679/oj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Activity structure adapted from the supplied Lecture 2 Part 3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Dignum, V. (2019), Responsible Artificial Intelligence.</a:t>
            </a:r>
          </a:p>
          <a:p>
            <a:r>
              <a:t>- Coeckelbergh, M. (2020), AI Ethics,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Information and Privacy Commissioner of Ontario, Privacy by Design: The 7 Foundational Principles: https://www.ipc.on.ca/en/media/1195/download?attachment=</a:t>
            </a:r>
          </a:p>
          <a:p>
            <a:r>
              <a:t>- ICO, Guidance on AI and data protection: https://ico.org.uk/for-organisations/uk-gdpr-guidance-and-resources/artificial-intelligence/guidance-on-ai-and-data-protection/</a:t>
            </a:r>
          </a:p>
          <a:p>
            <a:r>
              <a:t>- Eubanks, V. (2018), Automating Inequality.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GDPR, Regulation (EU) 2016/679: https://eur-lex.europa.eu/eli/reg/2016/679/oj</a:t>
            </a:r>
          </a:p>
          <a:p>
            <a:r>
              <a:t>- EDPB, Opinion 28/2024 on AI models: https://www.edpb.europa.eu/documents/opinion-of-the-board-art-64/opinion-282024-on-certain-data-protection-aspects-related-to_en</a:t>
            </a:r>
          </a:p>
          <a:p>
            <a:r>
              <a:t>- Information and Privacy Commissioner of Ontario, Privacy by Design: The 7 Foundational Principles: https://www.ipc.on.ca/en/media/1195/download?attachment=</a:t>
            </a:r>
          </a:p>
          <a:p>
            <a:r>
              <a:t>- OECD (2025), Sharing trustworthy AI models with privacy-enhancing technologies: https://www.oecd.org/en/publications/sharing-trustworthy-ai-models-with-privacy-enhancing-technologies_a266160b-en.html</a:t>
            </a:r>
          </a:p>
          <a:p>
            <a:r>
              <a:t>- Dignum, V. (2019); Coeckelbergh, M. (2020); Eubanks, V. (2018); O'Neil, C. (2016).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Reading and contact details supplied in the user's expanded Lecture 2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Closing slide follows the user's expanded Lecture 2 plan.</a:t>
            </a:r>
          </a:p>
          <a:p>
            <a:endParaRPr/>
          </a:p>
          <a:p>
            <a:r>
              <a:t>[Image credits]</a:t>
            </a:r>
          </a:p>
          <a:p>
            <a:r>
              <a:t>- Image generated for this deck with OpenAI image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1984" r="21984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8E6121A-A18C-4BCF-A26D-2272605295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D65A98-71AB-4578-8C03-EDF762CA024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300" b="1" i="0" dirty="0">
                <a:solidFill>
                  <a:srgbClr val="9EC8E8"/>
                </a:solidFill>
                <a:latin typeface="Arial"/>
                <a:ea typeface="Arial"/>
                <a:cs typeface="Arial"/>
              </a:rPr>
              <a:t>HKUST · Fall 2026/27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32A731-CD91-4FC2-ACFA-D44AE68C8DD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Lecture 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9A1F43-3B27-45DE-83EF-F4B364D07699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762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and</a:t>
            </a:r>
          </a:p>
          <a:p>
            <a:pPr algn="l">
              <a:lnSpc>
                <a:spcPct val="94000"/>
              </a:lnSpc>
              <a:buNone/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8D7812-2280-4800-843B-B3CDF0D126B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D06DBA-AB4E-4E53-8FEB-7E520BE74798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Instructor: HAN, Sirui</a:t>
            </a:r>
          </a:p>
          <a:p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Case-based lecture · 2026/27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29F6989-2FEC-4F1A-8905-A4B79E313963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4238625" cy="552450"/>
          </a:xfrm>
          <a:prstGeom prst="roundRect">
            <a:avLst>
              <a:gd name="adj" fmla="val 20690"/>
            </a:avLst>
          </a:prstGeom>
          <a:solidFill>
            <a:srgbClr val="E6F0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D560CD-4030-4309-83E4-12BB3A674DCD}"/>
              </a:ext>
            </a:extLst>
          </p:cNvPr>
          <p:cNvSpPr>
            <a:spLocks noGrp="1"/>
          </p:cNvSpPr>
          <p:nvPr/>
        </p:nvSpPr>
        <p:spPr>
          <a:xfrm>
            <a:off x="857250" y="57435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concerns who may collect, infer, use, and contest personal data.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0C74F6-5C58-43F3-A452-895B762C5DA4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597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D4E694F-7BA4-459D-84ED-8F8209838D2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LECTURE OVERVIEW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DB635F-574B-4B5B-91EF-7598FBD458C1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Learning objectives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7918694-7931-4723-B6CD-D0D20A774CE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574532-7C84-4FC7-9708-5249743BC4E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983C93E-17D0-4970-904B-DB4977269B3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3EC590-1CD2-4B51-9B1C-94235ECB2D3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session links data flows to human consequences, governance, and design.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BDDE22-8D57-490F-803C-780FD9ED642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208ECD-9E9E-4006-85AC-CE0653614DC1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6EBB7C-F8CA-46BF-AB2A-D110C071F371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By the end of this session, you should be able to: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C1788DF-CE6B-4CFA-A56B-82F00D382D8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5410200" cy="1752600"/>
          </a:xfrm>
          <a:prstGeom prst="roundRect">
            <a:avLst>
              <a:gd name="adj" fmla="val 8696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8250DB-7738-435A-B47C-104D3A99F474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73F7D-D13B-4C0A-B6F8-8262DB030A8B}"/>
              </a:ext>
            </a:extLst>
          </p:cNvPr>
          <p:cNvSpPr>
            <a:spLocks noGrp="1"/>
          </p:cNvSpPr>
          <p:nvPr/>
        </p:nvSpPr>
        <p:spPr>
          <a:xfrm>
            <a:off x="1428750" y="17716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2C631E-F5BA-45F4-80D3-6F4F0ACEB12A}"/>
              </a:ext>
            </a:extLst>
          </p:cNvPr>
          <p:cNvSpPr>
            <a:spLocks noGrp="1"/>
          </p:cNvSpPr>
          <p:nvPr/>
        </p:nvSpPr>
        <p:spPr>
          <a:xfrm>
            <a:off x="1428750" y="2266950"/>
            <a:ext cx="4171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Follow personal data from collection through inference, decisions, and retention.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078ACD3-5915-44B3-A511-CB472C94B61C}"/>
              </a:ext>
            </a:extLst>
          </p:cNvPr>
          <p:cNvSpPr>
            <a:spLocks noGrp="1"/>
          </p:cNvSpPr>
          <p:nvPr/>
        </p:nvSpPr>
        <p:spPr>
          <a:xfrm>
            <a:off x="6229350" y="1562100"/>
            <a:ext cx="5410200" cy="1752600"/>
          </a:xfrm>
          <a:prstGeom prst="roundRect">
            <a:avLst>
              <a:gd name="adj" fmla="val 8696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50F885-6189-49E2-9741-3C945E4499FE}"/>
              </a:ext>
            </a:extLst>
          </p:cNvPr>
          <p:cNvSpPr>
            <a:spLocks noGrp="1"/>
          </p:cNvSpPr>
          <p:nvPr/>
        </p:nvSpPr>
        <p:spPr>
          <a:xfrm>
            <a:off x="6419850" y="17716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4DB6EB-98DB-48AC-96C9-33324797288E}"/>
              </a:ext>
            </a:extLst>
          </p:cNvPr>
          <p:cNvSpPr>
            <a:spLocks noGrp="1"/>
          </p:cNvSpPr>
          <p:nvPr/>
        </p:nvSpPr>
        <p:spPr>
          <a:xfrm>
            <a:off x="7105650" y="17716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009AD7-7079-4629-9C30-395F9BEF97B4}"/>
              </a:ext>
            </a:extLst>
          </p:cNvPr>
          <p:cNvSpPr>
            <a:spLocks noGrp="1"/>
          </p:cNvSpPr>
          <p:nvPr/>
        </p:nvSpPr>
        <p:spPr>
          <a:xfrm>
            <a:off x="7105650" y="2266950"/>
            <a:ext cx="4171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 concepts such as purpose limitation, contextual integrity, and minimisation.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3A85420-2BD1-46DA-836F-5DD69993468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5410200" cy="1752600"/>
          </a:xfrm>
          <a:prstGeom prst="roundRect">
            <a:avLst>
              <a:gd name="adj" fmla="val 8696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4483C0-2E85-4766-8B72-78ECAE52B7E7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ADE68C-0D3A-4691-9927-362D40C7A0DC}"/>
              </a:ext>
            </a:extLst>
          </p:cNvPr>
          <p:cNvSpPr>
            <a:spLocks noGrp="1"/>
          </p:cNvSpPr>
          <p:nvPr/>
        </p:nvSpPr>
        <p:spPr>
          <a:xfrm>
            <a:off x="1428750" y="39433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2EABB8-FC04-4EF7-9081-72DB5C02DC15}"/>
              </a:ext>
            </a:extLst>
          </p:cNvPr>
          <p:cNvSpPr>
            <a:spLocks noGrp="1"/>
          </p:cNvSpPr>
          <p:nvPr/>
        </p:nvSpPr>
        <p:spPr>
          <a:xfrm>
            <a:off x="1428750" y="4438650"/>
            <a:ext cx="4171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Assess privacy harms, power asymmetries, safeguards, and available remedies.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B12BFC4-4D41-49D8-AFD6-A1F727F1A1F2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5410200" cy="1752600"/>
          </a:xfrm>
          <a:prstGeom prst="roundRect">
            <a:avLst>
              <a:gd name="adj" fmla="val 8696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65CAC9-29CB-4909-A673-CFDA76BF017F}"/>
              </a:ext>
            </a:extLst>
          </p:cNvPr>
          <p:cNvSpPr>
            <a:spLocks noGrp="1"/>
          </p:cNvSpPr>
          <p:nvPr/>
        </p:nvSpPr>
        <p:spPr>
          <a:xfrm>
            <a:off x="6419850" y="39433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7FB653-DB93-4FED-8B1A-6DAA51502D50}"/>
              </a:ext>
            </a:extLst>
          </p:cNvPr>
          <p:cNvSpPr>
            <a:spLocks noGrp="1"/>
          </p:cNvSpPr>
          <p:nvPr/>
        </p:nvSpPr>
        <p:spPr>
          <a:xfrm>
            <a:off x="7105650" y="39433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B78FE9B-B0C5-43FF-B73B-0611D8ECF47B}"/>
              </a:ext>
            </a:extLst>
          </p:cNvPr>
          <p:cNvSpPr>
            <a:spLocks noGrp="1"/>
          </p:cNvSpPr>
          <p:nvPr/>
        </p:nvSpPr>
        <p:spPr>
          <a:xfrm>
            <a:off x="7105650" y="4438650"/>
            <a:ext cx="4171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Propose privacy controls that combine engineering, rights,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4648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4D3CE13F-CBDC-45E3-A95F-6F1A35650F6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LECTURE OVERVIEW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3670F-14A2-4746-B8D4-B428E180164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Lecture roadmap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23E64A5-BBE9-4CE4-843B-A58D32161E9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271EA0-96D1-4C83-B2EC-8530F23841F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530916C-8D49-4B3C-AB55-E2995F72D4C7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970E7A-E0D7-4FE7-814E-6D0D03232D4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lecture moves from concepts to cases, then to governance and design.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595CFA-D7B4-463F-8177-A3B603EE4E0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119554-0014-4C3F-8D07-79F91B44DAE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CE72A1D-78F9-4AD9-87CC-53808773D048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461605-D802-497D-B5E2-24A5DE1437AD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7A1994-1276-43EF-B1DD-8D4B2067BFF7}"/>
              </a:ext>
            </a:extLst>
          </p:cNvPr>
          <p:cNvSpPr>
            <a:spLocks noGrp="1"/>
          </p:cNvSpPr>
          <p:nvPr/>
        </p:nvSpPr>
        <p:spPr>
          <a:xfrm>
            <a:off x="1238250" y="12192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concepts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5C9896-02A7-4103-930D-6B3A857710D5}"/>
              </a:ext>
            </a:extLst>
          </p:cNvPr>
          <p:cNvSpPr>
            <a:spLocks noGrp="1"/>
          </p:cNvSpPr>
          <p:nvPr/>
        </p:nvSpPr>
        <p:spPr>
          <a:xfrm>
            <a:off x="1238250" y="15430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Definitions, sensitive data, anonymisation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458B058-C2AB-4D48-BCEE-07D7F42D1081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BCD7CF-01AA-46AF-8763-F8F08F417E63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721AFA-7D34-4739-A897-7F912D9B2002}"/>
              </a:ext>
            </a:extLst>
          </p:cNvPr>
          <p:cNvSpPr>
            <a:spLocks noGrp="1"/>
          </p:cNvSpPr>
          <p:nvPr/>
        </p:nvSpPr>
        <p:spPr>
          <a:xfrm>
            <a:off x="1238250" y="22098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theories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3E3D58-CC44-4416-98BF-64EAA6E2DD39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Control, relationships, context, power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1A770E7-273E-4D78-B370-AAED42EEDFB4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297AF0-D847-40BC-9159-5C722BDEEACD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0067AE-6DF0-4FD6-AC02-C43CF3666B9C}"/>
              </a:ext>
            </a:extLst>
          </p:cNvPr>
          <p:cNvSpPr>
            <a:spLocks noGrp="1"/>
          </p:cNvSpPr>
          <p:nvPr/>
        </p:nvSpPr>
        <p:spPr>
          <a:xfrm>
            <a:off x="1238250" y="32004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lifecycle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1A043C-71F8-4FD9-B087-918CD6C383DE}"/>
              </a:ext>
            </a:extLst>
          </p:cNvPr>
          <p:cNvSpPr>
            <a:spLocks noGrp="1"/>
          </p:cNvSpPr>
          <p:nvPr/>
        </p:nvSpPr>
        <p:spPr>
          <a:xfrm>
            <a:off x="1238250" y="3524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Collection, processing, inference, decisions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CF49768-C5F9-4B53-8EC4-4306E5E3AD1C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25C51A-3374-467C-91E4-154E6C7A4001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67BE2C-2D96-40C9-96C9-5C971407E1FD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Four cases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21A191-C0CB-4DB1-9EB5-156AB62E6A4E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Clearview, Rite Aid, BetterHelp, ChatGPT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A65D30F-73A3-499A-B3F4-D9119678AF49}"/>
              </a:ext>
            </a:extLst>
          </p:cNvPr>
          <p:cNvSpPr>
            <a:spLocks noGrp="1"/>
          </p:cNvSpPr>
          <p:nvPr/>
        </p:nvSpPr>
        <p:spPr>
          <a:xfrm>
            <a:off x="6229350" y="12192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0E666E-8648-493B-802E-BB4AF826A868}"/>
              </a:ext>
            </a:extLst>
          </p:cNvPr>
          <p:cNvSpPr>
            <a:spLocks noGrp="1"/>
          </p:cNvSpPr>
          <p:nvPr/>
        </p:nvSpPr>
        <p:spPr>
          <a:xfrm>
            <a:off x="6229350" y="12192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31B978-1F3A-4EFD-9284-A20155C6D6A8}"/>
              </a:ext>
            </a:extLst>
          </p:cNvPr>
          <p:cNvSpPr>
            <a:spLocks noGrp="1"/>
          </p:cNvSpPr>
          <p:nvPr/>
        </p:nvSpPr>
        <p:spPr>
          <a:xfrm>
            <a:off x="6915150" y="12192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Rights and governance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09AE04-FA0A-4C39-9061-D7254E7DE923}"/>
              </a:ext>
            </a:extLst>
          </p:cNvPr>
          <p:cNvSpPr>
            <a:spLocks noGrp="1"/>
          </p:cNvSpPr>
          <p:nvPr/>
        </p:nvSpPr>
        <p:spPr>
          <a:xfrm>
            <a:off x="6915150" y="15430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GDPR principles, rights, DPIA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E8FFB2F-169B-410B-848A-148AF2367211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77C5641-19F0-47F9-9604-A64E3A80F316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1E62CD-6FEE-4C3D-B3AC-EEEBDDF4FA16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engineering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06ACEC-D492-40F1-BA52-07F4F2EA09F0}"/>
              </a:ext>
            </a:extLst>
          </p:cNvPr>
          <p:cNvSpPr>
            <a:spLocks noGrp="1"/>
          </p:cNvSpPr>
          <p:nvPr/>
        </p:nvSpPr>
        <p:spPr>
          <a:xfrm>
            <a:off x="6915150" y="25336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Privacy by Design and PETs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F8607EA3-4048-4615-9F8B-680F4EE9373C}"/>
              </a:ext>
            </a:extLst>
          </p:cNvPr>
          <p:cNvSpPr>
            <a:spLocks noGrp="1"/>
          </p:cNvSpPr>
          <p:nvPr/>
        </p:nvSpPr>
        <p:spPr>
          <a:xfrm>
            <a:off x="6229350" y="32004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7BE95E-6E1E-43DE-9988-0DD7072FE956}"/>
              </a:ext>
            </a:extLst>
          </p:cNvPr>
          <p:cNvSpPr>
            <a:spLocks noGrp="1"/>
          </p:cNvSpPr>
          <p:nvPr/>
        </p:nvSpPr>
        <p:spPr>
          <a:xfrm>
            <a:off x="6229350" y="32004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B3D421D-434C-4362-ADB2-87D66CE7E699}"/>
              </a:ext>
            </a:extLst>
          </p:cNvPr>
          <p:cNvSpPr>
            <a:spLocks noGrp="1"/>
          </p:cNvSpPr>
          <p:nvPr/>
        </p:nvSpPr>
        <p:spPr>
          <a:xfrm>
            <a:off x="6915150" y="320040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0FAF958-7C0D-4809-811E-957BA352EC56}"/>
              </a:ext>
            </a:extLst>
          </p:cNvPr>
          <p:cNvSpPr>
            <a:spLocks noGrp="1"/>
          </p:cNvSpPr>
          <p:nvPr/>
        </p:nvSpPr>
        <p:spPr>
          <a:xfrm>
            <a:off x="6915150" y="3524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Audit activity, debate, design rules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053550E9-8E67-4A17-A8D0-B5EA3CEC71C0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D97D96F-EDC2-442F-B964-7B88CB07A339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39" name="右箭头 38">
            <a:extLst>
              <a:ext uri="{FF2B5EF4-FFF2-40B4-BE49-F238E27FC236}">
                <a16:creationId xmlns:a16="http://schemas.microsoft.com/office/drawing/2014/main" id="{94959E0C-1176-4B10-A028-51673CEB40F7}"/>
              </a:ext>
            </a:extLst>
          </p:cNvPr>
          <p:cNvSpPr>
            <a:spLocks noGrp="1"/>
          </p:cNvSpPr>
          <p:nvPr/>
        </p:nvSpPr>
        <p:spPr>
          <a:xfrm>
            <a:off x="2438400" y="5486400"/>
            <a:ext cx="219075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135DC6F-BCB7-4EBD-B161-5A52125FD5D1}"/>
              </a:ext>
            </a:extLst>
          </p:cNvPr>
          <p:cNvSpPr>
            <a:spLocks noGrp="1"/>
          </p:cNvSpPr>
          <p:nvPr/>
        </p:nvSpPr>
        <p:spPr>
          <a:xfrm>
            <a:off x="2790825" y="53340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0A05B9-E42F-49C0-9062-D1B6AF93E6C0}"/>
              </a:ext>
            </a:extLst>
          </p:cNvPr>
          <p:cNvSpPr>
            <a:spLocks noGrp="1"/>
          </p:cNvSpPr>
          <p:nvPr/>
        </p:nvSpPr>
        <p:spPr>
          <a:xfrm>
            <a:off x="2886075" y="542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THEORISE</a:t>
            </a: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DB8F2BC5-277F-4091-8C94-7DF92F945C50}"/>
              </a:ext>
            </a:extLst>
          </p:cNvPr>
          <p:cNvSpPr>
            <a:spLocks noGrp="1"/>
          </p:cNvSpPr>
          <p:nvPr/>
        </p:nvSpPr>
        <p:spPr>
          <a:xfrm>
            <a:off x="4676775" y="5486400"/>
            <a:ext cx="219075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F154DDC-6C0C-4EF9-AA88-3266C418AA21}"/>
              </a:ext>
            </a:extLst>
          </p:cNvPr>
          <p:cNvSpPr>
            <a:spLocks noGrp="1"/>
          </p:cNvSpPr>
          <p:nvPr/>
        </p:nvSpPr>
        <p:spPr>
          <a:xfrm>
            <a:off x="5029200" y="53340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45EA81-F0A3-47EB-AA52-F206772A78FC}"/>
              </a:ext>
            </a:extLst>
          </p:cNvPr>
          <p:cNvSpPr>
            <a:spLocks noGrp="1"/>
          </p:cNvSpPr>
          <p:nvPr/>
        </p:nvSpPr>
        <p:spPr>
          <a:xfrm>
            <a:off x="5124450" y="542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ANALYSE</a:t>
            </a:r>
          </a:p>
        </p:txBody>
      </p:sp>
      <p:sp>
        <p:nvSpPr>
          <p:cNvPr id="45" name="右箭头 44">
            <a:extLst>
              <a:ext uri="{FF2B5EF4-FFF2-40B4-BE49-F238E27FC236}">
                <a16:creationId xmlns:a16="http://schemas.microsoft.com/office/drawing/2014/main" id="{111F75B4-F0AE-4D60-BCD4-E2F1F6FEF6B5}"/>
              </a:ext>
            </a:extLst>
          </p:cNvPr>
          <p:cNvSpPr>
            <a:spLocks noGrp="1"/>
          </p:cNvSpPr>
          <p:nvPr/>
        </p:nvSpPr>
        <p:spPr>
          <a:xfrm>
            <a:off x="6915150" y="5486400"/>
            <a:ext cx="219075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B8DE5F4C-B10B-4B24-AFC2-04AF45323FE2}"/>
              </a:ext>
            </a:extLst>
          </p:cNvPr>
          <p:cNvSpPr>
            <a:spLocks noGrp="1"/>
          </p:cNvSpPr>
          <p:nvPr/>
        </p:nvSpPr>
        <p:spPr>
          <a:xfrm>
            <a:off x="7267575" y="53340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EE6683B-301A-4A65-9770-F15AF5631750}"/>
              </a:ext>
            </a:extLst>
          </p:cNvPr>
          <p:cNvSpPr>
            <a:spLocks noGrp="1"/>
          </p:cNvSpPr>
          <p:nvPr/>
        </p:nvSpPr>
        <p:spPr>
          <a:xfrm>
            <a:off x="7362825" y="542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48" name="右箭头 47">
            <a:extLst>
              <a:ext uri="{FF2B5EF4-FFF2-40B4-BE49-F238E27FC236}">
                <a16:creationId xmlns:a16="http://schemas.microsoft.com/office/drawing/2014/main" id="{283B1B19-CAE1-45D5-B3DD-1297C29E06B8}"/>
              </a:ext>
            </a:extLst>
          </p:cNvPr>
          <p:cNvSpPr>
            <a:spLocks noGrp="1"/>
          </p:cNvSpPr>
          <p:nvPr/>
        </p:nvSpPr>
        <p:spPr>
          <a:xfrm>
            <a:off x="9153525" y="5486400"/>
            <a:ext cx="219075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04879B40-1D8F-4B8C-929A-2C82CF9AC8A0}"/>
              </a:ext>
            </a:extLst>
          </p:cNvPr>
          <p:cNvSpPr>
            <a:spLocks noGrp="1"/>
          </p:cNvSpPr>
          <p:nvPr/>
        </p:nvSpPr>
        <p:spPr>
          <a:xfrm>
            <a:off x="9505950" y="53340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8265FB1-1EFC-44D0-9DC1-72A7198DF430}"/>
              </a:ext>
            </a:extLst>
          </p:cNvPr>
          <p:cNvSpPr>
            <a:spLocks noGrp="1"/>
          </p:cNvSpPr>
          <p:nvPr/>
        </p:nvSpPr>
        <p:spPr>
          <a:xfrm>
            <a:off x="9601200" y="542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85876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A6ED98-D5A7-4ACF-A89F-CE114EAFC2C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LECTURE OVERVIEW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6325C0-90FC-42DD-B8F0-936E1E60BC4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and data protection across the AI lifecycle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7FE1AD0-2D42-474B-BBDF-8AD56413578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BAD1E3-4A66-482E-A27B-45BE26840E3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2C2E428-3C9D-4F3C-88D3-9CED305F2E1E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9BDFFC-D4C6-4C37-AAD8-68D92EA9F19C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lawful data source does not guarantee a fair inference, decision, or retention practice.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39C97B-194A-4A40-82AE-065AB4A1CA93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050EF6-70CA-45B3-82DE-124C1510578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72E4EF-7D22-4132-AD74-2ED0BCB8061C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Privacy risk accumulates as data changes form and purpose.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075833D-CBBB-4D3A-9133-348DCE1B2658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7483BD-8673-4E05-83ED-0A67F44D6842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1671F2-7397-4BEF-82C3-314179F6E0E9}"/>
              </a:ext>
            </a:extLst>
          </p:cNvPr>
          <p:cNvSpPr>
            <a:spLocks noGrp="1"/>
          </p:cNvSpPr>
          <p:nvPr/>
        </p:nvSpPr>
        <p:spPr>
          <a:xfrm>
            <a:off x="66675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enters?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whom?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E6621CD8-556F-451B-BEFE-F33A210052AF}"/>
              </a:ext>
            </a:extLst>
          </p:cNvPr>
          <p:cNvSpPr>
            <a:spLocks noGrp="1"/>
          </p:cNvSpPr>
          <p:nvPr/>
        </p:nvSpPr>
        <p:spPr>
          <a:xfrm>
            <a:off x="2162175" y="2705100"/>
            <a:ext cx="1905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7EB97B5-FCC5-4DCE-B606-44CB790B59A6}"/>
              </a:ext>
            </a:extLst>
          </p:cNvPr>
          <p:cNvSpPr>
            <a:spLocks noGrp="1"/>
          </p:cNvSpPr>
          <p:nvPr/>
        </p:nvSpPr>
        <p:spPr>
          <a:xfrm>
            <a:off x="240030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DCE566-438B-4429-858F-DD2768AA4E3D}"/>
              </a:ext>
            </a:extLst>
          </p:cNvPr>
          <p:cNvSpPr>
            <a:spLocks noGrp="1"/>
          </p:cNvSpPr>
          <p:nvPr/>
        </p:nvSpPr>
        <p:spPr>
          <a:xfrm>
            <a:off x="249555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7A95D9-337A-4651-A6B6-B34910001910}"/>
              </a:ext>
            </a:extLst>
          </p:cNvPr>
          <p:cNvSpPr>
            <a:spLocks noGrp="1"/>
          </p:cNvSpPr>
          <p:nvPr/>
        </p:nvSpPr>
        <p:spPr>
          <a:xfrm>
            <a:off x="251460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How is it cleaned,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labelled, linked?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85FEA492-AD53-4CB7-9432-94E1C236E284}"/>
              </a:ext>
            </a:extLst>
          </p:cNvPr>
          <p:cNvSpPr>
            <a:spLocks noGrp="1"/>
          </p:cNvSpPr>
          <p:nvPr/>
        </p:nvSpPr>
        <p:spPr>
          <a:xfrm>
            <a:off x="4010025" y="2705100"/>
            <a:ext cx="1905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36550EC-7F01-4CD3-AA83-87879AA4061A}"/>
              </a:ext>
            </a:extLst>
          </p:cNvPr>
          <p:cNvSpPr>
            <a:spLocks noGrp="1"/>
          </p:cNvSpPr>
          <p:nvPr/>
        </p:nvSpPr>
        <p:spPr>
          <a:xfrm>
            <a:off x="424815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EEB10D-FD23-4466-8941-39BA4FE0AD3C}"/>
              </a:ext>
            </a:extLst>
          </p:cNvPr>
          <p:cNvSpPr>
            <a:spLocks noGrp="1"/>
          </p:cNvSpPr>
          <p:nvPr/>
        </p:nvSpPr>
        <p:spPr>
          <a:xfrm>
            <a:off x="434340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13A37E-EDDB-4B89-ABA3-6D4A1E45F007}"/>
              </a:ext>
            </a:extLst>
          </p:cNvPr>
          <p:cNvSpPr>
            <a:spLocks noGrp="1"/>
          </p:cNvSpPr>
          <p:nvPr/>
        </p:nvSpPr>
        <p:spPr>
          <a:xfrm>
            <a:off x="436245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new attributes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are produced?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9A2C05A6-D5D8-46D4-8163-377FEED2269F}"/>
              </a:ext>
            </a:extLst>
          </p:cNvPr>
          <p:cNvSpPr>
            <a:spLocks noGrp="1"/>
          </p:cNvSpPr>
          <p:nvPr/>
        </p:nvSpPr>
        <p:spPr>
          <a:xfrm>
            <a:off x="5857875" y="2705100"/>
            <a:ext cx="1905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DFF075E-3873-433C-B456-1B947EBF8FC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5D82845-CC2F-4C35-BC64-BE48C2DCAF57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143551-1010-4140-A4A9-7D81BDDCAD95}"/>
              </a:ext>
            </a:extLst>
          </p:cNvPr>
          <p:cNvSpPr>
            <a:spLocks noGrp="1"/>
          </p:cNvSpPr>
          <p:nvPr/>
        </p:nvSpPr>
        <p:spPr>
          <a:xfrm>
            <a:off x="621030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How are people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sorted or scored?</a:t>
            </a:r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9EA6176D-A90E-4E04-A423-84EBF58EB92A}"/>
              </a:ext>
            </a:extLst>
          </p:cNvPr>
          <p:cNvSpPr>
            <a:spLocks noGrp="1"/>
          </p:cNvSpPr>
          <p:nvPr/>
        </p:nvSpPr>
        <p:spPr>
          <a:xfrm>
            <a:off x="7705725" y="2705100"/>
            <a:ext cx="1905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BF36798-34CB-4770-8A7D-9BB159FBD171}"/>
              </a:ext>
            </a:extLst>
          </p:cNvPr>
          <p:cNvSpPr>
            <a:spLocks noGrp="1"/>
          </p:cNvSpPr>
          <p:nvPr/>
        </p:nvSpPr>
        <p:spPr>
          <a:xfrm>
            <a:off x="794385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2A4E8-E7CA-4008-86AB-F358DC505D29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2E704F-A93B-4453-B4BA-13A9B3674A35}"/>
              </a:ext>
            </a:extLst>
          </p:cNvPr>
          <p:cNvSpPr>
            <a:spLocks noGrp="1"/>
          </p:cNvSpPr>
          <p:nvPr/>
        </p:nvSpPr>
        <p:spPr>
          <a:xfrm>
            <a:off x="805815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action follows?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it be challenged?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BC455A60-FFAD-4B1F-A5F5-C51C6C817A54}"/>
              </a:ext>
            </a:extLst>
          </p:cNvPr>
          <p:cNvSpPr>
            <a:spLocks noGrp="1"/>
          </p:cNvSpPr>
          <p:nvPr/>
        </p:nvSpPr>
        <p:spPr>
          <a:xfrm>
            <a:off x="9553575" y="2705100"/>
            <a:ext cx="1905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678B80B9-422B-4FB9-A357-6FC61DD8EEF0}"/>
              </a:ext>
            </a:extLst>
          </p:cNvPr>
          <p:cNvSpPr>
            <a:spLocks noGrp="1"/>
          </p:cNvSpPr>
          <p:nvPr/>
        </p:nvSpPr>
        <p:spPr>
          <a:xfrm>
            <a:off x="9791700" y="2095500"/>
            <a:ext cx="1562100" cy="1466850"/>
          </a:xfrm>
          <a:prstGeom prst="roundRect">
            <a:avLst>
              <a:gd name="adj" fmla="val 7792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70BC0D-5F6C-46A7-B1E4-B5FD1B24C61E}"/>
              </a:ext>
            </a:extLst>
          </p:cNvPr>
          <p:cNvSpPr>
            <a:spLocks noGrp="1"/>
          </p:cNvSpPr>
          <p:nvPr/>
        </p:nvSpPr>
        <p:spPr>
          <a:xfrm>
            <a:off x="9886950" y="21907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BBBE51-2A8E-4E4B-A81A-F47B15E486F9}"/>
              </a:ext>
            </a:extLst>
          </p:cNvPr>
          <p:cNvSpPr>
            <a:spLocks noGrp="1"/>
          </p:cNvSpPr>
          <p:nvPr/>
        </p:nvSpPr>
        <p:spPr>
          <a:xfrm>
            <a:off x="9906000" y="2505075"/>
            <a:ext cx="13335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persists?</a:t>
            </a: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is it deleted?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3279A95-B5DF-4D74-B5E1-4C09C729DC4C}"/>
              </a:ext>
            </a:extLst>
          </p:cNvPr>
          <p:cNvSpPr>
            <a:spLocks noGrp="1"/>
          </p:cNvSpPr>
          <p:nvPr/>
        </p:nvSpPr>
        <p:spPr>
          <a:xfrm>
            <a:off x="1390650" y="4057650"/>
            <a:ext cx="9410700" cy="1028700"/>
          </a:xfrm>
          <a:prstGeom prst="roundRect">
            <a:avLst>
              <a:gd name="adj" fmla="val 14815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D49E51-9822-4F54-8C23-809D84AA13FD}"/>
              </a:ext>
            </a:extLst>
          </p:cNvPr>
          <p:cNvSpPr>
            <a:spLocks noGrp="1"/>
          </p:cNvSpPr>
          <p:nvPr/>
        </p:nvSpPr>
        <p:spPr>
          <a:xfrm>
            <a:off x="1657350" y="4324349"/>
            <a:ext cx="21907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Three questions at every stage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57CFE6-3008-4325-942A-9666561EF982}"/>
              </a:ext>
            </a:extLst>
          </p:cNvPr>
          <p:cNvSpPr>
            <a:spLocks noGrp="1"/>
          </p:cNvSpPr>
          <p:nvPr/>
        </p:nvSpPr>
        <p:spPr>
          <a:xfrm>
            <a:off x="4800600" y="4191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Purpose and necessity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74B0FEE-6F04-4769-BD76-4D1B1F18481A}"/>
              </a:ext>
            </a:extLst>
          </p:cNvPr>
          <p:cNvSpPr>
            <a:spLocks noGrp="1"/>
          </p:cNvSpPr>
          <p:nvPr/>
        </p:nvSpPr>
        <p:spPr>
          <a:xfrm>
            <a:off x="6819900" y="41910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Human impact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DA6C28-4061-48B1-A558-EE9ADB465F76}"/>
              </a:ext>
            </a:extLst>
          </p:cNvPr>
          <p:cNvSpPr>
            <a:spLocks noGrp="1"/>
          </p:cNvSpPr>
          <p:nvPr/>
        </p:nvSpPr>
        <p:spPr>
          <a:xfrm>
            <a:off x="8629650" y="4191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Rights and remedy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4C409E-9E58-4169-82AB-95A2ADD65D1D}"/>
              </a:ext>
            </a:extLst>
          </p:cNvPr>
          <p:cNvSpPr>
            <a:spLocks noGrp="1"/>
          </p:cNvSpPr>
          <p:nvPr/>
        </p:nvSpPr>
        <p:spPr>
          <a:xfrm>
            <a:off x="4800600" y="46767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goal justifies the data?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52D28E-AFE2-4CE3-87DE-0846FA646A32}"/>
              </a:ext>
            </a:extLst>
          </p:cNvPr>
          <p:cNvSpPr>
            <a:spLocks noGrp="1"/>
          </p:cNvSpPr>
          <p:nvPr/>
        </p:nvSpPr>
        <p:spPr>
          <a:xfrm>
            <a:off x="6819900" y="46767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Who bears the risk?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C6B63A1-624F-499E-A1F1-4F4A0683D01E}"/>
              </a:ext>
            </a:extLst>
          </p:cNvPr>
          <p:cNvSpPr>
            <a:spLocks noGrp="1"/>
          </p:cNvSpPr>
          <p:nvPr/>
        </p:nvSpPr>
        <p:spPr>
          <a:xfrm>
            <a:off x="8629650" y="46767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people contest it?</a:t>
            </a:r>
          </a:p>
        </p:txBody>
      </p:sp>
    </p:spTree>
    <p:extLst>
      <p:ext uri="{BB962C8B-B14F-4D97-AF65-F5344CB8AC3E}">
        <p14:creationId xmlns:p14="http://schemas.microsoft.com/office/powerpoint/2010/main" val="74716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18989" r="18989"/>
          <a:stretch>
            <a:fillRect/>
          </a:stretch>
        </p:blipFill>
        <p:spPr>
          <a:xfrm>
            <a:off x="5810250" y="0"/>
            <a:ext cx="638175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8788B2B-EC0E-4B35-839F-E88125C787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8175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47DA84-89C2-487A-9C5F-C4344FA678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2699EE-FAA3-4D7D-B77D-377E108428E1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916172-B780-4435-AE3D-15A17FD3B025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4667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Privacy, data,</a:t>
            </a:r>
          </a:p>
          <a:p>
            <a:pPr algn="l">
              <a:lnSpc>
                <a:spcPct val="95000"/>
              </a:lnSpc>
              <a:buNone/>
              <a:defRPr sz="3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and power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C52AF6-6469-418F-B597-3303182B1D98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Concepts and theories for analysing AI systems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3E8726D-62A9-458D-8C30-307A03790C7B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4267200" cy="1428750"/>
          </a:xfrm>
          <a:prstGeom prst="roundRect">
            <a:avLst>
              <a:gd name="adj" fmla="val 9333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456267-6B24-4E63-8622-3DC0E8E98FFC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CORE QUESTION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3BF519-06D8-458F-BDB7-1ECE39721ABA}"/>
              </a:ext>
            </a:extLst>
          </p:cNvPr>
          <p:cNvSpPr>
            <a:spLocks noGrp="1"/>
          </p:cNvSpPr>
          <p:nvPr/>
        </p:nvSpPr>
        <p:spPr>
          <a:xfrm>
            <a:off x="990600" y="4657725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Who controls how personal data is collected, inferred, used, and contested?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14DF91-1073-48A9-B735-CDBF77A8D1B2}"/>
              </a:ext>
            </a:extLst>
          </p:cNvPr>
          <p:cNvSpPr>
            <a:spLocks noGrp="1"/>
          </p:cNvSpPr>
          <p:nvPr/>
        </p:nvSpPr>
        <p:spPr>
          <a:xfrm>
            <a:off x="11277600" y="64770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503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C3BA94-9EE4-412C-86CC-B91FC27EE7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FFFFFF">
              <a:alpha val="92157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3E1578-E551-4A71-9039-98B60C9F4040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E48721-2F1B-456C-8C73-45CBDDB6D7A2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Foundations roadmap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E7B723F-B8FC-41E2-BA14-C09412E98D9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B2B8B3-75E3-4D73-9C12-CEB82AD5B74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E37C04-EAD3-4B91-BC11-4FDE6FE3F807}"/>
              </a:ext>
            </a:extLst>
          </p:cNvPr>
          <p:cNvSpPr>
            <a:spLocks noGrp="1"/>
          </p:cNvSpPr>
          <p:nvPr/>
        </p:nvSpPr>
        <p:spPr>
          <a:xfrm>
            <a:off x="733425" y="45243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995C84-97FA-47DE-93B1-0D7E871FE5C8}"/>
              </a:ext>
            </a:extLst>
          </p:cNvPr>
          <p:cNvSpPr>
            <a:spLocks noGrp="1"/>
          </p:cNvSpPr>
          <p:nvPr/>
        </p:nvSpPr>
        <p:spPr>
          <a:xfrm>
            <a:off x="695325" y="474345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DEFINITIONS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C9DF3D3-B694-4A83-9272-93E28192BE33}"/>
              </a:ext>
            </a:extLst>
          </p:cNvPr>
          <p:cNvSpPr>
            <a:spLocks noGrp="1"/>
          </p:cNvSpPr>
          <p:nvPr/>
        </p:nvSpPr>
        <p:spPr>
          <a:xfrm>
            <a:off x="333375" y="53149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D9479-B6BA-448C-AAD1-2175427F686B}"/>
              </a:ext>
            </a:extLst>
          </p:cNvPr>
          <p:cNvSpPr>
            <a:spLocks noGrp="1"/>
          </p:cNvSpPr>
          <p:nvPr/>
        </p:nvSpPr>
        <p:spPr>
          <a:xfrm>
            <a:off x="409575" y="531495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· protection · security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DD9495-7DD9-4FE5-AA6A-FA1C9A9B3EC3}"/>
              </a:ext>
            </a:extLst>
          </p:cNvPr>
          <p:cNvSpPr>
            <a:spLocks noGrp="1"/>
          </p:cNvSpPr>
          <p:nvPr/>
        </p:nvSpPr>
        <p:spPr>
          <a:xfrm>
            <a:off x="2209800" y="280035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C4D666-C74F-4F58-88FF-F65A1B20D400}"/>
              </a:ext>
            </a:extLst>
          </p:cNvPr>
          <p:cNvSpPr>
            <a:spLocks noGrp="1"/>
          </p:cNvSpPr>
          <p:nvPr/>
        </p:nvSpPr>
        <p:spPr>
          <a:xfrm>
            <a:off x="2171700" y="3019425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LEGAL</a:t>
            </a:r>
          </a:p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4A3F46B-869C-48F4-B1F3-20CD013ABBC3}"/>
              </a:ext>
            </a:extLst>
          </p:cNvPr>
          <p:cNvSpPr>
            <a:spLocks noGrp="1"/>
          </p:cNvSpPr>
          <p:nvPr/>
        </p:nvSpPr>
        <p:spPr>
          <a:xfrm>
            <a:off x="1685925" y="352425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6C48FE-CCD5-4579-A6C2-2C7BA7E2F1E3}"/>
              </a:ext>
            </a:extLst>
          </p:cNvPr>
          <p:cNvSpPr>
            <a:spLocks noGrp="1"/>
          </p:cNvSpPr>
          <p:nvPr/>
        </p:nvSpPr>
        <p:spPr>
          <a:xfrm>
            <a:off x="1762125" y="3524250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Personal &amp; special-category data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559E2D-8880-4DAF-A074-7132EB24DD1F}"/>
              </a:ext>
            </a:extLst>
          </p:cNvPr>
          <p:cNvSpPr>
            <a:spLocks noGrp="1"/>
          </p:cNvSpPr>
          <p:nvPr/>
        </p:nvSpPr>
        <p:spPr>
          <a:xfrm>
            <a:off x="3886200" y="39147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C249ED-8B0A-4326-9E89-A52B6C449422}"/>
              </a:ext>
            </a:extLst>
          </p:cNvPr>
          <p:cNvSpPr>
            <a:spLocks noGrp="1"/>
          </p:cNvSpPr>
          <p:nvPr/>
        </p:nvSpPr>
        <p:spPr>
          <a:xfrm>
            <a:off x="3848100" y="413385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STATES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FCFE9DB-FA71-4F80-A985-A4914887EB89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E78097-CBF9-4E4B-80A3-FB5F294227CD}"/>
              </a:ext>
            </a:extLst>
          </p:cNvPr>
          <p:cNvSpPr>
            <a:spLocks noGrp="1"/>
          </p:cNvSpPr>
          <p:nvPr/>
        </p:nvSpPr>
        <p:spPr>
          <a:xfrm>
            <a:off x="3409950" y="4724400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Anonymous ↔ pseudonymous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C9FC17-237C-488A-B359-2A25DEDBCB56}"/>
              </a:ext>
            </a:extLst>
          </p:cNvPr>
          <p:cNvSpPr>
            <a:spLocks noGrp="1"/>
          </p:cNvSpPr>
          <p:nvPr/>
        </p:nvSpPr>
        <p:spPr>
          <a:xfrm>
            <a:off x="5562600" y="2124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F35003-24C6-42B4-8ED7-66EF04A9FEF0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86C5EDA-CA63-4651-BE07-10E7F88003EE}"/>
              </a:ext>
            </a:extLst>
          </p:cNvPr>
          <p:cNvSpPr>
            <a:spLocks noGrp="1"/>
          </p:cNvSpPr>
          <p:nvPr/>
        </p:nvSpPr>
        <p:spPr>
          <a:xfrm>
            <a:off x="5095875" y="2914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F20F86B-D826-4283-B9BA-7B9215D42E74}"/>
              </a:ext>
            </a:extLst>
          </p:cNvPr>
          <p:cNvSpPr>
            <a:spLocks noGrp="1"/>
          </p:cNvSpPr>
          <p:nvPr/>
        </p:nvSpPr>
        <p:spPr>
          <a:xfrm>
            <a:off x="5172075" y="291465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Appropriate information flows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386506-3039-44E6-B0E7-4D712A323042}"/>
              </a:ext>
            </a:extLst>
          </p:cNvPr>
          <p:cNvSpPr>
            <a:spLocks noGrp="1"/>
          </p:cNvSpPr>
          <p:nvPr/>
        </p:nvSpPr>
        <p:spPr>
          <a:xfrm>
            <a:off x="7086600" y="37242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3E7374-88A6-4775-891D-427339D571E8}"/>
              </a:ext>
            </a:extLst>
          </p:cNvPr>
          <p:cNvSpPr>
            <a:spLocks noGrp="1"/>
          </p:cNvSpPr>
          <p:nvPr/>
        </p:nvSpPr>
        <p:spPr>
          <a:xfrm>
            <a:off x="7048500" y="394335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15A450F-B8D7-4C55-BD1B-9FE968FA1198}"/>
              </a:ext>
            </a:extLst>
          </p:cNvPr>
          <p:cNvSpPr>
            <a:spLocks noGrp="1"/>
          </p:cNvSpPr>
          <p:nvPr/>
        </p:nvSpPr>
        <p:spPr>
          <a:xfrm>
            <a:off x="6705600" y="453390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322090-2AAD-43E1-BF1C-2BB810EB247C}"/>
              </a:ext>
            </a:extLst>
          </p:cNvPr>
          <p:cNvSpPr>
            <a:spLocks noGrp="1"/>
          </p:cNvSpPr>
          <p:nvPr/>
        </p:nvSpPr>
        <p:spPr>
          <a:xfrm>
            <a:off x="6781800" y="45339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Profiling · surveillance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193052-F5C3-4DCE-81C4-5984B18AA71C}"/>
              </a:ext>
            </a:extLst>
          </p:cNvPr>
          <p:cNvSpPr>
            <a:spLocks noGrp="1"/>
          </p:cNvSpPr>
          <p:nvPr/>
        </p:nvSpPr>
        <p:spPr>
          <a:xfrm>
            <a:off x="8743950" y="202882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7D480B7-5732-4B56-9A45-FF81CAABE8A8}"/>
              </a:ext>
            </a:extLst>
          </p:cNvPr>
          <p:cNvSpPr>
            <a:spLocks noGrp="1"/>
          </p:cNvSpPr>
          <p:nvPr/>
        </p:nvSpPr>
        <p:spPr>
          <a:xfrm>
            <a:off x="8782050" y="211455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 dirty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VULNERABILITY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B23A22-10CF-4456-A318-024F4C7CC47C}"/>
              </a:ext>
            </a:extLst>
          </p:cNvPr>
          <p:cNvSpPr>
            <a:spLocks noGrp="1"/>
          </p:cNvSpPr>
          <p:nvPr/>
        </p:nvSpPr>
        <p:spPr>
          <a:xfrm>
            <a:off x="8039100" y="2819400"/>
            <a:ext cx="2333625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365A72-01E8-45A9-A4CE-706BD3C4770C}"/>
              </a:ext>
            </a:extLst>
          </p:cNvPr>
          <p:cNvSpPr>
            <a:spLocks noGrp="1"/>
          </p:cNvSpPr>
          <p:nvPr/>
        </p:nvSpPr>
        <p:spPr>
          <a:xfrm>
            <a:off x="8115300" y="281940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Group harms · digital poorhouse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7F8F09-8066-4634-81E8-DACF550CD640}"/>
              </a:ext>
            </a:extLst>
          </p:cNvPr>
          <p:cNvSpPr>
            <a:spLocks noGrp="1"/>
          </p:cNvSpPr>
          <p:nvPr/>
        </p:nvSpPr>
        <p:spPr>
          <a:xfrm>
            <a:off x="10344150" y="122872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D4DE9E-1325-4B82-ADF7-1B7FE0B27E2B}"/>
              </a:ext>
            </a:extLst>
          </p:cNvPr>
          <p:cNvSpPr>
            <a:spLocks noGrp="1"/>
          </p:cNvSpPr>
          <p:nvPr/>
        </p:nvSpPr>
        <p:spPr>
          <a:xfrm>
            <a:off x="10306050" y="1447800"/>
            <a:ext cx="100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FOUNDATIONS</a:t>
            </a:r>
          </a:p>
          <a:p>
            <a:pPr algn="ctr">
              <a:lnSpc>
                <a:spcPct val="94000"/>
              </a:lnSpc>
              <a:buNone/>
              <a:defRPr sz="9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OF LAW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8B4202F-0F92-4973-8A09-8A7014852D88}"/>
              </a:ext>
            </a:extLst>
          </p:cNvPr>
          <p:cNvSpPr>
            <a:spLocks noGrp="1"/>
          </p:cNvSpPr>
          <p:nvPr/>
        </p:nvSpPr>
        <p:spPr>
          <a:xfrm>
            <a:off x="9906000" y="240030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DEA20F-3CE6-4969-AB88-581B948D5672}"/>
              </a:ext>
            </a:extLst>
          </p:cNvPr>
          <p:cNvSpPr>
            <a:spLocks noGrp="1"/>
          </p:cNvSpPr>
          <p:nvPr/>
        </p:nvSpPr>
        <p:spPr>
          <a:xfrm>
            <a:off x="9982200" y="24003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FIPPs → GDPR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4CF93816-E4FD-44B9-9694-4D443C894398}"/>
              </a:ext>
            </a:extLst>
          </p:cNvPr>
          <p:cNvSpPr>
            <a:spLocks noGrp="1"/>
          </p:cNvSpPr>
          <p:nvPr/>
        </p:nvSpPr>
        <p:spPr>
          <a:xfrm>
            <a:off x="3143250" y="5781675"/>
            <a:ext cx="5905500" cy="447675"/>
          </a:xfrm>
          <a:prstGeom prst="roundRect">
            <a:avLst>
              <a:gd name="adj" fmla="val 38298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E080509-18A8-4998-BDE5-34C979A453AE}"/>
              </a:ext>
            </a:extLst>
          </p:cNvPr>
          <p:cNvSpPr>
            <a:spLocks noGrp="1"/>
          </p:cNvSpPr>
          <p:nvPr/>
        </p:nvSpPr>
        <p:spPr>
          <a:xfrm>
            <a:off x="3314700" y="584835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4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LEARNING ARC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1716F904-22DA-4097-BB29-017A4626E173}"/>
              </a:ext>
            </a:extLst>
          </p:cNvPr>
          <p:cNvSpPr>
            <a:spLocks noGrp="1"/>
          </p:cNvSpPr>
          <p:nvPr/>
        </p:nvSpPr>
        <p:spPr>
          <a:xfrm>
            <a:off x="4476750" y="58483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6AD6DD0-DE53-43E4-88EA-A18E17CDE087}"/>
              </a:ext>
            </a:extLst>
          </p:cNvPr>
          <p:cNvSpPr>
            <a:spLocks noGrp="1"/>
          </p:cNvSpPr>
          <p:nvPr/>
        </p:nvSpPr>
        <p:spPr>
          <a:xfrm>
            <a:off x="4552950" y="5848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39" name="右箭头 38">
            <a:extLst>
              <a:ext uri="{FF2B5EF4-FFF2-40B4-BE49-F238E27FC236}">
                <a16:creationId xmlns:a16="http://schemas.microsoft.com/office/drawing/2014/main" id="{DC271246-CA99-4B7A-998C-FB4AF63A4C70}"/>
              </a:ext>
            </a:extLst>
          </p:cNvPr>
          <p:cNvSpPr>
            <a:spLocks noGrp="1"/>
          </p:cNvSpPr>
          <p:nvPr/>
        </p:nvSpPr>
        <p:spPr>
          <a:xfrm>
            <a:off x="5410200" y="5924550"/>
            <a:ext cx="133350" cy="1333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C5CD085-470E-4F1B-A580-74DB8F907645}"/>
              </a:ext>
            </a:extLst>
          </p:cNvPr>
          <p:cNvSpPr>
            <a:spLocks noGrp="1"/>
          </p:cNvSpPr>
          <p:nvPr/>
        </p:nvSpPr>
        <p:spPr>
          <a:xfrm>
            <a:off x="5581650" y="58483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74D5AF-EC12-4A50-9261-2492E111C257}"/>
              </a:ext>
            </a:extLst>
          </p:cNvPr>
          <p:cNvSpPr>
            <a:spLocks noGrp="1"/>
          </p:cNvSpPr>
          <p:nvPr/>
        </p:nvSpPr>
        <p:spPr>
          <a:xfrm>
            <a:off x="5657850" y="5848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733CC14C-16D1-4143-AAAB-B0BBBEDA95CE}"/>
              </a:ext>
            </a:extLst>
          </p:cNvPr>
          <p:cNvSpPr>
            <a:spLocks noGrp="1"/>
          </p:cNvSpPr>
          <p:nvPr/>
        </p:nvSpPr>
        <p:spPr>
          <a:xfrm>
            <a:off x="6515100" y="5924550"/>
            <a:ext cx="133350" cy="1333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BB10E0B-9115-4A0C-A097-CFACA8AF1C96}"/>
              </a:ext>
            </a:extLst>
          </p:cNvPr>
          <p:cNvSpPr>
            <a:spLocks noGrp="1"/>
          </p:cNvSpPr>
          <p:nvPr/>
        </p:nvSpPr>
        <p:spPr>
          <a:xfrm>
            <a:off x="6686550" y="58483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3618CE-A55D-4A2A-A044-7E737459303B}"/>
              </a:ext>
            </a:extLst>
          </p:cNvPr>
          <p:cNvSpPr>
            <a:spLocks noGrp="1"/>
          </p:cNvSpPr>
          <p:nvPr/>
        </p:nvSpPr>
        <p:spPr>
          <a:xfrm>
            <a:off x="6762750" y="5848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8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5" name="右箭头 44">
            <a:extLst>
              <a:ext uri="{FF2B5EF4-FFF2-40B4-BE49-F238E27FC236}">
                <a16:creationId xmlns:a16="http://schemas.microsoft.com/office/drawing/2014/main" id="{2CFC75F8-3A22-4F71-8AE7-EA6C425FDAC0}"/>
              </a:ext>
            </a:extLst>
          </p:cNvPr>
          <p:cNvSpPr>
            <a:spLocks noGrp="1"/>
          </p:cNvSpPr>
          <p:nvPr/>
        </p:nvSpPr>
        <p:spPr>
          <a:xfrm>
            <a:off x="7620000" y="5924550"/>
            <a:ext cx="133350" cy="1333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9A43CD5-AD8D-4C48-89E3-CF9E6F43FE72}"/>
              </a:ext>
            </a:extLst>
          </p:cNvPr>
          <p:cNvSpPr>
            <a:spLocks noGrp="1"/>
          </p:cNvSpPr>
          <p:nvPr/>
        </p:nvSpPr>
        <p:spPr>
          <a:xfrm>
            <a:off x="7791450" y="58483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6FCB37E-84E6-47FD-99B8-8B22218A41B6}"/>
              </a:ext>
            </a:extLst>
          </p:cNvPr>
          <p:cNvSpPr>
            <a:spLocks noGrp="1"/>
          </p:cNvSpPr>
          <p:nvPr/>
        </p:nvSpPr>
        <p:spPr>
          <a:xfrm>
            <a:off x="7867650" y="5848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8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E8B488F-B179-4ED5-A684-6DB1985AC12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4E4342C-13DA-4580-979D-F62F0282E02B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286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CCC8BB5B-1340-4D4A-99A4-0AD0B21D482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A333FD-517F-4985-82C1-C8BABD54C8B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Opening poll: what data did you share today?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C2DFD59-5122-4E72-B2BE-1A478C318F5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12799F-65ED-40D7-B055-39BD849E2AA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9B72D68-A85E-4D6A-A0AC-E3D0257428D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93B05-F789-417A-8C52-C496588D34C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analysis starts by making ordinary data flows visible.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5955A6-941D-418F-98BB-5F184AC64C0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04631C-7D3A-4C6C-9782-D1DEA438B91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B49DC7-A9DA-4F24-92A5-D5ECA13D36D2}"/>
              </a:ext>
            </a:extLst>
          </p:cNvPr>
          <p:cNvSpPr>
            <a:spLocks noGrp="1"/>
          </p:cNvSpPr>
          <p:nvPr/>
        </p:nvSpPr>
        <p:spPr>
          <a:xfrm>
            <a:off x="552450" y="10572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Think for 30 seconds. Name one data point, who collected it, and the likely purpose.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993B8DA-0129-47D1-A682-CBC43F36169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2A2AC1C-3714-463E-BCBF-20212B8DBF44}"/>
              </a:ext>
            </a:extLst>
          </p:cNvPr>
          <p:cNvSpPr>
            <a:spLocks noGrp="1"/>
          </p:cNvSpPr>
          <p:nvPr/>
        </p:nvSpPr>
        <p:spPr>
          <a:xfrm>
            <a:off x="704850" y="17049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6B09EC-67E4-4B83-B4CD-AB844A7E3111}"/>
              </a:ext>
            </a:extLst>
          </p:cNvPr>
          <p:cNvSpPr>
            <a:spLocks noGrp="1"/>
          </p:cNvSpPr>
          <p:nvPr/>
        </p:nvSpPr>
        <p:spPr>
          <a:xfrm>
            <a:off x="704850" y="17049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2A287-3B7D-45F6-B358-84C6D9506D19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65F1C9-E8F7-45D2-91A1-2B09443A35AB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GPS, Wi-Fi, transport and proximity signals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7A143E0-FF79-4EC6-B4EB-6DFC311CDDC8}"/>
              </a:ext>
            </a:extLst>
          </p:cNvPr>
          <p:cNvSpPr>
            <a:spLocks noGrp="1"/>
          </p:cNvSpPr>
          <p:nvPr/>
        </p:nvSpPr>
        <p:spPr>
          <a:xfrm>
            <a:off x="4248150" y="15621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6CB808C-7C50-4511-9053-8D07B7F6D94B}"/>
              </a:ext>
            </a:extLst>
          </p:cNvPr>
          <p:cNvSpPr>
            <a:spLocks noGrp="1"/>
          </p:cNvSpPr>
          <p:nvPr/>
        </p:nvSpPr>
        <p:spPr>
          <a:xfrm>
            <a:off x="4400550" y="17049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2EAF53-C85E-4C57-8156-459E64EA5FE0}"/>
              </a:ext>
            </a:extLst>
          </p:cNvPr>
          <p:cNvSpPr>
            <a:spLocks noGrp="1"/>
          </p:cNvSpPr>
          <p:nvPr/>
        </p:nvSpPr>
        <p:spPr>
          <a:xfrm>
            <a:off x="4400550" y="17049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14DEF5-1D81-4451-8565-783C0BEBC7D2}"/>
              </a:ext>
            </a:extLst>
          </p:cNvPr>
          <p:cNvSpPr>
            <a:spLocks noGrp="1"/>
          </p:cNvSpPr>
          <p:nvPr/>
        </p:nvSpPr>
        <p:spPr>
          <a:xfrm>
            <a:off x="4800600" y="16954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MESSAGING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9F27C9-7804-4C7D-BEC0-FC3D26BF6DB2}"/>
              </a:ext>
            </a:extLst>
          </p:cNvPr>
          <p:cNvSpPr>
            <a:spLocks noGrp="1"/>
          </p:cNvSpPr>
          <p:nvPr/>
        </p:nvSpPr>
        <p:spPr>
          <a:xfrm>
            <a:off x="4419600" y="20764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Contacts, metadata, content and timing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B46D75F-8863-4685-A114-930D805CF68A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1A13613-C3C2-4DB8-B6FF-B33133CC3C95}"/>
              </a:ext>
            </a:extLst>
          </p:cNvPr>
          <p:cNvSpPr>
            <a:spLocks noGrp="1"/>
          </p:cNvSpPr>
          <p:nvPr/>
        </p:nvSpPr>
        <p:spPr>
          <a:xfrm>
            <a:off x="8096250" y="17049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491E6-278E-4485-8E2D-8F7253C0AD37}"/>
              </a:ext>
            </a:extLst>
          </p:cNvPr>
          <p:cNvSpPr>
            <a:spLocks noGrp="1"/>
          </p:cNvSpPr>
          <p:nvPr/>
        </p:nvSpPr>
        <p:spPr>
          <a:xfrm>
            <a:off x="8096250" y="17049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6FBBB2-DCEA-464A-9432-0DFA56D1C6DD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BROWSING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8A593E-B4FA-424A-9033-1FC4293B18DC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Sites, searches, clicks and device identifiers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DAC2FAC-967D-4778-BFD5-E5A37813142F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99168B7-63B1-4C95-BBB4-FD5E79715EBB}"/>
              </a:ext>
            </a:extLst>
          </p:cNvPr>
          <p:cNvSpPr>
            <a:spLocks noGrp="1"/>
          </p:cNvSpPr>
          <p:nvPr/>
        </p:nvSpPr>
        <p:spPr>
          <a:xfrm>
            <a:off x="704850" y="35718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14490D-4B97-43C4-9FB6-DB957CE5A40E}"/>
              </a:ext>
            </a:extLst>
          </p:cNvPr>
          <p:cNvSpPr>
            <a:spLocks noGrp="1"/>
          </p:cNvSpPr>
          <p:nvPr/>
        </p:nvSpPr>
        <p:spPr>
          <a:xfrm>
            <a:off x="704850" y="35718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3438D0-1396-48CC-8FA7-A1B13C084250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8E29C7-7030-45E6-9B1F-688F37CF61C1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Merchant, amount, time and transaction history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ABA45C6-6DBC-461A-BA78-6F15AF0D59C1}"/>
              </a:ext>
            </a:extLst>
          </p:cNvPr>
          <p:cNvSpPr>
            <a:spLocks noGrp="1"/>
          </p:cNvSpPr>
          <p:nvPr/>
        </p:nvSpPr>
        <p:spPr>
          <a:xfrm>
            <a:off x="4248150" y="34290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110126F-4209-4854-87A2-290ADF181D39}"/>
              </a:ext>
            </a:extLst>
          </p:cNvPr>
          <p:cNvSpPr>
            <a:spLocks noGrp="1"/>
          </p:cNvSpPr>
          <p:nvPr/>
        </p:nvSpPr>
        <p:spPr>
          <a:xfrm>
            <a:off x="4400550" y="35718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21858D9-303E-4916-AAD6-C8C6C1A7D7D9}"/>
              </a:ext>
            </a:extLst>
          </p:cNvPr>
          <p:cNvSpPr>
            <a:spLocks noGrp="1"/>
          </p:cNvSpPr>
          <p:nvPr/>
        </p:nvSpPr>
        <p:spPr>
          <a:xfrm>
            <a:off x="4400550" y="35718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464EC0-40E4-40AB-88D6-C3D71057604D}"/>
              </a:ext>
            </a:extLst>
          </p:cNvPr>
          <p:cNvSpPr>
            <a:spLocks noGrp="1"/>
          </p:cNvSpPr>
          <p:nvPr/>
        </p:nvSpPr>
        <p:spPr>
          <a:xfrm>
            <a:off x="4800600" y="35623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HEALTH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C613D3-850A-4675-A171-9F147F55E16A}"/>
              </a:ext>
            </a:extLst>
          </p:cNvPr>
          <p:cNvSpPr>
            <a:spLocks noGrp="1"/>
          </p:cNvSpPr>
          <p:nvPr/>
        </p:nvSpPr>
        <p:spPr>
          <a:xfrm>
            <a:off x="4419600" y="39433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Symptoms, appointments, sleep and activity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1B6EA49-D08E-47C8-AF26-8264D5E947AB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337185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D5D1DE10-2984-41DB-8E54-DAD5F10A31AC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E6243C-4DF7-48D1-A878-15AB10825F2D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8F0502-56E1-4866-8DF9-B6877EF98947}"/>
              </a:ext>
            </a:extLst>
          </p:cNvPr>
          <p:cNvSpPr>
            <a:spLocks noGrp="1"/>
          </p:cNvSpPr>
          <p:nvPr/>
        </p:nvSpPr>
        <p:spPr>
          <a:xfrm>
            <a:off x="8496300" y="35623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BIOMETRICS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4C43C8D-70AF-4839-AD0A-EB5B492BB699}"/>
              </a:ext>
            </a:extLst>
          </p:cNvPr>
          <p:cNvSpPr>
            <a:spLocks noGrp="1"/>
          </p:cNvSpPr>
          <p:nvPr/>
        </p:nvSpPr>
        <p:spPr>
          <a:xfrm>
            <a:off x="8115300" y="3943350"/>
            <a:ext cx="3028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Face, voice, fingerprint and gait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1FB7E3E-9083-4CFE-8E7D-CFF11CA6E3C3}"/>
              </a:ext>
            </a:extLst>
          </p:cNvPr>
          <p:cNvSpPr>
            <a:spLocks noGrp="1"/>
          </p:cNvSpPr>
          <p:nvPr/>
        </p:nvSpPr>
        <p:spPr>
          <a:xfrm>
            <a:off x="1047750" y="53244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WHO?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1F239AE-FB17-4333-B5EF-3CCF6778DE44}"/>
              </a:ext>
            </a:extLst>
          </p:cNvPr>
          <p:cNvSpPr>
            <a:spLocks noGrp="1"/>
          </p:cNvSpPr>
          <p:nvPr/>
        </p:nvSpPr>
        <p:spPr>
          <a:xfrm>
            <a:off x="5000625" y="53244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1F588D9-5E5E-46A7-9985-09D19BAB8B1A}"/>
              </a:ext>
            </a:extLst>
          </p:cNvPr>
          <p:cNvSpPr>
            <a:spLocks noGrp="1"/>
          </p:cNvSpPr>
          <p:nvPr/>
        </p:nvSpPr>
        <p:spPr>
          <a:xfrm>
            <a:off x="8953500" y="53244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WHAT FOLLOWS?</a:t>
            </a:r>
          </a:p>
        </p:txBody>
      </p:sp>
    </p:spTree>
    <p:extLst>
      <p:ext uri="{BB962C8B-B14F-4D97-AF65-F5344CB8AC3E}">
        <p14:creationId xmlns:p14="http://schemas.microsoft.com/office/powerpoint/2010/main" val="20294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1EB7052-04BA-474A-8D9A-B744E3BBC357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B271CA-F393-4AC4-9CD7-E791BEDD4DD8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Privacy, data protection, and data security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B99CBC22-8702-4FCE-AB0A-620B8257BA4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A1378-F979-4469-83FB-85B35E5C482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8B5909E-8A7B-4CFE-A0AE-56375545C62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0B6E01-753A-4487-A252-1BBC3E790737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These concepts overlap, but each asks a different question.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403E9B-374E-4A9F-8304-BD699672DD39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36C563-DBEF-495A-B83C-A192A456F967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471ACB3-8BF0-44DA-A9CB-0E74194DC1F9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4991100" cy="1066800"/>
          </a:xfrm>
          <a:prstGeom prst="roundRect">
            <a:avLst>
              <a:gd name="adj" fmla="val 12500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8DCF52-A7C2-48C7-9265-B0FF2F1470B2}"/>
              </a:ext>
            </a:extLst>
          </p:cNvPr>
          <p:cNvSpPr>
            <a:spLocks noGrp="1"/>
          </p:cNvSpPr>
          <p:nvPr/>
        </p:nvSpPr>
        <p:spPr>
          <a:xfrm>
            <a:off x="800100" y="13335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000" b="0" i="1">
                <a:solidFill>
                  <a:srgbClr val="003366"/>
                </a:solidFill>
                <a:latin typeface="Georgia"/>
                <a:ea typeface="Georgia"/>
                <a:cs typeface="Georgia"/>
              </a:defRPr>
            </a:pPr>
            <a:r>
              <a:rPr sz="2000" b="0" i="1">
                <a:solidFill>
                  <a:srgbClr val="003366"/>
                </a:solidFill>
                <a:latin typeface="Georgia"/>
                <a:ea typeface="Georgia"/>
                <a:cs typeface="Georgia"/>
              </a:rPr>
              <a:t>“The right to be let alone.”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95FBB3-ABCF-40D6-AE8B-A04B6A1D48ED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Warren &amp; Brandeis, 1890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8344DBC-1EC2-43CA-BCD4-80CE8CB8B49E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4991100" cy="1524000"/>
          </a:xfrm>
          <a:prstGeom prst="roundRect">
            <a:avLst>
              <a:gd name="adj" fmla="val 8750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C8E631-3B92-40AC-BC58-F83EFF2E2186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Westin’s control account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6A118B-15E4-43C5-B6A5-5FACB4AF3231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Individuals seek to determine when, how, and to what extent information about them reaches others.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CA591F8-8E5C-47DF-99EC-3BAEC8AFEBBA}"/>
              </a:ext>
            </a:extLst>
          </p:cNvPr>
          <p:cNvSpPr>
            <a:spLocks noGrp="1"/>
          </p:cNvSpPr>
          <p:nvPr/>
        </p:nvSpPr>
        <p:spPr>
          <a:xfrm>
            <a:off x="5962650" y="1123950"/>
            <a:ext cx="5676900" cy="914400"/>
          </a:xfrm>
          <a:prstGeom prst="roundRect">
            <a:avLst>
              <a:gd name="adj" fmla="val 14583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6CB314-842B-4051-8355-98C66A27AD64}"/>
              </a:ext>
            </a:extLst>
          </p:cNvPr>
          <p:cNvSpPr>
            <a:spLocks noGrp="1"/>
          </p:cNvSpPr>
          <p:nvPr/>
        </p:nvSpPr>
        <p:spPr>
          <a:xfrm>
            <a:off x="6134100" y="12573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EF3E05-FCB9-4108-96BC-C9DDC4697D36}"/>
              </a:ext>
            </a:extLst>
          </p:cNvPr>
          <p:cNvSpPr>
            <a:spLocks noGrp="1"/>
          </p:cNvSpPr>
          <p:nvPr/>
        </p:nvSpPr>
        <p:spPr>
          <a:xfrm>
            <a:off x="6134100" y="1562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boundaries protect personal life, relationships, identity, and autonomy?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15C1D16-FE1C-4DCB-B93F-140B20798B97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5676900" cy="914400"/>
          </a:xfrm>
          <a:prstGeom prst="roundRect">
            <a:avLst>
              <a:gd name="adj" fmla="val 14583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80247E-8B24-4F02-A968-BA55DCB135FB}"/>
              </a:ext>
            </a:extLst>
          </p:cNvPr>
          <p:cNvSpPr>
            <a:spLocks noGrp="1"/>
          </p:cNvSpPr>
          <p:nvPr/>
        </p:nvSpPr>
        <p:spPr>
          <a:xfrm>
            <a:off x="6134100" y="22860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523597-1F15-420E-9DF2-5AF72EFCFA48}"/>
              </a:ext>
            </a:extLst>
          </p:cNvPr>
          <p:cNvSpPr>
            <a:spLocks noGrp="1"/>
          </p:cNvSpPr>
          <p:nvPr/>
        </p:nvSpPr>
        <p:spPr>
          <a:xfrm>
            <a:off x="6143625" y="2615234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rules govern the processing of information about identifiable people?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1794111-8B7C-421F-BC7E-8AB08BC87CA1}"/>
              </a:ext>
            </a:extLst>
          </p:cNvPr>
          <p:cNvSpPr>
            <a:spLocks noGrp="1"/>
          </p:cNvSpPr>
          <p:nvPr/>
        </p:nvSpPr>
        <p:spPr>
          <a:xfrm>
            <a:off x="5962650" y="3181350"/>
            <a:ext cx="5676900" cy="914400"/>
          </a:xfrm>
          <a:prstGeom prst="roundRect">
            <a:avLst>
              <a:gd name="adj" fmla="val 14583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B0BF7D-FD65-45EA-9B86-7B09E611C959}"/>
              </a:ext>
            </a:extLst>
          </p:cNvPr>
          <p:cNvSpPr>
            <a:spLocks noGrp="1"/>
          </p:cNvSpPr>
          <p:nvPr/>
        </p:nvSpPr>
        <p:spPr>
          <a:xfrm>
            <a:off x="6134100" y="33147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SECURITY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F522EF-8D70-462B-BF26-81133C6F057C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safeguards protect confidentiality, integrity, and availability?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4617600-16F9-4A26-999C-715244B92B0A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8858250" cy="9144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33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528DCE-C3F1-4E25-9834-5B1533E61189}"/>
              </a:ext>
            </a:extLst>
          </p:cNvPr>
          <p:cNvSpPr>
            <a:spLocks noGrp="1"/>
          </p:cNvSpPr>
          <p:nvPr/>
        </p:nvSpPr>
        <p:spPr>
          <a:xfrm>
            <a:off x="1981200" y="4648200"/>
            <a:ext cx="8324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One system can be secure yet still violate privacy when it collects too much data or uses it outside the expected context.</a:t>
            </a:r>
          </a:p>
        </p:txBody>
      </p:sp>
    </p:spTree>
    <p:extLst>
      <p:ext uri="{BB962C8B-B14F-4D97-AF65-F5344CB8AC3E}">
        <p14:creationId xmlns:p14="http://schemas.microsoft.com/office/powerpoint/2010/main" val="85012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5C9786AA-3106-4B85-9BED-C9D79F51CC2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D2A5E2-570F-4993-9698-FDBFB0E77F4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Control and relational accounts of privacy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294C49A-9FB6-497A-BE79-F5102CDE722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457FB3-FD0F-4DA5-87B3-6667965E748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D6DCC00-3430-4F6E-B7AB-29A956CB7869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DE80F3-A81F-4DE4-B795-D9226B6456A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Control explains individual choice; relational accounts expose power across the data ecosystem.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57467C-E4FB-4DBE-A28F-890C250F562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95CA19-0015-49A7-B1CF-E64CF403FD4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0B7A1EC-CC40-4F47-AB9E-3676838744A1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5219700" cy="3619500"/>
          </a:xfrm>
          <a:prstGeom prst="roundRect">
            <a:avLst>
              <a:gd name="adj" fmla="val 4211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744B52-8D29-4109-AB6D-0742F82165AE}"/>
              </a:ext>
            </a:extLst>
          </p:cNvPr>
          <p:cNvSpPr>
            <a:spLocks noGrp="1"/>
          </p:cNvSpPr>
          <p:nvPr/>
        </p:nvSpPr>
        <p:spPr>
          <a:xfrm>
            <a:off x="819150" y="139065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49C8F6-7591-4B54-A8AE-060ADA94AFEE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46863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Agency: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person controls disclosure and access.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Mechanism: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notice, choice, consent, and withdrawal.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Strength: </a:t>
            </a:r>
            <a:r>
              <a:rPr sz="15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centres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autonomy and personal boundaries.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Limit: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assumes people can understand and refuse.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02F752F-A1CD-4037-8E79-C5A6443C4E52}"/>
              </a:ext>
            </a:extLst>
          </p:cNvPr>
          <p:cNvSpPr>
            <a:spLocks noGrp="1"/>
          </p:cNvSpPr>
          <p:nvPr/>
        </p:nvSpPr>
        <p:spPr>
          <a:xfrm>
            <a:off x="6419850" y="1162050"/>
            <a:ext cx="5219700" cy="3619500"/>
          </a:xfrm>
          <a:prstGeom prst="roundRect">
            <a:avLst>
              <a:gd name="adj" fmla="val 4211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D30160-088B-492A-A9C6-266370B04E87}"/>
              </a:ext>
            </a:extLst>
          </p:cNvPr>
          <p:cNvSpPr>
            <a:spLocks noGrp="1"/>
          </p:cNvSpPr>
          <p:nvPr/>
        </p:nvSpPr>
        <p:spPr>
          <a:xfrm>
            <a:off x="6686550" y="139065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RELATIONAL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36B8F6-356F-4E80-BD4C-E439E6BAD9DD}"/>
              </a:ext>
            </a:extLst>
          </p:cNvPr>
          <p:cNvSpPr>
            <a:spLocks noGrp="1"/>
          </p:cNvSpPr>
          <p:nvPr/>
        </p:nvSpPr>
        <p:spPr>
          <a:xfrm>
            <a:off x="6724650" y="1924050"/>
            <a:ext cx="46482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Relations: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privacy depends on roles and expectations.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Responsibility: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duties extend across </a:t>
            </a:r>
            <a:r>
              <a:rPr sz="15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organisations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and vendors.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Vulnerability: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ability to refuse is unevenly distributed.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Question: </a:t>
            </a:r>
            <a:r>
              <a:rPr sz="15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who gains power when data moves?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7E67342-42F8-464A-BC62-9BC4F005B137}"/>
              </a:ext>
            </a:extLst>
          </p:cNvPr>
          <p:cNvSpPr>
            <a:spLocks noGrp="1"/>
          </p:cNvSpPr>
          <p:nvPr/>
        </p:nvSpPr>
        <p:spPr>
          <a:xfrm>
            <a:off x="2190750" y="5162550"/>
            <a:ext cx="2095500" cy="495300"/>
          </a:xfrm>
          <a:prstGeom prst="roundRect">
            <a:avLst>
              <a:gd name="adj" fmla="val 2307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0F2B89-A1EE-46FE-AE07-8267F735C186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INDIVIDUAL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05E12154-6641-4FB6-B679-E9CB94B9103B}"/>
              </a:ext>
            </a:extLst>
          </p:cNvPr>
          <p:cNvSpPr>
            <a:spLocks noGrp="1"/>
          </p:cNvSpPr>
          <p:nvPr/>
        </p:nvSpPr>
        <p:spPr>
          <a:xfrm>
            <a:off x="4381500" y="5305425"/>
            <a:ext cx="3619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4307149-0BC0-4A2C-A212-B8673EB97161}"/>
              </a:ext>
            </a:extLst>
          </p:cNvPr>
          <p:cNvSpPr>
            <a:spLocks noGrp="1"/>
          </p:cNvSpPr>
          <p:nvPr/>
        </p:nvSpPr>
        <p:spPr>
          <a:xfrm>
            <a:off x="5048250" y="5162550"/>
            <a:ext cx="2095500" cy="495300"/>
          </a:xfrm>
          <a:prstGeom prst="roundRect">
            <a:avLst>
              <a:gd name="adj" fmla="val 2307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2707D8-8A67-4598-A168-FC378B883919}"/>
              </a:ext>
            </a:extLst>
          </p:cNvPr>
          <p:cNvSpPr>
            <a:spLocks noGrp="1"/>
          </p:cNvSpPr>
          <p:nvPr/>
        </p:nvSpPr>
        <p:spPr>
          <a:xfrm>
            <a:off x="5143500" y="52578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RELATIONSHIP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7D674F39-C327-4BB7-BD2B-D0AE24B29771}"/>
              </a:ext>
            </a:extLst>
          </p:cNvPr>
          <p:cNvSpPr>
            <a:spLocks noGrp="1"/>
          </p:cNvSpPr>
          <p:nvPr/>
        </p:nvSpPr>
        <p:spPr>
          <a:xfrm>
            <a:off x="7239000" y="5305425"/>
            <a:ext cx="3619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46DF5D6-379E-4C41-B487-AF6F5E9B1706}"/>
              </a:ext>
            </a:extLst>
          </p:cNvPr>
          <p:cNvSpPr>
            <a:spLocks noGrp="1"/>
          </p:cNvSpPr>
          <p:nvPr/>
        </p:nvSpPr>
        <p:spPr>
          <a:xfrm>
            <a:off x="7905750" y="5162550"/>
            <a:ext cx="2095500" cy="495300"/>
          </a:xfrm>
          <a:prstGeom prst="roundRect">
            <a:avLst>
              <a:gd name="adj" fmla="val 23077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2ED3C0-4BA9-4EFF-9DCD-8BEE6B92B382}"/>
              </a:ext>
            </a:extLst>
          </p:cNvPr>
          <p:cNvSpPr>
            <a:spLocks noGrp="1"/>
          </p:cNvSpPr>
          <p:nvPr/>
        </p:nvSpPr>
        <p:spPr>
          <a:xfrm>
            <a:off x="8001000" y="52578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ECOSYSTEM</a:t>
            </a:r>
          </a:p>
        </p:txBody>
      </p:sp>
    </p:spTree>
    <p:extLst>
      <p:ext uri="{BB962C8B-B14F-4D97-AF65-F5344CB8AC3E}">
        <p14:creationId xmlns:p14="http://schemas.microsoft.com/office/powerpoint/2010/main" val="14911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FE9DA7C-224D-4F0D-9D68-D7F1A4FC920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C020BB-2744-4B72-9725-A9DF6B0D16D5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risks amplified by AI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4727BFC-8535-4D08-8094-5B3F2ECD43E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D3035F-EA75-4562-B824-5A009A34533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7429B66-3440-49CF-B851-1EF1E95436B4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C86CDE-898B-40B3-AD89-0F9A93D4274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changes the scale, depth, visibility, and duration of personal-data processing.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A5FE60-ACD3-4C95-A196-3036FDE25989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DB272C-F446-4498-A525-0347E772954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2D0D06D-5C7D-4D9F-9212-8FA3BA5B62CB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57450" cy="3581400"/>
          </a:xfrm>
          <a:prstGeom prst="roundRect">
            <a:avLst>
              <a:gd name="adj" fmla="val 6202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B026C8-C545-4D96-AB29-7AAB35E956E4}"/>
              </a:ext>
            </a:extLst>
          </p:cNvPr>
          <p:cNvSpPr>
            <a:spLocks noGrp="1"/>
          </p:cNvSpPr>
          <p:nvPr/>
        </p:nvSpPr>
        <p:spPr>
          <a:xfrm>
            <a:off x="742950" y="1466850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2B4F7C-3153-402D-9B34-942DDA31985E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36DE27-E136-4C12-8066-5EFBC5055346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200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Models can process billions of records and connect data across services.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214EF59-37FA-49FA-8EF5-B6E7C0DE63A1}"/>
              </a:ext>
            </a:extLst>
          </p:cNvPr>
          <p:cNvSpPr>
            <a:spLocks noGrp="1"/>
          </p:cNvSpPr>
          <p:nvPr/>
        </p:nvSpPr>
        <p:spPr>
          <a:xfrm>
            <a:off x="1257300" y="43434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22D0B48-BE7F-4756-87A1-B7B8A61708C4}"/>
              </a:ext>
            </a:extLst>
          </p:cNvPr>
          <p:cNvSpPr>
            <a:spLocks noGrp="1"/>
          </p:cNvSpPr>
          <p:nvPr/>
        </p:nvSpPr>
        <p:spPr>
          <a:xfrm>
            <a:off x="3333750" y="1257300"/>
            <a:ext cx="2457450" cy="3581400"/>
          </a:xfrm>
          <a:prstGeom prst="roundRect">
            <a:avLst>
              <a:gd name="adj" fmla="val 6202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F2BC00-391A-485F-89B8-7DD923F83D1C}"/>
              </a:ext>
            </a:extLst>
          </p:cNvPr>
          <p:cNvSpPr>
            <a:spLocks noGrp="1"/>
          </p:cNvSpPr>
          <p:nvPr/>
        </p:nvSpPr>
        <p:spPr>
          <a:xfrm>
            <a:off x="3524250" y="1466850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27CFCB-B68E-40FC-B491-4923ACEA2A7A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8177CB-8C8B-462B-A557-C67E8F550BB4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200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Systems derive attributes that a person never disclosed directly.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B98B709-B899-4A94-863D-DE518B24DEE6}"/>
              </a:ext>
            </a:extLst>
          </p:cNvPr>
          <p:cNvSpPr>
            <a:spLocks noGrp="1"/>
          </p:cNvSpPr>
          <p:nvPr/>
        </p:nvSpPr>
        <p:spPr>
          <a:xfrm>
            <a:off x="4038600" y="43434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C3BC975C-C30A-4B2C-88BA-59E36F70B3C1}"/>
              </a:ext>
            </a:extLst>
          </p:cNvPr>
          <p:cNvSpPr>
            <a:spLocks noGrp="1"/>
          </p:cNvSpPr>
          <p:nvPr/>
        </p:nvSpPr>
        <p:spPr>
          <a:xfrm>
            <a:off x="6115050" y="1257300"/>
            <a:ext cx="2457450" cy="3581400"/>
          </a:xfrm>
          <a:prstGeom prst="roundRect">
            <a:avLst>
              <a:gd name="adj" fmla="val 6202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AE265F-ABA8-4EAE-8CDD-EB1A0286851E}"/>
              </a:ext>
            </a:extLst>
          </p:cNvPr>
          <p:cNvSpPr>
            <a:spLocks noGrp="1"/>
          </p:cNvSpPr>
          <p:nvPr/>
        </p:nvSpPr>
        <p:spPr>
          <a:xfrm>
            <a:off x="6305550" y="1466850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665AAE-3ED6-4DCA-990B-5C78BE9EC759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086A0C-A3CD-4C5B-8A46-D7EF96862E68}"/>
              </a:ext>
            </a:extLst>
          </p:cNvPr>
          <p:cNvSpPr>
            <a:spLocks noGrp="1"/>
          </p:cNvSpPr>
          <p:nvPr/>
        </p:nvSpPr>
        <p:spPr>
          <a:xfrm>
            <a:off x="6343650" y="2762250"/>
            <a:ext cx="200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People often cannot see the model, data lineage, or decision logic.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C2F6210-106E-4684-90C9-630D081BF8B9}"/>
              </a:ext>
            </a:extLst>
          </p:cNvPr>
          <p:cNvSpPr>
            <a:spLocks noGrp="1"/>
          </p:cNvSpPr>
          <p:nvPr/>
        </p:nvSpPr>
        <p:spPr>
          <a:xfrm>
            <a:off x="6819900" y="43434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B58A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407C21E-02DC-485A-85FA-FDA4B968F277}"/>
              </a:ext>
            </a:extLst>
          </p:cNvPr>
          <p:cNvSpPr>
            <a:spLocks noGrp="1"/>
          </p:cNvSpPr>
          <p:nvPr/>
        </p:nvSpPr>
        <p:spPr>
          <a:xfrm>
            <a:off x="8896350" y="1257300"/>
            <a:ext cx="2457450" cy="3581400"/>
          </a:xfrm>
          <a:prstGeom prst="roundRect">
            <a:avLst>
              <a:gd name="adj" fmla="val 6202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6B6521-4416-40B8-BD47-1341483E3720}"/>
              </a:ext>
            </a:extLst>
          </p:cNvPr>
          <p:cNvSpPr>
            <a:spLocks noGrp="1"/>
          </p:cNvSpPr>
          <p:nvPr/>
        </p:nvSpPr>
        <p:spPr>
          <a:xfrm>
            <a:off x="9086850" y="1466850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E5E4D7-120E-43A2-88D0-E5E5F9188A52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33639F-AB33-4CBE-BDD9-CB6AFF9EEADD}"/>
              </a:ext>
            </a:extLst>
          </p:cNvPr>
          <p:cNvSpPr>
            <a:spLocks noGrp="1"/>
          </p:cNvSpPr>
          <p:nvPr/>
        </p:nvSpPr>
        <p:spPr>
          <a:xfrm>
            <a:off x="9124950" y="2762250"/>
            <a:ext cx="200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Copies, embeddings, profiles, and model behaviour may outlast the original context.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25E47E3-BF40-497D-B0D7-799CD207B0E5}"/>
              </a:ext>
            </a:extLst>
          </p:cNvPr>
          <p:cNvSpPr>
            <a:spLocks noGrp="1"/>
          </p:cNvSpPr>
          <p:nvPr/>
        </p:nvSpPr>
        <p:spPr>
          <a:xfrm>
            <a:off x="9601200" y="43434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0ABAB0-F895-437D-8D1C-5DF9F12F1FFB}"/>
              </a:ext>
            </a:extLst>
          </p:cNvPr>
          <p:cNvSpPr>
            <a:spLocks noGrp="1"/>
          </p:cNvSpPr>
          <p:nvPr/>
        </p:nvSpPr>
        <p:spPr>
          <a:xfrm>
            <a:off x="2000250" y="518160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can create sensitive knowledge without collecting a sensitive field.</a:t>
            </a:r>
          </a:p>
        </p:txBody>
      </p:sp>
    </p:spTree>
    <p:extLst>
      <p:ext uri="{BB962C8B-B14F-4D97-AF65-F5344CB8AC3E}">
        <p14:creationId xmlns:p14="http://schemas.microsoft.com/office/powerpoint/2010/main" val="1969275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76DD188D-99CE-4E4F-AE25-FF2937DBD26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CA6A11-E790-471F-8509-15B4C8B3314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279A081-47A3-4AB0-BB9D-D80B4504F2E6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935BC5-E087-4B02-A4BB-49FF4F7D6B5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78D28B5-156E-49CB-A9F4-D7C548830A32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FEB322-ACAD-4705-BEFB-E7D7080F9EC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Identifiability can arise directly, indirectly, or through linkage with other data.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64EB9F-0F24-45A2-9838-62DB91AAA678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EDDCC3-4273-4626-B3E4-4276EE5CB2C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00345F5-A79A-4170-94C3-4546217A10C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11087100" cy="838200"/>
          </a:xfrm>
          <a:prstGeom prst="roundRect">
            <a:avLst>
              <a:gd name="adj" fmla="val 1590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3929E2-1ED9-4070-8109-ADC038B38E1E}"/>
              </a:ext>
            </a:extLst>
          </p:cNvPr>
          <p:cNvSpPr>
            <a:spLocks noGrp="1"/>
          </p:cNvSpPr>
          <p:nvPr/>
        </p:nvSpPr>
        <p:spPr>
          <a:xfrm>
            <a:off x="819150" y="1304925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“Any information relating to an identified or identifiable natural person.”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B0FAD3-41AB-45F4-AB6E-FF3D582F0FC6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0553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00" b="0" i="0">
                <a:solidFill>
                  <a:srgbClr val="C7E0F3"/>
                </a:solidFill>
                <a:latin typeface="Arial"/>
                <a:ea typeface="Arial"/>
                <a:cs typeface="Arial"/>
              </a:defRPr>
            </a:pPr>
            <a:r>
              <a:rPr sz="1000" b="0" i="0">
                <a:solidFill>
                  <a:srgbClr val="C7E0F3"/>
                </a:solidFill>
                <a:latin typeface="Arial"/>
                <a:ea typeface="Arial"/>
                <a:cs typeface="Arial"/>
              </a:rPr>
              <a:t>GDPR Article 4(1)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4FABB4-02E7-4A03-80F4-5A149A789750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DIRECT IDENTIFIERS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3F6292-3C69-4902-A83A-27EE17522C25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3238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Name or identification number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Email address or account ID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Face image used for identification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71FE26-CF4F-4D39-B99E-A4C3A6857F0C}"/>
              </a:ext>
            </a:extLst>
          </p:cNvPr>
          <p:cNvSpPr>
            <a:spLocks noGrp="1"/>
          </p:cNvSpPr>
          <p:nvPr/>
        </p:nvSpPr>
        <p:spPr>
          <a:xfrm>
            <a:off x="4476750" y="2305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INDIRECT IDENTIFIERS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3FDE37-8ED1-439B-8CD4-8F540DB17AA5}"/>
              </a:ext>
            </a:extLst>
          </p:cNvPr>
          <p:cNvSpPr>
            <a:spLocks noGrp="1"/>
          </p:cNvSpPr>
          <p:nvPr/>
        </p:nvSpPr>
        <p:spPr>
          <a:xfrm>
            <a:off x="4476750" y="2686050"/>
            <a:ext cx="3238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IP address or cookie ID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Location and device fingerprint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Distinctive behavioural patterns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9581F4-1101-4D1C-A0FF-3497C8B75EF1}"/>
              </a:ext>
            </a:extLst>
          </p:cNvPr>
          <p:cNvSpPr>
            <a:spLocks noGrp="1"/>
          </p:cNvSpPr>
          <p:nvPr/>
        </p:nvSpPr>
        <p:spPr>
          <a:xfrm>
            <a:off x="8401050" y="2305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AI-SPECIFIC QUESTIONS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4C8739-BEE3-4F65-9371-2DA5A25EE1B9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3238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records be linked?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the model single someone out?</a:t>
            </a:r>
          </a:p>
          <a:p>
            <a:pPr marL="254000" indent="-127000" algn="l">
              <a:lnSpc>
                <a:spcPct val="105000"/>
              </a:lnSpc>
              <a:spcAft>
                <a:spcPts val="9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an output reveal training data?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391C4AB-F650-467E-9CA7-CA751A7F8062}"/>
              </a:ext>
            </a:extLst>
          </p:cNvPr>
          <p:cNvSpPr>
            <a:spLocks noGrp="1"/>
          </p:cNvSpPr>
          <p:nvPr/>
        </p:nvSpPr>
        <p:spPr>
          <a:xfrm>
            <a:off x="1562100" y="4762500"/>
            <a:ext cx="2381250" cy="666750"/>
          </a:xfrm>
          <a:prstGeom prst="roundRect">
            <a:avLst>
              <a:gd name="adj" fmla="val 1714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AEE480-5800-4023-ADAC-B3F21542E8C3}"/>
              </a:ext>
            </a:extLst>
          </p:cNvPr>
          <p:cNvSpPr>
            <a:spLocks noGrp="1"/>
          </p:cNvSpPr>
          <p:nvPr/>
        </p:nvSpPr>
        <p:spPr>
          <a:xfrm>
            <a:off x="1657350" y="48577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POINT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0937E4-146A-4DDC-8262-B5604F508970}"/>
              </a:ext>
            </a:extLst>
          </p:cNvPr>
          <p:cNvSpPr>
            <a:spLocks noGrp="1"/>
          </p:cNvSpPr>
          <p:nvPr/>
        </p:nvSpPr>
        <p:spPr>
          <a:xfrm>
            <a:off x="1676400" y="5172075"/>
            <a:ext cx="21526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7362D034-F45C-4C13-8C52-EE1AF4CE9BC3}"/>
              </a:ext>
            </a:extLst>
          </p:cNvPr>
          <p:cNvSpPr>
            <a:spLocks noGrp="1"/>
          </p:cNvSpPr>
          <p:nvPr/>
        </p:nvSpPr>
        <p:spPr>
          <a:xfrm>
            <a:off x="4114800" y="4991100"/>
            <a:ext cx="4000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E77FCEF-DA30-455E-A568-22C1CF4B73D8}"/>
              </a:ext>
            </a:extLst>
          </p:cNvPr>
          <p:cNvSpPr>
            <a:spLocks noGrp="1"/>
          </p:cNvSpPr>
          <p:nvPr/>
        </p:nvSpPr>
        <p:spPr>
          <a:xfrm>
            <a:off x="4800600" y="4762500"/>
            <a:ext cx="2381250" cy="666750"/>
          </a:xfrm>
          <a:prstGeom prst="roundRect">
            <a:avLst>
              <a:gd name="adj" fmla="val 1714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A1ADA-DE3F-453B-98F4-F86E9511B5D3}"/>
              </a:ext>
            </a:extLst>
          </p:cNvPr>
          <p:cNvSpPr>
            <a:spLocks noGrp="1"/>
          </p:cNvSpPr>
          <p:nvPr/>
        </p:nvSpPr>
        <p:spPr>
          <a:xfrm>
            <a:off x="4895850" y="48577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LINKAGE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50A35E-4BCE-46AA-B6B0-1F8F3ECA4071}"/>
              </a:ext>
            </a:extLst>
          </p:cNvPr>
          <p:cNvSpPr>
            <a:spLocks noGrp="1"/>
          </p:cNvSpPr>
          <p:nvPr/>
        </p:nvSpPr>
        <p:spPr>
          <a:xfrm>
            <a:off x="4914900" y="5172075"/>
            <a:ext cx="21526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device + account</a:t>
            </a:r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2D4145B1-1C18-40B0-A50D-F70AFE21DBB8}"/>
              </a:ext>
            </a:extLst>
          </p:cNvPr>
          <p:cNvSpPr>
            <a:spLocks noGrp="1"/>
          </p:cNvSpPr>
          <p:nvPr/>
        </p:nvSpPr>
        <p:spPr>
          <a:xfrm>
            <a:off x="7353300" y="4991100"/>
            <a:ext cx="4000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9275C2E-4273-467F-8D0B-CFFA41D4AF25}"/>
              </a:ext>
            </a:extLst>
          </p:cNvPr>
          <p:cNvSpPr>
            <a:spLocks noGrp="1"/>
          </p:cNvSpPr>
          <p:nvPr/>
        </p:nvSpPr>
        <p:spPr>
          <a:xfrm>
            <a:off x="8039100" y="4762500"/>
            <a:ext cx="2381250" cy="666750"/>
          </a:xfrm>
          <a:prstGeom prst="roundRect">
            <a:avLst>
              <a:gd name="adj" fmla="val 17143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D11FC9-2866-4FA7-999B-871AABAEBEAE}"/>
              </a:ext>
            </a:extLst>
          </p:cNvPr>
          <p:cNvSpPr>
            <a:spLocks noGrp="1"/>
          </p:cNvSpPr>
          <p:nvPr/>
        </p:nvSpPr>
        <p:spPr>
          <a:xfrm>
            <a:off x="8134350" y="48577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IDENTIFIABLE PERSON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FD6DBD-C817-4EC3-AC52-D5265E792151}"/>
              </a:ext>
            </a:extLst>
          </p:cNvPr>
          <p:cNvSpPr>
            <a:spLocks noGrp="1"/>
          </p:cNvSpPr>
          <p:nvPr/>
        </p:nvSpPr>
        <p:spPr>
          <a:xfrm>
            <a:off x="8153400" y="5172075"/>
            <a:ext cx="21526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individual</a:t>
            </a:r>
          </a:p>
        </p:txBody>
      </p:sp>
    </p:spTree>
    <p:extLst>
      <p:ext uri="{BB962C8B-B14F-4D97-AF65-F5344CB8AC3E}">
        <p14:creationId xmlns:p14="http://schemas.microsoft.com/office/powerpoint/2010/main" val="630598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9D65FA43-B0C0-4A04-A65A-E51218423B3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33F68E-9CFC-487D-9A2D-E8FBFA85278D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Special categories of personal data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DC1CFDB-B381-4A8F-A7D6-B679BA3DE6E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E6B03F-069D-4660-AB64-F0348CA890C6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C55C4BA-F5EC-4450-A99B-CF9F1B29CFC2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3FFE66-E527-44B5-8A7E-98D3F334467B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can infer protected characteristics from data that appears ordinary in isolation.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3DFD96-D6AA-4C26-9F55-78F06EC018F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7DA305-9E9A-41D8-B004-FD3B07ABA6F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750C57-CC1B-498C-8EA7-5E2E66A3E69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GDPR Article 9 gives additional protection to data that can create serious risks to rights and freedoms.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BF5FBF-5911-46B2-B813-5618DDB009B7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A8C3010-591E-43EE-BFD7-D07FE4593296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D0D559-D85F-4096-A3A9-5F481327C1FD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A457E9-FDB8-46B1-96DA-22736103F487}"/>
              </a:ext>
            </a:extLst>
          </p:cNvPr>
          <p:cNvSpPr>
            <a:spLocks noGrp="1"/>
          </p:cNvSpPr>
          <p:nvPr/>
        </p:nvSpPr>
        <p:spPr>
          <a:xfrm>
            <a:off x="1104900" y="170497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RACIAL OR ETHNIC ORIGIN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D181CB-CA9A-4438-9497-12763587A633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Images, names, language or location may support an inference.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CF388C3-4DD4-46CC-AAA8-FD7006F40CE4}"/>
              </a:ext>
            </a:extLst>
          </p:cNvPr>
          <p:cNvSpPr>
            <a:spLocks noGrp="1"/>
          </p:cNvSpPr>
          <p:nvPr/>
        </p:nvSpPr>
        <p:spPr>
          <a:xfrm>
            <a:off x="4248150" y="157162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E88384E-683A-4D28-9538-BDEABEA594B5}"/>
              </a:ext>
            </a:extLst>
          </p:cNvPr>
          <p:cNvSpPr>
            <a:spLocks noGrp="1"/>
          </p:cNvSpPr>
          <p:nvPr/>
        </p:nvSpPr>
        <p:spPr>
          <a:xfrm>
            <a:off x="4400550" y="171450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97CA95-0E3B-4049-BA44-232ECC5F09F6}"/>
              </a:ext>
            </a:extLst>
          </p:cNvPr>
          <p:cNvSpPr>
            <a:spLocks noGrp="1"/>
          </p:cNvSpPr>
          <p:nvPr/>
        </p:nvSpPr>
        <p:spPr>
          <a:xfrm>
            <a:off x="4400550" y="17145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7D6B08-9181-4A8A-BBDF-A2218F5DA6D6}"/>
              </a:ext>
            </a:extLst>
          </p:cNvPr>
          <p:cNvSpPr>
            <a:spLocks noGrp="1"/>
          </p:cNvSpPr>
          <p:nvPr/>
        </p:nvSpPr>
        <p:spPr>
          <a:xfrm>
            <a:off x="4800600" y="170497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POLITICAL OR RELIGIOUS BELIEFS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E73F09-75A7-463D-82CE-234FCA64DC7C}"/>
              </a:ext>
            </a:extLst>
          </p:cNvPr>
          <p:cNvSpPr>
            <a:spLocks noGrp="1"/>
          </p:cNvSpPr>
          <p:nvPr/>
        </p:nvSpPr>
        <p:spPr>
          <a:xfrm>
            <a:off x="4419600" y="208597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Likes, subscriptions and movement patterns can reveal affiliations.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29495D1-D636-430C-B47A-30E139B1C472}"/>
              </a:ext>
            </a:extLst>
          </p:cNvPr>
          <p:cNvSpPr>
            <a:spLocks noGrp="1"/>
          </p:cNvSpPr>
          <p:nvPr/>
        </p:nvSpPr>
        <p:spPr>
          <a:xfrm>
            <a:off x="7943850" y="157162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D0B455E-6FB8-4A5A-BB8B-70E893AD1A5E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EA6308-F9A3-42A9-8311-E78F0FBC10A4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643DDF-BFDA-4962-BA78-43537A8FACDE}"/>
              </a:ext>
            </a:extLst>
          </p:cNvPr>
          <p:cNvSpPr>
            <a:spLocks noGrp="1"/>
          </p:cNvSpPr>
          <p:nvPr/>
        </p:nvSpPr>
        <p:spPr>
          <a:xfrm>
            <a:off x="8496300" y="170497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TRADE UNION MEMBERSHIP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912E10-4173-493F-8DDB-5964CCBC782C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Employment and membership records require special care.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B785857-8314-44EB-9FD7-181CB6EBA75E}"/>
              </a:ext>
            </a:extLst>
          </p:cNvPr>
          <p:cNvSpPr>
            <a:spLocks noGrp="1"/>
          </p:cNvSpPr>
          <p:nvPr/>
        </p:nvSpPr>
        <p:spPr>
          <a:xfrm>
            <a:off x="552450" y="345757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F20B5B9-EB2C-45CA-A821-D57AE835B6EB}"/>
              </a:ext>
            </a:extLst>
          </p:cNvPr>
          <p:cNvSpPr>
            <a:spLocks noGrp="1"/>
          </p:cNvSpPr>
          <p:nvPr/>
        </p:nvSpPr>
        <p:spPr>
          <a:xfrm>
            <a:off x="704850" y="360045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F66BF9-517C-4DD1-92E1-ED597FEC9FEA}"/>
              </a:ext>
            </a:extLst>
          </p:cNvPr>
          <p:cNvSpPr>
            <a:spLocks noGrp="1"/>
          </p:cNvSpPr>
          <p:nvPr/>
        </p:nvSpPr>
        <p:spPr>
          <a:xfrm>
            <a:off x="704850" y="3600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8F8632-2E7F-42F3-AE5A-FF377F6CAE2E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GENETIC AND BIOMETRIC DATA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D76BF9-A9A7-4FAA-BA7F-DDFB09ED5408}"/>
              </a:ext>
            </a:extLst>
          </p:cNvPr>
          <p:cNvSpPr>
            <a:spLocks noGrp="1"/>
          </p:cNvSpPr>
          <p:nvPr/>
        </p:nvSpPr>
        <p:spPr>
          <a:xfrm>
            <a:off x="723900" y="397192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Genomes and biometric templates can identify a person uniquely.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CFA10699-5C6C-4854-9440-E8258FCF26AD}"/>
              </a:ext>
            </a:extLst>
          </p:cNvPr>
          <p:cNvSpPr>
            <a:spLocks noGrp="1"/>
          </p:cNvSpPr>
          <p:nvPr/>
        </p:nvSpPr>
        <p:spPr>
          <a:xfrm>
            <a:off x="4248150" y="345757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11B1F854-A1C5-4706-9D2C-ED8E99463135}"/>
              </a:ext>
            </a:extLst>
          </p:cNvPr>
          <p:cNvSpPr>
            <a:spLocks noGrp="1"/>
          </p:cNvSpPr>
          <p:nvPr/>
        </p:nvSpPr>
        <p:spPr>
          <a:xfrm>
            <a:off x="4400550" y="360045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B45BF3-D847-429D-8FFC-5D40D1332DC9}"/>
              </a:ext>
            </a:extLst>
          </p:cNvPr>
          <p:cNvSpPr>
            <a:spLocks noGrp="1"/>
          </p:cNvSpPr>
          <p:nvPr/>
        </p:nvSpPr>
        <p:spPr>
          <a:xfrm>
            <a:off x="4400550" y="3600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315A76-F4ED-48FC-856D-9662D2ED758E}"/>
              </a:ext>
            </a:extLst>
          </p:cNvPr>
          <p:cNvSpPr>
            <a:spLocks noGrp="1"/>
          </p:cNvSpPr>
          <p:nvPr/>
        </p:nvSpPr>
        <p:spPr>
          <a:xfrm>
            <a:off x="4800600" y="359092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HEALTH DATA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038D88-201D-4C69-AB4D-3EDA7B3E7B44}"/>
              </a:ext>
            </a:extLst>
          </p:cNvPr>
          <p:cNvSpPr>
            <a:spLocks noGrp="1"/>
          </p:cNvSpPr>
          <p:nvPr/>
        </p:nvSpPr>
        <p:spPr>
          <a:xfrm>
            <a:off x="4419600" y="397192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Symptoms, searches and service use can reveal health status.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A29BEDB5-163F-41C5-B6B1-1DF9588F6FAD}"/>
              </a:ext>
            </a:extLst>
          </p:cNvPr>
          <p:cNvSpPr>
            <a:spLocks noGrp="1"/>
          </p:cNvSpPr>
          <p:nvPr/>
        </p:nvSpPr>
        <p:spPr>
          <a:xfrm>
            <a:off x="7943850" y="3457575"/>
            <a:ext cx="3371850" cy="1600200"/>
          </a:xfrm>
          <a:prstGeom prst="roundRect">
            <a:avLst>
              <a:gd name="adj" fmla="val 8333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608A12E-4FB4-4633-9605-C476DB5EA831}"/>
              </a:ext>
            </a:extLst>
          </p:cNvPr>
          <p:cNvSpPr>
            <a:spLocks noGrp="1"/>
          </p:cNvSpPr>
          <p:nvPr/>
        </p:nvSpPr>
        <p:spPr>
          <a:xfrm>
            <a:off x="8096250" y="3600450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EE8281-2AAF-406A-AA44-E9F2B973AA54}"/>
              </a:ext>
            </a:extLst>
          </p:cNvPr>
          <p:cNvSpPr>
            <a:spLocks noGrp="1"/>
          </p:cNvSpPr>
          <p:nvPr/>
        </p:nvSpPr>
        <p:spPr>
          <a:xfrm>
            <a:off x="8096250" y="3600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0BBD38-3DF8-4B90-BB77-5534FE0C1823}"/>
              </a:ext>
            </a:extLst>
          </p:cNvPr>
          <p:cNvSpPr>
            <a:spLocks noGrp="1"/>
          </p:cNvSpPr>
          <p:nvPr/>
        </p:nvSpPr>
        <p:spPr>
          <a:xfrm>
            <a:off x="8496300" y="3590925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SEX LIFE OR SEXUAL ORIENTATION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794BF9C-DFA9-42A2-9312-AAEF690A9F3E}"/>
              </a:ext>
            </a:extLst>
          </p:cNvPr>
          <p:cNvSpPr>
            <a:spLocks noGrp="1"/>
          </p:cNvSpPr>
          <p:nvPr/>
        </p:nvSpPr>
        <p:spPr>
          <a:xfrm>
            <a:off x="8115300" y="3971925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Behavioural data may expose highly private characteristics.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5EFEB22-4A05-470B-B350-B30E24594636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4572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57B71E4-BD65-46AF-905A-48027162D3E5}"/>
              </a:ext>
            </a:extLst>
          </p:cNvPr>
          <p:cNvSpPr>
            <a:spLocks noGrp="1"/>
          </p:cNvSpPr>
          <p:nvPr/>
        </p:nvSpPr>
        <p:spPr>
          <a:xfrm>
            <a:off x="1809750" y="5362575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risk follows the meaning produced by the system, not only the field originally collected.</a:t>
            </a:r>
          </a:p>
        </p:txBody>
      </p:sp>
    </p:spTree>
    <p:extLst>
      <p:ext uri="{BB962C8B-B14F-4D97-AF65-F5344CB8AC3E}">
        <p14:creationId xmlns:p14="http://schemas.microsoft.com/office/powerpoint/2010/main" val="1367918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3DF5A8E-5933-4FAE-AD15-EFE09373B25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ED58F-07E1-4C6A-A797-64A233E6AE6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Anonymisation and pseudonymisation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C8FD417-F0A0-4516-84D1-A36244046C7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5B8602-8448-4CFA-A634-B1B5CA5FF36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95391D4-E672-4075-9460-72F10AD276E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6527ED-4F00-47D6-B516-CEC7A1EAAD46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Risk reduction depends on whether a person can still be singled out or re-identified.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1EE3BE-431D-4E9C-A86F-C1698F07D10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1FDE35-58D7-45E4-87A9-2AB59A701CA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0F474E9-5D26-43C8-9387-A4277171CF7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5219700" cy="3352800"/>
          </a:xfrm>
          <a:prstGeom prst="roundRect">
            <a:avLst>
              <a:gd name="adj" fmla="val 4545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752A4C-C758-4C00-A616-44F384469DC4}"/>
              </a:ext>
            </a:extLst>
          </p:cNvPr>
          <p:cNvSpPr>
            <a:spLocks noGrp="1"/>
          </p:cNvSpPr>
          <p:nvPr/>
        </p:nvSpPr>
        <p:spPr>
          <a:xfrm>
            <a:off x="819150" y="1447800"/>
            <a:ext cx="468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ANONYMISATION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4A02A3-ED8F-4C58-913D-E1773E1C5C07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4362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Goal: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prevent identification using means reasonably likely to be used.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Legal effect: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genuinely anonymous information falls outside GDPR.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Challenge: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rich datasets and outside data can enable linkage.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C4C816-E47B-44B3-BB69-6957038976B0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Irreversible in the relevant context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57B9F7F-A90F-4EB4-877F-A077A74DD96F}"/>
              </a:ext>
            </a:extLst>
          </p:cNvPr>
          <p:cNvSpPr>
            <a:spLocks noGrp="1"/>
          </p:cNvSpPr>
          <p:nvPr/>
        </p:nvSpPr>
        <p:spPr>
          <a:xfrm>
            <a:off x="6419850" y="1200150"/>
            <a:ext cx="5219700" cy="3352800"/>
          </a:xfrm>
          <a:prstGeom prst="roundRect">
            <a:avLst>
              <a:gd name="adj" fmla="val 4545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3EEE10-335B-46B0-B730-E474941A560D}"/>
              </a:ext>
            </a:extLst>
          </p:cNvPr>
          <p:cNvSpPr>
            <a:spLocks noGrp="1"/>
          </p:cNvSpPr>
          <p:nvPr/>
        </p:nvSpPr>
        <p:spPr>
          <a:xfrm>
            <a:off x="6686550" y="1447800"/>
            <a:ext cx="468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PSEUDONYMISATION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D91672-494E-460F-ADE3-5688C0675179}"/>
              </a:ext>
            </a:extLst>
          </p:cNvPr>
          <p:cNvSpPr>
            <a:spLocks noGrp="1"/>
          </p:cNvSpPr>
          <p:nvPr/>
        </p:nvSpPr>
        <p:spPr>
          <a:xfrm>
            <a:off x="6743700" y="2057400"/>
            <a:ext cx="4362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Method: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replace identifiers with tokens, codes, or separate keys.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Legal effect: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information remains personal data.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Control: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separate the key, restrict access, and document re-linking.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54E75D-3DE0-41B4-8C08-C4AD38818ADB}"/>
              </a:ext>
            </a:extLst>
          </p:cNvPr>
          <p:cNvSpPr>
            <a:spLocks noGrp="1"/>
          </p:cNvSpPr>
          <p:nvPr/>
        </p:nvSpPr>
        <p:spPr>
          <a:xfrm>
            <a:off x="6915150" y="4019550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Re-attribution remains possible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1AD2A57-D697-4879-A1EA-00F7BF3E4803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2266950" cy="400050"/>
          </a:xfrm>
          <a:prstGeom prst="roundRect">
            <a:avLst>
              <a:gd name="adj" fmla="val 23810"/>
            </a:avLst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C72B84-2AAC-43BA-B318-B7797DF030D1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IDENTIFIABLE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D41E43BC-F6EA-45A6-8FF9-DDC9DFFE5A2E}"/>
              </a:ext>
            </a:extLst>
          </p:cNvPr>
          <p:cNvSpPr>
            <a:spLocks noGrp="1"/>
          </p:cNvSpPr>
          <p:nvPr/>
        </p:nvSpPr>
        <p:spPr>
          <a:xfrm>
            <a:off x="4419600" y="5162550"/>
            <a:ext cx="285750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4E7BA1B4-EEB0-4DBF-B661-B45F10F781E3}"/>
              </a:ext>
            </a:extLst>
          </p:cNvPr>
          <p:cNvSpPr>
            <a:spLocks noGrp="1"/>
          </p:cNvSpPr>
          <p:nvPr/>
        </p:nvSpPr>
        <p:spPr>
          <a:xfrm>
            <a:off x="4819650" y="5067300"/>
            <a:ext cx="2266950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DE3CD0-7560-4EE2-AEB6-5605D0136D9A}"/>
              </a:ext>
            </a:extLst>
          </p:cNvPr>
          <p:cNvSpPr>
            <a:spLocks noGrp="1"/>
          </p:cNvSpPr>
          <p:nvPr/>
        </p:nvSpPr>
        <p:spPr>
          <a:xfrm>
            <a:off x="4819650" y="50673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PSEUDONYMOUS</a:t>
            </a: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70457F5C-6532-43A8-A109-86D95EE90D7C}"/>
              </a:ext>
            </a:extLst>
          </p:cNvPr>
          <p:cNvSpPr>
            <a:spLocks noGrp="1"/>
          </p:cNvSpPr>
          <p:nvPr/>
        </p:nvSpPr>
        <p:spPr>
          <a:xfrm>
            <a:off x="7143750" y="5162550"/>
            <a:ext cx="285750" cy="19050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BD56399-E4E6-4F6C-AF66-CDB5F2591682}"/>
              </a:ext>
            </a:extLst>
          </p:cNvPr>
          <p:cNvSpPr>
            <a:spLocks noGrp="1"/>
          </p:cNvSpPr>
          <p:nvPr/>
        </p:nvSpPr>
        <p:spPr>
          <a:xfrm>
            <a:off x="7543800" y="5067300"/>
            <a:ext cx="2266950" cy="400050"/>
          </a:xfrm>
          <a:prstGeom prst="roundRect">
            <a:avLst>
              <a:gd name="adj" fmla="val 23810"/>
            </a:avLst>
          </a:prstGeom>
          <a:solidFill>
            <a:srgbClr val="1B7F7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7ABF83-8D23-4891-BAA8-52C2B1AF62F2}"/>
              </a:ext>
            </a:extLst>
          </p:cNvPr>
          <p:cNvSpPr>
            <a:spLocks noGrp="1"/>
          </p:cNvSpPr>
          <p:nvPr/>
        </p:nvSpPr>
        <p:spPr>
          <a:xfrm>
            <a:off x="7543800" y="50673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ANONYMOUS</a:t>
            </a:r>
          </a:p>
        </p:txBody>
      </p:sp>
    </p:spTree>
    <p:extLst>
      <p:ext uri="{BB962C8B-B14F-4D97-AF65-F5344CB8AC3E}">
        <p14:creationId xmlns:p14="http://schemas.microsoft.com/office/powerpoint/2010/main" val="180521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3B50521E-CB46-4984-A0A1-7949DD1788D3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FE6ACB-35B1-4629-A882-BA8535993D6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questions across the AI lifecycle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0F2324D-5349-4C73-99E6-337839D4580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634ECA-C3FE-45BA-BC0F-C7E6528503B6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DCDAD10-026D-4F6C-AECD-630578A5A05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6CB5EE-3926-4A1D-BB96-AEACAEF6E40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privacy assessment follows the data, the inferences, and the actions they enable.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E47761-8660-4C72-BB40-9A2255AA6CE3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E9EADF-4112-4569-AE8A-5CA9653293A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C27C654-2115-4BEB-9ABD-D714CB43F781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8B679CF-0A24-4C09-91EC-CD7B88F8075C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438150" cy="4381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17F7C9-81A0-485A-A6AE-5C6D4AFBEDA1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83736B-B974-411B-A55E-E67EB9248291}"/>
              </a:ext>
            </a:extLst>
          </p:cNvPr>
          <p:cNvSpPr>
            <a:spLocks noGrp="1"/>
          </p:cNvSpPr>
          <p:nvPr/>
        </p:nvSpPr>
        <p:spPr>
          <a:xfrm>
            <a:off x="1638300" y="1657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F0C42-9B28-42AE-81BB-6DE0563B1769}"/>
              </a:ext>
            </a:extLst>
          </p:cNvPr>
          <p:cNvSpPr>
            <a:spLocks noGrp="1"/>
          </p:cNvSpPr>
          <p:nvPr/>
        </p:nvSpPr>
        <p:spPr>
          <a:xfrm>
            <a:off x="1638300" y="20574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Source, expectations, legal basis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84CA564B-4F92-48B4-86C9-95100A9FC3A2}"/>
              </a:ext>
            </a:extLst>
          </p:cNvPr>
          <p:cNvSpPr>
            <a:spLocks noGrp="1"/>
          </p:cNvSpPr>
          <p:nvPr/>
        </p:nvSpPr>
        <p:spPr>
          <a:xfrm>
            <a:off x="4086225" y="2095500"/>
            <a:ext cx="2857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C16D345-6FE1-441D-AF6E-ED2AD9B734E7}"/>
              </a:ext>
            </a:extLst>
          </p:cNvPr>
          <p:cNvSpPr>
            <a:spLocks noGrp="1"/>
          </p:cNvSpPr>
          <p:nvPr/>
        </p:nvSpPr>
        <p:spPr>
          <a:xfrm>
            <a:off x="4533900" y="146685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57FD143-CE14-4E84-AE3B-11A85B0A9380}"/>
              </a:ext>
            </a:extLst>
          </p:cNvPr>
          <p:cNvSpPr>
            <a:spLocks noGrp="1"/>
          </p:cNvSpPr>
          <p:nvPr/>
        </p:nvSpPr>
        <p:spPr>
          <a:xfrm>
            <a:off x="4705350" y="1657350"/>
            <a:ext cx="438150" cy="4381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4E66B2-23E5-48E9-AD65-3F3FF1A722CD}"/>
              </a:ext>
            </a:extLst>
          </p:cNvPr>
          <p:cNvSpPr>
            <a:spLocks noGrp="1"/>
          </p:cNvSpPr>
          <p:nvPr/>
        </p:nvSpPr>
        <p:spPr>
          <a:xfrm>
            <a:off x="4705350" y="16573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721F98-9ACF-48FD-A3E4-F623A2D62187}"/>
              </a:ext>
            </a:extLst>
          </p:cNvPr>
          <p:cNvSpPr>
            <a:spLocks noGrp="1"/>
          </p:cNvSpPr>
          <p:nvPr/>
        </p:nvSpPr>
        <p:spPr>
          <a:xfrm>
            <a:off x="5314950" y="1657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69194B-38ED-4A4F-AD3B-76BA0A61209B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Cleaning, labelling, combination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8FA8234F-E33F-4434-BF8C-1493849B34B2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2857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CE1F8D0-E807-498C-A717-892277EB597D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ACF2F8C-14C1-4E3F-A4E9-8C398CDE36DB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438150" cy="4381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428A5F-3036-4D47-B0F9-89571CE634ED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F2ECD8-7B18-4E60-ABD1-BDAEFE0B7F2E}"/>
              </a:ext>
            </a:extLst>
          </p:cNvPr>
          <p:cNvSpPr>
            <a:spLocks noGrp="1"/>
          </p:cNvSpPr>
          <p:nvPr/>
        </p:nvSpPr>
        <p:spPr>
          <a:xfrm>
            <a:off x="8991600" y="1657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C32058-FAF0-407F-BE14-63EEC330203A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Sensitive attributes and identity</a:t>
            </a:r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960D1EA0-56F2-4C8B-A2A2-80E9E7843664}"/>
              </a:ext>
            </a:extLst>
          </p:cNvPr>
          <p:cNvSpPr>
            <a:spLocks noGrp="1"/>
          </p:cNvSpPr>
          <p:nvPr/>
        </p:nvSpPr>
        <p:spPr>
          <a:xfrm>
            <a:off x="9610725" y="2990850"/>
            <a:ext cx="342900" cy="285750"/>
          </a:xfrm>
          <a:prstGeom prst="down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C5EE94C-6041-4EE3-B07E-1655C1502A4D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558DB4A-3E50-4912-B79D-D8BB151F2EF0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438150" cy="4381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D39FB4-46CA-4E02-B972-F471A0D85970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7570EA-D884-428F-8C89-0A4E139D09A8}"/>
              </a:ext>
            </a:extLst>
          </p:cNvPr>
          <p:cNvSpPr>
            <a:spLocks noGrp="1"/>
          </p:cNvSpPr>
          <p:nvPr/>
        </p:nvSpPr>
        <p:spPr>
          <a:xfrm>
            <a:off x="16383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3E8A8C-5888-4E63-B62A-F3FE31C8E407}"/>
              </a:ext>
            </a:extLst>
          </p:cNvPr>
          <p:cNvSpPr>
            <a:spLocks noGrp="1"/>
          </p:cNvSpPr>
          <p:nvPr/>
        </p:nvSpPr>
        <p:spPr>
          <a:xfrm>
            <a:off x="1638300" y="39814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Scores, categories, searchability</a:t>
            </a:r>
          </a:p>
        </p:txBody>
      </p:sp>
      <p:sp>
        <p:nvSpPr>
          <p:cNvPr id="32" name="右箭头 31">
            <a:extLst>
              <a:ext uri="{FF2B5EF4-FFF2-40B4-BE49-F238E27FC236}">
                <a16:creationId xmlns:a16="http://schemas.microsoft.com/office/drawing/2014/main" id="{D6F32B17-5746-40C0-A1C1-2E38324EA9DF}"/>
              </a:ext>
            </a:extLst>
          </p:cNvPr>
          <p:cNvSpPr>
            <a:spLocks noGrp="1"/>
          </p:cNvSpPr>
          <p:nvPr/>
        </p:nvSpPr>
        <p:spPr>
          <a:xfrm>
            <a:off x="4086225" y="4019550"/>
            <a:ext cx="2857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570E6CF4-5655-4BCA-9329-8EE5267FAC19}"/>
              </a:ext>
            </a:extLst>
          </p:cNvPr>
          <p:cNvSpPr>
            <a:spLocks noGrp="1"/>
          </p:cNvSpPr>
          <p:nvPr/>
        </p:nvSpPr>
        <p:spPr>
          <a:xfrm>
            <a:off x="4533900" y="339090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6757653-2A27-4383-9441-4CFB6D2C93E3}"/>
              </a:ext>
            </a:extLst>
          </p:cNvPr>
          <p:cNvSpPr>
            <a:spLocks noGrp="1"/>
          </p:cNvSpPr>
          <p:nvPr/>
        </p:nvSpPr>
        <p:spPr>
          <a:xfrm>
            <a:off x="4705350" y="3581400"/>
            <a:ext cx="438150" cy="4381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7F1B1E4-5672-4D1E-BFEF-B99F250A0D0B}"/>
              </a:ext>
            </a:extLst>
          </p:cNvPr>
          <p:cNvSpPr>
            <a:spLocks noGrp="1"/>
          </p:cNvSpPr>
          <p:nvPr/>
        </p:nvSpPr>
        <p:spPr>
          <a:xfrm>
            <a:off x="4705350" y="35814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A61B76-4B27-4C24-8237-6593C8F9AEE3}"/>
              </a:ext>
            </a:extLst>
          </p:cNvPr>
          <p:cNvSpPr>
            <a:spLocks noGrp="1"/>
          </p:cNvSpPr>
          <p:nvPr/>
        </p:nvSpPr>
        <p:spPr>
          <a:xfrm>
            <a:off x="531495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07FF583-6CF5-4AA2-BB99-4A4C586C1195}"/>
              </a:ext>
            </a:extLst>
          </p:cNvPr>
          <p:cNvSpPr>
            <a:spLocks noGrp="1"/>
          </p:cNvSpPr>
          <p:nvPr/>
        </p:nvSpPr>
        <p:spPr>
          <a:xfrm>
            <a:off x="5314950" y="39814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Action, stakes, human review</a:t>
            </a: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06B36A2D-C643-47B3-BA3B-29729F213F85}"/>
              </a:ext>
            </a:extLst>
          </p:cNvPr>
          <p:cNvSpPr>
            <a:spLocks noGrp="1"/>
          </p:cNvSpPr>
          <p:nvPr/>
        </p:nvSpPr>
        <p:spPr>
          <a:xfrm>
            <a:off x="7762875" y="4019550"/>
            <a:ext cx="2857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9EA66165-D690-4122-8606-CA9C1F87ED5D}"/>
              </a:ext>
            </a:extLst>
          </p:cNvPr>
          <p:cNvSpPr>
            <a:spLocks noGrp="1"/>
          </p:cNvSpPr>
          <p:nvPr/>
        </p:nvSpPr>
        <p:spPr>
          <a:xfrm>
            <a:off x="8210550" y="339090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B6750E2-4252-4056-80BE-4CF7103B0ABB}"/>
              </a:ext>
            </a:extLst>
          </p:cNvPr>
          <p:cNvSpPr>
            <a:spLocks noGrp="1"/>
          </p:cNvSpPr>
          <p:nvPr/>
        </p:nvSpPr>
        <p:spPr>
          <a:xfrm>
            <a:off x="8382000" y="3581400"/>
            <a:ext cx="438150" cy="4381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806200B-CD27-4A4F-89D6-44EF284E8C77}"/>
              </a:ext>
            </a:extLst>
          </p:cNvPr>
          <p:cNvSpPr>
            <a:spLocks noGrp="1"/>
          </p:cNvSpPr>
          <p:nvPr/>
        </p:nvSpPr>
        <p:spPr>
          <a:xfrm>
            <a:off x="8382000" y="35814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8638DBE-7B58-46AD-A31E-1A0E89F3286D}"/>
              </a:ext>
            </a:extLst>
          </p:cNvPr>
          <p:cNvSpPr>
            <a:spLocks noGrp="1"/>
          </p:cNvSpPr>
          <p:nvPr/>
        </p:nvSpPr>
        <p:spPr>
          <a:xfrm>
            <a:off x="89916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FAA18FB-7B48-43B3-9D46-661DE059D3CC}"/>
              </a:ext>
            </a:extLst>
          </p:cNvPr>
          <p:cNvSpPr>
            <a:spLocks noGrp="1"/>
          </p:cNvSpPr>
          <p:nvPr/>
        </p:nvSpPr>
        <p:spPr>
          <a:xfrm>
            <a:off x="8991600" y="39814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Copies, models, deletion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548E61B-293B-4589-80DF-B2A3B8124528}"/>
              </a:ext>
            </a:extLst>
          </p:cNvPr>
          <p:cNvSpPr>
            <a:spLocks noGrp="1"/>
          </p:cNvSpPr>
          <p:nvPr/>
        </p:nvSpPr>
        <p:spPr>
          <a:xfrm>
            <a:off x="9525000" y="56388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RISK COMPOUNDS</a:t>
            </a:r>
          </a:p>
        </p:txBody>
      </p:sp>
    </p:spTree>
    <p:extLst>
      <p:ext uri="{BB962C8B-B14F-4D97-AF65-F5344CB8AC3E}">
        <p14:creationId xmlns:p14="http://schemas.microsoft.com/office/powerpoint/2010/main" val="28369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69A17C4-CDBD-4630-8E15-526ED678974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8BDE33-79D6-4EBE-A941-3BDD6AE66812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Contextual integrity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903D94C-0FEF-4E4A-B513-9B24D314B78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4A4ECB-52DF-47F8-8978-9EA8AB3C5C2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4A27663-231E-4D6F-BFDD-122D4F99A7FD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12C381-2D88-4016-80F0-361BB3B5019A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depends on whether information follows the norms of its social context.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AD18EC-B624-48BA-AB79-34ACDB23026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48F12E-BD12-4719-8E83-67934EB22998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81B29DE-3D5F-4973-BD0C-6D67046DECF4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11087100" cy="895350"/>
          </a:xfrm>
          <a:prstGeom prst="roundRect">
            <a:avLst>
              <a:gd name="adj" fmla="val 14894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8031C4-A540-40B9-9F56-556920787522}"/>
              </a:ext>
            </a:extLst>
          </p:cNvPr>
          <p:cNvSpPr>
            <a:spLocks noGrp="1"/>
          </p:cNvSpPr>
          <p:nvPr/>
        </p:nvSpPr>
        <p:spPr>
          <a:xfrm>
            <a:off x="85725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00" b="0" i="1">
                <a:solidFill>
                  <a:srgbClr val="003366"/>
                </a:solidFill>
                <a:latin typeface="Georgia"/>
                <a:ea typeface="Georgia"/>
                <a:cs typeface="Georgia"/>
              </a:defRPr>
            </a:pPr>
            <a:r>
              <a:rPr sz="1900" b="0" i="1">
                <a:solidFill>
                  <a:srgbClr val="003366"/>
                </a:solidFill>
                <a:latin typeface="Georgia"/>
                <a:ea typeface="Georgia"/>
                <a:cs typeface="Georgia"/>
              </a:rPr>
              <a:t>“Contextual integrity ties adequate protection for privacy to norms of specific contexts.”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604C6-58B3-4748-AEF7-50B8065996E5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47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Helen Nissenbaum, 2004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2421D22-C532-4C08-8F1C-C6C7D6FC20A6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2457450" cy="1600200"/>
          </a:xfrm>
          <a:prstGeom prst="roundRect">
            <a:avLst>
              <a:gd name="adj" fmla="val 7143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05CC0D-ABC8-461A-B731-2E3578130F85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C19262-C9DC-4C32-91F4-0751489A8A88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22288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Healthcare, education, commerce, public space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760594AF-18CF-4053-882C-E38DD710BAAF}"/>
              </a:ext>
            </a:extLst>
          </p:cNvPr>
          <p:cNvSpPr>
            <a:spLocks noGrp="1"/>
          </p:cNvSpPr>
          <p:nvPr/>
        </p:nvSpPr>
        <p:spPr>
          <a:xfrm>
            <a:off x="3067050" y="3343275"/>
            <a:ext cx="2095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7A463E4-9B5C-45A6-A475-129CA2FEEE79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2457450" cy="1600200"/>
          </a:xfrm>
          <a:prstGeom prst="roundRect">
            <a:avLst>
              <a:gd name="adj" fmla="val 7143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ACA721-489D-4B0C-A8FD-6CA76E066146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ACTORS &amp; DATA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E8ADF1-99B4-4725-9E5A-D2A4F72AB70C}"/>
              </a:ext>
            </a:extLst>
          </p:cNvPr>
          <p:cNvSpPr>
            <a:spLocks noGrp="1"/>
          </p:cNvSpPr>
          <p:nvPr/>
        </p:nvSpPr>
        <p:spPr>
          <a:xfrm>
            <a:off x="3448050" y="3095625"/>
            <a:ext cx="22288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Sender, subject, recipient, information type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FD94D3CD-9E9F-4367-81BD-E674D0DE0556}"/>
              </a:ext>
            </a:extLst>
          </p:cNvPr>
          <p:cNvSpPr>
            <a:spLocks noGrp="1"/>
          </p:cNvSpPr>
          <p:nvPr/>
        </p:nvSpPr>
        <p:spPr>
          <a:xfrm>
            <a:off x="5848350" y="3343275"/>
            <a:ext cx="2095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573064E-936C-4BBC-99F6-93160CEE9354}"/>
              </a:ext>
            </a:extLst>
          </p:cNvPr>
          <p:cNvSpPr>
            <a:spLocks noGrp="1"/>
          </p:cNvSpPr>
          <p:nvPr/>
        </p:nvSpPr>
        <p:spPr>
          <a:xfrm>
            <a:off x="6115050" y="2686050"/>
            <a:ext cx="2457450" cy="1600200"/>
          </a:xfrm>
          <a:prstGeom prst="roundRect">
            <a:avLst>
              <a:gd name="adj" fmla="val 7143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A6C55B-E7E5-419C-9D31-A4BDAF4470AE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TRANSMISSION NORM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E41112-AFFE-4258-B878-C7A734E462F1}"/>
              </a:ext>
            </a:extLst>
          </p:cNvPr>
          <p:cNvSpPr>
            <a:spLocks noGrp="1"/>
          </p:cNvSpPr>
          <p:nvPr/>
        </p:nvSpPr>
        <p:spPr>
          <a:xfrm>
            <a:off x="6229350" y="3095625"/>
            <a:ext cx="22288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Purpose, condition, and expected route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4E6099D6-1C7F-4600-9FD7-D1A660671F66}"/>
              </a:ext>
            </a:extLst>
          </p:cNvPr>
          <p:cNvSpPr>
            <a:spLocks noGrp="1"/>
          </p:cNvSpPr>
          <p:nvPr/>
        </p:nvSpPr>
        <p:spPr>
          <a:xfrm>
            <a:off x="8629650" y="3343275"/>
            <a:ext cx="2095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C039C87D-736F-4035-94A2-7078E5D9CD05}"/>
              </a:ext>
            </a:extLst>
          </p:cNvPr>
          <p:cNvSpPr>
            <a:spLocks noGrp="1"/>
          </p:cNvSpPr>
          <p:nvPr/>
        </p:nvSpPr>
        <p:spPr>
          <a:xfrm>
            <a:off x="8896350" y="2686050"/>
            <a:ext cx="2457450" cy="1600200"/>
          </a:xfrm>
          <a:prstGeom prst="roundRect">
            <a:avLst>
              <a:gd name="adj" fmla="val 7143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F0F9EF-FAB3-4FD5-97C4-19A531B362C4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A0DFCB-9107-4544-9289-C2A957FBC724}"/>
              </a:ext>
            </a:extLst>
          </p:cNvPr>
          <p:cNvSpPr>
            <a:spLocks noGrp="1"/>
          </p:cNvSpPr>
          <p:nvPr/>
        </p:nvSpPr>
        <p:spPr>
          <a:xfrm>
            <a:off x="9010650" y="3095625"/>
            <a:ext cx="22288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Does the flow preserve or violate the norm?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0D11BD1-A63D-42C6-85D1-DEFBFC9FE4CF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333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32CD9D-2546-4960-9A1E-FBAA5E1A57FC}"/>
              </a:ext>
            </a:extLst>
          </p:cNvPr>
          <p:cNvSpPr>
            <a:spLocks noGrp="1"/>
          </p:cNvSpPr>
          <p:nvPr/>
        </p:nvSpPr>
        <p:spPr>
          <a:xfrm>
            <a:off x="1809750" y="499110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photograph posted for friends does not automatically carry a norm permitting biometric police search.</a:t>
            </a:r>
          </a:p>
        </p:txBody>
      </p:sp>
    </p:spTree>
    <p:extLst>
      <p:ext uri="{BB962C8B-B14F-4D97-AF65-F5344CB8AC3E}">
        <p14:creationId xmlns:p14="http://schemas.microsoft.com/office/powerpoint/2010/main" val="139504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69FCB38-6D31-4986-8BFC-8D764A40B92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07AF4F-56E1-48E3-9D25-6E9CE0C8F809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Applying contextual integrity to AI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6C8FDA9-23DE-4DCB-8BE1-30BC03A7785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5F3EC1-782E-42F4-9A1C-F9223B41373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458E7AB-EE95-4596-A1CB-5BFD79325BFB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0B5647-2F8E-4E92-A2A6-F20B3EBF920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central test is whether data crosses a contextual boundary without an appropriate norm.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A4D86-D8FC-4F72-A7D0-E9A1669E91C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FB824F-FF91-44E4-A0E3-97F275D3DDF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54477A-12E1-4457-A4F6-C22C13A351A1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EXPECTED FLOW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E63182D-44E7-4FDD-A3EA-A2CCDEC5DD96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5219700" cy="3143250"/>
          </a:xfrm>
          <a:prstGeom prst="roundRect">
            <a:avLst>
              <a:gd name="adj" fmla="val 4848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E7F206-EB08-427A-9C27-EBE97EE0DA1B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Hospital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DDF6B0F0-B3F1-43F6-9F84-4D8B6A630E87}"/>
              </a:ext>
            </a:extLst>
          </p:cNvPr>
          <p:cNvSpPr>
            <a:spLocks noGrp="1"/>
          </p:cNvSpPr>
          <p:nvPr/>
        </p:nvSpPr>
        <p:spPr>
          <a:xfrm>
            <a:off x="1924050" y="1952625"/>
            <a:ext cx="266700" cy="190500"/>
          </a:xfrm>
          <a:prstGeom prst="rightArrow">
            <a:avLst/>
          </a:prstGeom>
          <a:solidFill>
            <a:srgbClr val="1B7F7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AA00B0-0015-4F3B-ADBB-4B301A30663A}"/>
              </a:ext>
            </a:extLst>
          </p:cNvPr>
          <p:cNvSpPr>
            <a:spLocks noGrp="1"/>
          </p:cNvSpPr>
          <p:nvPr/>
        </p:nvSpPr>
        <p:spPr>
          <a:xfrm>
            <a:off x="2266950" y="1905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patient record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77F66F5D-CFFB-4644-93FB-BA9B13A00198}"/>
              </a:ext>
            </a:extLst>
          </p:cNvPr>
          <p:cNvSpPr>
            <a:spLocks noGrp="1"/>
          </p:cNvSpPr>
          <p:nvPr/>
        </p:nvSpPr>
        <p:spPr>
          <a:xfrm>
            <a:off x="3390900" y="1952625"/>
            <a:ext cx="266700" cy="190500"/>
          </a:xfrm>
          <a:prstGeom prst="rightArrow">
            <a:avLst/>
          </a:prstGeom>
          <a:solidFill>
            <a:srgbClr val="1B7F7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2DFB49-2186-4A57-B183-6223FC2C7817}"/>
              </a:ext>
            </a:extLst>
          </p:cNvPr>
          <p:cNvSpPr>
            <a:spLocks noGrp="1"/>
          </p:cNvSpPr>
          <p:nvPr/>
        </p:nvSpPr>
        <p:spPr>
          <a:xfrm>
            <a:off x="3733800" y="1905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treatment team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E3B119-0A9D-4571-899D-F4FBF1E3365B}"/>
              </a:ext>
            </a:extLst>
          </p:cNvPr>
          <p:cNvSpPr>
            <a:spLocks noGrp="1"/>
          </p:cNvSpPr>
          <p:nvPr/>
        </p:nvSpPr>
        <p:spPr>
          <a:xfrm>
            <a:off x="1562100" y="23812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CARE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ABF79B-972E-4D27-A988-E2244C7C9F02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79E3AC31-DB80-40C4-851A-EB88D4E6C3E3}"/>
              </a:ext>
            </a:extLst>
          </p:cNvPr>
          <p:cNvSpPr>
            <a:spLocks noGrp="1"/>
          </p:cNvSpPr>
          <p:nvPr/>
        </p:nvSpPr>
        <p:spPr>
          <a:xfrm>
            <a:off x="1924050" y="3209925"/>
            <a:ext cx="266700" cy="190500"/>
          </a:xfrm>
          <a:prstGeom prst="rightArrow">
            <a:avLst/>
          </a:prstGeom>
          <a:solidFill>
            <a:srgbClr val="1B7F7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23C1B-C661-431F-9088-E23141D38AED}"/>
              </a:ext>
            </a:extLst>
          </p:cNvPr>
          <p:cNvSpPr>
            <a:spLocks noGrp="1"/>
          </p:cNvSpPr>
          <p:nvPr/>
        </p:nvSpPr>
        <p:spPr>
          <a:xfrm>
            <a:off x="2266950" y="31623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coursework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7C74A4E5-E86E-40EA-90A1-7F0FB23B4BDA}"/>
              </a:ext>
            </a:extLst>
          </p:cNvPr>
          <p:cNvSpPr>
            <a:spLocks noGrp="1"/>
          </p:cNvSpPr>
          <p:nvPr/>
        </p:nvSpPr>
        <p:spPr>
          <a:xfrm>
            <a:off x="3390900" y="3209925"/>
            <a:ext cx="266700" cy="190500"/>
          </a:xfrm>
          <a:prstGeom prst="rightArrow">
            <a:avLst/>
          </a:prstGeom>
          <a:solidFill>
            <a:srgbClr val="1B7F7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4F42D5-2188-434F-84E1-CA3BFBFA42D7}"/>
              </a:ext>
            </a:extLst>
          </p:cNvPr>
          <p:cNvSpPr>
            <a:spLocks noGrp="1"/>
          </p:cNvSpPr>
          <p:nvPr/>
        </p:nvSpPr>
        <p:spPr>
          <a:xfrm>
            <a:off x="3733800" y="31623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10E60B-9DB5-4397-B2E5-54A69237F9B6}"/>
              </a:ext>
            </a:extLst>
          </p:cNvPr>
          <p:cNvSpPr>
            <a:spLocks noGrp="1"/>
          </p:cNvSpPr>
          <p:nvPr/>
        </p:nvSpPr>
        <p:spPr>
          <a:xfrm>
            <a:off x="1562100" y="3638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29BC8E-DE57-476D-BADA-87F8AC20756C}"/>
              </a:ext>
            </a:extLst>
          </p:cNvPr>
          <p:cNvSpPr>
            <a:spLocks noGrp="1"/>
          </p:cNvSpPr>
          <p:nvPr/>
        </p:nvSpPr>
        <p:spPr>
          <a:xfrm>
            <a:off x="64198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CONTEXT CROSSING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996A91F-5C9F-420E-9552-50E17B3281C4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5219700" cy="3143250"/>
          </a:xfrm>
          <a:prstGeom prst="roundRect">
            <a:avLst>
              <a:gd name="adj" fmla="val 4848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E5469C-8348-4F21-BF73-A844CF249AB8}"/>
              </a:ext>
            </a:extLst>
          </p:cNvPr>
          <p:cNvSpPr>
            <a:spLocks noGrp="1"/>
          </p:cNvSpPr>
          <p:nvPr/>
        </p:nvSpPr>
        <p:spPr>
          <a:xfrm>
            <a:off x="6686550" y="18859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Therapy data</a:t>
            </a: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E2C4F7A4-2E6B-46E0-A4C5-F39AE5D5ED3F}"/>
              </a:ext>
            </a:extLst>
          </p:cNvPr>
          <p:cNvSpPr>
            <a:spLocks noGrp="1"/>
          </p:cNvSpPr>
          <p:nvPr/>
        </p:nvSpPr>
        <p:spPr>
          <a:xfrm>
            <a:off x="8001000" y="1933575"/>
            <a:ext cx="26670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E530C3-CBCD-4AD4-8135-5B74AE5F633D}"/>
              </a:ext>
            </a:extLst>
          </p:cNvPr>
          <p:cNvSpPr>
            <a:spLocks noGrp="1"/>
          </p:cNvSpPr>
          <p:nvPr/>
        </p:nvSpPr>
        <p:spPr>
          <a:xfrm>
            <a:off x="8343900" y="18859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advertising profiles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BD13F8-01EF-4781-AF87-5957542D86B5}"/>
              </a:ext>
            </a:extLst>
          </p:cNvPr>
          <p:cNvSpPr>
            <a:spLocks noGrp="1"/>
          </p:cNvSpPr>
          <p:nvPr/>
        </p:nvSpPr>
        <p:spPr>
          <a:xfrm>
            <a:off x="10096500" y="1885950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BETTERHELP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CF30E-7E85-4179-85B3-56254B4512A4}"/>
              </a:ext>
            </a:extLst>
          </p:cNvPr>
          <p:cNvSpPr>
            <a:spLocks noGrp="1"/>
          </p:cNvSpPr>
          <p:nvPr/>
        </p:nvSpPr>
        <p:spPr>
          <a:xfrm>
            <a:off x="6686550" y="27622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Public photos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4A5C26B7-A033-486C-927B-5F44C0532C09}"/>
              </a:ext>
            </a:extLst>
          </p:cNvPr>
          <p:cNvSpPr>
            <a:spLocks noGrp="1"/>
          </p:cNvSpPr>
          <p:nvPr/>
        </p:nvSpPr>
        <p:spPr>
          <a:xfrm>
            <a:off x="8001000" y="2809875"/>
            <a:ext cx="26670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B418818-1D66-4A95-8E4B-B285F6CDFF93}"/>
              </a:ext>
            </a:extLst>
          </p:cNvPr>
          <p:cNvSpPr>
            <a:spLocks noGrp="1"/>
          </p:cNvSpPr>
          <p:nvPr/>
        </p:nvSpPr>
        <p:spPr>
          <a:xfrm>
            <a:off x="8343900" y="27622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biometric database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314959-DB10-4003-A59B-1BA57B986D34}"/>
              </a:ext>
            </a:extLst>
          </p:cNvPr>
          <p:cNvSpPr>
            <a:spLocks noGrp="1"/>
          </p:cNvSpPr>
          <p:nvPr/>
        </p:nvSpPr>
        <p:spPr>
          <a:xfrm>
            <a:off x="10096500" y="2762250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CLEARVIEW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BF0584-6C0F-4D13-8997-D53C0D80731C}"/>
              </a:ext>
            </a:extLst>
          </p:cNvPr>
          <p:cNvSpPr>
            <a:spLocks noGrp="1"/>
          </p:cNvSpPr>
          <p:nvPr/>
        </p:nvSpPr>
        <p:spPr>
          <a:xfrm>
            <a:off x="6686550" y="36385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Shopping data</a:t>
            </a:r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FF190C15-29FD-4A31-9F32-A1740732670A}"/>
              </a:ext>
            </a:extLst>
          </p:cNvPr>
          <p:cNvSpPr>
            <a:spLocks noGrp="1"/>
          </p:cNvSpPr>
          <p:nvPr/>
        </p:nvSpPr>
        <p:spPr>
          <a:xfrm>
            <a:off x="8001000" y="3686175"/>
            <a:ext cx="26670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70C339E-4ACD-487D-BE47-D793C3BCA534}"/>
              </a:ext>
            </a:extLst>
          </p:cNvPr>
          <p:cNvSpPr>
            <a:spLocks noGrp="1"/>
          </p:cNvSpPr>
          <p:nvPr/>
        </p:nvSpPr>
        <p:spPr>
          <a:xfrm>
            <a:off x="8343900" y="36385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credit risk score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2FED316-FDF9-4CE4-9B57-C99B0D889CAD}"/>
              </a:ext>
            </a:extLst>
          </p:cNvPr>
          <p:cNvSpPr>
            <a:spLocks noGrp="1"/>
          </p:cNvSpPr>
          <p:nvPr/>
        </p:nvSpPr>
        <p:spPr>
          <a:xfrm>
            <a:off x="10096500" y="3638550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PROFILING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7BCF3919-E82C-42A2-86F3-937646120EC2}"/>
              </a:ext>
            </a:extLst>
          </p:cNvPr>
          <p:cNvSpPr>
            <a:spLocks noGrp="1"/>
          </p:cNvSpPr>
          <p:nvPr/>
        </p:nvSpPr>
        <p:spPr>
          <a:xfrm>
            <a:off x="1847850" y="5181600"/>
            <a:ext cx="8496300" cy="438150"/>
          </a:xfrm>
          <a:prstGeom prst="roundRect">
            <a:avLst>
              <a:gd name="adj" fmla="val 2173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81E28A0-378E-4BBD-B0C8-AF44C3D8900C}"/>
              </a:ext>
            </a:extLst>
          </p:cNvPr>
          <p:cNvSpPr>
            <a:spLocks noGrp="1"/>
          </p:cNvSpPr>
          <p:nvPr/>
        </p:nvSpPr>
        <p:spPr>
          <a:xfrm>
            <a:off x="2019300" y="5238750"/>
            <a:ext cx="815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Contextual integrity asks who sent what information to whom, under which condition, and for what purpose.</a:t>
            </a:r>
          </a:p>
        </p:txBody>
      </p:sp>
    </p:spTree>
    <p:extLst>
      <p:ext uri="{BB962C8B-B14F-4D97-AF65-F5344CB8AC3E}">
        <p14:creationId xmlns:p14="http://schemas.microsoft.com/office/powerpoint/2010/main" val="1552983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2ADAE7A-CD7C-4A04-B2B4-EF4EBDEACD2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833A4-A67F-4C06-852F-DA8B6600C6DD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Surveillance capitalism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2FBC7A1-2D90-418E-99CB-467606AD80A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36CA29-AA37-4E6E-BDF1-411E4BFECD7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B91244D-B9EF-47E3-938C-EDC512ECDD4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F6D29C-2A38-4BB2-8CE5-6FC5564163F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Commercial data extraction converts everyday activity into prediction and influence.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812BD0-84DC-4A09-B235-412AF3FFD96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8BD962-BEF0-416C-BC8C-B2F86C2B105F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l="18839" r="18839"/>
          <a:stretch>
            <a:fillRect/>
          </a:stretch>
        </p:blipFill>
        <p:spPr>
          <a:xfrm>
            <a:off x="7239000" y="1143000"/>
            <a:ext cx="4400550" cy="4210050"/>
          </a:xfrm>
          <a:prstGeom prst="roundRect">
            <a:avLst>
              <a:gd name="adj" fmla="val 3620"/>
            </a:avLst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74A2494-CFAF-405C-8C68-C15AF1F7913E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6286500" cy="1123950"/>
          </a:xfrm>
          <a:prstGeom prst="roundRect">
            <a:avLst>
              <a:gd name="adj" fmla="val 11864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F05035-B025-4539-B666-DA6F9919E12F}"/>
              </a:ext>
            </a:extLst>
          </p:cNvPr>
          <p:cNvSpPr>
            <a:spLocks noGrp="1"/>
          </p:cNvSpPr>
          <p:nvPr/>
        </p:nvSpPr>
        <p:spPr>
          <a:xfrm>
            <a:off x="800100" y="1381125"/>
            <a:ext cx="5791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900" b="0" i="1">
                <a:solidFill>
                  <a:srgbClr val="003366"/>
                </a:solidFill>
                <a:latin typeface="Georgia"/>
                <a:ea typeface="Georgia"/>
                <a:cs typeface="Georgia"/>
              </a:defRPr>
            </a:pPr>
            <a:r>
              <a:rPr sz="1900" b="0" i="1">
                <a:solidFill>
                  <a:srgbClr val="003366"/>
                </a:solidFill>
                <a:latin typeface="Georgia"/>
                <a:ea typeface="Georgia"/>
                <a:cs typeface="Georgia"/>
              </a:rPr>
              <a:t>“Human experience” becomes raw material for behavioural data.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F3B5C-BEC4-401C-9884-A764F97AA2EF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579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Shoshana Zuboff, 2019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996EB60-8448-40AC-9568-19A5F4A0BF87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1809750" cy="457200"/>
          </a:xfrm>
          <a:prstGeom prst="roundRect">
            <a:avLst>
              <a:gd name="adj" fmla="val 20833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50B396-0A4F-4AAE-A429-338EAA0850D6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30E69710-0546-4935-9907-165AEA51D5C0}"/>
              </a:ext>
            </a:extLst>
          </p:cNvPr>
          <p:cNvSpPr>
            <a:spLocks noGrp="1"/>
          </p:cNvSpPr>
          <p:nvPr/>
        </p:nvSpPr>
        <p:spPr>
          <a:xfrm>
            <a:off x="2457450" y="2771775"/>
            <a:ext cx="304800" cy="20955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DC54FA-6498-4FBE-AD9F-A7B96AAA7EFB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capture behaviour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59DF2C5-BBF9-4FCD-AD2F-5C23E37A9E03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1809750" cy="457200"/>
          </a:xfrm>
          <a:prstGeom prst="roundRect">
            <a:avLst>
              <a:gd name="adj" fmla="val 20833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61B21C-9D01-497E-9D58-EAA4A399B695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COMMODIFY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BAEED121-C346-4C4F-AD8A-1B906084AB3D}"/>
              </a:ext>
            </a:extLst>
          </p:cNvPr>
          <p:cNvSpPr>
            <a:spLocks noGrp="1"/>
          </p:cNvSpPr>
          <p:nvPr/>
        </p:nvSpPr>
        <p:spPr>
          <a:xfrm>
            <a:off x="2457450" y="3457575"/>
            <a:ext cx="304800" cy="20955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4EFAB3-2066-4921-B536-1764109E6DD1}"/>
              </a:ext>
            </a:extLst>
          </p:cNvPr>
          <p:cNvSpPr>
            <a:spLocks noGrp="1"/>
          </p:cNvSpPr>
          <p:nvPr/>
        </p:nvSpPr>
        <p:spPr>
          <a:xfrm>
            <a:off x="2952750" y="34099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create data products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F9A30F2-FE62-449C-A505-004AE3E7B372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1809750" cy="457200"/>
          </a:xfrm>
          <a:prstGeom prst="roundRect">
            <a:avLst>
              <a:gd name="adj" fmla="val 20833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46331A-C9A6-4D04-A82B-F5EE4FF857AC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2367F37C-B6FE-40E3-AF41-E1A17A17E761}"/>
              </a:ext>
            </a:extLst>
          </p:cNvPr>
          <p:cNvSpPr>
            <a:spLocks noGrp="1"/>
          </p:cNvSpPr>
          <p:nvPr/>
        </p:nvSpPr>
        <p:spPr>
          <a:xfrm>
            <a:off x="2457450" y="4143375"/>
            <a:ext cx="304800" cy="20955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447649-3303-4232-B5FF-4B50F409D3E5}"/>
              </a:ext>
            </a:extLst>
          </p:cNvPr>
          <p:cNvSpPr>
            <a:spLocks noGrp="1"/>
          </p:cNvSpPr>
          <p:nvPr/>
        </p:nvSpPr>
        <p:spPr>
          <a:xfrm>
            <a:off x="2952750" y="40957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forecast action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4DA52B6-55AE-4FF0-8D67-34483E2C4418}"/>
              </a:ext>
            </a:extLst>
          </p:cNvPr>
          <p:cNvSpPr>
            <a:spLocks noGrp="1"/>
          </p:cNvSpPr>
          <p:nvPr/>
        </p:nvSpPr>
        <p:spPr>
          <a:xfrm>
            <a:off x="552450" y="4705350"/>
            <a:ext cx="1809750" cy="457200"/>
          </a:xfrm>
          <a:prstGeom prst="roundRect">
            <a:avLst>
              <a:gd name="adj" fmla="val 20833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60077E-9FC8-4618-97E7-D6DF5E7E99CA}"/>
              </a:ext>
            </a:extLst>
          </p:cNvPr>
          <p:cNvSpPr>
            <a:spLocks noGrp="1"/>
          </p:cNvSpPr>
          <p:nvPr/>
        </p:nvSpPr>
        <p:spPr>
          <a:xfrm>
            <a:off x="552450" y="47053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INFLUENCE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2EB34D15-EAC9-4BC8-B252-9728EC066AF6}"/>
              </a:ext>
            </a:extLst>
          </p:cNvPr>
          <p:cNvSpPr>
            <a:spLocks noGrp="1"/>
          </p:cNvSpPr>
          <p:nvPr/>
        </p:nvSpPr>
        <p:spPr>
          <a:xfrm>
            <a:off x="2457450" y="4829175"/>
            <a:ext cx="304800" cy="209550"/>
          </a:xfrm>
          <a:prstGeom prst="rightArrow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B7EE7D-709F-43A6-BDF2-A2430D35885A}"/>
              </a:ext>
            </a:extLst>
          </p:cNvPr>
          <p:cNvSpPr>
            <a:spLocks noGrp="1"/>
          </p:cNvSpPr>
          <p:nvPr/>
        </p:nvSpPr>
        <p:spPr>
          <a:xfrm>
            <a:off x="2952750" y="47815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shape choices</a:t>
            </a:r>
          </a:p>
        </p:txBody>
      </p:sp>
    </p:spTree>
    <p:extLst>
      <p:ext uri="{BB962C8B-B14F-4D97-AF65-F5344CB8AC3E}">
        <p14:creationId xmlns:p14="http://schemas.microsoft.com/office/powerpoint/2010/main" val="1939061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D968CD0-72B5-4CB1-BC67-DD9BC38D524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C143B5-27DF-4827-9BFC-4E439CB1B8CF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power in O’Neil’s WMD framework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D70B875-97B7-4520-A49E-B01D89C7907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7AA54E-6A2E-4D28-BF16-DCC38FDB1F5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975D2DE-2E22-4326-8FE2-61BE676E27B6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250E3A-5D44-432A-B3F4-B2F45A0AAC0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Opacity, scale, and damage explain why some data-driven systems become difficult to resist.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221F50-C1B7-4887-9757-207A4A684DA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695371-AA6D-4ACD-B34A-B5DD4A87ABF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4328C6E-99A2-4C46-8D6F-AF70E30B6F5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3143250" cy="2743200"/>
          </a:xfrm>
          <a:prstGeom prst="roundRect">
            <a:avLst>
              <a:gd name="adj" fmla="val 625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6F7D5A4-DA47-4F5C-B232-2C7E7281B6C3}"/>
              </a:ext>
            </a:extLst>
          </p:cNvPr>
          <p:cNvSpPr>
            <a:spLocks noGrp="1"/>
          </p:cNvSpPr>
          <p:nvPr/>
        </p:nvSpPr>
        <p:spPr>
          <a:xfrm>
            <a:off x="2000250" y="1695450"/>
            <a:ext cx="895350" cy="8953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86E1A1-C094-4DBE-8EB9-1B081C66DD17}"/>
              </a:ext>
            </a:extLst>
          </p:cNvPr>
          <p:cNvSpPr>
            <a:spLocks noGrp="1"/>
          </p:cNvSpPr>
          <p:nvPr/>
        </p:nvSpPr>
        <p:spPr>
          <a:xfrm>
            <a:off x="2000250" y="1695450"/>
            <a:ext cx="8953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7C5BDE-861F-41F4-BD82-EEAB6A8A29B8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877F96-B118-4C5E-9CE6-28C9191DC7B1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2495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Affected people cannot inspect the model, inputs, or reasoning.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F52DED1-6DFB-4E1F-BF74-B4AF5248DEA3}"/>
              </a:ext>
            </a:extLst>
          </p:cNvPr>
          <p:cNvSpPr>
            <a:spLocks noGrp="1"/>
          </p:cNvSpPr>
          <p:nvPr/>
        </p:nvSpPr>
        <p:spPr>
          <a:xfrm>
            <a:off x="4552950" y="1428750"/>
            <a:ext cx="3143250" cy="2743200"/>
          </a:xfrm>
          <a:prstGeom prst="roundRect">
            <a:avLst>
              <a:gd name="adj" fmla="val 6250"/>
            </a:avLst>
          </a:prstGeom>
          <a:solidFill>
            <a:srgbClr val="003366"/>
          </a:solidFill>
          <a:ln w="1143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88F6F4F-FA8B-48CE-B7ED-785D5F180B91}"/>
              </a:ext>
            </a:extLst>
          </p:cNvPr>
          <p:cNvSpPr>
            <a:spLocks noGrp="1"/>
          </p:cNvSpPr>
          <p:nvPr/>
        </p:nvSpPr>
        <p:spPr>
          <a:xfrm>
            <a:off x="5676900" y="1695450"/>
            <a:ext cx="895350" cy="895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BA8BC7-F252-4B37-BFB1-09216C20242F}"/>
              </a:ext>
            </a:extLst>
          </p:cNvPr>
          <p:cNvSpPr>
            <a:spLocks noGrp="1"/>
          </p:cNvSpPr>
          <p:nvPr/>
        </p:nvSpPr>
        <p:spPr>
          <a:xfrm>
            <a:off x="5676900" y="1695450"/>
            <a:ext cx="8953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0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3BB573-09A1-41A5-9213-0D4EAAA8F805}"/>
              </a:ext>
            </a:extLst>
          </p:cNvPr>
          <p:cNvSpPr>
            <a:spLocks noGrp="1"/>
          </p:cNvSpPr>
          <p:nvPr/>
        </p:nvSpPr>
        <p:spPr>
          <a:xfrm>
            <a:off x="4838700" y="2781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8AB775-D4C2-4B65-91D8-234621FBE0C3}"/>
              </a:ext>
            </a:extLst>
          </p:cNvPr>
          <p:cNvSpPr>
            <a:spLocks noGrp="1"/>
          </p:cNvSpPr>
          <p:nvPr/>
        </p:nvSpPr>
        <p:spPr>
          <a:xfrm>
            <a:off x="4876800" y="3276600"/>
            <a:ext cx="2495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logic reaches many people and institutions at once.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4C2F6F5-0DCC-4883-93CD-5415465E46DF}"/>
              </a:ext>
            </a:extLst>
          </p:cNvPr>
          <p:cNvSpPr>
            <a:spLocks noGrp="1"/>
          </p:cNvSpPr>
          <p:nvPr/>
        </p:nvSpPr>
        <p:spPr>
          <a:xfrm>
            <a:off x="8229600" y="1428750"/>
            <a:ext cx="3143250" cy="2743200"/>
          </a:xfrm>
          <a:prstGeom prst="roundRect">
            <a:avLst>
              <a:gd name="adj" fmla="val 625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0A1DE39-522E-4ECC-BA09-E6BA4ADE2C1B}"/>
              </a:ext>
            </a:extLst>
          </p:cNvPr>
          <p:cNvSpPr>
            <a:spLocks noGrp="1"/>
          </p:cNvSpPr>
          <p:nvPr/>
        </p:nvSpPr>
        <p:spPr>
          <a:xfrm>
            <a:off x="9353550" y="1695450"/>
            <a:ext cx="895350" cy="8953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85763F-4F89-4354-AE23-64F908051A80}"/>
              </a:ext>
            </a:extLst>
          </p:cNvPr>
          <p:cNvSpPr>
            <a:spLocks noGrp="1"/>
          </p:cNvSpPr>
          <p:nvPr/>
        </p:nvSpPr>
        <p:spPr>
          <a:xfrm>
            <a:off x="9353550" y="1695450"/>
            <a:ext cx="8953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7DC9D4-2F92-45E6-BD15-069E41E03D06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DAMAGE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4B2B5BA-7A83-427C-89D4-BAEC62CE7F03}"/>
              </a:ext>
            </a:extLst>
          </p:cNvPr>
          <p:cNvSpPr>
            <a:spLocks noGrp="1"/>
          </p:cNvSpPr>
          <p:nvPr/>
        </p:nvSpPr>
        <p:spPr>
          <a:xfrm>
            <a:off x="8553450" y="3276600"/>
            <a:ext cx="2495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Errors and disadvantage feed back into later data and decisions.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5F24BE2-6D65-4C72-BD84-31C7CF19CB1B}"/>
              </a:ext>
            </a:extLst>
          </p:cNvPr>
          <p:cNvSpPr>
            <a:spLocks noGrp="1"/>
          </p:cNvSpPr>
          <p:nvPr/>
        </p:nvSpPr>
        <p:spPr>
          <a:xfrm>
            <a:off x="2343150" y="4933950"/>
            <a:ext cx="2000250" cy="552450"/>
          </a:xfrm>
          <a:prstGeom prst="roundRect">
            <a:avLst>
              <a:gd name="adj" fmla="val 2069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91726D-61D0-45F8-A122-F2AFA19D6AFC}"/>
              </a:ext>
            </a:extLst>
          </p:cNvPr>
          <p:cNvSpPr>
            <a:spLocks noGrp="1"/>
          </p:cNvSpPr>
          <p:nvPr/>
        </p:nvSpPr>
        <p:spPr>
          <a:xfrm>
            <a:off x="2438400" y="5029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19C5D94F-AA0E-4361-AB8A-957218A9E84B}"/>
              </a:ext>
            </a:extLst>
          </p:cNvPr>
          <p:cNvSpPr>
            <a:spLocks noGrp="1"/>
          </p:cNvSpPr>
          <p:nvPr/>
        </p:nvSpPr>
        <p:spPr>
          <a:xfrm>
            <a:off x="4438650" y="5105400"/>
            <a:ext cx="3619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460A20B2-BECD-4CED-B31F-BB5D1762ACD0}"/>
              </a:ext>
            </a:extLst>
          </p:cNvPr>
          <p:cNvSpPr>
            <a:spLocks noGrp="1"/>
          </p:cNvSpPr>
          <p:nvPr/>
        </p:nvSpPr>
        <p:spPr>
          <a:xfrm>
            <a:off x="5105400" y="4933950"/>
            <a:ext cx="2000250" cy="552450"/>
          </a:xfrm>
          <a:prstGeom prst="roundRect">
            <a:avLst>
              <a:gd name="adj" fmla="val 2069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18DEA1-4089-4EDF-B998-A0337BCD8B96}"/>
              </a:ext>
            </a:extLst>
          </p:cNvPr>
          <p:cNvSpPr>
            <a:spLocks noGrp="1"/>
          </p:cNvSpPr>
          <p:nvPr/>
        </p:nvSpPr>
        <p:spPr>
          <a:xfrm>
            <a:off x="5200650" y="5029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30EF6E27-32C2-433F-9F62-38D266D17994}"/>
              </a:ext>
            </a:extLst>
          </p:cNvPr>
          <p:cNvSpPr>
            <a:spLocks noGrp="1"/>
          </p:cNvSpPr>
          <p:nvPr/>
        </p:nvSpPr>
        <p:spPr>
          <a:xfrm>
            <a:off x="7200900" y="5105400"/>
            <a:ext cx="36195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CFB927E-59D4-4283-8B7F-FE5CB7B8261B}"/>
              </a:ext>
            </a:extLst>
          </p:cNvPr>
          <p:cNvSpPr>
            <a:spLocks noGrp="1"/>
          </p:cNvSpPr>
          <p:nvPr/>
        </p:nvSpPr>
        <p:spPr>
          <a:xfrm>
            <a:off x="7867650" y="4933950"/>
            <a:ext cx="2000250" cy="552450"/>
          </a:xfrm>
          <a:prstGeom prst="roundRect">
            <a:avLst>
              <a:gd name="adj" fmla="val 2069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1F723A3-3B21-4DD2-A7C5-9FF2A53D01D6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</p:spTree>
    <p:extLst>
      <p:ext uri="{BB962C8B-B14F-4D97-AF65-F5344CB8AC3E}">
        <p14:creationId xmlns:p14="http://schemas.microsoft.com/office/powerpoint/2010/main" val="156615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198FEEC-808A-4FFB-AF8C-3A902FBDC09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09268A-E6F6-4A97-A879-1DEFE79A48C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Consent and its limits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67B792C-CEC5-411E-8903-9F8CF4A33696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17A305-3312-4386-89BC-A87D87E76B5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EFA8FB6-E57A-49E3-923E-E436EC80C0BE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C5239D-817B-48D7-B160-D913BC9B593F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Consent can authorise a specific use, but it cannot correct power asymmetry on its own.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4AB9EB-B15D-459A-9447-48B6A4B74251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8E9B57-EEF5-458F-81A8-3A3DFE5797A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778F08-C307-43F6-A7C1-901733FD56C2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VALID CONSENT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841D240-B457-4969-A9A8-845DFB26D16A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5219700" cy="3333750"/>
          </a:xfrm>
          <a:prstGeom prst="roundRect">
            <a:avLst>
              <a:gd name="adj" fmla="val 4571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84708E-36B5-419A-ACB4-8412013DE446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INFORMED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988878-40B5-4AF1-A48A-94D236A0109C}"/>
              </a:ext>
            </a:extLst>
          </p:cNvPr>
          <p:cNvSpPr>
            <a:spLocks noGrp="1"/>
          </p:cNvSpPr>
          <p:nvPr/>
        </p:nvSpPr>
        <p:spPr>
          <a:xfrm>
            <a:off x="2476500" y="179070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person understands the data and purpose.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4DAB9F-0164-4A45-9410-835D6846A993}"/>
              </a:ext>
            </a:extLst>
          </p:cNvPr>
          <p:cNvSpPr>
            <a:spLocks noGrp="1"/>
          </p:cNvSpPr>
          <p:nvPr/>
        </p:nvSpPr>
        <p:spPr>
          <a:xfrm>
            <a:off x="800100" y="23717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FREELY GIVEN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BAF9BF-1036-4EB4-BD9F-9BE76C9B7AEE}"/>
              </a:ext>
            </a:extLst>
          </p:cNvPr>
          <p:cNvSpPr>
            <a:spLocks noGrp="1"/>
          </p:cNvSpPr>
          <p:nvPr/>
        </p:nvSpPr>
        <p:spPr>
          <a:xfrm>
            <a:off x="2476500" y="237172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Refusal does not carry an unfair penalty.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1A4DF0-C9AF-4A7B-9E1B-CB507D776D01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C01042-F944-48BC-AD0E-D98ACD53DCE5}"/>
              </a:ext>
            </a:extLst>
          </p:cNvPr>
          <p:cNvSpPr>
            <a:spLocks noGrp="1"/>
          </p:cNvSpPr>
          <p:nvPr/>
        </p:nvSpPr>
        <p:spPr>
          <a:xfrm>
            <a:off x="2476500" y="29527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Consent attaches to defined purposes.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7E0BB9-4E84-4A8E-BE48-4E95EDCA4903}"/>
              </a:ext>
            </a:extLst>
          </p:cNvPr>
          <p:cNvSpPr>
            <a:spLocks noGrp="1"/>
          </p:cNvSpPr>
          <p:nvPr/>
        </p:nvSpPr>
        <p:spPr>
          <a:xfrm>
            <a:off x="800100" y="35337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UNAMBIGUOUS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E368F4-A843-4B17-AC48-57088DEC6663}"/>
              </a:ext>
            </a:extLst>
          </p:cNvPr>
          <p:cNvSpPr>
            <a:spLocks noGrp="1"/>
          </p:cNvSpPr>
          <p:nvPr/>
        </p:nvSpPr>
        <p:spPr>
          <a:xfrm>
            <a:off x="2476500" y="353377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clear affirmative action expresses agreement.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251011-AAE1-46D6-956F-8A86DEB68B2E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WITHDRAWABLE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09A6B5-FD6B-4CB8-AF6F-917BB539CBEC}"/>
              </a:ext>
            </a:extLst>
          </p:cNvPr>
          <p:cNvSpPr>
            <a:spLocks noGrp="1"/>
          </p:cNvSpPr>
          <p:nvPr/>
        </p:nvSpPr>
        <p:spPr>
          <a:xfrm>
            <a:off x="2476500" y="411480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Withdrawal remains as easy as giving consent.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21FD4F-4DD3-40E4-9D48-275B0793AC94}"/>
              </a:ext>
            </a:extLst>
          </p:cNvPr>
          <p:cNvSpPr>
            <a:spLocks noGrp="1"/>
          </p:cNvSpPr>
          <p:nvPr/>
        </p:nvSpPr>
        <p:spPr>
          <a:xfrm>
            <a:off x="64198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STRUCTURAL LIMITS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01BF312-B950-4E9C-A618-E8FE1C559D99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5219700" cy="3333750"/>
          </a:xfrm>
          <a:prstGeom prst="roundRect">
            <a:avLst>
              <a:gd name="adj" fmla="val 4571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65C8AA-1C53-436C-8941-54A87A8AAD6F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A8C580-805C-42BD-87D9-0048013B4BC0}"/>
              </a:ext>
            </a:extLst>
          </p:cNvPr>
          <p:cNvSpPr>
            <a:spLocks noGrp="1"/>
          </p:cNvSpPr>
          <p:nvPr/>
        </p:nvSpPr>
        <p:spPr>
          <a:xfrm>
            <a:off x="8343900" y="179070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long, hidden, or difficult to understand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54F603-DF77-4B3D-AAB3-7B7FBD63F8D0}"/>
              </a:ext>
            </a:extLst>
          </p:cNvPr>
          <p:cNvSpPr>
            <a:spLocks noGrp="1"/>
          </p:cNvSpPr>
          <p:nvPr/>
        </p:nvSpPr>
        <p:spPr>
          <a:xfrm>
            <a:off x="6667500" y="23717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DEPENDENCE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E511DC-9CEF-4622-A7BD-34AA61A9C47D}"/>
              </a:ext>
            </a:extLst>
          </p:cNvPr>
          <p:cNvSpPr>
            <a:spLocks noGrp="1"/>
          </p:cNvSpPr>
          <p:nvPr/>
        </p:nvSpPr>
        <p:spPr>
          <a:xfrm>
            <a:off x="8343900" y="237172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agree or lose access to a needed service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C8E3E9-A954-41C9-AB94-EF1EB75190AC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BUNDLING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7C1F68-B07E-44C1-BFC2-6FBC2C33AE98}"/>
              </a:ext>
            </a:extLst>
          </p:cNvPr>
          <p:cNvSpPr>
            <a:spLocks noGrp="1"/>
          </p:cNvSpPr>
          <p:nvPr/>
        </p:nvSpPr>
        <p:spPr>
          <a:xfrm>
            <a:off x="8343900" y="29527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 click covers unrelated downstream uses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374F30-B9CA-4E62-A5A9-69431E0000A5}"/>
              </a:ext>
            </a:extLst>
          </p:cNvPr>
          <p:cNvSpPr>
            <a:spLocks noGrp="1"/>
          </p:cNvSpPr>
          <p:nvPr/>
        </p:nvSpPr>
        <p:spPr>
          <a:xfrm>
            <a:off x="6667500" y="35337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37FE0C-745A-4340-B254-13FBEC2EE984}"/>
              </a:ext>
            </a:extLst>
          </p:cNvPr>
          <p:cNvSpPr>
            <a:spLocks noGrp="1"/>
          </p:cNvSpPr>
          <p:nvPr/>
        </p:nvSpPr>
        <p:spPr>
          <a:xfrm>
            <a:off x="8343900" y="353377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system derives data never disclosed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BB69A7C-4EF6-4328-8AE8-824A677E5DA6}"/>
              </a:ext>
            </a:extLst>
          </p:cNvPr>
          <p:cNvSpPr>
            <a:spLocks noGrp="1"/>
          </p:cNvSpPr>
          <p:nvPr/>
        </p:nvSpPr>
        <p:spPr>
          <a:xfrm>
            <a:off x="6667500" y="4114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DOWNSTREAM USE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BCEF2E-A7AA-45DA-B402-EADBD6D2E21A}"/>
              </a:ext>
            </a:extLst>
          </p:cNvPr>
          <p:cNvSpPr>
            <a:spLocks noGrp="1"/>
          </p:cNvSpPr>
          <p:nvPr/>
        </p:nvSpPr>
        <p:spPr>
          <a:xfrm>
            <a:off x="8343900" y="411480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withdrawal cannot recall every copy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DAD3595-BEEF-479E-932A-7E1E8AC5CBB5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8115300" cy="400050"/>
          </a:xfrm>
          <a:prstGeom prst="roundRect">
            <a:avLst>
              <a:gd name="adj" fmla="val 2381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5DFA91-D4E6-47D6-A2A9-C4474738738A}"/>
              </a:ext>
            </a:extLst>
          </p:cNvPr>
          <p:cNvSpPr>
            <a:spLocks noGrp="1"/>
          </p:cNvSpPr>
          <p:nvPr/>
        </p:nvSpPr>
        <p:spPr>
          <a:xfrm>
            <a:off x="2209800" y="5353050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Consent requires a real choice plus controls over later use.</a:t>
            </a:r>
          </a:p>
        </p:txBody>
      </p:sp>
    </p:spTree>
    <p:extLst>
      <p:ext uri="{BB962C8B-B14F-4D97-AF65-F5344CB8AC3E}">
        <p14:creationId xmlns:p14="http://schemas.microsoft.com/office/powerpoint/2010/main" val="1607890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E131E73-C0DC-4834-A493-3A56F976657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BFCE4A-438A-4B0F-AC61-6E2B463BD16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notice-and-consent problem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7DD3AD5-567F-4029-BB32-EA62E0DB249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CD2EE5-A123-407E-9B9F-6B7A57BC261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F6D6455-D035-4D6C-932C-8CFF93CD4A9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8EB9BB-DCF8-48D7-9B61-1224DCC6174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Individual choices cannot govern a data ecosystem that people cannot observe.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363EEA-A07A-4C6F-A5CB-417A6E4B095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E7070-39F8-471A-90D8-F5D65489573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CA88000-87F3-4526-B5F2-20DEE5742E66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3143250" cy="3276600"/>
          </a:xfrm>
          <a:prstGeom prst="roundRect">
            <a:avLst>
              <a:gd name="adj" fmla="val 484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6FABAF-4CBC-4DA8-A5AF-CCB8584D33ED}"/>
              </a:ext>
            </a:extLst>
          </p:cNvPr>
          <p:cNvSpPr>
            <a:spLocks noGrp="1"/>
          </p:cNvSpPr>
          <p:nvPr/>
        </p:nvSpPr>
        <p:spPr>
          <a:xfrm>
            <a:off x="1104900" y="16192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2A62C2-BFB3-454D-B4B2-C607F12D6C3E}"/>
              </a:ext>
            </a:extLst>
          </p:cNvPr>
          <p:cNvSpPr>
            <a:spLocks noGrp="1"/>
          </p:cNvSpPr>
          <p:nvPr/>
        </p:nvSpPr>
        <p:spPr>
          <a:xfrm>
            <a:off x="1200150" y="2171700"/>
            <a:ext cx="24955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the person understand the information?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165B6C-3C2B-400C-A06A-A968CCD15927}"/>
              </a:ext>
            </a:extLst>
          </p:cNvPr>
          <p:cNvSpPr>
            <a:spLocks noGrp="1"/>
          </p:cNvSpPr>
          <p:nvPr/>
        </p:nvSpPr>
        <p:spPr>
          <a:xfrm>
            <a:off x="1257300" y="3086100"/>
            <a:ext cx="23812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80D051-E11E-4973-9F22-226B5D073C3C}"/>
              </a:ext>
            </a:extLst>
          </p:cNvPr>
          <p:cNvSpPr>
            <a:spLocks noGrp="1"/>
          </p:cNvSpPr>
          <p:nvPr/>
        </p:nvSpPr>
        <p:spPr>
          <a:xfrm>
            <a:off x="1200150" y="3314700"/>
            <a:ext cx="249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COMMON FAILURE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4AE8E0-C377-4E54-B838-AEEA57CAF42E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2457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Long policies, vague purposes, dark patterns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B65D45E-0998-4C69-BF98-8EDE19D38100}"/>
              </a:ext>
            </a:extLst>
          </p:cNvPr>
          <p:cNvSpPr>
            <a:spLocks noGrp="1"/>
          </p:cNvSpPr>
          <p:nvPr/>
        </p:nvSpPr>
        <p:spPr>
          <a:xfrm>
            <a:off x="4552950" y="1352550"/>
            <a:ext cx="3143250" cy="3276600"/>
          </a:xfrm>
          <a:prstGeom prst="roundRect">
            <a:avLst>
              <a:gd name="adj" fmla="val 484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E2F674-AA34-4CEF-8145-4DFAC4D30CAA}"/>
              </a:ext>
            </a:extLst>
          </p:cNvPr>
          <p:cNvSpPr>
            <a:spLocks noGrp="1"/>
          </p:cNvSpPr>
          <p:nvPr/>
        </p:nvSpPr>
        <p:spPr>
          <a:xfrm>
            <a:off x="4781550" y="16192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4C6B1F-DFEF-409E-A947-26157CC5BFC4}"/>
              </a:ext>
            </a:extLst>
          </p:cNvPr>
          <p:cNvSpPr>
            <a:spLocks noGrp="1"/>
          </p:cNvSpPr>
          <p:nvPr/>
        </p:nvSpPr>
        <p:spPr>
          <a:xfrm>
            <a:off x="4876800" y="2171700"/>
            <a:ext cx="24955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the person refuse without losing access?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2C15BE-BB07-44EC-92CD-9917EBD1CD41}"/>
              </a:ext>
            </a:extLst>
          </p:cNvPr>
          <p:cNvSpPr>
            <a:spLocks noGrp="1"/>
          </p:cNvSpPr>
          <p:nvPr/>
        </p:nvSpPr>
        <p:spPr>
          <a:xfrm>
            <a:off x="4933950" y="3086100"/>
            <a:ext cx="23812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F2E847-E74F-48EF-AB86-FB4267D8BE03}"/>
              </a:ext>
            </a:extLst>
          </p:cNvPr>
          <p:cNvSpPr>
            <a:spLocks noGrp="1"/>
          </p:cNvSpPr>
          <p:nvPr/>
        </p:nvSpPr>
        <p:spPr>
          <a:xfrm>
            <a:off x="4876800" y="3314700"/>
            <a:ext cx="249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COMMON FAILURE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D8DA06-67A5-4674-9CAB-F8044DC5B5A1}"/>
              </a:ext>
            </a:extLst>
          </p:cNvPr>
          <p:cNvSpPr>
            <a:spLocks noGrp="1"/>
          </p:cNvSpPr>
          <p:nvPr/>
        </p:nvSpPr>
        <p:spPr>
          <a:xfrm>
            <a:off x="4895850" y="3676650"/>
            <a:ext cx="2457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Bundled consent and essential services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8308B6C-63CE-42FF-BE42-69D9BEA064A1}"/>
              </a:ext>
            </a:extLst>
          </p:cNvPr>
          <p:cNvSpPr>
            <a:spLocks noGrp="1"/>
          </p:cNvSpPr>
          <p:nvPr/>
        </p:nvSpPr>
        <p:spPr>
          <a:xfrm>
            <a:off x="8229600" y="1352550"/>
            <a:ext cx="3143250" cy="3276600"/>
          </a:xfrm>
          <a:prstGeom prst="roundRect">
            <a:avLst>
              <a:gd name="adj" fmla="val 484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2956FD-5D5A-450D-9F5B-013A6393631F}"/>
              </a:ext>
            </a:extLst>
          </p:cNvPr>
          <p:cNvSpPr>
            <a:spLocks noGrp="1"/>
          </p:cNvSpPr>
          <p:nvPr/>
        </p:nvSpPr>
        <p:spPr>
          <a:xfrm>
            <a:off x="8458200" y="16192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90F115-A6DB-476C-8B2D-B567FD4162C9}"/>
              </a:ext>
            </a:extLst>
          </p:cNvPr>
          <p:cNvSpPr>
            <a:spLocks noGrp="1"/>
          </p:cNvSpPr>
          <p:nvPr/>
        </p:nvSpPr>
        <p:spPr>
          <a:xfrm>
            <a:off x="8553450" y="2171700"/>
            <a:ext cx="24955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 the person see and stop downstream use?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741954-53E7-45F6-A3F5-33A62A2FB6C7}"/>
              </a:ext>
            </a:extLst>
          </p:cNvPr>
          <p:cNvSpPr>
            <a:spLocks noGrp="1"/>
          </p:cNvSpPr>
          <p:nvPr/>
        </p:nvSpPr>
        <p:spPr>
          <a:xfrm>
            <a:off x="8610600" y="3086100"/>
            <a:ext cx="23812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5CA11A-1914-4059-BC7E-AB217E46ECC9}"/>
              </a:ext>
            </a:extLst>
          </p:cNvPr>
          <p:cNvSpPr>
            <a:spLocks noGrp="1"/>
          </p:cNvSpPr>
          <p:nvPr/>
        </p:nvSpPr>
        <p:spPr>
          <a:xfrm>
            <a:off x="8553450" y="3314700"/>
            <a:ext cx="249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COMMON FAILURE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EC3BAD-60B4-4BEE-9541-4F8E402C3803}"/>
              </a:ext>
            </a:extLst>
          </p:cNvPr>
          <p:cNvSpPr>
            <a:spLocks noGrp="1"/>
          </p:cNvSpPr>
          <p:nvPr/>
        </p:nvSpPr>
        <p:spPr>
          <a:xfrm>
            <a:off x="8572500" y="3676650"/>
            <a:ext cx="2457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Vendors, data brokers, models, copies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F7C5E1A-0E21-42A5-857A-B80B516D668C}"/>
              </a:ext>
            </a:extLst>
          </p:cNvPr>
          <p:cNvSpPr>
            <a:spLocks noGrp="1"/>
          </p:cNvSpPr>
          <p:nvPr/>
        </p:nvSpPr>
        <p:spPr>
          <a:xfrm>
            <a:off x="1695450" y="5029200"/>
            <a:ext cx="8801100" cy="628650"/>
          </a:xfrm>
          <a:prstGeom prst="roundRect">
            <a:avLst>
              <a:gd name="adj" fmla="val 21212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89221D-3797-4E81-AE1F-6446F58D3B15}"/>
              </a:ext>
            </a:extLst>
          </p:cNvPr>
          <p:cNvSpPr>
            <a:spLocks noGrp="1"/>
          </p:cNvSpPr>
          <p:nvPr/>
        </p:nvSpPr>
        <p:spPr>
          <a:xfrm>
            <a:off x="1981200" y="5162550"/>
            <a:ext cx="822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Effective privacy protection also needs purpose limits, minimisation, oversight, and enforceable rights.</a:t>
            </a:r>
          </a:p>
        </p:txBody>
      </p:sp>
    </p:spTree>
    <p:extLst>
      <p:ext uri="{BB962C8B-B14F-4D97-AF65-F5344CB8AC3E}">
        <p14:creationId xmlns:p14="http://schemas.microsoft.com/office/powerpoint/2010/main" val="1280341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64E30D0-811C-48B8-8DAD-B039F5EC71A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10C95E-D67D-42B4-ACCD-D232ABF1103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taxonomy of privacy harms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6628861-6F1E-4003-A4F3-98CCBFAA2BF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3579F-DB4F-4A67-9BDD-D5A68FFF2B5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DBD0E47-BEB3-4C60-8C12-47CC534991E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CFE623-4906-463D-BAD1-9D40D4D0E09C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harm can enter through collection, processing, dissemination, or intrusion.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AC028C-0C91-499E-9B22-C476621AF18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98AC3B-6E07-474C-9AD1-E88A460C61AB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1FA36BA-12D2-4717-9ED5-A0D6BBBDFBE9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5448300" cy="1866900"/>
          </a:xfrm>
          <a:prstGeom prst="roundRect">
            <a:avLst>
              <a:gd name="adj" fmla="val 8163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36FFF6-BE73-4089-8759-B5DE52275FD5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INFORMATION COLLECTION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496421-E56D-4E6E-8607-D8D3EB8FC654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4991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Surveillance</a:t>
            </a:r>
          </a:p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Interrogation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A05EDA9-4945-4D5E-8755-3998D240EADE}"/>
              </a:ext>
            </a:extLst>
          </p:cNvPr>
          <p:cNvSpPr>
            <a:spLocks noGrp="1"/>
          </p:cNvSpPr>
          <p:nvPr/>
        </p:nvSpPr>
        <p:spPr>
          <a:xfrm>
            <a:off x="1162050" y="2524125"/>
            <a:ext cx="42291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218B5D-699A-4342-A2BF-6F47FE6F4099}"/>
              </a:ext>
            </a:extLst>
          </p:cNvPr>
          <p:cNvSpPr>
            <a:spLocks noGrp="1"/>
          </p:cNvSpPr>
          <p:nvPr/>
        </p:nvSpPr>
        <p:spPr>
          <a:xfrm>
            <a:off x="1276350" y="2590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Clearview: collection at scale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A6AD3C2-17AE-478E-AAD9-116783ECF779}"/>
              </a:ext>
            </a:extLst>
          </p:cNvPr>
          <p:cNvSpPr>
            <a:spLocks noGrp="1"/>
          </p:cNvSpPr>
          <p:nvPr/>
        </p:nvSpPr>
        <p:spPr>
          <a:xfrm>
            <a:off x="6191250" y="1257300"/>
            <a:ext cx="5448300" cy="1866900"/>
          </a:xfrm>
          <a:prstGeom prst="roundRect">
            <a:avLst>
              <a:gd name="adj" fmla="val 8163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5DBC36-4960-40AE-80B7-7CC0A66BB4CD}"/>
              </a:ext>
            </a:extLst>
          </p:cNvPr>
          <p:cNvSpPr>
            <a:spLocks noGrp="1"/>
          </p:cNvSpPr>
          <p:nvPr/>
        </p:nvSpPr>
        <p:spPr>
          <a:xfrm>
            <a:off x="6419850" y="144780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INFORMATION PROCESSING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5DFE1D-A129-45FC-809F-C7C136D77825}"/>
              </a:ext>
            </a:extLst>
          </p:cNvPr>
          <p:cNvSpPr>
            <a:spLocks noGrp="1"/>
          </p:cNvSpPr>
          <p:nvPr/>
        </p:nvSpPr>
        <p:spPr>
          <a:xfrm>
            <a:off x="6419850" y="1866900"/>
            <a:ext cx="4991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Aggregation · Identification</a:t>
            </a:r>
          </a:p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Insecurity · Secondary use · Exclusion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3AFBF47-FE41-4E28-A492-0E744E12A646}"/>
              </a:ext>
            </a:extLst>
          </p:cNvPr>
          <p:cNvSpPr>
            <a:spLocks noGrp="1"/>
          </p:cNvSpPr>
          <p:nvPr/>
        </p:nvSpPr>
        <p:spPr>
          <a:xfrm>
            <a:off x="6800850" y="2524125"/>
            <a:ext cx="42291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FEBEAC-4C73-428E-94A1-6E8F80ED7790}"/>
              </a:ext>
            </a:extLst>
          </p:cNvPr>
          <p:cNvSpPr>
            <a:spLocks noGrp="1"/>
          </p:cNvSpPr>
          <p:nvPr/>
        </p:nvSpPr>
        <p:spPr>
          <a:xfrm>
            <a:off x="6915150" y="2590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ChatGPT: aggregation and reuse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ED7939C-2AB2-4B38-9F18-94E3AE22F634}"/>
              </a:ext>
            </a:extLst>
          </p:cNvPr>
          <p:cNvSpPr>
            <a:spLocks noGrp="1"/>
          </p:cNvSpPr>
          <p:nvPr/>
        </p:nvSpPr>
        <p:spPr>
          <a:xfrm>
            <a:off x="552450" y="3505200"/>
            <a:ext cx="5448300" cy="1866900"/>
          </a:xfrm>
          <a:prstGeom prst="roundRect">
            <a:avLst>
              <a:gd name="adj" fmla="val 8163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43D8EE-4253-4714-9C81-711F9AB365BD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INFORMATION DISSEMINATION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E8151B-715F-4EDF-B919-5C062FD52134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4991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Disclosure · Exposure</a:t>
            </a:r>
          </a:p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Distortion · Appropriation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2FD7339-787C-419F-8737-74FDD37BCEFC}"/>
              </a:ext>
            </a:extLst>
          </p:cNvPr>
          <p:cNvSpPr>
            <a:spLocks noGrp="1"/>
          </p:cNvSpPr>
          <p:nvPr/>
        </p:nvSpPr>
        <p:spPr>
          <a:xfrm>
            <a:off x="1162050" y="4772025"/>
            <a:ext cx="42291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FBC5E5-77E2-4FC4-97B3-82D1FE8C16D8}"/>
              </a:ext>
            </a:extLst>
          </p:cNvPr>
          <p:cNvSpPr>
            <a:spLocks noGrp="1"/>
          </p:cNvSpPr>
          <p:nvPr/>
        </p:nvSpPr>
        <p:spPr>
          <a:xfrm>
            <a:off x="1276350" y="4838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BetterHelp: disclosure to ad platforms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0E4E369-CDB7-4ABB-BCD3-4E9E28D872B3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448300" cy="1866900"/>
          </a:xfrm>
          <a:prstGeom prst="roundRect">
            <a:avLst>
              <a:gd name="adj" fmla="val 8163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8FD8C16-441F-4443-859D-407D6828C042}"/>
              </a:ext>
            </a:extLst>
          </p:cNvPr>
          <p:cNvSpPr>
            <a:spLocks noGrp="1"/>
          </p:cNvSpPr>
          <p:nvPr/>
        </p:nvSpPr>
        <p:spPr>
          <a:xfrm>
            <a:off x="6419850" y="369570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INVASION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F7484E-5869-463C-B6AF-AB6B9007192F}"/>
              </a:ext>
            </a:extLst>
          </p:cNvPr>
          <p:cNvSpPr>
            <a:spLocks noGrp="1"/>
          </p:cNvSpPr>
          <p:nvPr/>
        </p:nvSpPr>
        <p:spPr>
          <a:xfrm>
            <a:off x="6419850" y="4114800"/>
            <a:ext cx="4991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Intrusion</a:t>
            </a:r>
          </a:p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Decisional interference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BADE0B6-E4CE-4686-B48B-CF9142D94BEE}"/>
              </a:ext>
            </a:extLst>
          </p:cNvPr>
          <p:cNvSpPr>
            <a:spLocks noGrp="1"/>
          </p:cNvSpPr>
          <p:nvPr/>
        </p:nvSpPr>
        <p:spPr>
          <a:xfrm>
            <a:off x="6800850" y="4772025"/>
            <a:ext cx="42291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397F3D-F77E-434B-A34B-4E374B80083F}"/>
              </a:ext>
            </a:extLst>
          </p:cNvPr>
          <p:cNvSpPr>
            <a:spLocks noGrp="1"/>
          </p:cNvSpPr>
          <p:nvPr/>
        </p:nvSpPr>
        <p:spPr>
          <a:xfrm>
            <a:off x="6915150" y="4838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Rite Aid: confrontation after a false match</a:t>
            </a:r>
          </a:p>
        </p:txBody>
      </p:sp>
    </p:spTree>
    <p:extLst>
      <p:ext uri="{BB962C8B-B14F-4D97-AF65-F5344CB8AC3E}">
        <p14:creationId xmlns:p14="http://schemas.microsoft.com/office/powerpoint/2010/main" val="82633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92D07B71-8128-4A50-8799-8E534BAC53B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57832C-D012-453F-83CF-2253A22C899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Group privacy and relational harms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EC278B9A-9B4D-42A1-95B4-C59F538EAEB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7C29D7-B80E-4F6D-ACA0-172436212F5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69B1541-EFB9-4BF0-B1EE-6BB855595609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53D491-7158-424A-8E60-339B472CD89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systems can affect families, communities, and populations without naming every individual.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49D878-9723-4109-A984-4C05F09277A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9F9206-51D7-4A44-9341-025EA08DAB4C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5FBC3E1-39BE-4367-B143-F2BE5C3E9891}"/>
              </a:ext>
            </a:extLst>
          </p:cNvPr>
          <p:cNvSpPr>
            <a:spLocks noGrp="1"/>
          </p:cNvSpPr>
          <p:nvPr/>
        </p:nvSpPr>
        <p:spPr>
          <a:xfrm>
            <a:off x="3857625" y="1000125"/>
            <a:ext cx="4095750" cy="4095750"/>
          </a:xfrm>
          <a:prstGeom prst="ellipse">
            <a:avLst/>
          </a:prstGeom>
          <a:solidFill>
            <a:srgbClr val="F3F8F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8459258-A6A5-4360-8467-F02D4AD88325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3048000" cy="3048000"/>
          </a:xfrm>
          <a:prstGeom prst="ellipse">
            <a:avLst/>
          </a:prstGeom>
          <a:solidFill>
            <a:srgbClr val="E6F0FA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053898C-C6E3-4920-9139-4B40F42E0AFD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095500" cy="2095500"/>
          </a:xfrm>
          <a:prstGeom prst="ellipse">
            <a:avLst/>
          </a:prstGeom>
          <a:solidFill>
            <a:srgbClr val="C9E0F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2EA4B5C-D5BE-4B3B-99BD-8F6E995B0FEF}"/>
              </a:ext>
            </a:extLst>
          </p:cNvPr>
          <p:cNvSpPr>
            <a:spLocks noGrp="1"/>
          </p:cNvSpPr>
          <p:nvPr/>
        </p:nvSpPr>
        <p:spPr>
          <a:xfrm>
            <a:off x="5381625" y="2524125"/>
            <a:ext cx="1047750" cy="1047750"/>
          </a:xfrm>
          <a:prstGeom prst="ellipse">
            <a:avLst/>
          </a:prstGeom>
          <a:solidFill>
            <a:srgbClr val="00336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57C326-B7CD-4D9B-AB8E-7E4BA69F8112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POPULATION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310F8E-6E1D-43CE-A937-1E4B1DFA90D3}"/>
              </a:ext>
            </a:extLst>
          </p:cNvPr>
          <p:cNvSpPr>
            <a:spLocks noGrp="1"/>
          </p:cNvSpPr>
          <p:nvPr/>
        </p:nvSpPr>
        <p:spPr>
          <a:xfrm>
            <a:off x="4857750" y="19526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COMMUNITY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6FCE92-8094-44E6-B21C-73FF433273AD}"/>
              </a:ext>
            </a:extLst>
          </p:cNvPr>
          <p:cNvSpPr>
            <a:spLocks noGrp="1"/>
          </p:cNvSpPr>
          <p:nvPr/>
        </p:nvSpPr>
        <p:spPr>
          <a:xfrm>
            <a:off x="4857750" y="26003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F7D052-F5C1-4956-99CF-705B9197945B}"/>
              </a:ext>
            </a:extLst>
          </p:cNvPr>
          <p:cNvSpPr>
            <a:spLocks noGrp="1"/>
          </p:cNvSpPr>
          <p:nvPr/>
        </p:nvSpPr>
        <p:spPr>
          <a:xfrm>
            <a:off x="5381625" y="28765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119D381-E6A7-4E0E-B0C8-868E898ECD8D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276600" cy="1771650"/>
          </a:xfrm>
          <a:prstGeom prst="roundRect">
            <a:avLst>
              <a:gd name="adj" fmla="val 752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217EA5-15C8-4F3F-8535-4DBFC913E718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2933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SHARED DATA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E8C609-1091-4C39-B265-9F837D44503A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2933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DNA can reveal relatives who never provided a sample.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3FCE1AC-E893-419E-86E7-9057EC14F924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3276600" cy="1771650"/>
          </a:xfrm>
          <a:prstGeom prst="roundRect">
            <a:avLst>
              <a:gd name="adj" fmla="val 752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BBBEDD-AC3F-4E38-A85F-61D4D0220484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2933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RELATIONAL EXPOSURE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F52E9F-597D-4988-9518-615A7B3498A7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2933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 uploaded image can expose everyone pictured.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3DFF1B0-6376-4B66-9C06-265A58AFDCA5}"/>
              </a:ext>
            </a:extLst>
          </p:cNvPr>
          <p:cNvSpPr>
            <a:spLocks noGrp="1"/>
          </p:cNvSpPr>
          <p:nvPr/>
        </p:nvSpPr>
        <p:spPr>
          <a:xfrm>
            <a:off x="8172450" y="1257300"/>
            <a:ext cx="3276600" cy="1771650"/>
          </a:xfrm>
          <a:prstGeom prst="roundRect">
            <a:avLst>
              <a:gd name="adj" fmla="val 752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A69EE8-C4D3-464C-91EA-9F0D51A2C931}"/>
              </a:ext>
            </a:extLst>
          </p:cNvPr>
          <p:cNvSpPr>
            <a:spLocks noGrp="1"/>
          </p:cNvSpPr>
          <p:nvPr/>
        </p:nvSpPr>
        <p:spPr>
          <a:xfrm>
            <a:off x="8343900" y="1390650"/>
            <a:ext cx="2933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GROUP PROFILING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D601B6-7FE4-4025-A278-6BC108423EC3}"/>
              </a:ext>
            </a:extLst>
          </p:cNvPr>
          <p:cNvSpPr>
            <a:spLocks noGrp="1"/>
          </p:cNvSpPr>
          <p:nvPr/>
        </p:nvSpPr>
        <p:spPr>
          <a:xfrm>
            <a:off x="8343900" y="1771650"/>
            <a:ext cx="2933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Models can target a category without identifying each member.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1F5500A-D7E9-435E-8250-A75F54CBCC2B}"/>
              </a:ext>
            </a:extLst>
          </p:cNvPr>
          <p:cNvSpPr>
            <a:spLocks noGrp="1"/>
          </p:cNvSpPr>
          <p:nvPr/>
        </p:nvSpPr>
        <p:spPr>
          <a:xfrm>
            <a:off x="8172450" y="3295650"/>
            <a:ext cx="3276600" cy="1771650"/>
          </a:xfrm>
          <a:prstGeom prst="roundRect">
            <a:avLst>
              <a:gd name="adj" fmla="val 752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8C530A-226A-4DB3-9856-7B7EF2AC397F}"/>
              </a:ext>
            </a:extLst>
          </p:cNvPr>
          <p:cNvSpPr>
            <a:spLocks noGrp="1"/>
          </p:cNvSpPr>
          <p:nvPr/>
        </p:nvSpPr>
        <p:spPr>
          <a:xfrm>
            <a:off x="8343900" y="3429000"/>
            <a:ext cx="2933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COLLECTIVE POWER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D5E939-E8CA-4532-832F-44C855E26CC1}"/>
              </a:ext>
            </a:extLst>
          </p:cNvPr>
          <p:cNvSpPr>
            <a:spLocks noGrp="1"/>
          </p:cNvSpPr>
          <p:nvPr/>
        </p:nvSpPr>
        <p:spPr>
          <a:xfrm>
            <a:off x="8343900" y="3810000"/>
            <a:ext cx="2933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 protection law often grants rights one person at a time.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D2AAED-86A2-437E-B696-E70325A8D172}"/>
              </a:ext>
            </a:extLst>
          </p:cNvPr>
          <p:cNvSpPr>
            <a:spLocks noGrp="1"/>
          </p:cNvSpPr>
          <p:nvPr/>
        </p:nvSpPr>
        <p:spPr>
          <a:xfrm>
            <a:off x="3143250" y="53340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 individual opt-out may not protect the group created by the model.</a:t>
            </a:r>
          </a:p>
        </p:txBody>
      </p:sp>
    </p:spTree>
    <p:extLst>
      <p:ext uri="{BB962C8B-B14F-4D97-AF65-F5344CB8AC3E}">
        <p14:creationId xmlns:p14="http://schemas.microsoft.com/office/powerpoint/2010/main" val="308889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8FD0A50-9D0D-4E41-95E3-F2AD75C4C77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F9DC0D-2669-41D0-96E3-0BC8B53FB459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and vulnerability in the digital poorhouse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FBCF79B-4040-4B42-BE16-EA387F47DA8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FDBBF4-AF49-4A2F-B5DD-2D4C24658FC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39DD89E-E5BE-451D-8E39-355AE806CAE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D2E781-814F-4140-B23C-AF16B7B4884F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burdens increase when people cannot refuse data collection or leave the system.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06D100-E0AC-415F-9F12-D377295D7BD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75E1F6-FD75-4A4A-AFA0-7F677B30A2BD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3147" b="23147"/>
          <a:stretch>
            <a:fillRect/>
          </a:stretch>
        </p:blipFill>
        <p:spPr>
          <a:xfrm>
            <a:off x="552450" y="3524250"/>
            <a:ext cx="110871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863D2230-0AAC-4FDB-A31A-6AA3411100C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2038350"/>
          </a:xfrm>
          <a:prstGeom prst="roundRect">
            <a:avLst>
              <a:gd name="adj" fmla="val 7477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8F883C-5F27-41B2-B120-125E65A933B3}"/>
              </a:ext>
            </a:extLst>
          </p:cNvPr>
          <p:cNvSpPr>
            <a:spLocks noGrp="1"/>
          </p:cNvSpPr>
          <p:nvPr/>
        </p:nvSpPr>
        <p:spPr>
          <a:xfrm>
            <a:off x="857250" y="137160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000" b="0" i="1">
                <a:solidFill>
                  <a:srgbClr val="003366"/>
                </a:solidFill>
                <a:latin typeface="Georgia"/>
                <a:ea typeface="Georgia"/>
                <a:cs typeface="Georgia"/>
              </a:defRPr>
            </a:pPr>
            <a:r>
              <a:rPr sz="2000" b="0" i="1">
                <a:solidFill>
                  <a:srgbClr val="003366"/>
                </a:solidFill>
                <a:latin typeface="Georgia"/>
                <a:ea typeface="Georgia"/>
                <a:cs typeface="Georgia"/>
              </a:rPr>
              <a:t>Automated public services can become systems that profile, police, and punish people seeking help.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FDD1F2-2B1B-4BB2-BBF3-09C4564100D6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2A8B20-5304-4450-9DF7-8771049FB3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People cannot understand the model.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9CC5BB-7EB0-488B-A95D-DC56C1F06AD4}"/>
              </a:ext>
            </a:extLst>
          </p:cNvPr>
          <p:cNvSpPr>
            <a:spLocks noGrp="1"/>
          </p:cNvSpPr>
          <p:nvPr/>
        </p:nvSpPr>
        <p:spPr>
          <a:xfrm>
            <a:off x="3619500" y="2133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733A86-D530-4423-B0E9-7B77E505CD47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Automated rules affect many cases.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F9EF34-0C74-4F0E-9031-7C733EBD951E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DAMAGE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8DBE2F-9C42-41E0-AD63-3D090941821B}"/>
              </a:ext>
            </a:extLst>
          </p:cNvPr>
          <p:cNvSpPr>
            <a:spLocks noGrp="1"/>
          </p:cNvSpPr>
          <p:nvPr/>
        </p:nvSpPr>
        <p:spPr>
          <a:xfrm>
            <a:off x="6324600" y="245745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Errors can remove essential support.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9CC2A7-BA27-428A-BE96-7C4BBBD86654}"/>
              </a:ext>
            </a:extLst>
          </p:cNvPr>
          <p:cNvSpPr>
            <a:spLocks noGrp="1"/>
          </p:cNvSpPr>
          <p:nvPr/>
        </p:nvSpPr>
        <p:spPr>
          <a:xfrm>
            <a:off x="9029700" y="2133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INEQUALITY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5AAC8B-E9AC-47A8-97F2-987074D4D9CE}"/>
              </a:ext>
            </a:extLst>
          </p:cNvPr>
          <p:cNvSpPr>
            <a:spLocks noGrp="1"/>
          </p:cNvSpPr>
          <p:nvPr/>
        </p:nvSpPr>
        <p:spPr>
          <a:xfrm>
            <a:off x="9029700" y="245745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Refusal is easiest for those with alternatives.</a:t>
            </a:r>
          </a:p>
        </p:txBody>
      </p:sp>
    </p:spTree>
    <p:extLst>
      <p:ext uri="{BB962C8B-B14F-4D97-AF65-F5344CB8AC3E}">
        <p14:creationId xmlns:p14="http://schemas.microsoft.com/office/powerpoint/2010/main" val="732810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648FA54-FE3F-45C8-A7BC-BA97A212587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CE1A38-3070-47AC-9E28-B7684408F06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Three systems in the digital poorhouse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2073CE1-9919-4565-98F6-69858AC2CAF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2FCD9B-A59E-49F5-BA59-F796314B691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A3D57A4-0CC4-4FDA-A971-3D0191F87F2D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431CF2-A272-4B95-A615-392263A9E1CE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Across benefits, child welfare, and homelessness services, data collection can become a condition of support.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E35E3E-0B3C-433A-B166-D14C61A65721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2866E3-EF2D-4735-B04A-B01FFBB14438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BCE072C-8F8E-4BF4-91B3-3AD8D6AD1C83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371850" cy="3486150"/>
          </a:xfrm>
          <a:prstGeom prst="roundRect">
            <a:avLst>
              <a:gd name="adj" fmla="val 452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0D24ED-0CDF-4D51-9DB4-FB28D2B375F3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INDIANA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A3DDF1-EB42-479E-A2FD-1B89A512C3AD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Benefits eligibility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30CCE8-EECB-4CE9-9ADA-192E0DBC07DE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4955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0DC021-6CE0-4F15-BF0D-29DBB9046BEE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8003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Automation introduced procedural barriers and widespread denials. Online processes also disadvantaged households with limited access.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28C8F5F-F117-407E-9BF7-D6DDE7441869}"/>
              </a:ext>
            </a:extLst>
          </p:cNvPr>
          <p:cNvSpPr>
            <a:spLocks noGrp="1"/>
          </p:cNvSpPr>
          <p:nvPr/>
        </p:nvSpPr>
        <p:spPr>
          <a:xfrm>
            <a:off x="4248150" y="1257300"/>
            <a:ext cx="3371850" cy="3486150"/>
          </a:xfrm>
          <a:prstGeom prst="roundRect">
            <a:avLst>
              <a:gd name="adj" fmla="val 4520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47A655-2D68-4B7A-A0EB-0D4FDBCC629D}"/>
              </a:ext>
            </a:extLst>
          </p:cNvPr>
          <p:cNvSpPr>
            <a:spLocks noGrp="1"/>
          </p:cNvSpPr>
          <p:nvPr/>
        </p:nvSpPr>
        <p:spPr>
          <a:xfrm>
            <a:off x="4457700" y="14859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ALLEGHENY COUNTY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E386A7-34CE-4EB7-8934-0ECB7E4C80D3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Child welfare screening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373B5C-B971-4839-BE30-FBF245E9EE8E}"/>
              </a:ext>
            </a:extLst>
          </p:cNvPr>
          <p:cNvSpPr>
            <a:spLocks noGrp="1"/>
          </p:cNvSpPr>
          <p:nvPr/>
        </p:nvSpPr>
        <p:spPr>
          <a:xfrm>
            <a:off x="4686300" y="2476500"/>
            <a:ext cx="24955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98FD20-8DAC-4AA0-A124-61C3D89F4CFD}"/>
              </a:ext>
            </a:extLst>
          </p:cNvPr>
          <p:cNvSpPr>
            <a:spLocks noGrp="1"/>
          </p:cNvSpPr>
          <p:nvPr/>
        </p:nvSpPr>
        <p:spPr>
          <a:xfrm>
            <a:off x="4533900" y="2743200"/>
            <a:ext cx="28003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predictive score combines administrative data to help screen referrals for investigation.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04A7845-B5AC-444D-A337-641DD07053C7}"/>
              </a:ext>
            </a:extLst>
          </p:cNvPr>
          <p:cNvSpPr>
            <a:spLocks noGrp="1"/>
          </p:cNvSpPr>
          <p:nvPr/>
        </p:nvSpPr>
        <p:spPr>
          <a:xfrm>
            <a:off x="7943850" y="1257300"/>
            <a:ext cx="3371850" cy="3486150"/>
          </a:xfrm>
          <a:prstGeom prst="roundRect">
            <a:avLst>
              <a:gd name="adj" fmla="val 4520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1932B3-B022-4E22-B276-7001FC331993}"/>
              </a:ext>
            </a:extLst>
          </p:cNvPr>
          <p:cNvSpPr>
            <a:spLocks noGrp="1"/>
          </p:cNvSpPr>
          <p:nvPr/>
        </p:nvSpPr>
        <p:spPr>
          <a:xfrm>
            <a:off x="8153400" y="14859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LOS ANGELES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C88371-9833-455A-AA13-759E5F1E1BBF}"/>
              </a:ext>
            </a:extLst>
          </p:cNvPr>
          <p:cNvSpPr>
            <a:spLocks noGrp="1"/>
          </p:cNvSpPr>
          <p:nvPr/>
        </p:nvSpPr>
        <p:spPr>
          <a:xfrm>
            <a:off x="8153400" y="18478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Homelessness services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5EDDEC-D862-4AC4-ABFC-ED4CAFB0E2AA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24955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8C18A5-3D66-4ED6-9457-8F836224765A}"/>
              </a:ext>
            </a:extLst>
          </p:cNvPr>
          <p:cNvSpPr>
            <a:spLocks noGrp="1"/>
          </p:cNvSpPr>
          <p:nvPr/>
        </p:nvSpPr>
        <p:spPr>
          <a:xfrm>
            <a:off x="8229600" y="2743200"/>
            <a:ext cx="28003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Coordinated-entry systems collect extensive personal data to prioritise scarce housing assistance.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541F9AA-70E5-4C75-AA1D-D88C50C0AE94}"/>
              </a:ext>
            </a:extLst>
          </p:cNvPr>
          <p:cNvSpPr>
            <a:spLocks noGrp="1"/>
          </p:cNvSpPr>
          <p:nvPr/>
        </p:nvSpPr>
        <p:spPr>
          <a:xfrm>
            <a:off x="1619250" y="5200650"/>
            <a:ext cx="2457450" cy="457200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B28542-8EDE-43A3-8540-9157EBB37FED}"/>
              </a:ext>
            </a:extLst>
          </p:cNvPr>
          <p:cNvSpPr>
            <a:spLocks noGrp="1"/>
          </p:cNvSpPr>
          <p:nvPr/>
        </p:nvSpPr>
        <p:spPr>
          <a:xfrm>
            <a:off x="1714500" y="52959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MANDATORY DATA</a:t>
            </a: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7069CB83-6B95-40A4-AEF9-9F695E71B87B}"/>
              </a:ext>
            </a:extLst>
          </p:cNvPr>
          <p:cNvSpPr>
            <a:spLocks noGrp="1"/>
          </p:cNvSpPr>
          <p:nvPr/>
        </p:nvSpPr>
        <p:spPr>
          <a:xfrm>
            <a:off x="4152900" y="5334000"/>
            <a:ext cx="2857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5E4CF27-8065-4E90-9EFF-5F6A1319D51B}"/>
              </a:ext>
            </a:extLst>
          </p:cNvPr>
          <p:cNvSpPr>
            <a:spLocks noGrp="1"/>
          </p:cNvSpPr>
          <p:nvPr/>
        </p:nvSpPr>
        <p:spPr>
          <a:xfrm>
            <a:off x="4667250" y="5200650"/>
            <a:ext cx="2457450" cy="457200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B00EBE-6036-4CD9-8779-1E47B7B3B14B}"/>
              </a:ext>
            </a:extLst>
          </p:cNvPr>
          <p:cNvSpPr>
            <a:spLocks noGrp="1"/>
          </p:cNvSpPr>
          <p:nvPr/>
        </p:nvSpPr>
        <p:spPr>
          <a:xfrm>
            <a:off x="4762500" y="52959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 LINKAGE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3B6447AC-0F1F-46E0-8C57-4B09AE634B89}"/>
              </a:ext>
            </a:extLst>
          </p:cNvPr>
          <p:cNvSpPr>
            <a:spLocks noGrp="1"/>
          </p:cNvSpPr>
          <p:nvPr/>
        </p:nvSpPr>
        <p:spPr>
          <a:xfrm>
            <a:off x="7200900" y="5334000"/>
            <a:ext cx="2857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6524F223-35C4-4E26-8120-286F390D60A7}"/>
              </a:ext>
            </a:extLst>
          </p:cNvPr>
          <p:cNvSpPr>
            <a:spLocks noGrp="1"/>
          </p:cNvSpPr>
          <p:nvPr/>
        </p:nvSpPr>
        <p:spPr>
          <a:xfrm>
            <a:off x="7715250" y="5200650"/>
            <a:ext cx="2457450" cy="4572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0D3AE3-C959-4F9C-819D-FEBADB83A313}"/>
              </a:ext>
            </a:extLst>
          </p:cNvPr>
          <p:cNvSpPr>
            <a:spLocks noGrp="1"/>
          </p:cNvSpPr>
          <p:nvPr/>
        </p:nvSpPr>
        <p:spPr>
          <a:xfrm>
            <a:off x="7810500" y="529590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 RECOURSE</a:t>
            </a:r>
          </a:p>
        </p:txBody>
      </p:sp>
    </p:spTree>
    <p:extLst>
      <p:ext uri="{BB962C8B-B14F-4D97-AF65-F5344CB8AC3E}">
        <p14:creationId xmlns:p14="http://schemas.microsoft.com/office/powerpoint/2010/main" val="1548341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408E988-CE8A-4FCB-8255-3A7348F6CD7A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37F7B0-1991-440F-B6C9-7B98E3B204D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collection without meaningful recourse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048969E-7548-45B8-919A-38A1C14DBFD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A898A5-E0C4-41F7-8BCC-F8CBF0CA15B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EA1EF0C-9CA3-4F95-9A0D-6986CF7C007A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A14A91-4839-4243-91CE-40A16F38A0A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Essential services can make refusal impractical while offering few ways to correct or challenge data.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7F9F85-9678-4C5D-BB82-1DF21ADAC55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D6507A-F7BD-44B0-ACCE-3EA2FB35104F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948EB8-042B-4D75-8FD8-649EDDDF40FF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WHAT SYSTEMS MAY COLLECT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97686C5-42C6-4BD9-B927-162FF5CD458E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5219700" cy="3238500"/>
          </a:xfrm>
          <a:prstGeom prst="roundRect">
            <a:avLst>
              <a:gd name="adj" fmla="val 4706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23A06C-C161-4431-91C3-1A2DCB45FCAB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3624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Income and employment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Family composition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Health and mental-health history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Justice and child-welfare records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Housing status and service use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C4F4A0-59ED-4A39-BD35-9F3CF80B11B0}"/>
              </a:ext>
            </a:extLst>
          </p:cNvPr>
          <p:cNvSpPr>
            <a:spLocks noGrp="1"/>
          </p:cNvSpPr>
          <p:nvPr/>
        </p:nvSpPr>
        <p:spPr>
          <a:xfrm>
            <a:off x="64198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WHAT PEOPLE MAY LACK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D6CE934-8BEA-4815-B81E-45E2293F9419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5219700" cy="3238500"/>
          </a:xfrm>
          <a:prstGeom prst="roundRect">
            <a:avLst>
              <a:gd name="adj" fmla="val 4706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71DAF5-0BC7-4BCA-86B2-4B254592E524}"/>
              </a:ext>
            </a:extLst>
          </p:cNvPr>
          <p:cNvSpPr>
            <a:spLocks noGrp="1"/>
          </p:cNvSpPr>
          <p:nvPr/>
        </p:nvSpPr>
        <p:spPr>
          <a:xfrm>
            <a:off x="6819900" y="1952625"/>
            <a:ext cx="43624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Clear notice about downstream use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Access to the score or model logic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way to correct inaccurate records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Human review with authority to override</a:t>
            </a:r>
          </a:p>
          <a:p>
            <a:pPr marL="254000" indent="-127000" algn="l">
              <a:lnSpc>
                <a:spcPct val="105000"/>
              </a:lnSpc>
              <a:spcAft>
                <a:spcPts val="1100"/>
              </a:spcAft>
              <a:buNone/>
              <a:defRPr sz="1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service option that requires less data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833D758-E69F-4982-963F-35E05F8F9381}"/>
              </a:ext>
            </a:extLst>
          </p:cNvPr>
          <p:cNvSpPr>
            <a:spLocks noGrp="1"/>
          </p:cNvSpPr>
          <p:nvPr/>
        </p:nvSpPr>
        <p:spPr>
          <a:xfrm>
            <a:off x="1733550" y="5219700"/>
            <a:ext cx="8724900" cy="457200"/>
          </a:xfrm>
          <a:prstGeom prst="roundRect">
            <a:avLst>
              <a:gd name="adj" fmla="val 22917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8809FA-722F-4009-9374-03C504895457}"/>
              </a:ext>
            </a:extLst>
          </p:cNvPr>
          <p:cNvSpPr>
            <a:spLocks noGrp="1"/>
          </p:cNvSpPr>
          <p:nvPr/>
        </p:nvSpPr>
        <p:spPr>
          <a:xfrm>
            <a:off x="1924050" y="5286375"/>
            <a:ext cx="834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ethical issue combines privacy loss, dependency, and weak contestability.</a:t>
            </a:r>
          </a:p>
        </p:txBody>
      </p:sp>
    </p:spTree>
    <p:extLst>
      <p:ext uri="{BB962C8B-B14F-4D97-AF65-F5344CB8AC3E}">
        <p14:creationId xmlns:p14="http://schemas.microsoft.com/office/powerpoint/2010/main" val="1571109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F04B7D8-ADF0-4584-9791-1A990FA70DB3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6CAD59-E92F-4ED5-B71E-8CD602040774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WMDs as self-reinforcing privacy systems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92D23B0-D671-42FD-B4E2-354D5E30783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4D641B-4BCF-4973-BB82-FDF67D42282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4EB7F68-4175-4A69-9DFC-303D536A942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884478-E53C-4713-9916-79D2E30F8997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model becomes more dangerous when opaque scores guide action and the resulting data reinforce the score.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6945AD-D317-43EC-8BB1-63127849042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45FDBD-BF35-4229-8F07-DAAF458C2EE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C3E2D74-4CE7-4D8A-B964-4BE532DA413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371850" cy="2019300"/>
          </a:xfrm>
          <a:prstGeom prst="roundRect">
            <a:avLst>
              <a:gd name="adj" fmla="val 660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F6D0295-A84E-47D0-B2E2-59678D3298C4}"/>
              </a:ext>
            </a:extLst>
          </p:cNvPr>
          <p:cNvSpPr>
            <a:spLocks noGrp="1"/>
          </p:cNvSpPr>
          <p:nvPr/>
        </p:nvSpPr>
        <p:spPr>
          <a:xfrm>
            <a:off x="7048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0334FC-8414-4E69-A327-ABD806BBAEE5}"/>
              </a:ext>
            </a:extLst>
          </p:cNvPr>
          <p:cNvSpPr>
            <a:spLocks noGrp="1"/>
          </p:cNvSpPr>
          <p:nvPr/>
        </p:nvSpPr>
        <p:spPr>
          <a:xfrm>
            <a:off x="7048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63E289-3F85-41FB-81B8-C3F3F33F6D86}"/>
              </a:ext>
            </a:extLst>
          </p:cNvPr>
          <p:cNvSpPr>
            <a:spLocks noGrp="1"/>
          </p:cNvSpPr>
          <p:nvPr/>
        </p:nvSpPr>
        <p:spPr>
          <a:xfrm>
            <a:off x="1104900" y="13906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799F67-5407-43B5-873F-201423DEDC3F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0289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College ranking</a:t>
            </a:r>
          </a:p>
          <a:p>
            <a:endParaRPr sz="1300" b="0" i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Inputs and gaming strategies remain hidden.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A19E5FA-CE0D-4A2C-86B7-ACDB6502D91F}"/>
              </a:ext>
            </a:extLst>
          </p:cNvPr>
          <p:cNvSpPr>
            <a:spLocks noGrp="1"/>
          </p:cNvSpPr>
          <p:nvPr/>
        </p:nvSpPr>
        <p:spPr>
          <a:xfrm>
            <a:off x="4248150" y="1257300"/>
            <a:ext cx="3371850" cy="2019300"/>
          </a:xfrm>
          <a:prstGeom prst="roundRect">
            <a:avLst>
              <a:gd name="adj" fmla="val 660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CB14120-8988-4265-9567-5F241A0A4AC4}"/>
              </a:ext>
            </a:extLst>
          </p:cNvPr>
          <p:cNvSpPr>
            <a:spLocks noGrp="1"/>
          </p:cNvSpPr>
          <p:nvPr/>
        </p:nvSpPr>
        <p:spPr>
          <a:xfrm>
            <a:off x="44005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6290F4-7429-4AB6-AAFC-1B77B306804A}"/>
              </a:ext>
            </a:extLst>
          </p:cNvPr>
          <p:cNvSpPr>
            <a:spLocks noGrp="1"/>
          </p:cNvSpPr>
          <p:nvPr/>
        </p:nvSpPr>
        <p:spPr>
          <a:xfrm>
            <a:off x="44005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C6629A-BA02-4CA7-9F55-D556EE75BF25}"/>
              </a:ext>
            </a:extLst>
          </p:cNvPr>
          <p:cNvSpPr>
            <a:spLocks noGrp="1"/>
          </p:cNvSpPr>
          <p:nvPr/>
        </p:nvSpPr>
        <p:spPr>
          <a:xfrm>
            <a:off x="4800600" y="13906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A71776-9DDE-4A25-8EC0-25AEF14C72FE}"/>
              </a:ext>
            </a:extLst>
          </p:cNvPr>
          <p:cNvSpPr>
            <a:spLocks noGrp="1"/>
          </p:cNvSpPr>
          <p:nvPr/>
        </p:nvSpPr>
        <p:spPr>
          <a:xfrm>
            <a:off x="4419600" y="1771650"/>
            <a:ext cx="30289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Teacher evaluation</a:t>
            </a:r>
          </a:p>
          <a:p>
            <a:endParaRPr sz="1300" b="0" i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common model can affect careers across institutions.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BB425E5-2B85-4F25-97C8-A5578FDCE1AF}"/>
              </a:ext>
            </a:extLst>
          </p:cNvPr>
          <p:cNvSpPr>
            <a:spLocks noGrp="1"/>
          </p:cNvSpPr>
          <p:nvPr/>
        </p:nvSpPr>
        <p:spPr>
          <a:xfrm>
            <a:off x="7943850" y="1257300"/>
            <a:ext cx="3371850" cy="2019300"/>
          </a:xfrm>
          <a:prstGeom prst="roundRect">
            <a:avLst>
              <a:gd name="adj" fmla="val 660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7BEAADA-936C-44C9-9421-208495023AFB}"/>
              </a:ext>
            </a:extLst>
          </p:cNvPr>
          <p:cNvSpPr>
            <a:spLocks noGrp="1"/>
          </p:cNvSpPr>
          <p:nvPr/>
        </p:nvSpPr>
        <p:spPr>
          <a:xfrm>
            <a:off x="80962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FC7E2C-99D5-4A9D-A6D3-2EDE80FBF86D}"/>
              </a:ext>
            </a:extLst>
          </p:cNvPr>
          <p:cNvSpPr>
            <a:spLocks noGrp="1"/>
          </p:cNvSpPr>
          <p:nvPr/>
        </p:nvSpPr>
        <p:spPr>
          <a:xfrm>
            <a:off x="80962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4EB394-DEDA-467A-9617-DAF0F751F98C}"/>
              </a:ext>
            </a:extLst>
          </p:cNvPr>
          <p:cNvSpPr>
            <a:spLocks noGrp="1"/>
          </p:cNvSpPr>
          <p:nvPr/>
        </p:nvSpPr>
        <p:spPr>
          <a:xfrm>
            <a:off x="8496300" y="13906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DAMAGE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ACD3126-FD57-4354-9045-94188AFAF5B9}"/>
              </a:ext>
            </a:extLst>
          </p:cNvPr>
          <p:cNvSpPr>
            <a:spLocks noGrp="1"/>
          </p:cNvSpPr>
          <p:nvPr/>
        </p:nvSpPr>
        <p:spPr>
          <a:xfrm>
            <a:off x="8115300" y="1771650"/>
            <a:ext cx="30289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Predictive policing</a:t>
            </a:r>
          </a:p>
          <a:p>
            <a:endParaRPr sz="1300" b="0" i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Recorded arrests guide patrols, which produce more recorded arrests.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56486C1-8B5E-4A57-BF2B-5C2C654B72B8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152650" cy="895350"/>
          </a:xfrm>
          <a:prstGeom prst="roundRect">
            <a:avLst>
              <a:gd name="adj" fmla="val 1276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809EC19-2617-416F-BD0D-9806406E804F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D38B9D-3FD3-4B81-A3AD-7F97449E83F2}"/>
              </a:ext>
            </a:extLst>
          </p:cNvPr>
          <p:cNvSpPr>
            <a:spLocks noGrp="1"/>
          </p:cNvSpPr>
          <p:nvPr/>
        </p:nvSpPr>
        <p:spPr>
          <a:xfrm>
            <a:off x="1162050" y="4486275"/>
            <a:ext cx="19240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historic records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3FB22625-0B89-4F63-86C2-670DE401E353}"/>
              </a:ext>
            </a:extLst>
          </p:cNvPr>
          <p:cNvSpPr>
            <a:spLocks noGrp="1"/>
          </p:cNvSpPr>
          <p:nvPr/>
        </p:nvSpPr>
        <p:spPr>
          <a:xfrm>
            <a:off x="3276600" y="4400550"/>
            <a:ext cx="285750" cy="2095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1E71CF8E-D420-4B6E-852B-586EC61CEB22}"/>
              </a:ext>
            </a:extLst>
          </p:cNvPr>
          <p:cNvSpPr>
            <a:spLocks noGrp="1"/>
          </p:cNvSpPr>
          <p:nvPr/>
        </p:nvSpPr>
        <p:spPr>
          <a:xfrm>
            <a:off x="3752850" y="4076700"/>
            <a:ext cx="2152650" cy="895350"/>
          </a:xfrm>
          <a:prstGeom prst="roundRect">
            <a:avLst>
              <a:gd name="adj" fmla="val 1276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9C9C5E-2DD3-4FD5-A56E-15FF2237542A}"/>
              </a:ext>
            </a:extLst>
          </p:cNvPr>
          <p:cNvSpPr>
            <a:spLocks noGrp="1"/>
          </p:cNvSpPr>
          <p:nvPr/>
        </p:nvSpPr>
        <p:spPr>
          <a:xfrm>
            <a:off x="3848100" y="41719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C7DA15D-D962-47B8-8435-41E378C96113}"/>
              </a:ext>
            </a:extLst>
          </p:cNvPr>
          <p:cNvSpPr>
            <a:spLocks noGrp="1"/>
          </p:cNvSpPr>
          <p:nvPr/>
        </p:nvSpPr>
        <p:spPr>
          <a:xfrm>
            <a:off x="3867150" y="4486275"/>
            <a:ext cx="19240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risk prediction</a:t>
            </a:r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9270FF1B-6CD0-43F5-8CA8-80AB2FB5CE35}"/>
              </a:ext>
            </a:extLst>
          </p:cNvPr>
          <p:cNvSpPr>
            <a:spLocks noGrp="1"/>
          </p:cNvSpPr>
          <p:nvPr/>
        </p:nvSpPr>
        <p:spPr>
          <a:xfrm>
            <a:off x="5981700" y="4400550"/>
            <a:ext cx="285750" cy="2095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C6D48E3-9C86-4206-A070-695E72DF9B09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2152650" cy="895350"/>
          </a:xfrm>
          <a:prstGeom prst="roundRect">
            <a:avLst>
              <a:gd name="adj" fmla="val 1276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296970-3B02-4DC0-83E8-A262A97853CF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DE968CC-3BCE-4928-A16F-D17BF78D65BD}"/>
              </a:ext>
            </a:extLst>
          </p:cNvPr>
          <p:cNvSpPr>
            <a:spLocks noGrp="1"/>
          </p:cNvSpPr>
          <p:nvPr/>
        </p:nvSpPr>
        <p:spPr>
          <a:xfrm>
            <a:off x="6572250" y="4486275"/>
            <a:ext cx="19240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allocate scrutiny</a:t>
            </a:r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D9B8C365-A3F9-4CD5-B837-432576E85898}"/>
              </a:ext>
            </a:extLst>
          </p:cNvPr>
          <p:cNvSpPr>
            <a:spLocks noGrp="1"/>
          </p:cNvSpPr>
          <p:nvPr/>
        </p:nvSpPr>
        <p:spPr>
          <a:xfrm>
            <a:off x="8686800" y="4400550"/>
            <a:ext cx="285750" cy="2095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269BA66-EDE6-4E87-B665-EB3FE9AB6584}"/>
              </a:ext>
            </a:extLst>
          </p:cNvPr>
          <p:cNvSpPr>
            <a:spLocks noGrp="1"/>
          </p:cNvSpPr>
          <p:nvPr/>
        </p:nvSpPr>
        <p:spPr>
          <a:xfrm>
            <a:off x="9163050" y="4076700"/>
            <a:ext cx="2152650" cy="895350"/>
          </a:xfrm>
          <a:prstGeom prst="roundRect">
            <a:avLst>
              <a:gd name="adj" fmla="val 12766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0B4D21-668A-4FDA-9D77-71C2B3982FB8}"/>
              </a:ext>
            </a:extLst>
          </p:cNvPr>
          <p:cNvSpPr>
            <a:spLocks noGrp="1"/>
          </p:cNvSpPr>
          <p:nvPr/>
        </p:nvSpPr>
        <p:spPr>
          <a:xfrm>
            <a:off x="9258300" y="41719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D94331-CED4-4954-BD20-9F642F2C74B9}"/>
              </a:ext>
            </a:extLst>
          </p:cNvPr>
          <p:cNvSpPr>
            <a:spLocks noGrp="1"/>
          </p:cNvSpPr>
          <p:nvPr/>
        </p:nvSpPr>
        <p:spPr>
          <a:xfrm>
            <a:off x="9277350" y="4486275"/>
            <a:ext cx="19240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records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B31A8C6-9CBE-4A64-BC9D-A42E6405F39A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Feedback turns yesterday’s surveillance into tomorrow’s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41355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35BF0A21-DB6A-44F5-8081-71AD878B068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EDC371-B121-46DC-B420-E9C5E0C3605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Proxy variables and inferred privacy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6E9CA23-F3A3-496B-AC52-5011B9D126E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9AF404-754F-4F4A-9551-8E34D5F1E73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5330FCC-A3FD-4E8F-B790-C5062322EB61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5804AD-4DBA-4DA7-B4E5-A328DF937BF7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neutral-looking input can stand in for a protected or highly sensitive characteristic.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728172-985B-4739-982B-F829731EAE2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B4667E-B366-4E6E-A56A-3FF2D65CA78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9EB0C3B-0539-456F-BF23-AC0816CDBE37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11087100" cy="647700"/>
          </a:xfrm>
          <a:prstGeom prst="roundRect">
            <a:avLst>
              <a:gd name="adj" fmla="val 17647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2AC0E7-8A0C-43F9-BEFA-F701EA806040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10629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Proxy variable: an observable measure used in place of a characteristic that is unavailable, sensitive, or prohibited.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447EC8F-4E8F-4010-AA6D-FF0C1A1DCAC3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7B86BC-D949-42BC-80DB-FBAE9D63F2F2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ZIP CODE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17CD1EE0-B8D1-473D-BED6-6D1C5463678A}"/>
              </a:ext>
            </a:extLst>
          </p:cNvPr>
          <p:cNvSpPr>
            <a:spLocks noGrp="1"/>
          </p:cNvSpPr>
          <p:nvPr/>
        </p:nvSpPr>
        <p:spPr>
          <a:xfrm>
            <a:off x="3000375" y="25527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E0AFABA-BC37-4F93-ACD1-236DF5D593C9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D0895D-F975-4087-AA03-E0A860E63268}"/>
              </a:ext>
            </a:extLst>
          </p:cNvPr>
          <p:cNvSpPr>
            <a:spLocks noGrp="1"/>
          </p:cNvSpPr>
          <p:nvPr/>
        </p:nvSpPr>
        <p:spPr>
          <a:xfrm>
            <a:off x="3409950" y="23431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NEIGHBOURHOOD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D2F7F891-D793-403B-8E94-979CC1C0B79A}"/>
              </a:ext>
            </a:extLst>
          </p:cNvPr>
          <p:cNvSpPr>
            <a:spLocks noGrp="1"/>
          </p:cNvSpPr>
          <p:nvPr/>
        </p:nvSpPr>
        <p:spPr>
          <a:xfrm>
            <a:off x="5781675" y="25527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40D7713-006B-43D3-955E-5C5ABE2DB3CD}"/>
              </a:ext>
            </a:extLst>
          </p:cNvPr>
          <p:cNvSpPr>
            <a:spLocks noGrp="1"/>
          </p:cNvSpPr>
          <p:nvPr/>
        </p:nvSpPr>
        <p:spPr>
          <a:xfrm>
            <a:off x="6115050" y="23431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ADFCD0-A34F-4A57-8ADF-F0FB62C11DD6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RACIAL COMPOSITION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3E48D5F2-46F5-4D39-988F-6A461F5C3437}"/>
              </a:ext>
            </a:extLst>
          </p:cNvPr>
          <p:cNvSpPr>
            <a:spLocks noGrp="1"/>
          </p:cNvSpPr>
          <p:nvPr/>
        </p:nvSpPr>
        <p:spPr>
          <a:xfrm>
            <a:off x="8562975" y="25527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45B7320-B1CC-43B8-93BB-4FA157E2183B}"/>
              </a:ext>
            </a:extLst>
          </p:cNvPr>
          <p:cNvSpPr>
            <a:spLocks noGrp="1"/>
          </p:cNvSpPr>
          <p:nvPr/>
        </p:nvSpPr>
        <p:spPr>
          <a:xfrm>
            <a:off x="8896350" y="23431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5E24D5-D89F-4045-9101-1F875E88718B}"/>
              </a:ext>
            </a:extLst>
          </p:cNvPr>
          <p:cNvSpPr>
            <a:spLocks noGrp="1"/>
          </p:cNvSpPr>
          <p:nvPr/>
        </p:nvSpPr>
        <p:spPr>
          <a:xfrm>
            <a:off x="8972550" y="23431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CREDIT RISK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391D9FD5-B2B8-4EAC-97B7-5B3F92CB3168}"/>
              </a:ext>
            </a:extLst>
          </p:cNvPr>
          <p:cNvSpPr>
            <a:spLocks noGrp="1"/>
          </p:cNvSpPr>
          <p:nvPr/>
        </p:nvSpPr>
        <p:spPr>
          <a:xfrm>
            <a:off x="552450" y="346710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956BDE-83E9-4D45-9533-27D62C3A194E}"/>
              </a:ext>
            </a:extLst>
          </p:cNvPr>
          <p:cNvSpPr>
            <a:spLocks noGrp="1"/>
          </p:cNvSpPr>
          <p:nvPr/>
        </p:nvSpPr>
        <p:spPr>
          <a:xfrm>
            <a:off x="628650" y="346710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SHOPPING HISTORY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25968000-4C4C-4692-B3E7-284FBCB1C307}"/>
              </a:ext>
            </a:extLst>
          </p:cNvPr>
          <p:cNvSpPr>
            <a:spLocks noGrp="1"/>
          </p:cNvSpPr>
          <p:nvPr/>
        </p:nvSpPr>
        <p:spPr>
          <a:xfrm>
            <a:off x="3000375" y="367665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4ED36A4-0F58-4833-8221-AC7CD85BAA6C}"/>
              </a:ext>
            </a:extLst>
          </p:cNvPr>
          <p:cNvSpPr>
            <a:spLocks noGrp="1"/>
          </p:cNvSpPr>
          <p:nvPr/>
        </p:nvSpPr>
        <p:spPr>
          <a:xfrm>
            <a:off x="3333750" y="346710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0D07A3-8DAB-46B4-8173-7785C05D9B37}"/>
              </a:ext>
            </a:extLst>
          </p:cNvPr>
          <p:cNvSpPr>
            <a:spLocks noGrp="1"/>
          </p:cNvSpPr>
          <p:nvPr/>
        </p:nvSpPr>
        <p:spPr>
          <a:xfrm>
            <a:off x="3409950" y="346710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HEALTH SIGNAL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D8B36FE2-F49E-4751-805B-A58620DE8D79}"/>
              </a:ext>
            </a:extLst>
          </p:cNvPr>
          <p:cNvSpPr>
            <a:spLocks noGrp="1"/>
          </p:cNvSpPr>
          <p:nvPr/>
        </p:nvSpPr>
        <p:spPr>
          <a:xfrm>
            <a:off x="5781675" y="367665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28F2FC3-3450-47DD-A0CC-71EFB9EAE04C}"/>
              </a:ext>
            </a:extLst>
          </p:cNvPr>
          <p:cNvSpPr>
            <a:spLocks noGrp="1"/>
          </p:cNvSpPr>
          <p:nvPr/>
        </p:nvSpPr>
        <p:spPr>
          <a:xfrm>
            <a:off x="6115050" y="346710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2119D3-5184-4364-BCFD-45B733C57D08}"/>
              </a:ext>
            </a:extLst>
          </p:cNvPr>
          <p:cNvSpPr>
            <a:spLocks noGrp="1"/>
          </p:cNvSpPr>
          <p:nvPr/>
        </p:nvSpPr>
        <p:spPr>
          <a:xfrm>
            <a:off x="6191250" y="346710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RISK PROFILE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20CE9CC6-27AF-4F81-ADFB-7401C527BE85}"/>
              </a:ext>
            </a:extLst>
          </p:cNvPr>
          <p:cNvSpPr>
            <a:spLocks noGrp="1"/>
          </p:cNvSpPr>
          <p:nvPr/>
        </p:nvSpPr>
        <p:spPr>
          <a:xfrm>
            <a:off x="8562975" y="367665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0942585-139C-4E50-8EFC-1B5C380B5A82}"/>
              </a:ext>
            </a:extLst>
          </p:cNvPr>
          <p:cNvSpPr>
            <a:spLocks noGrp="1"/>
          </p:cNvSpPr>
          <p:nvPr/>
        </p:nvSpPr>
        <p:spPr>
          <a:xfrm>
            <a:off x="8896350" y="346710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228CFB-1A3F-41F1-8CF4-732E97FE843C}"/>
              </a:ext>
            </a:extLst>
          </p:cNvPr>
          <p:cNvSpPr>
            <a:spLocks noGrp="1"/>
          </p:cNvSpPr>
          <p:nvPr/>
        </p:nvSpPr>
        <p:spPr>
          <a:xfrm>
            <a:off x="8972550" y="346710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INSURANCE PRICE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64534E4-7A2E-4024-9AC2-648EE350CB88}"/>
              </a:ext>
            </a:extLst>
          </p:cNvPr>
          <p:cNvSpPr>
            <a:spLocks noGrp="1"/>
          </p:cNvSpPr>
          <p:nvPr/>
        </p:nvSpPr>
        <p:spPr>
          <a:xfrm>
            <a:off x="552450" y="45910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E1EE17E-9F34-4549-BBB3-53D13EC2007E}"/>
              </a:ext>
            </a:extLst>
          </p:cNvPr>
          <p:cNvSpPr>
            <a:spLocks noGrp="1"/>
          </p:cNvSpPr>
          <p:nvPr/>
        </p:nvSpPr>
        <p:spPr>
          <a:xfrm>
            <a:off x="628650" y="45910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SOCIAL MEDIA LIKES</a:t>
            </a:r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62E59CEC-3AED-40EC-9A97-FC5988069366}"/>
              </a:ext>
            </a:extLst>
          </p:cNvPr>
          <p:cNvSpPr>
            <a:spLocks noGrp="1"/>
          </p:cNvSpPr>
          <p:nvPr/>
        </p:nvSpPr>
        <p:spPr>
          <a:xfrm>
            <a:off x="3000375" y="48006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90DE947-0B37-49E9-B27A-6DE3FC0BDB3F}"/>
              </a:ext>
            </a:extLst>
          </p:cNvPr>
          <p:cNvSpPr>
            <a:spLocks noGrp="1"/>
          </p:cNvSpPr>
          <p:nvPr/>
        </p:nvSpPr>
        <p:spPr>
          <a:xfrm>
            <a:off x="3333750" y="45910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A9CBA5-0ABB-4F1A-90D2-14677D26E40F}"/>
              </a:ext>
            </a:extLst>
          </p:cNvPr>
          <p:cNvSpPr>
            <a:spLocks noGrp="1"/>
          </p:cNvSpPr>
          <p:nvPr/>
        </p:nvSpPr>
        <p:spPr>
          <a:xfrm>
            <a:off x="3409950" y="45910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POLITICAL SIGNAL</a:t>
            </a: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FF022D10-4A20-4CD7-BD2C-FAA9AAB4D627}"/>
              </a:ext>
            </a:extLst>
          </p:cNvPr>
          <p:cNvSpPr>
            <a:spLocks noGrp="1"/>
          </p:cNvSpPr>
          <p:nvPr/>
        </p:nvSpPr>
        <p:spPr>
          <a:xfrm>
            <a:off x="5781675" y="48006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63CD8D9E-DDBF-4499-8BE3-D8FABEE593F9}"/>
              </a:ext>
            </a:extLst>
          </p:cNvPr>
          <p:cNvSpPr>
            <a:spLocks noGrp="1"/>
          </p:cNvSpPr>
          <p:nvPr/>
        </p:nvSpPr>
        <p:spPr>
          <a:xfrm>
            <a:off x="6115050" y="45910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4C199C6-500B-418B-892C-E84E3B7AE3F9}"/>
              </a:ext>
            </a:extLst>
          </p:cNvPr>
          <p:cNvSpPr>
            <a:spLocks noGrp="1"/>
          </p:cNvSpPr>
          <p:nvPr/>
        </p:nvSpPr>
        <p:spPr>
          <a:xfrm>
            <a:off x="6191250" y="45910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AUDIENCE SEGMENT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DD72C534-86D4-4E1B-846B-E7A771E52B45}"/>
              </a:ext>
            </a:extLst>
          </p:cNvPr>
          <p:cNvSpPr>
            <a:spLocks noGrp="1"/>
          </p:cNvSpPr>
          <p:nvPr/>
        </p:nvSpPr>
        <p:spPr>
          <a:xfrm>
            <a:off x="8562975" y="4800600"/>
            <a:ext cx="2286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FC787886-A2D0-4BAB-A011-6EDC5C8A0B89}"/>
              </a:ext>
            </a:extLst>
          </p:cNvPr>
          <p:cNvSpPr>
            <a:spLocks noGrp="1"/>
          </p:cNvSpPr>
          <p:nvPr/>
        </p:nvSpPr>
        <p:spPr>
          <a:xfrm>
            <a:off x="8896350" y="4591050"/>
            <a:ext cx="2381250" cy="628650"/>
          </a:xfrm>
          <a:prstGeom prst="roundRect">
            <a:avLst>
              <a:gd name="adj" fmla="val 18182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77309AF-5FDA-4723-BEFE-93D523DFF6F7}"/>
              </a:ext>
            </a:extLst>
          </p:cNvPr>
          <p:cNvSpPr>
            <a:spLocks noGrp="1"/>
          </p:cNvSpPr>
          <p:nvPr/>
        </p:nvSpPr>
        <p:spPr>
          <a:xfrm>
            <a:off x="8972550" y="4591050"/>
            <a:ext cx="2228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TARGETED MESSAGE</a:t>
            </a:r>
          </a:p>
        </p:txBody>
      </p:sp>
    </p:spTree>
    <p:extLst>
      <p:ext uri="{BB962C8B-B14F-4D97-AF65-F5344CB8AC3E}">
        <p14:creationId xmlns:p14="http://schemas.microsoft.com/office/powerpoint/2010/main" val="367254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7759993D-8D29-4145-9DA0-02FBCFD23C3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26A698-7FDA-411E-A4D2-5691374BB36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Fair Information Practice Principles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14D1A2D-4A32-4A7A-AAA6-2E6337B2FF9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D624C2-915E-4248-99E9-E0E0F07EC2F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3B1DF6B-E1CA-4A6B-AF90-47937BBFF581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BAC802-5C7F-4DA0-957F-EC68DD22FA19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OECD’s eight principles established a durable foundation for modern data protection.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25893E-86DC-4C53-9989-1D48AFC0757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72C657-CBB0-445C-9AE3-2050AB4A466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5220F2C-36BA-45BC-8E77-18BD01A0FFBB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930BA79-E525-44BA-82DA-B02E85D8398F}"/>
              </a:ext>
            </a:extLst>
          </p:cNvPr>
          <p:cNvSpPr>
            <a:spLocks noGrp="1"/>
          </p:cNvSpPr>
          <p:nvPr/>
        </p:nvSpPr>
        <p:spPr>
          <a:xfrm>
            <a:off x="7048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543857-C236-4731-BAF6-CC33F629F069}"/>
              </a:ext>
            </a:extLst>
          </p:cNvPr>
          <p:cNvSpPr>
            <a:spLocks noGrp="1"/>
          </p:cNvSpPr>
          <p:nvPr/>
        </p:nvSpPr>
        <p:spPr>
          <a:xfrm>
            <a:off x="7048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1AD3A9-7C01-4D44-8497-A9455E204949}"/>
              </a:ext>
            </a:extLst>
          </p:cNvPr>
          <p:cNvSpPr>
            <a:spLocks noGrp="1"/>
          </p:cNvSpPr>
          <p:nvPr/>
        </p:nvSpPr>
        <p:spPr>
          <a:xfrm>
            <a:off x="1104900" y="13906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COLLECTION LIMITATION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E73E17-7D3F-40A4-952B-972C1F3BFD98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Set limits and use lawful, fair collection.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EEBB5A8-1876-4C48-8ED1-8909025ED9C6}"/>
              </a:ext>
            </a:extLst>
          </p:cNvPr>
          <p:cNvSpPr>
            <a:spLocks noGrp="1"/>
          </p:cNvSpPr>
          <p:nvPr/>
        </p:nvSpPr>
        <p:spPr>
          <a:xfrm>
            <a:off x="3333750" y="12573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51FDFC-5152-4AFF-8142-F91AC928B8FA}"/>
              </a:ext>
            </a:extLst>
          </p:cNvPr>
          <p:cNvSpPr>
            <a:spLocks noGrp="1"/>
          </p:cNvSpPr>
          <p:nvPr/>
        </p:nvSpPr>
        <p:spPr>
          <a:xfrm>
            <a:off x="34861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F00F5A-1D20-40E0-887C-B1F47CE0A93F}"/>
              </a:ext>
            </a:extLst>
          </p:cNvPr>
          <p:cNvSpPr>
            <a:spLocks noGrp="1"/>
          </p:cNvSpPr>
          <p:nvPr/>
        </p:nvSpPr>
        <p:spPr>
          <a:xfrm>
            <a:off x="34861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D941ED-EEDE-4FA8-82A5-99C8100DE24B}"/>
              </a:ext>
            </a:extLst>
          </p:cNvPr>
          <p:cNvSpPr>
            <a:spLocks noGrp="1"/>
          </p:cNvSpPr>
          <p:nvPr/>
        </p:nvSpPr>
        <p:spPr>
          <a:xfrm>
            <a:off x="3886200" y="13906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75D826-F686-48B2-BE71-56A478C3522D}"/>
              </a:ext>
            </a:extLst>
          </p:cNvPr>
          <p:cNvSpPr>
            <a:spLocks noGrp="1"/>
          </p:cNvSpPr>
          <p:nvPr/>
        </p:nvSpPr>
        <p:spPr>
          <a:xfrm>
            <a:off x="3505200" y="17716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Keep data relevant, accurate, complete, and current.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F45A95A-87D2-4B5A-AF60-1DC2E9D93002}"/>
              </a:ext>
            </a:extLst>
          </p:cNvPr>
          <p:cNvSpPr>
            <a:spLocks noGrp="1"/>
          </p:cNvSpPr>
          <p:nvPr/>
        </p:nvSpPr>
        <p:spPr>
          <a:xfrm>
            <a:off x="6115050" y="12573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87EF8B6-26C4-4D96-AE79-3E1BEC77228A}"/>
              </a:ext>
            </a:extLst>
          </p:cNvPr>
          <p:cNvSpPr>
            <a:spLocks noGrp="1"/>
          </p:cNvSpPr>
          <p:nvPr/>
        </p:nvSpPr>
        <p:spPr>
          <a:xfrm>
            <a:off x="62674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6E80AE-12FB-4CBF-ABFA-1E59CF79EED4}"/>
              </a:ext>
            </a:extLst>
          </p:cNvPr>
          <p:cNvSpPr>
            <a:spLocks noGrp="1"/>
          </p:cNvSpPr>
          <p:nvPr/>
        </p:nvSpPr>
        <p:spPr>
          <a:xfrm>
            <a:off x="62674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B71282-D65F-4C1F-9F1C-75C869BEDAD0}"/>
              </a:ext>
            </a:extLst>
          </p:cNvPr>
          <p:cNvSpPr>
            <a:spLocks noGrp="1"/>
          </p:cNvSpPr>
          <p:nvPr/>
        </p:nvSpPr>
        <p:spPr>
          <a:xfrm>
            <a:off x="6667500" y="13906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PURPOSE SPECIFICATION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CEB7DA-75FD-4BBF-B281-F183992C7C62}"/>
              </a:ext>
            </a:extLst>
          </p:cNvPr>
          <p:cNvSpPr>
            <a:spLocks noGrp="1"/>
          </p:cNvSpPr>
          <p:nvPr/>
        </p:nvSpPr>
        <p:spPr>
          <a:xfrm>
            <a:off x="6286500" y="17716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State the purpose no later than collection.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D9910AC-268D-44C5-B95A-9FEB5FB9B93C}"/>
              </a:ext>
            </a:extLst>
          </p:cNvPr>
          <p:cNvSpPr>
            <a:spLocks noGrp="1"/>
          </p:cNvSpPr>
          <p:nvPr/>
        </p:nvSpPr>
        <p:spPr>
          <a:xfrm>
            <a:off x="8896350" y="12573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F907272-632C-496F-9D72-34FC5CE25418}"/>
              </a:ext>
            </a:extLst>
          </p:cNvPr>
          <p:cNvSpPr>
            <a:spLocks noGrp="1"/>
          </p:cNvSpPr>
          <p:nvPr/>
        </p:nvSpPr>
        <p:spPr>
          <a:xfrm>
            <a:off x="9048750" y="14001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891DC1-FD51-4418-BEBC-4796FB590E2E}"/>
              </a:ext>
            </a:extLst>
          </p:cNvPr>
          <p:cNvSpPr>
            <a:spLocks noGrp="1"/>
          </p:cNvSpPr>
          <p:nvPr/>
        </p:nvSpPr>
        <p:spPr>
          <a:xfrm>
            <a:off x="9048750" y="1400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B3BE83-9874-465B-8E9E-171139279301}"/>
              </a:ext>
            </a:extLst>
          </p:cNvPr>
          <p:cNvSpPr>
            <a:spLocks noGrp="1"/>
          </p:cNvSpPr>
          <p:nvPr/>
        </p:nvSpPr>
        <p:spPr>
          <a:xfrm>
            <a:off x="9448800" y="13906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USE LIMITATION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3AB192-90A3-40FD-87DE-3D8284D3ACEB}"/>
              </a:ext>
            </a:extLst>
          </p:cNvPr>
          <p:cNvSpPr>
            <a:spLocks noGrp="1"/>
          </p:cNvSpPr>
          <p:nvPr/>
        </p:nvSpPr>
        <p:spPr>
          <a:xfrm>
            <a:off x="9067800" y="17716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Restrict disclosure and incompatible secondary use.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AA81111-2D79-48A3-A429-2899ADB256E0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957C08D-0357-44A9-AA59-F334B373044F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A044DD-AFBE-4846-8011-273EEB6FA1C5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461218-5896-4E80-899A-3B7CCBFFE29F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SECURITY SAFEGUARDS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A7700F1-67FF-4ED0-9C4E-9F21DA453F51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 against loss and unauthorised access.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5D45BD3-8C06-421E-B874-883600292B03}"/>
              </a:ext>
            </a:extLst>
          </p:cNvPr>
          <p:cNvSpPr>
            <a:spLocks noGrp="1"/>
          </p:cNvSpPr>
          <p:nvPr/>
        </p:nvSpPr>
        <p:spPr>
          <a:xfrm>
            <a:off x="3333750" y="32385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CD087F6-77B0-45A2-AAD2-8023A8D80CCB}"/>
              </a:ext>
            </a:extLst>
          </p:cNvPr>
          <p:cNvSpPr>
            <a:spLocks noGrp="1"/>
          </p:cNvSpPr>
          <p:nvPr/>
        </p:nvSpPr>
        <p:spPr>
          <a:xfrm>
            <a:off x="3486150" y="33813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56EC48-75A9-4EAA-B5D4-7409A4D0FFEC}"/>
              </a:ext>
            </a:extLst>
          </p:cNvPr>
          <p:cNvSpPr>
            <a:spLocks noGrp="1"/>
          </p:cNvSpPr>
          <p:nvPr/>
        </p:nvSpPr>
        <p:spPr>
          <a:xfrm>
            <a:off x="3486150" y="33813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294A9F4-3981-4049-B8C7-0F8FF47FCB71}"/>
              </a:ext>
            </a:extLst>
          </p:cNvPr>
          <p:cNvSpPr>
            <a:spLocks noGrp="1"/>
          </p:cNvSpPr>
          <p:nvPr/>
        </p:nvSpPr>
        <p:spPr>
          <a:xfrm>
            <a:off x="3886200" y="33718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OPENNESS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1037194-105F-40B2-B4CF-BA75EC671210}"/>
              </a:ext>
            </a:extLst>
          </p:cNvPr>
          <p:cNvSpPr>
            <a:spLocks noGrp="1"/>
          </p:cNvSpPr>
          <p:nvPr/>
        </p:nvSpPr>
        <p:spPr>
          <a:xfrm>
            <a:off x="3505200" y="37528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Make policies and practices visible.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8565C0A-9B0A-4A6C-8ED9-896EFDF2575F}"/>
              </a:ext>
            </a:extLst>
          </p:cNvPr>
          <p:cNvSpPr>
            <a:spLocks noGrp="1"/>
          </p:cNvSpPr>
          <p:nvPr/>
        </p:nvSpPr>
        <p:spPr>
          <a:xfrm>
            <a:off x="6115050" y="32385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431A041-071E-4D99-8F1F-0BFFBE70600F}"/>
              </a:ext>
            </a:extLst>
          </p:cNvPr>
          <p:cNvSpPr>
            <a:spLocks noGrp="1"/>
          </p:cNvSpPr>
          <p:nvPr/>
        </p:nvSpPr>
        <p:spPr>
          <a:xfrm>
            <a:off x="6267450" y="33813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4B4178E-3967-4393-887B-988FF1F276EB}"/>
              </a:ext>
            </a:extLst>
          </p:cNvPr>
          <p:cNvSpPr>
            <a:spLocks noGrp="1"/>
          </p:cNvSpPr>
          <p:nvPr/>
        </p:nvSpPr>
        <p:spPr>
          <a:xfrm>
            <a:off x="6267450" y="33813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D19E6-18C1-4DE6-AE87-DCFB17539BAA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INDIVIDUAL PARTICIPATION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D8BFD7C-15C7-42E1-80A0-3373BCC6F4EC}"/>
              </a:ext>
            </a:extLst>
          </p:cNvPr>
          <p:cNvSpPr>
            <a:spLocks noGrp="1"/>
          </p:cNvSpPr>
          <p:nvPr/>
        </p:nvSpPr>
        <p:spPr>
          <a:xfrm>
            <a:off x="6286500" y="37528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Enable access, correction, and challenge.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AB8C07A0-7EA4-4C46-BD41-AE1AE5CCFEBE}"/>
              </a:ext>
            </a:extLst>
          </p:cNvPr>
          <p:cNvSpPr>
            <a:spLocks noGrp="1"/>
          </p:cNvSpPr>
          <p:nvPr/>
        </p:nvSpPr>
        <p:spPr>
          <a:xfrm>
            <a:off x="8896350" y="3238500"/>
            <a:ext cx="2457450" cy="1714500"/>
          </a:xfrm>
          <a:prstGeom prst="roundRect">
            <a:avLst>
              <a:gd name="adj" fmla="val 777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F08BAFA-89F1-4C09-9F88-1F15FB81B7E4}"/>
              </a:ext>
            </a:extLst>
          </p:cNvPr>
          <p:cNvSpPr>
            <a:spLocks noGrp="1"/>
          </p:cNvSpPr>
          <p:nvPr/>
        </p:nvSpPr>
        <p:spPr>
          <a:xfrm>
            <a:off x="9048750" y="33813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7A74BB5-D322-4F23-A46E-37FFB2A4D770}"/>
              </a:ext>
            </a:extLst>
          </p:cNvPr>
          <p:cNvSpPr>
            <a:spLocks noGrp="1"/>
          </p:cNvSpPr>
          <p:nvPr/>
        </p:nvSpPr>
        <p:spPr>
          <a:xfrm>
            <a:off x="9048750" y="33813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37BD77B-528C-4983-A351-FFD62E3BDA24}"/>
              </a:ext>
            </a:extLst>
          </p:cNvPr>
          <p:cNvSpPr>
            <a:spLocks noGrp="1"/>
          </p:cNvSpPr>
          <p:nvPr/>
        </p:nvSpPr>
        <p:spPr>
          <a:xfrm>
            <a:off x="9448800" y="33718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A63195F-6EDE-48D9-8B32-0913365B7802}"/>
              </a:ext>
            </a:extLst>
          </p:cNvPr>
          <p:cNvSpPr>
            <a:spLocks noGrp="1"/>
          </p:cNvSpPr>
          <p:nvPr/>
        </p:nvSpPr>
        <p:spPr>
          <a:xfrm>
            <a:off x="9067800" y="3752850"/>
            <a:ext cx="2114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Hold the controller responsible for compliance.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6C897CA-8760-48BE-820C-5A19C138B224}"/>
              </a:ext>
            </a:extLst>
          </p:cNvPr>
          <p:cNvSpPr>
            <a:spLocks noGrp="1"/>
          </p:cNvSpPr>
          <p:nvPr/>
        </p:nvSpPr>
        <p:spPr>
          <a:xfrm>
            <a:off x="4095750" y="5295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1980 OECD Guidelines</a:t>
            </a:r>
          </a:p>
        </p:txBody>
      </p:sp>
    </p:spTree>
    <p:extLst>
      <p:ext uri="{BB962C8B-B14F-4D97-AF65-F5344CB8AC3E}">
        <p14:creationId xmlns:p14="http://schemas.microsoft.com/office/powerpoint/2010/main" val="635324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701C9BD8-8FF8-442D-9BAB-0A940F72916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D53B1C-9751-41C2-AE87-EDB87C0CBD2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From FIPPs to AI governance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AD08A3C-9C3E-42C2-B84F-30F9442E561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88FBA9-3760-4794-8316-76FEAF719821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21CE623-8CB4-48D2-BE41-F9670368C616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EC6DFA-00D8-41DA-9C7C-A50E222278D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protection evolved from general principles to enforceable rights and AI-specific oversight.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C17C28-863E-4803-A299-7404B01E23D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52B849-6F93-4DE8-BF3D-D415A162522C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F69B5D-3331-4515-8975-BD86493512D7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10401300" cy="5715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E4548C0-68CC-4FDC-9D12-1FE0155C4E71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323850" cy="323850"/>
          </a:xfrm>
          <a:prstGeom prst="ellipse">
            <a:avLst/>
          </a:prstGeom>
          <a:solidFill>
            <a:srgbClr val="2E75B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FDBFD10-DBD7-483E-BBD9-69F9CC90050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514DD0-0D8D-4FAF-B3D4-843B16D79F72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1980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3A551A-6B32-4989-A147-DEF68BE3AECF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OECD Privacy Guidelines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52E018-9EBA-4359-BD90-5A91DDC11689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Eight basic principles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6F0574-20C4-4A3C-880C-354B4E201082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19050" cy="1524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1BFDC9B-DE2A-4B55-B078-CA663096EEE4}"/>
              </a:ext>
            </a:extLst>
          </p:cNvPr>
          <p:cNvSpPr>
            <a:spLocks noGrp="1"/>
          </p:cNvSpPr>
          <p:nvPr/>
        </p:nvSpPr>
        <p:spPr>
          <a:xfrm>
            <a:off x="3086100" y="2971800"/>
            <a:ext cx="323850" cy="323850"/>
          </a:xfrm>
          <a:prstGeom prst="ellipse">
            <a:avLst/>
          </a:prstGeom>
          <a:solidFill>
            <a:srgbClr val="2E75B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6A216A0-0E41-4941-900E-C1B6E7D059AF}"/>
              </a:ext>
            </a:extLst>
          </p:cNvPr>
          <p:cNvSpPr>
            <a:spLocks noGrp="1"/>
          </p:cNvSpPr>
          <p:nvPr/>
        </p:nvSpPr>
        <p:spPr>
          <a:xfrm>
            <a:off x="2571750" y="36766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FD9456-AC4D-462C-8DAC-F087CF58E626}"/>
              </a:ext>
            </a:extLst>
          </p:cNvPr>
          <p:cNvSpPr>
            <a:spLocks noGrp="1"/>
          </p:cNvSpPr>
          <p:nvPr/>
        </p:nvSpPr>
        <p:spPr>
          <a:xfrm>
            <a:off x="2686050" y="37909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1995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8DEAF3-51C1-4A01-98FA-0483752CDF49}"/>
              </a:ext>
            </a:extLst>
          </p:cNvPr>
          <p:cNvSpPr>
            <a:spLocks noGrp="1"/>
          </p:cNvSpPr>
          <p:nvPr/>
        </p:nvSpPr>
        <p:spPr>
          <a:xfrm>
            <a:off x="2667000" y="40957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EU Data Protection Directive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F2AB0C-3B89-4B5B-A17B-C543D0423219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Harmonised EU rules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01E881-B366-46F3-B496-F5573961720C}"/>
              </a:ext>
            </a:extLst>
          </p:cNvPr>
          <p:cNvSpPr>
            <a:spLocks noGrp="1"/>
          </p:cNvSpPr>
          <p:nvPr/>
        </p:nvSpPr>
        <p:spPr>
          <a:xfrm>
            <a:off x="3238500" y="3295650"/>
            <a:ext cx="19050" cy="3810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A4DE308-A548-4666-B5CD-774C7A1044FE}"/>
              </a:ext>
            </a:extLst>
          </p:cNvPr>
          <p:cNvSpPr>
            <a:spLocks noGrp="1"/>
          </p:cNvSpPr>
          <p:nvPr/>
        </p:nvSpPr>
        <p:spPr>
          <a:xfrm>
            <a:off x="4972050" y="2971800"/>
            <a:ext cx="323850" cy="323850"/>
          </a:xfrm>
          <a:prstGeom prst="ellipse">
            <a:avLst/>
          </a:prstGeom>
          <a:solidFill>
            <a:srgbClr val="2E75B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F0BB1BC1-B888-457E-A98F-A0A9AAC83D1F}"/>
              </a:ext>
            </a:extLst>
          </p:cNvPr>
          <p:cNvSpPr>
            <a:spLocks noGrp="1"/>
          </p:cNvSpPr>
          <p:nvPr/>
        </p:nvSpPr>
        <p:spPr>
          <a:xfrm>
            <a:off x="4457700" y="13525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18B6B3-A22A-4D0D-918C-33881418354B}"/>
              </a:ext>
            </a:extLst>
          </p:cNvPr>
          <p:cNvSpPr>
            <a:spLocks noGrp="1"/>
          </p:cNvSpPr>
          <p:nvPr/>
        </p:nvSpPr>
        <p:spPr>
          <a:xfrm>
            <a:off x="4572000" y="14668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2016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E7FAE7-5233-4953-B998-49D6668F952B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GDPR adopted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AEF8906-3841-49EC-A765-D42C8CEC6502}"/>
              </a:ext>
            </a:extLst>
          </p:cNvPr>
          <p:cNvSpPr>
            <a:spLocks noGrp="1"/>
          </p:cNvSpPr>
          <p:nvPr/>
        </p:nvSpPr>
        <p:spPr>
          <a:xfrm>
            <a:off x="4552950" y="23622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Regulation 2016/679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0FCFAA-4036-426A-B2A3-8FB24B4CC562}"/>
              </a:ext>
            </a:extLst>
          </p:cNvPr>
          <p:cNvSpPr>
            <a:spLocks noGrp="1"/>
          </p:cNvSpPr>
          <p:nvPr/>
        </p:nvSpPr>
        <p:spPr>
          <a:xfrm>
            <a:off x="5124450" y="2819400"/>
            <a:ext cx="19050" cy="1524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227E410-224A-436E-9356-436777FF339A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323850" cy="323850"/>
          </a:xfrm>
          <a:prstGeom prst="ellipse">
            <a:avLst/>
          </a:prstGeom>
          <a:solidFill>
            <a:srgbClr val="2E75B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D4E300E-A60A-4509-A500-9084C9863174}"/>
              </a:ext>
            </a:extLst>
          </p:cNvPr>
          <p:cNvSpPr>
            <a:spLocks noGrp="1"/>
          </p:cNvSpPr>
          <p:nvPr/>
        </p:nvSpPr>
        <p:spPr>
          <a:xfrm>
            <a:off x="6343650" y="36766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6D4511-D0D0-4068-AE67-8844B3814743}"/>
              </a:ext>
            </a:extLst>
          </p:cNvPr>
          <p:cNvSpPr>
            <a:spLocks noGrp="1"/>
          </p:cNvSpPr>
          <p:nvPr/>
        </p:nvSpPr>
        <p:spPr>
          <a:xfrm>
            <a:off x="6457950" y="37909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2018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A4DDD46-3A33-41E7-BF29-8FAA9D722AC1}"/>
              </a:ext>
            </a:extLst>
          </p:cNvPr>
          <p:cNvSpPr>
            <a:spLocks noGrp="1"/>
          </p:cNvSpPr>
          <p:nvPr/>
        </p:nvSpPr>
        <p:spPr>
          <a:xfrm>
            <a:off x="6438900" y="40957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GDPR applies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AF1B46-7334-48BC-A153-6E69E86C323B}"/>
              </a:ext>
            </a:extLst>
          </p:cNvPr>
          <p:cNvSpPr>
            <a:spLocks noGrp="1"/>
          </p:cNvSpPr>
          <p:nvPr/>
        </p:nvSpPr>
        <p:spPr>
          <a:xfrm>
            <a:off x="6438900" y="46863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Rights and accountability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015422-A7DE-41CB-9C71-E7EE2431F2EC}"/>
              </a:ext>
            </a:extLst>
          </p:cNvPr>
          <p:cNvSpPr>
            <a:spLocks noGrp="1"/>
          </p:cNvSpPr>
          <p:nvPr/>
        </p:nvSpPr>
        <p:spPr>
          <a:xfrm>
            <a:off x="7010400" y="3295650"/>
            <a:ext cx="19050" cy="3810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4606D34-AC45-4129-B2A3-8ED4B172FF46}"/>
              </a:ext>
            </a:extLst>
          </p:cNvPr>
          <p:cNvSpPr>
            <a:spLocks noGrp="1"/>
          </p:cNvSpPr>
          <p:nvPr/>
        </p:nvSpPr>
        <p:spPr>
          <a:xfrm>
            <a:off x="8743950" y="2971800"/>
            <a:ext cx="323850" cy="323850"/>
          </a:xfrm>
          <a:prstGeom prst="ellipse">
            <a:avLst/>
          </a:prstGeom>
          <a:solidFill>
            <a:srgbClr val="00336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38712E81-F3DF-4992-866A-28EB2E17C91B}"/>
              </a:ext>
            </a:extLst>
          </p:cNvPr>
          <p:cNvSpPr>
            <a:spLocks noGrp="1"/>
          </p:cNvSpPr>
          <p:nvPr/>
        </p:nvSpPr>
        <p:spPr>
          <a:xfrm>
            <a:off x="8229600" y="13525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3A5E73-04C1-4364-A01D-BE9CC6E8C584}"/>
              </a:ext>
            </a:extLst>
          </p:cNvPr>
          <p:cNvSpPr>
            <a:spLocks noGrp="1"/>
          </p:cNvSpPr>
          <p:nvPr/>
        </p:nvSpPr>
        <p:spPr>
          <a:xfrm>
            <a:off x="8343900" y="14668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FF5E3A-C206-4D53-8FDD-BC9B909E3CEC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EU AI Act adopted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0CC282-E311-489D-9708-ED1711D8910C}"/>
              </a:ext>
            </a:extLst>
          </p:cNvPr>
          <p:cNvSpPr>
            <a:spLocks noGrp="1"/>
          </p:cNvSpPr>
          <p:nvPr/>
        </p:nvSpPr>
        <p:spPr>
          <a:xfrm>
            <a:off x="8324850" y="23622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Risk-based obligations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E18DB9-AF03-4734-A12A-8D6097C41D8F}"/>
              </a:ext>
            </a:extLst>
          </p:cNvPr>
          <p:cNvSpPr>
            <a:spLocks noGrp="1"/>
          </p:cNvSpPr>
          <p:nvPr/>
        </p:nvSpPr>
        <p:spPr>
          <a:xfrm>
            <a:off x="8896350" y="2819400"/>
            <a:ext cx="19050" cy="1524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ED67E62-92F0-47B1-ADB6-772C6807E20F}"/>
              </a:ext>
            </a:extLst>
          </p:cNvPr>
          <p:cNvSpPr>
            <a:spLocks noGrp="1"/>
          </p:cNvSpPr>
          <p:nvPr/>
        </p:nvSpPr>
        <p:spPr>
          <a:xfrm>
            <a:off x="10629900" y="2971800"/>
            <a:ext cx="323850" cy="323850"/>
          </a:xfrm>
          <a:prstGeom prst="ellipse">
            <a:avLst/>
          </a:prstGeom>
          <a:solidFill>
            <a:srgbClr val="003366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6A95005-BC9B-459F-B4E7-D249629526D5}"/>
              </a:ext>
            </a:extLst>
          </p:cNvPr>
          <p:cNvSpPr>
            <a:spLocks noGrp="1"/>
          </p:cNvSpPr>
          <p:nvPr/>
        </p:nvSpPr>
        <p:spPr>
          <a:xfrm>
            <a:off x="10115550" y="3676650"/>
            <a:ext cx="1352550" cy="1466850"/>
          </a:xfrm>
          <a:prstGeom prst="roundRect">
            <a:avLst>
              <a:gd name="adj" fmla="val 9155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914D8D3-3A03-4554-B58A-6F24DF4E000A}"/>
              </a:ext>
            </a:extLst>
          </p:cNvPr>
          <p:cNvSpPr>
            <a:spLocks noGrp="1"/>
          </p:cNvSpPr>
          <p:nvPr/>
        </p:nvSpPr>
        <p:spPr>
          <a:xfrm>
            <a:off x="10229850" y="37909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B16023-B0EE-4AEF-9377-EC9FF3A88D85}"/>
              </a:ext>
            </a:extLst>
          </p:cNvPr>
          <p:cNvSpPr>
            <a:spLocks noGrp="1"/>
          </p:cNvSpPr>
          <p:nvPr/>
        </p:nvSpPr>
        <p:spPr>
          <a:xfrm>
            <a:off x="10210800" y="409575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EDPB Opinion 28/2024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4A5903A-DA47-425B-8101-5B0885EB9C9E}"/>
              </a:ext>
            </a:extLst>
          </p:cNvPr>
          <p:cNvSpPr>
            <a:spLocks noGrp="1"/>
          </p:cNvSpPr>
          <p:nvPr/>
        </p:nvSpPr>
        <p:spPr>
          <a:xfrm>
            <a:off x="10210800" y="468630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AI models and personal data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AEB4E1-1ABA-4FC6-9EC5-D0F9EDF3F617}"/>
              </a:ext>
            </a:extLst>
          </p:cNvPr>
          <p:cNvSpPr>
            <a:spLocks noGrp="1"/>
          </p:cNvSpPr>
          <p:nvPr/>
        </p:nvSpPr>
        <p:spPr>
          <a:xfrm>
            <a:off x="10782300" y="3295650"/>
            <a:ext cx="19050" cy="3810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9E1EFC-477F-4589-9978-68FFF92515F8}"/>
              </a:ext>
            </a:extLst>
          </p:cNvPr>
          <p:cNvSpPr>
            <a:spLocks noGrp="1"/>
          </p:cNvSpPr>
          <p:nvPr/>
        </p:nvSpPr>
        <p:spPr>
          <a:xfrm>
            <a:off x="1143000" y="5448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Principles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B87319-DB84-477F-B73D-E5C7CABDC4B8}"/>
              </a:ext>
            </a:extLst>
          </p:cNvPr>
          <p:cNvSpPr>
            <a:spLocks noGrp="1"/>
          </p:cNvSpPr>
          <p:nvPr/>
        </p:nvSpPr>
        <p:spPr>
          <a:xfrm>
            <a:off x="5048250" y="5448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Enforceable rights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89A49F1-E6E4-433E-8433-A1B4EB567AAD}"/>
              </a:ext>
            </a:extLst>
          </p:cNvPr>
          <p:cNvSpPr>
            <a:spLocks noGrp="1"/>
          </p:cNvSpPr>
          <p:nvPr/>
        </p:nvSpPr>
        <p:spPr>
          <a:xfrm>
            <a:off x="8953500" y="5448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AI-specific oversight</a:t>
            </a:r>
          </a:p>
        </p:txBody>
      </p:sp>
    </p:spTree>
    <p:extLst>
      <p:ext uri="{BB962C8B-B14F-4D97-AF65-F5344CB8AC3E}">
        <p14:creationId xmlns:p14="http://schemas.microsoft.com/office/powerpoint/2010/main" val="1019612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908AAC0-11E5-43B1-99AA-443FBE19E538}"/>
              </a:ext>
            </a:extLst>
          </p:cNvPr>
          <p:cNvSpPr>
            <a:spLocks noGrp="1"/>
          </p:cNvSpPr>
          <p:nvPr/>
        </p:nvSpPr>
        <p:spPr>
          <a:xfrm>
            <a:off x="762000" y="6096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B0153E-3C43-471A-9AB7-EB883CF15280}"/>
              </a:ext>
            </a:extLst>
          </p:cNvPr>
          <p:cNvSpPr>
            <a:spLocks noGrp="1"/>
          </p:cNvSpPr>
          <p:nvPr/>
        </p:nvSpPr>
        <p:spPr>
          <a:xfrm>
            <a:off x="1524000" y="1428750"/>
            <a:ext cx="9144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3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holds power over</a:t>
            </a:r>
          </a:p>
          <a:p>
            <a:pPr algn="ctr">
              <a:lnSpc>
                <a:spcPct val="96000"/>
              </a:lnSpc>
              <a:buNone/>
              <a:defRPr sz="3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data?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FA681E8-52C6-40AF-9B32-41D90218C91D}"/>
              </a:ext>
            </a:extLst>
          </p:cNvPr>
          <p:cNvSpPr>
            <a:spLocks noGrp="1"/>
          </p:cNvSpPr>
          <p:nvPr/>
        </p:nvSpPr>
        <p:spPr>
          <a:xfrm>
            <a:off x="1676400" y="2933700"/>
            <a:ext cx="8839200" cy="1466850"/>
          </a:xfrm>
          <a:prstGeom prst="roundRect">
            <a:avLst>
              <a:gd name="adj" fmla="val 11688"/>
            </a:avLst>
          </a:prstGeom>
          <a:solidFill>
            <a:srgbClr val="0A4778"/>
          </a:solidFill>
          <a:ln w="9525">
            <a:solidFill>
              <a:srgbClr val="4A8F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D64568-4725-4636-8996-3068680096AE}"/>
              </a:ext>
            </a:extLst>
          </p:cNvPr>
          <p:cNvSpPr>
            <a:spLocks noGrp="1"/>
          </p:cNvSpPr>
          <p:nvPr/>
        </p:nvSpPr>
        <p:spPr>
          <a:xfrm>
            <a:off x="2152650" y="3238500"/>
            <a:ext cx="7886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one AI system that collects your data. What could you inspect, correct, delete, or contest today?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FBCD5D1-D3D8-4A64-812D-D9A9F1869787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2933700" cy="5524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1DC244-BBF5-4765-93D8-80032F6B2FE8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2933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15–20 MINUTES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E5EA0E-E0B2-42C8-8859-23FF2A28D4E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D0123-1161-4A17-9AD4-FF4977EDD8F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42941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7023A21-C459-4EE9-B70D-2FEE31F4C55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74B7AD-5949-4980-8CD0-8B040E6A0FE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From theory to cases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A5213BD-ED15-4286-B735-222AE6E50AE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114FDF-8E70-408F-A33C-055EF52D1D0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8FA3508-A0DF-4625-88A5-4F42FEEDEB3B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B78D8C-69E8-4D14-887F-BC6BC4AB046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Theories provide the questions; cases show the stakes and the available remedies.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C1A668-4210-48F5-BC68-239F02DBC6A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77F8F4-CB73-4BC6-B7C9-3665C6B14A4E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D28340-03B4-4EBD-BAC4-A8C0503A0DA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A670F50-0930-47CB-AC1E-8F90F8B6408C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5219700" cy="3238500"/>
          </a:xfrm>
          <a:prstGeom prst="roundRect">
            <a:avLst>
              <a:gd name="adj" fmla="val 4706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8D06A1-22EB-4A4C-A71C-9F46BE2B244A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44958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Definitions: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privacy, data protection, and security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Legal concepts: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personal data and special categories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Theories: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control, relationships, and contextual integrity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Power: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surveillance capitalism and vulnerability</a:t>
            </a:r>
          </a:p>
          <a:p>
            <a:pPr marL="254000" indent="-127000" algn="l">
              <a:lnSpc>
                <a:spcPct val="105000"/>
              </a:lnSpc>
              <a:spcAft>
                <a:spcPts val="1000"/>
              </a:spcAft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Lifecycle: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collection through retention and deletion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073DE2-43B2-44B8-A2FF-B528D978C01D}"/>
              </a:ext>
            </a:extLst>
          </p:cNvPr>
          <p:cNvSpPr>
            <a:spLocks noGrp="1"/>
          </p:cNvSpPr>
          <p:nvPr/>
        </p:nvSpPr>
        <p:spPr>
          <a:xfrm>
            <a:off x="6419850" y="11620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CASE STUDIES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FA73084-D04D-41F8-B918-A608E803FDB1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5219700" cy="3238500"/>
          </a:xfrm>
          <a:prstGeom prst="roundRect">
            <a:avLst>
              <a:gd name="adj" fmla="val 4706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30CD5C-F0A9-4374-90FB-E82C44A7EB8F}"/>
              </a:ext>
            </a:extLst>
          </p:cNvPr>
          <p:cNvSpPr>
            <a:spLocks noGrp="1"/>
          </p:cNvSpPr>
          <p:nvPr/>
        </p:nvSpPr>
        <p:spPr>
          <a:xfrm>
            <a:off x="6705600" y="186690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CLEARVIEW AI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34FC47FF-9FEC-4276-834E-E117581ADE64}"/>
              </a:ext>
            </a:extLst>
          </p:cNvPr>
          <p:cNvSpPr>
            <a:spLocks noGrp="1"/>
          </p:cNvSpPr>
          <p:nvPr/>
        </p:nvSpPr>
        <p:spPr>
          <a:xfrm>
            <a:off x="8324850" y="1905000"/>
            <a:ext cx="2667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2C9CA4-6F8C-4957-A0FF-C9E1D67972DB}"/>
              </a:ext>
            </a:extLst>
          </p:cNvPr>
          <p:cNvSpPr>
            <a:spLocks noGrp="1"/>
          </p:cNvSpPr>
          <p:nvPr/>
        </p:nvSpPr>
        <p:spPr>
          <a:xfrm>
            <a:off x="8705850" y="18669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public photos to biometric search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90854-33D0-451B-BD2C-9103A72B633A}"/>
              </a:ext>
            </a:extLst>
          </p:cNvPr>
          <p:cNvSpPr>
            <a:spLocks noGrp="1"/>
          </p:cNvSpPr>
          <p:nvPr/>
        </p:nvSpPr>
        <p:spPr>
          <a:xfrm>
            <a:off x="6705600" y="255270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RITE AID</a:t>
            </a: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FE5494B1-DD00-44AD-871B-A680F2624DB7}"/>
              </a:ext>
            </a:extLst>
          </p:cNvPr>
          <p:cNvSpPr>
            <a:spLocks noGrp="1"/>
          </p:cNvSpPr>
          <p:nvPr/>
        </p:nvSpPr>
        <p:spPr>
          <a:xfrm>
            <a:off x="8324850" y="2590800"/>
            <a:ext cx="2667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BDA92A-8336-4B04-B48D-909ABDACF623}"/>
              </a:ext>
            </a:extLst>
          </p:cNvPr>
          <p:cNvSpPr>
            <a:spLocks noGrp="1"/>
          </p:cNvSpPr>
          <p:nvPr/>
        </p:nvSpPr>
        <p:spPr>
          <a:xfrm>
            <a:off x="8705850" y="25527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false match to physical confrontation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366279-9B28-4942-878B-925D7073F7CA}"/>
              </a:ext>
            </a:extLst>
          </p:cNvPr>
          <p:cNvSpPr>
            <a:spLocks noGrp="1"/>
          </p:cNvSpPr>
          <p:nvPr/>
        </p:nvSpPr>
        <p:spPr>
          <a:xfrm>
            <a:off x="6705600" y="323850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BETTERHELP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DC4623FF-BD6B-4681-AD69-984EC7EB1E65}"/>
              </a:ext>
            </a:extLst>
          </p:cNvPr>
          <p:cNvSpPr>
            <a:spLocks noGrp="1"/>
          </p:cNvSpPr>
          <p:nvPr/>
        </p:nvSpPr>
        <p:spPr>
          <a:xfrm>
            <a:off x="8324850" y="3276600"/>
            <a:ext cx="2667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68FFA0-D65B-4549-AF63-3F92B36C33AD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therapy data to advertising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16AA15-2E4A-4B67-BBFB-F0DF390F6CED}"/>
              </a:ext>
            </a:extLst>
          </p:cNvPr>
          <p:cNvSpPr>
            <a:spLocks noGrp="1"/>
          </p:cNvSpPr>
          <p:nvPr/>
        </p:nvSpPr>
        <p:spPr>
          <a:xfrm>
            <a:off x="6705600" y="392430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790072FB-65EE-4D0F-9FF8-18063A32CEFB}"/>
              </a:ext>
            </a:extLst>
          </p:cNvPr>
          <p:cNvSpPr>
            <a:spLocks noGrp="1"/>
          </p:cNvSpPr>
          <p:nvPr/>
        </p:nvSpPr>
        <p:spPr>
          <a:xfrm>
            <a:off x="8324850" y="3962400"/>
            <a:ext cx="26670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211EFD-876D-4AF7-B4BA-69476B4FF06D}"/>
              </a:ext>
            </a:extLst>
          </p:cNvPr>
          <p:cNvSpPr>
            <a:spLocks noGrp="1"/>
          </p:cNvSpPr>
          <p:nvPr/>
        </p:nvSpPr>
        <p:spPr>
          <a:xfrm>
            <a:off x="8705850" y="39243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data, outputs, and rights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4974616-D6AC-4128-8C36-78272F24C5F4}"/>
              </a:ext>
            </a:extLst>
          </p:cNvPr>
          <p:cNvSpPr>
            <a:spLocks noGrp="1"/>
          </p:cNvSpPr>
          <p:nvPr/>
        </p:nvSpPr>
        <p:spPr>
          <a:xfrm>
            <a:off x="2228850" y="5219700"/>
            <a:ext cx="2190750" cy="457200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F0E4E8-AEBE-4DAD-BE9C-6404005995BF}"/>
              </a:ext>
            </a:extLst>
          </p:cNvPr>
          <p:cNvSpPr>
            <a:spLocks noGrp="1"/>
          </p:cNvSpPr>
          <p:nvPr/>
        </p:nvSpPr>
        <p:spPr>
          <a:xfrm>
            <a:off x="2324100" y="5314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DECISION</a:t>
            </a:r>
          </a:p>
        </p:txBody>
      </p:sp>
      <p:sp>
        <p:nvSpPr>
          <p:cNvPr id="28" name="右箭头 27">
            <a:extLst>
              <a:ext uri="{FF2B5EF4-FFF2-40B4-BE49-F238E27FC236}">
                <a16:creationId xmlns:a16="http://schemas.microsoft.com/office/drawing/2014/main" id="{925AA27F-E220-4963-A528-91C345BD78C4}"/>
              </a:ext>
            </a:extLst>
          </p:cNvPr>
          <p:cNvSpPr>
            <a:spLocks noGrp="1"/>
          </p:cNvSpPr>
          <p:nvPr/>
        </p:nvSpPr>
        <p:spPr>
          <a:xfrm>
            <a:off x="4514850" y="5353050"/>
            <a:ext cx="2857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F2D52CA-01FD-4EDD-B013-84A2B4DCF5B7}"/>
              </a:ext>
            </a:extLst>
          </p:cNvPr>
          <p:cNvSpPr>
            <a:spLocks noGrp="1"/>
          </p:cNvSpPr>
          <p:nvPr/>
        </p:nvSpPr>
        <p:spPr>
          <a:xfrm>
            <a:off x="5029200" y="5219700"/>
            <a:ext cx="2190750" cy="457200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835C5D-FF54-4DE2-9152-59597FFCD40B}"/>
              </a:ext>
            </a:extLst>
          </p:cNvPr>
          <p:cNvSpPr>
            <a:spLocks noGrp="1"/>
          </p:cNvSpPr>
          <p:nvPr/>
        </p:nvSpPr>
        <p:spPr>
          <a:xfrm>
            <a:off x="5124450" y="5314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HUMAN HARM</a:t>
            </a:r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9D970142-6C9C-4B7D-AC1B-BAE45996CE61}"/>
              </a:ext>
            </a:extLst>
          </p:cNvPr>
          <p:cNvSpPr>
            <a:spLocks noGrp="1"/>
          </p:cNvSpPr>
          <p:nvPr/>
        </p:nvSpPr>
        <p:spPr>
          <a:xfrm>
            <a:off x="7315200" y="5353050"/>
            <a:ext cx="2857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2B353A6-F7FE-48B3-B5CF-44AE739B2527}"/>
              </a:ext>
            </a:extLst>
          </p:cNvPr>
          <p:cNvSpPr>
            <a:spLocks noGrp="1"/>
          </p:cNvSpPr>
          <p:nvPr/>
        </p:nvSpPr>
        <p:spPr>
          <a:xfrm>
            <a:off x="7829550" y="5219700"/>
            <a:ext cx="2190750" cy="4572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D72A50-39BD-477A-9FF1-92353AD61041}"/>
              </a:ext>
            </a:extLst>
          </p:cNvPr>
          <p:cNvSpPr>
            <a:spLocks noGrp="1"/>
          </p:cNvSpPr>
          <p:nvPr/>
        </p:nvSpPr>
        <p:spPr>
          <a:xfrm>
            <a:off x="7924800" y="5314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REMEDY</a:t>
            </a:r>
          </a:p>
        </p:txBody>
      </p:sp>
    </p:spTree>
    <p:extLst>
      <p:ext uri="{BB962C8B-B14F-4D97-AF65-F5344CB8AC3E}">
        <p14:creationId xmlns:p14="http://schemas.microsoft.com/office/powerpoint/2010/main" val="880654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CBD20C89-2D61-49BC-AFA6-EEC8BA62C38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A · FOUNDATIONS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C5321C-2D53-42F1-895E-A68F874FBF4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Key definitions recap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1ED8B1C-4C85-4E88-A754-4D6D52C745E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D4483E-6888-4067-A2F2-37851445DCA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626B85E-4906-4958-A853-1938E232DB0C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D317B4-0A01-47F6-9380-BB75E4330DDD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These concepts will recur in every case and governance discussion.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748909-0FEB-49EB-8144-87119F39667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E59593-96E2-4CEE-B690-ECAB1B0C9D98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73E68A2-FD42-4A9E-81D3-F52C677FAD84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8EF7F90-3A10-4E2F-A00B-8B98C3877875}"/>
              </a:ext>
            </a:extLst>
          </p:cNvPr>
          <p:cNvSpPr>
            <a:spLocks noGrp="1"/>
          </p:cNvSpPr>
          <p:nvPr/>
        </p:nvSpPr>
        <p:spPr>
          <a:xfrm>
            <a:off x="704850" y="14573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89E48E-D3E8-44DB-9054-5698445DF58C}"/>
              </a:ext>
            </a:extLst>
          </p:cNvPr>
          <p:cNvSpPr>
            <a:spLocks noGrp="1"/>
          </p:cNvSpPr>
          <p:nvPr/>
        </p:nvSpPr>
        <p:spPr>
          <a:xfrm>
            <a:off x="704850" y="14573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06FC0C-33D1-4C87-B7EC-5B0290F5E689}"/>
              </a:ext>
            </a:extLst>
          </p:cNvPr>
          <p:cNvSpPr>
            <a:spLocks noGrp="1"/>
          </p:cNvSpPr>
          <p:nvPr/>
        </p:nvSpPr>
        <p:spPr>
          <a:xfrm>
            <a:off x="1104900" y="14478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25D11D-8D54-4BCB-9FF3-ABD1A77E7376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Information relating to an identifiable person.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46B244C-0BCB-4140-AA97-0925AFB13A67}"/>
              </a:ext>
            </a:extLst>
          </p:cNvPr>
          <p:cNvSpPr>
            <a:spLocks noGrp="1"/>
          </p:cNvSpPr>
          <p:nvPr/>
        </p:nvSpPr>
        <p:spPr>
          <a:xfrm>
            <a:off x="4248150" y="13144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9665E91-AAB7-441D-A675-11BB8592E1CB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3440AD-C315-4954-B54E-2EBB2041F225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B721AB-5FF0-4852-9756-22B02BB86D15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SPECIAL CATEGORY DATA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0500FD-51D6-49AC-87D0-1EF0903A8296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Protected data such as health or biometric identity.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3CA6163-FEB3-4431-B7A6-C5EF158EFAE2}"/>
              </a:ext>
            </a:extLst>
          </p:cNvPr>
          <p:cNvSpPr>
            <a:spLocks noGrp="1"/>
          </p:cNvSpPr>
          <p:nvPr/>
        </p:nvSpPr>
        <p:spPr>
          <a:xfrm>
            <a:off x="7943850" y="13144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6B66971-7E45-4E47-88F0-1F00F111AB43}"/>
              </a:ext>
            </a:extLst>
          </p:cNvPr>
          <p:cNvSpPr>
            <a:spLocks noGrp="1"/>
          </p:cNvSpPr>
          <p:nvPr/>
        </p:nvSpPr>
        <p:spPr>
          <a:xfrm>
            <a:off x="8096250" y="14573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F90254-EC6B-45C0-B7E9-BCE8C70C95D2}"/>
              </a:ext>
            </a:extLst>
          </p:cNvPr>
          <p:cNvSpPr>
            <a:spLocks noGrp="1"/>
          </p:cNvSpPr>
          <p:nvPr/>
        </p:nvSpPr>
        <p:spPr>
          <a:xfrm>
            <a:off x="8096250" y="14573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41C671-AD03-4862-8FA2-47A9422620BE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CONTEXTUAL INTEGRITY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AA00A1-6582-4653-B66F-EE6BD322E501}"/>
              </a:ext>
            </a:extLst>
          </p:cNvPr>
          <p:cNvSpPr>
            <a:spLocks noGrp="1"/>
          </p:cNvSpPr>
          <p:nvPr/>
        </p:nvSpPr>
        <p:spPr>
          <a:xfrm>
            <a:off x="8115300" y="18288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Information flows should follow contextual norms.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59E8DF3-E95C-41B2-A6B4-343792F555A4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C0BA842-6086-413C-B097-4202D4D04F26}"/>
              </a:ext>
            </a:extLst>
          </p:cNvPr>
          <p:cNvSpPr>
            <a:spLocks noGrp="1"/>
          </p:cNvSpPr>
          <p:nvPr/>
        </p:nvSpPr>
        <p:spPr>
          <a:xfrm>
            <a:off x="704850" y="34004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2DE6DC-B2FC-424D-A777-7F4F5BB75250}"/>
              </a:ext>
            </a:extLst>
          </p:cNvPr>
          <p:cNvSpPr>
            <a:spLocks noGrp="1"/>
          </p:cNvSpPr>
          <p:nvPr/>
        </p:nvSpPr>
        <p:spPr>
          <a:xfrm>
            <a:off x="704850" y="3400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718EBC-C663-4050-B807-BA8D89FF2DDB}"/>
              </a:ext>
            </a:extLst>
          </p:cNvPr>
          <p:cNvSpPr>
            <a:spLocks noGrp="1"/>
          </p:cNvSpPr>
          <p:nvPr/>
        </p:nvSpPr>
        <p:spPr>
          <a:xfrm>
            <a:off x="1104900" y="3390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SURVEILLANCE CAPITALISM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DE485A-3B95-473D-9AA7-EF3F8310DFBA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Behaviour becomes data for prediction and influence.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5FD8D77-6A15-4646-B6C8-3923FDF71315}"/>
              </a:ext>
            </a:extLst>
          </p:cNvPr>
          <p:cNvSpPr>
            <a:spLocks noGrp="1"/>
          </p:cNvSpPr>
          <p:nvPr/>
        </p:nvSpPr>
        <p:spPr>
          <a:xfrm>
            <a:off x="4248150" y="32575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C9C7B73-6E8B-45C5-B487-E130D0FDCBA4}"/>
              </a:ext>
            </a:extLst>
          </p:cNvPr>
          <p:cNvSpPr>
            <a:spLocks noGrp="1"/>
          </p:cNvSpPr>
          <p:nvPr/>
        </p:nvSpPr>
        <p:spPr>
          <a:xfrm>
            <a:off x="4400550" y="34004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27BC23-441F-4C91-B856-D5295DEF4D4C}"/>
              </a:ext>
            </a:extLst>
          </p:cNvPr>
          <p:cNvSpPr>
            <a:spLocks noGrp="1"/>
          </p:cNvSpPr>
          <p:nvPr/>
        </p:nvSpPr>
        <p:spPr>
          <a:xfrm>
            <a:off x="4400550" y="3400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B1B497-21E3-4351-97FD-1FA05DB6C9F0}"/>
              </a:ext>
            </a:extLst>
          </p:cNvPr>
          <p:cNvSpPr>
            <a:spLocks noGrp="1"/>
          </p:cNvSpPr>
          <p:nvPr/>
        </p:nvSpPr>
        <p:spPr>
          <a:xfrm>
            <a:off x="4800600" y="3390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WMD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6C2C7B-C916-4F51-8153-D5828696E78B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 opaque, scalable model that produces damaging outcomes.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372E016-A190-4AFD-BE9D-E9F95C075F55}"/>
              </a:ext>
            </a:extLst>
          </p:cNvPr>
          <p:cNvSpPr>
            <a:spLocks noGrp="1"/>
          </p:cNvSpPr>
          <p:nvPr/>
        </p:nvSpPr>
        <p:spPr>
          <a:xfrm>
            <a:off x="7943850" y="3257550"/>
            <a:ext cx="3371850" cy="1638300"/>
          </a:xfrm>
          <a:prstGeom prst="roundRect">
            <a:avLst>
              <a:gd name="adj" fmla="val 814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7986183-19D2-41D3-A682-95A13CDBA6A9}"/>
              </a:ext>
            </a:extLst>
          </p:cNvPr>
          <p:cNvSpPr>
            <a:spLocks noGrp="1"/>
          </p:cNvSpPr>
          <p:nvPr/>
        </p:nvSpPr>
        <p:spPr>
          <a:xfrm>
            <a:off x="8096250" y="34004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9029AF-7647-4FC8-A1C3-FDAAA44FADDA}"/>
              </a:ext>
            </a:extLst>
          </p:cNvPr>
          <p:cNvSpPr>
            <a:spLocks noGrp="1"/>
          </p:cNvSpPr>
          <p:nvPr/>
        </p:nvSpPr>
        <p:spPr>
          <a:xfrm>
            <a:off x="8096250" y="3400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AFAFE05-9875-45D4-9BC9-86F4597070C5}"/>
              </a:ext>
            </a:extLst>
          </p:cNvPr>
          <p:cNvSpPr>
            <a:spLocks noGrp="1"/>
          </p:cNvSpPr>
          <p:nvPr/>
        </p:nvSpPr>
        <p:spPr>
          <a:xfrm>
            <a:off x="8496300" y="3390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DIGITAL POORHOUSE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4AA7B6E-6BCB-438F-B51E-7E7240ABC3BB}"/>
              </a:ext>
            </a:extLst>
          </p:cNvPr>
          <p:cNvSpPr>
            <a:spLocks noGrp="1"/>
          </p:cNvSpPr>
          <p:nvPr/>
        </p:nvSpPr>
        <p:spPr>
          <a:xfrm>
            <a:off x="8115300" y="3771900"/>
            <a:ext cx="3028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Automated systems that intensify surveillance of people seeking support.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9C22873B-A808-4BD7-8369-FAA9DFEF1BEA}"/>
              </a:ext>
            </a:extLst>
          </p:cNvPr>
          <p:cNvSpPr>
            <a:spLocks noGrp="1"/>
          </p:cNvSpPr>
          <p:nvPr/>
        </p:nvSpPr>
        <p:spPr>
          <a:xfrm>
            <a:off x="2533650" y="5267325"/>
            <a:ext cx="7124700" cy="495300"/>
          </a:xfrm>
          <a:prstGeom prst="roundRect">
            <a:avLst>
              <a:gd name="adj" fmla="val 19231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5E1001C-B15A-4CA9-88C0-7CB0AA075460}"/>
              </a:ext>
            </a:extLst>
          </p:cNvPr>
          <p:cNvSpPr>
            <a:spLocks noGrp="1"/>
          </p:cNvSpPr>
          <p:nvPr/>
        </p:nvSpPr>
        <p:spPr>
          <a:xfrm>
            <a:off x="2705100" y="5314950"/>
            <a:ext cx="678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 vocabulary to identify the data flow, power relation, harm, and remedy.</a:t>
            </a:r>
          </a:p>
        </p:txBody>
      </p:sp>
    </p:spTree>
    <p:extLst>
      <p:ext uri="{BB962C8B-B14F-4D97-AF65-F5344CB8AC3E}">
        <p14:creationId xmlns:p14="http://schemas.microsoft.com/office/powerpoint/2010/main" val="819215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3579" r="3579"/>
          <a:stretch>
            <a:fillRect/>
          </a:stretch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6650EFD-CEAF-4DAA-9113-47A95B1301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5D23DC-05B8-4C2D-B608-1F1DC0CE7B1C}"/>
              </a:ext>
            </a:extLst>
          </p:cNvPr>
          <p:cNvSpPr>
            <a:spLocks noGrp="1"/>
          </p:cNvSpPr>
          <p:nvPr/>
        </p:nvSpPr>
        <p:spPr>
          <a:xfrm>
            <a:off x="742950" y="9334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PART B · CASE STUDIES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F011E0-37D5-4486-B50D-11ED7B22741D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6000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3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privacy harms</a:t>
            </a:r>
          </a:p>
          <a:p>
            <a:pPr algn="l">
              <a:lnSpc>
                <a:spcPct val="96000"/>
              </a:lnSpc>
              <a:buNone/>
              <a:defRPr sz="3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FE5B3A-60A9-401C-8CE5-E88ED785B449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case connects a data decision to a human consequence and a regulatory response.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D70B740-9111-4459-872E-D3411BAFAA14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476500" cy="457200"/>
          </a:xfrm>
          <a:prstGeom prst="roundRect">
            <a:avLst>
              <a:gd name="adj" fmla="val 20833"/>
            </a:avLst>
          </a:prstGeom>
          <a:solidFill>
            <a:srgbClr val="0A4778"/>
          </a:solidFill>
          <a:ln w="9525">
            <a:solidFill>
              <a:srgbClr val="4A8F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9AB82F-7BD7-4161-B80A-DCAB3A8F2F08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CLEARVIEW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C484CD3-59F6-4142-AC89-123466F9C57D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2476500" cy="457200"/>
          </a:xfrm>
          <a:prstGeom prst="roundRect">
            <a:avLst>
              <a:gd name="adj" fmla="val 20833"/>
            </a:avLst>
          </a:prstGeom>
          <a:solidFill>
            <a:srgbClr val="0A4778"/>
          </a:solidFill>
          <a:ln w="9525">
            <a:solidFill>
              <a:srgbClr val="4A8F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13A0F1-0DB3-4D15-99B4-CFB392DBF4DD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RITE AID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49B5A31-30A0-43D1-8D20-CEF6A6031E22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476500" cy="457200"/>
          </a:xfrm>
          <a:prstGeom prst="roundRect">
            <a:avLst>
              <a:gd name="adj" fmla="val 20833"/>
            </a:avLst>
          </a:prstGeom>
          <a:solidFill>
            <a:srgbClr val="0A4778"/>
          </a:solidFill>
          <a:ln w="9525">
            <a:solidFill>
              <a:srgbClr val="4A8F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007F2B-2F46-4064-8B02-879BDF08C426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BETTERHELP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C65A3EC-3CA8-40EB-8554-A3C2B4638C28}"/>
              </a:ext>
            </a:extLst>
          </p:cNvPr>
          <p:cNvSpPr>
            <a:spLocks noGrp="1"/>
          </p:cNvSpPr>
          <p:nvPr/>
        </p:nvSpPr>
        <p:spPr>
          <a:xfrm>
            <a:off x="3524250" y="4991100"/>
            <a:ext cx="2476500" cy="457200"/>
          </a:xfrm>
          <a:prstGeom prst="roundRect">
            <a:avLst>
              <a:gd name="adj" fmla="val 20833"/>
            </a:avLst>
          </a:prstGeom>
          <a:solidFill>
            <a:srgbClr val="0A4778"/>
          </a:solidFill>
          <a:ln w="9525">
            <a:solidFill>
              <a:srgbClr val="4A8F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4D317B-46CF-44B0-9AE4-B9ACDB6A6C77}"/>
              </a:ext>
            </a:extLst>
          </p:cNvPr>
          <p:cNvSpPr>
            <a:spLocks noGrp="1"/>
          </p:cNvSpPr>
          <p:nvPr/>
        </p:nvSpPr>
        <p:spPr>
          <a:xfrm>
            <a:off x="3524250" y="49911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B440DD-DB38-43A4-88D1-C72711038FC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2572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1957" b="1957"/>
          <a:stretch>
            <a:fillRect/>
          </a:stretch>
        </p:blipFill>
        <p:spPr>
          <a:xfrm>
            <a:off x="6838950" y="0"/>
            <a:ext cx="535305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3A46D0-E6F0-4A88-9643-25A1E2B644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90575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5267A-D8D6-4439-9AD4-8E693B787025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CASE 1 · PRIVACY IN PRACTICE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DE4AC2-F77F-4203-B7A7-A24A1CAD9C60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533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Clearview AI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7EF08BC-B666-45CD-B630-37D6CA862165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5067300" cy="1581150"/>
          </a:xfrm>
          <a:prstGeom prst="roundRect">
            <a:avLst>
              <a:gd name="adj" fmla="val 8434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0F3E21-4C3F-483F-AB56-7484D8487B98}"/>
              </a:ext>
            </a:extLst>
          </p:cNvPr>
          <p:cNvSpPr>
            <a:spLocks noGrp="1"/>
          </p:cNvSpPr>
          <p:nvPr/>
        </p:nvSpPr>
        <p:spPr>
          <a:xfrm>
            <a:off x="971550" y="3305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CORE QUESTION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84BFF4-FC7D-4975-BFD5-D52FADC9CAF0}"/>
              </a:ext>
            </a:extLst>
          </p:cNvPr>
          <p:cNvSpPr>
            <a:spLocks noGrp="1"/>
          </p:cNvSpPr>
          <p:nvPr/>
        </p:nvSpPr>
        <p:spPr>
          <a:xfrm>
            <a:off x="971550" y="3667125"/>
            <a:ext cx="4610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public photographs become a global biometric identification database?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8FE1C7-1AB5-428D-A2BB-EE49D899364B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Each case links a data decision to a human consequence and a remedy.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2AA80A-1068-4315-B6B7-D39ADFDD4551}"/>
              </a:ext>
            </a:extLst>
          </p:cNvPr>
          <p:cNvSpPr>
            <a:spLocks noGrp="1"/>
          </p:cNvSpPr>
          <p:nvPr/>
        </p:nvSpPr>
        <p:spPr>
          <a:xfrm>
            <a:off x="742950" y="64960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2966F1-98E1-4825-8A74-BF96CF1C336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2139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A315AD3-832B-4FD7-BF2A-0C69D554E46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CLEARVIEW 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203D94-1CF0-4CE6-BD18-E35559E20C50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Case 1: what happened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BD998B2-3A0A-4557-85A4-C9655A6D755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134DBE-AA2B-4849-964F-054348E87BB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910B6EC-088A-4FD4-A600-9648DE2A944C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980D42-922B-4B70-82CD-5627F5911EB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Clearview treated public visibility as permission for an unrelated biometric purpose.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8CC035-549F-4974-A943-12A45547A22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0955DB-72E7-490B-A717-301A37389BB7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506B88-8500-48F4-9B7D-9D019D742AC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 public photograph entered a new system with a new purpose and much greater power.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E516D9F-7B88-472C-BAD4-F962C1A7BD82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16CB9B-1340-4C4B-A1AA-5A0BC2CB8979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SCRAPE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5F2876-8864-416E-BA3E-498F547BF186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152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Billions of public images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7A0BE6F7-0B59-444B-A134-E64FFEB12495}"/>
              </a:ext>
            </a:extLst>
          </p:cNvPr>
          <p:cNvSpPr>
            <a:spLocks noGrp="1"/>
          </p:cNvSpPr>
          <p:nvPr/>
        </p:nvSpPr>
        <p:spPr>
          <a:xfrm>
            <a:off x="3009900" y="2343150"/>
            <a:ext cx="2286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37075F5-E674-417C-9D89-B16D5A8A5D1B}"/>
              </a:ext>
            </a:extLst>
          </p:cNvPr>
          <p:cNvSpPr>
            <a:spLocks noGrp="1"/>
          </p:cNvSpPr>
          <p:nvPr/>
        </p:nvSpPr>
        <p:spPr>
          <a:xfrm>
            <a:off x="3352800" y="17335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C56D67-0953-4872-A4D3-A13341B0496A}"/>
              </a:ext>
            </a:extLst>
          </p:cNvPr>
          <p:cNvSpPr>
            <a:spLocks noGrp="1"/>
          </p:cNvSpPr>
          <p:nvPr/>
        </p:nvSpPr>
        <p:spPr>
          <a:xfrm>
            <a:off x="344805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C34C63-325E-477E-BC88-3F55B5CC7512}"/>
              </a:ext>
            </a:extLst>
          </p:cNvPr>
          <p:cNvSpPr>
            <a:spLocks noGrp="1"/>
          </p:cNvSpPr>
          <p:nvPr/>
        </p:nvSpPr>
        <p:spPr>
          <a:xfrm>
            <a:off x="3467100" y="2143125"/>
            <a:ext cx="2152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Faces become biometric templates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7354370F-59E1-431D-8340-01ADF4A825D1}"/>
              </a:ext>
            </a:extLst>
          </p:cNvPr>
          <p:cNvSpPr>
            <a:spLocks noGrp="1"/>
          </p:cNvSpPr>
          <p:nvPr/>
        </p:nvSpPr>
        <p:spPr>
          <a:xfrm>
            <a:off x="5810250" y="2343150"/>
            <a:ext cx="2286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1D40CD2-51EF-4329-BA5A-335D672B56E1}"/>
              </a:ext>
            </a:extLst>
          </p:cNvPr>
          <p:cNvSpPr>
            <a:spLocks noGrp="1"/>
          </p:cNvSpPr>
          <p:nvPr/>
        </p:nvSpPr>
        <p:spPr>
          <a:xfrm>
            <a:off x="6153150" y="17335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FB11DC-3E7C-4CDD-8405-671D947B5D95}"/>
              </a:ext>
            </a:extLst>
          </p:cNvPr>
          <p:cNvSpPr>
            <a:spLocks noGrp="1"/>
          </p:cNvSpPr>
          <p:nvPr/>
        </p:nvSpPr>
        <p:spPr>
          <a:xfrm>
            <a:off x="624840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B31A3B-80AF-48AE-8387-0A306D6831E2}"/>
              </a:ext>
            </a:extLst>
          </p:cNvPr>
          <p:cNvSpPr>
            <a:spLocks noGrp="1"/>
          </p:cNvSpPr>
          <p:nvPr/>
        </p:nvSpPr>
        <p:spPr>
          <a:xfrm>
            <a:off x="6267450" y="2143125"/>
            <a:ext cx="2152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Templates enter a searchable database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F1D60EB3-6225-4297-84D6-1FA6D9813D8E}"/>
              </a:ext>
            </a:extLst>
          </p:cNvPr>
          <p:cNvSpPr>
            <a:spLocks noGrp="1"/>
          </p:cNvSpPr>
          <p:nvPr/>
        </p:nvSpPr>
        <p:spPr>
          <a:xfrm>
            <a:off x="8610600" y="2343150"/>
            <a:ext cx="2286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D3A8FA9-E167-4F18-8D54-D29A959C4C3A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60010B-83BE-4719-99AA-811B77E2FBE0}"/>
              </a:ext>
            </a:extLst>
          </p:cNvPr>
          <p:cNvSpPr>
            <a:spLocks noGrp="1"/>
          </p:cNvSpPr>
          <p:nvPr/>
        </p:nvSpPr>
        <p:spPr>
          <a:xfrm>
            <a:off x="904875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A9671C-6870-49D0-84B2-CEFABF29715F}"/>
              </a:ext>
            </a:extLst>
          </p:cNvPr>
          <p:cNvSpPr>
            <a:spLocks noGrp="1"/>
          </p:cNvSpPr>
          <p:nvPr/>
        </p:nvSpPr>
        <p:spPr>
          <a:xfrm>
            <a:off x="9067800" y="2143125"/>
            <a:ext cx="2152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new photo returns identity matches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5B78B7C-E4BC-479C-953D-05A1F59027C4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5334000" cy="1714500"/>
          </a:xfrm>
          <a:prstGeom prst="roundRect">
            <a:avLst>
              <a:gd name="adj" fmla="val 7778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BDF674-0A15-498E-9C71-9DA875587AD3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WHO ENTERED THE DATABASE?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FCA599-1DB9-497A-B43B-105AD3176D4E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4991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People whose images appeared on websites and social media. Most had no notice, consent, or practical relationship with Clearview.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09CBCA2B-7E3F-40E6-B82C-AA4EB4C5D367}"/>
              </a:ext>
            </a:extLst>
          </p:cNvPr>
          <p:cNvSpPr>
            <a:spLocks noGrp="1"/>
          </p:cNvSpPr>
          <p:nvPr/>
        </p:nvSpPr>
        <p:spPr>
          <a:xfrm>
            <a:off x="6305550" y="3543300"/>
            <a:ext cx="5334000" cy="1714500"/>
          </a:xfrm>
          <a:prstGeom prst="roundRect">
            <a:avLst>
              <a:gd name="adj" fmla="val 7778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609279-40BB-4569-B990-3BD02F0B76C3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WHO RECEIVED SEARCH POWER?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C5D04C-D023-490D-9009-271CC3B632C9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991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Customers included law enforcement bodies. The service turned scattered photographs into a commercial identity search tool.</a:t>
            </a:r>
          </a:p>
        </p:txBody>
      </p:sp>
    </p:spTree>
    <p:extLst>
      <p:ext uri="{BB962C8B-B14F-4D97-AF65-F5344CB8AC3E}">
        <p14:creationId xmlns:p14="http://schemas.microsoft.com/office/powerpoint/2010/main" val="1207029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2971425-5E06-4FDF-B780-A7CCD486D48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CLEARVIEW 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3656E1-8135-4D35-8A49-BDAF0919F0E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privacy harm is created by transformation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E4DEAA4-77DE-4936-B926-6C253951887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1D47FF-2484-41EF-A6D6-D6454F1954E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8BBE767-88EB-42C7-9035-B8B98AE01AA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D50A7B-4DA2-413C-8D46-D44DCEFB7CBD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photograph becomes infrastructure for persistent identification across contexts.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673481-CA71-4D02-983D-78213ED2007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84F860-906A-4E7C-9FC9-CC793085F1F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l="11860" r="11860"/>
          <a:stretch>
            <a:fillRect/>
          </a:stretch>
        </p:blipFill>
        <p:spPr>
          <a:xfrm>
            <a:off x="552450" y="1200150"/>
            <a:ext cx="4686300" cy="4095750"/>
          </a:xfrm>
          <a:prstGeom prst="roundRect">
            <a:avLst>
              <a:gd name="adj" fmla="val 4186"/>
            </a:avLst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05CF4F1-80AB-4707-88FD-258A3A84E8B8}"/>
              </a:ext>
            </a:extLst>
          </p:cNvPr>
          <p:cNvSpPr>
            <a:spLocks noGrp="1"/>
          </p:cNvSpPr>
          <p:nvPr/>
        </p:nvSpPr>
        <p:spPr>
          <a:xfrm>
            <a:off x="5619750" y="1200150"/>
            <a:ext cx="6019800" cy="876300"/>
          </a:xfrm>
          <a:prstGeom prst="roundRect">
            <a:avLst>
              <a:gd name="adj" fmla="val 1521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ED6DC2-08F4-41DD-9F74-ECA8109A0B60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567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PERSISTENT IDENTIFIER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98D9CA-B4E6-4098-A898-5B6D9780933F}"/>
              </a:ext>
            </a:extLst>
          </p:cNvPr>
          <p:cNvSpPr>
            <a:spLocks noGrp="1"/>
          </p:cNvSpPr>
          <p:nvPr/>
        </p:nvSpPr>
        <p:spPr>
          <a:xfrm>
            <a:off x="5791200" y="1714500"/>
            <a:ext cx="567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face template can support repeated identification.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5893C43-2DAD-435B-803D-346FE8032BC9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6019800" cy="876300"/>
          </a:xfrm>
          <a:prstGeom prst="roundRect">
            <a:avLst>
              <a:gd name="adj" fmla="val 1521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4691A6-2BC2-4B02-B6C0-81AD63A42D87}"/>
              </a:ext>
            </a:extLst>
          </p:cNvPr>
          <p:cNvSpPr>
            <a:spLocks noGrp="1"/>
          </p:cNvSpPr>
          <p:nvPr/>
        </p:nvSpPr>
        <p:spPr>
          <a:xfrm>
            <a:off x="5791200" y="2362200"/>
            <a:ext cx="567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 COLLAPSE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9A9085-222D-4EAC-BA07-9C6C64AD22E6}"/>
              </a:ext>
            </a:extLst>
          </p:cNvPr>
          <p:cNvSpPr>
            <a:spLocks noGrp="1"/>
          </p:cNvSpPr>
          <p:nvPr/>
        </p:nvSpPr>
        <p:spPr>
          <a:xfrm>
            <a:off x="5791200" y="2743200"/>
            <a:ext cx="567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Separate websites become one identity graph.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B5D36C8-C56B-4733-AA8D-FFE3BEE90CE6}"/>
              </a:ext>
            </a:extLst>
          </p:cNvPr>
          <p:cNvSpPr>
            <a:spLocks noGrp="1"/>
          </p:cNvSpPr>
          <p:nvPr/>
        </p:nvSpPr>
        <p:spPr>
          <a:xfrm>
            <a:off x="5619750" y="3257550"/>
            <a:ext cx="6019800" cy="876300"/>
          </a:xfrm>
          <a:prstGeom prst="roundRect">
            <a:avLst>
              <a:gd name="adj" fmla="val 1521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86EB5B-58D1-45D9-870F-C4A9A0903A5F}"/>
              </a:ext>
            </a:extLst>
          </p:cNvPr>
          <p:cNvSpPr>
            <a:spLocks noGrp="1"/>
          </p:cNvSpPr>
          <p:nvPr/>
        </p:nvSpPr>
        <p:spPr>
          <a:xfrm>
            <a:off x="5791200" y="3390900"/>
            <a:ext cx="567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OBSERVATION AT SCALE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E44751-130C-442F-B820-8D371F746870}"/>
              </a:ext>
            </a:extLst>
          </p:cNvPr>
          <p:cNvSpPr>
            <a:spLocks noGrp="1"/>
          </p:cNvSpPr>
          <p:nvPr/>
        </p:nvSpPr>
        <p:spPr>
          <a:xfrm>
            <a:off x="5791200" y="3771900"/>
            <a:ext cx="567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search can locate someone across time and platforms.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D24BE0F-3E95-4D1E-BFA1-29B869A80169}"/>
              </a:ext>
            </a:extLst>
          </p:cNvPr>
          <p:cNvSpPr>
            <a:spLocks noGrp="1"/>
          </p:cNvSpPr>
          <p:nvPr/>
        </p:nvSpPr>
        <p:spPr>
          <a:xfrm>
            <a:off x="5619750" y="4286250"/>
            <a:ext cx="6019800" cy="876300"/>
          </a:xfrm>
          <a:prstGeom prst="roundRect">
            <a:avLst>
              <a:gd name="adj" fmla="val 1521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507CEE-7BAD-4E7E-A6C9-A8142ADC5E00}"/>
              </a:ext>
            </a:extLst>
          </p:cNvPr>
          <p:cNvSpPr>
            <a:spLocks noGrp="1"/>
          </p:cNvSpPr>
          <p:nvPr/>
        </p:nvSpPr>
        <p:spPr>
          <a:xfrm>
            <a:off x="5791200" y="4419600"/>
            <a:ext cx="567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DIFFICULT DELETION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A32D73-9E1A-4741-B4E8-481A41AE031A}"/>
              </a:ext>
            </a:extLst>
          </p:cNvPr>
          <p:cNvSpPr>
            <a:spLocks noGrp="1"/>
          </p:cNvSpPr>
          <p:nvPr/>
        </p:nvSpPr>
        <p:spPr>
          <a:xfrm>
            <a:off x="5791200" y="4800600"/>
            <a:ext cx="567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Images, templates, and derived systems may persist.</a:t>
            </a:r>
          </a:p>
        </p:txBody>
      </p:sp>
    </p:spTree>
    <p:extLst>
      <p:ext uri="{BB962C8B-B14F-4D97-AF65-F5344CB8AC3E}">
        <p14:creationId xmlns:p14="http://schemas.microsoft.com/office/powerpoint/2010/main" val="67376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AB2E0FB-6855-4D85-8061-0D3487D7FFB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CLEARVIEW 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B09604-16D9-4249-A0EC-89F55D20AA13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Ethical analysis: consent is not the only issue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1DAC347-CDD1-403D-82D1-D8CD1873A61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9DF834-A72C-48B5-AACE-DF639D948C6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E1234CE-35A9-4B2F-9B73-31FA6B2A4C1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9F4966-9794-435A-B652-4FB23E1D2FA4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central ethical question concerns the power created by the new data use.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6980B4-ED2F-4FF4-9ECF-E86AC6E2658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A27A81-19CE-4E28-A693-44863FA38E8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BE7DDDA-E8ED-4691-ABBE-EC635D6E36A8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524000"/>
          </a:xfrm>
          <a:prstGeom prst="roundRect">
            <a:avLst>
              <a:gd name="adj" fmla="val 1125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2515B5-0AA4-4682-87DA-860212D54F09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  <a:p>
            <a:pPr algn="ctr">
              <a:lnSpc>
                <a:spcPct val="95000"/>
              </a:lnSpc>
              <a:buNone/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26C8243-A25E-44D8-ACA6-28E9C770F918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361950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3ED916-12D8-49B9-8958-7DA56F2BA143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AUTONOMY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092DF-CB00-4EBF-B19E-8C1D0D39C9D9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3276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People lose control over identity and context.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DCBCA2B-CD5C-470F-B1A9-785F85EB107E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361950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0CA621-7D15-4422-832D-A02A3815FA7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201951-41A1-4CA2-828A-02D8C3BD7AD9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3276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Search capability concentrates in an opaque database.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8D748D3-58A8-40FC-804F-74F7A8113B0A}"/>
              </a:ext>
            </a:extLst>
          </p:cNvPr>
          <p:cNvSpPr>
            <a:spLocks noGrp="1"/>
          </p:cNvSpPr>
          <p:nvPr/>
        </p:nvSpPr>
        <p:spPr>
          <a:xfrm>
            <a:off x="8020050" y="1314450"/>
            <a:ext cx="361950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CB0B6B-1A40-4E33-AC95-378F5BBB97D1}"/>
              </a:ext>
            </a:extLst>
          </p:cNvPr>
          <p:cNvSpPr>
            <a:spLocks noGrp="1"/>
          </p:cNvSpPr>
          <p:nvPr/>
        </p:nvSpPr>
        <p:spPr>
          <a:xfrm>
            <a:off x="8191500" y="144780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C602D1-CC40-4690-AA3C-0F22A7F929AA}"/>
              </a:ext>
            </a:extLst>
          </p:cNvPr>
          <p:cNvSpPr>
            <a:spLocks noGrp="1"/>
          </p:cNvSpPr>
          <p:nvPr/>
        </p:nvSpPr>
        <p:spPr>
          <a:xfrm>
            <a:off x="8191500" y="1828800"/>
            <a:ext cx="3276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Errors and surveillance burdens fall unevenly.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EFA9658-B0F5-4E7E-8C80-7CAB621A6799}"/>
              </a:ext>
            </a:extLst>
          </p:cNvPr>
          <p:cNvSpPr>
            <a:spLocks noGrp="1"/>
          </p:cNvSpPr>
          <p:nvPr/>
        </p:nvSpPr>
        <p:spPr>
          <a:xfrm>
            <a:off x="8020050" y="3257550"/>
            <a:ext cx="3619500" cy="1562100"/>
          </a:xfrm>
          <a:prstGeom prst="roundRect">
            <a:avLst>
              <a:gd name="adj" fmla="val 853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B7A28D-E040-4AF5-81E8-2F9E1F7C8C3F}"/>
              </a:ext>
            </a:extLst>
          </p:cNvPr>
          <p:cNvSpPr>
            <a:spLocks noGrp="1"/>
          </p:cNvSpPr>
          <p:nvPr/>
        </p:nvSpPr>
        <p:spPr>
          <a:xfrm>
            <a:off x="8191500" y="339090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PURPOSE LIMITATION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439388-A568-43FF-AACE-5D703DABA09A}"/>
              </a:ext>
            </a:extLst>
          </p:cNvPr>
          <p:cNvSpPr>
            <a:spLocks noGrp="1"/>
          </p:cNvSpPr>
          <p:nvPr/>
        </p:nvSpPr>
        <p:spPr>
          <a:xfrm>
            <a:off x="8191500" y="3771900"/>
            <a:ext cx="3276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Posting a photo does not authorize biometric policing.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839D8E8-DB46-4ED8-834A-E944E0C2998C}"/>
              </a:ext>
            </a:extLst>
          </p:cNvPr>
          <p:cNvSpPr>
            <a:spLocks noGrp="1"/>
          </p:cNvSpPr>
          <p:nvPr/>
        </p:nvSpPr>
        <p:spPr>
          <a:xfrm>
            <a:off x="3333750" y="4886325"/>
            <a:ext cx="5524500" cy="1143000"/>
          </a:xfrm>
          <a:prstGeom prst="roundRect">
            <a:avLst>
              <a:gd name="adj" fmla="val 1166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165CD5-C641-4602-BEEC-63C3A416C0A4}"/>
              </a:ext>
            </a:extLst>
          </p:cNvPr>
          <p:cNvSpPr>
            <a:spLocks noGrp="1"/>
          </p:cNvSpPr>
          <p:nvPr/>
        </p:nvSpPr>
        <p:spPr>
          <a:xfrm>
            <a:off x="3505200" y="5019675"/>
            <a:ext cx="518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RELATIONAL PRIVACY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00EBBA-4E10-409D-8D61-861087D79DA0}"/>
              </a:ext>
            </a:extLst>
          </p:cNvPr>
          <p:cNvSpPr>
            <a:spLocks noGrp="1"/>
          </p:cNvSpPr>
          <p:nvPr/>
        </p:nvSpPr>
        <p:spPr>
          <a:xfrm>
            <a:off x="3505200" y="5400675"/>
            <a:ext cx="518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 uploader can expose everyone pictured.</a:t>
            </a:r>
          </a:p>
        </p:txBody>
      </p:sp>
    </p:spTree>
    <p:extLst>
      <p:ext uri="{BB962C8B-B14F-4D97-AF65-F5344CB8AC3E}">
        <p14:creationId xmlns:p14="http://schemas.microsoft.com/office/powerpoint/2010/main" val="782890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B942D8F-2F8B-4E68-805C-7EEA25329B0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CLEARVIEW AI · DISCUSSION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73FA29-6C97-454C-836B-86FF819BA1A2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Discussion: design the boundary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388B503-6D8B-4AB2-95F7-90228B6FA3E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EFB0C9-6746-4090-B009-33F691F38C1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E1E0645-DD55-41AA-8D0B-97D637C940D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812126-D5BA-49C2-A936-E83ED805DDDF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defensible boundary must address purpose, access, retention, and meaningful recourse.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E46533-08AB-409A-BE9D-C3B5D4F7791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1FFB5F-68F5-4113-AE42-C41F6B46C0A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42BDD95-2CDA-4AE9-A43E-B034443B95FF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1087100" cy="704850"/>
          </a:xfrm>
          <a:prstGeom prst="roundRect">
            <a:avLst>
              <a:gd name="adj" fmla="val 189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80F33A-DD1D-41E5-83E3-232BB26B6465}"/>
              </a:ext>
            </a:extLst>
          </p:cNvPr>
          <p:cNvSpPr>
            <a:spLocks noGrp="1"/>
          </p:cNvSpPr>
          <p:nvPr/>
        </p:nvSpPr>
        <p:spPr>
          <a:xfrm>
            <a:off x="876300" y="1323975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Does public accessibility reduce a reasonable expectation of privacy? Why?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BC33363-1194-4808-9B8E-31F211D2DC1F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C964586-4BFC-4840-B16F-04F97633EA1F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B54780-BD74-433D-8BAB-AF8F37820006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FF8108-8F1B-4A96-BC72-08A4F6D595B8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6361B8-CF62-46F9-B2DE-FB5A3B32CF65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Is opt-out meaningful when the person never knew collection occurred?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3C65440-DD35-4491-A19F-8D94D23C58E7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AA12B99-3225-4C07-9B32-E3FB4C1A36F0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7D462D-6381-4316-8039-0214884BBF8D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E085C7-A339-4AFB-9EEE-CC6C00BA897E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289CBA-91B2-41C6-A45F-524CE2EB7750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Should law-enforcement access lower the ethical standard or raise it?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BEF9DD7-773C-4000-B2FB-1264C7D9F26D}"/>
              </a:ext>
            </a:extLst>
          </p:cNvPr>
          <p:cNvSpPr>
            <a:spLocks noGrp="1"/>
          </p:cNvSpPr>
          <p:nvPr/>
        </p:nvSpPr>
        <p:spPr>
          <a:xfrm>
            <a:off x="5524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12A1450-564D-4BBB-98C8-82387BE43083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FD1035-1F2A-4D7D-BC19-2A95FB829E48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A096E2-C1A0-466C-8FA9-BE281C43C9BF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AAE212-C8A0-49D9-9080-4BF3ED1C2B8B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would a proportionate, purpose-limited facial-search service require?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1088031-7F80-4E55-A4AD-FBC0BB8CA0ED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E41012D-CD95-475E-B40C-0F8E07B65191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C6188-B3B0-41B5-A9F6-6D003BBB3025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0B60CE-AC4C-40DD-B824-693D3DB762C8}"/>
              </a:ext>
            </a:extLst>
          </p:cNvPr>
          <p:cNvSpPr>
            <a:spLocks noGrp="1"/>
          </p:cNvSpPr>
          <p:nvPr/>
        </p:nvSpPr>
        <p:spPr>
          <a:xfrm>
            <a:off x="67818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F03D44-9BD5-414D-97F2-6F845451E12D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Which remedy matters most: notice, deletion, access limits, or a ban?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EEF51D-7ED9-4621-AE8C-BA4E306E27D3}"/>
              </a:ext>
            </a:extLst>
          </p:cNvPr>
          <p:cNvSpPr>
            <a:spLocks noGrp="1"/>
          </p:cNvSpPr>
          <p:nvPr/>
        </p:nvSpPr>
        <p:spPr>
          <a:xfrm>
            <a:off x="2524125" y="5267325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Use the question to identify a boundary, a safeguard, and a remedy.</a:t>
            </a:r>
          </a:p>
        </p:txBody>
      </p:sp>
    </p:spTree>
    <p:extLst>
      <p:ext uri="{BB962C8B-B14F-4D97-AF65-F5344CB8AC3E}">
        <p14:creationId xmlns:p14="http://schemas.microsoft.com/office/powerpoint/2010/main" val="1622583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7153E16-A938-4DAD-A2A8-F67F4411220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CLEARVIEW 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E594C1-32D4-4EA4-84AB-0F014D023AD4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Outcome and lesson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028092F-8C2C-4D32-8D75-090DA27D109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A22E41-5BD3-4C9B-8E20-4EB31B9DA76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AFB92E1-B402-4400-A1D5-DB7BB0EA5D3D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417619-0263-4119-B648-09DB337908C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Web scraping does not remove purpose limitation, legal basis, or data-subject rights.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3E11AC-56C6-4EBD-8AA7-D9A26F98C7E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99D336-6355-46D4-9AD6-B3DA15F1BE0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9AA0760-D044-4FB1-8954-DAB92D7BC11F}"/>
              </a:ext>
            </a:extLst>
          </p:cNvPr>
          <p:cNvSpPr>
            <a:spLocks noGrp="1"/>
          </p:cNvSpPr>
          <p:nvPr/>
        </p:nvSpPr>
        <p:spPr>
          <a:xfrm>
            <a:off x="552450" y="1238250"/>
            <a:ext cx="3371850" cy="3714750"/>
          </a:xfrm>
          <a:prstGeom prst="roundRect">
            <a:avLst>
              <a:gd name="adj" fmla="val 452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CB76D8-128A-4557-9927-92F067DA1858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€20M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CC3CBC-68B9-40E4-B3C2-5B6EE90C5003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FRANCE · 2022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8ADBAB-B5C7-48F0-B0CC-926CBD3F196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28384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CNIL ordered Clearview to stop unlawful collection and use, and to delete data concerning people in France.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C64C749-88A5-46A5-8178-34235B701C3E}"/>
              </a:ext>
            </a:extLst>
          </p:cNvPr>
          <p:cNvSpPr>
            <a:spLocks noGrp="1"/>
          </p:cNvSpPr>
          <p:nvPr/>
        </p:nvSpPr>
        <p:spPr>
          <a:xfrm>
            <a:off x="4248150" y="1238250"/>
            <a:ext cx="3371850" cy="3714750"/>
          </a:xfrm>
          <a:prstGeom prst="roundRect">
            <a:avLst>
              <a:gd name="adj" fmla="val 452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75F161-F4EC-4B81-9228-CAD7E7E5A8FA}"/>
              </a:ext>
            </a:extLst>
          </p:cNvPr>
          <p:cNvSpPr>
            <a:spLocks noGrp="1"/>
          </p:cNvSpPr>
          <p:nvPr/>
        </p:nvSpPr>
        <p:spPr>
          <a:xfrm>
            <a:off x="4476750" y="152400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£7.5M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40544F-5B2C-42C7-AD3E-49138905A759}"/>
              </a:ext>
            </a:extLst>
          </p:cNvPr>
          <p:cNvSpPr>
            <a:spLocks noGrp="1"/>
          </p:cNvSpPr>
          <p:nvPr/>
        </p:nvSpPr>
        <p:spPr>
          <a:xfrm>
            <a:off x="4514850" y="23431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UNITED KINGDOM · 2022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AEE6CC-3983-4CC6-809F-99C2DF816E7F}"/>
              </a:ext>
            </a:extLst>
          </p:cNvPr>
          <p:cNvSpPr>
            <a:spLocks noGrp="1"/>
          </p:cNvSpPr>
          <p:nvPr/>
        </p:nvSpPr>
        <p:spPr>
          <a:xfrm>
            <a:off x="4514850" y="2876550"/>
            <a:ext cx="28384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ICO issued a fine and enforcement notice. Later litigation focused on jurisdiction and scope.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BF596327-E0C2-4401-BAF1-1BB39154ABAA}"/>
              </a:ext>
            </a:extLst>
          </p:cNvPr>
          <p:cNvSpPr>
            <a:spLocks noGrp="1"/>
          </p:cNvSpPr>
          <p:nvPr/>
        </p:nvSpPr>
        <p:spPr>
          <a:xfrm>
            <a:off x="7943850" y="1238250"/>
            <a:ext cx="3371850" cy="3714750"/>
          </a:xfrm>
          <a:prstGeom prst="roundRect">
            <a:avLst>
              <a:gd name="adj" fmla="val 452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C8031E-EE83-4AF5-946C-7D7A3C43112E}"/>
              </a:ext>
            </a:extLst>
          </p:cNvPr>
          <p:cNvSpPr>
            <a:spLocks noGrp="1"/>
          </p:cNvSpPr>
          <p:nvPr/>
        </p:nvSpPr>
        <p:spPr>
          <a:xfrm>
            <a:off x="8172450" y="152400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4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EB412A-FA6A-41E1-8010-F469E386CC9E}"/>
              </a:ext>
            </a:extLst>
          </p:cNvPr>
          <p:cNvSpPr>
            <a:spLocks noGrp="1"/>
          </p:cNvSpPr>
          <p:nvPr/>
        </p:nvSpPr>
        <p:spPr>
          <a:xfrm>
            <a:off x="8210550" y="23431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UPPER TRIBUNAL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A44EB5-3BF1-48A3-B7B6-3EDD063D80F5}"/>
              </a:ext>
            </a:extLst>
          </p:cNvPr>
          <p:cNvSpPr>
            <a:spLocks noGrp="1"/>
          </p:cNvSpPr>
          <p:nvPr/>
        </p:nvSpPr>
        <p:spPr>
          <a:xfrm>
            <a:off x="8210550" y="2876550"/>
            <a:ext cx="28384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tribunal upheld key ICO jurisdiction grounds and returned the substantive appeal for determination.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5E03EC-C5A7-4A98-821D-874D7996C6D3}"/>
              </a:ext>
            </a:extLst>
          </p:cNvPr>
          <p:cNvSpPr>
            <a:spLocks noGrp="1"/>
          </p:cNvSpPr>
          <p:nvPr/>
        </p:nvSpPr>
        <p:spPr>
          <a:xfrm>
            <a:off x="1695450" y="5219700"/>
            <a:ext cx="880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Update: permission to appeal the Upper Tribunal decision was granted in December 2025.</a:t>
            </a:r>
          </a:p>
        </p:txBody>
      </p:sp>
    </p:spTree>
    <p:extLst>
      <p:ext uri="{BB962C8B-B14F-4D97-AF65-F5344CB8AC3E}">
        <p14:creationId xmlns:p14="http://schemas.microsoft.com/office/powerpoint/2010/main" val="309094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295" b="7295"/>
          <a:stretch>
            <a:fillRect/>
          </a:stretch>
        </p:blipFill>
        <p:spPr>
          <a:xfrm>
            <a:off x="6838950" y="0"/>
            <a:ext cx="535305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54FD739-F1A4-46F5-BD75-0E0FBA9FF8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90575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0D5EA6-05A2-42FD-9C10-0F137F334774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CASE 2 · PRIVACY IN PRACTICE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825E27-8836-483F-9934-CCDC007079AB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533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Rite Aid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568443E-521C-4D41-99FA-B5BAB74397FB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5067300" cy="1581150"/>
          </a:xfrm>
          <a:prstGeom prst="roundRect">
            <a:avLst>
              <a:gd name="adj" fmla="val 8434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860DDC-DD96-4919-B04E-27050B8DD09B}"/>
              </a:ext>
            </a:extLst>
          </p:cNvPr>
          <p:cNvSpPr>
            <a:spLocks noGrp="1"/>
          </p:cNvSpPr>
          <p:nvPr/>
        </p:nvSpPr>
        <p:spPr>
          <a:xfrm>
            <a:off x="971550" y="3305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CORE QUESTION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D58E6-6EDE-4B21-A448-893C70E8E750}"/>
              </a:ext>
            </a:extLst>
          </p:cNvPr>
          <p:cNvSpPr>
            <a:spLocks noGrp="1"/>
          </p:cNvSpPr>
          <p:nvPr/>
        </p:nvSpPr>
        <p:spPr>
          <a:xfrm>
            <a:off x="971550" y="3667125"/>
            <a:ext cx="4610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an inaccurate face match becomes an accusation in a physical store.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EF7419-2068-4689-895B-31AEE92C87B6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Each case links a data decision to a human consequence and a remedy.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5B8D3D-7105-43CE-9A7F-EF3D6E29DB41}"/>
              </a:ext>
            </a:extLst>
          </p:cNvPr>
          <p:cNvSpPr>
            <a:spLocks noGrp="1"/>
          </p:cNvSpPr>
          <p:nvPr/>
        </p:nvSpPr>
        <p:spPr>
          <a:xfrm>
            <a:off x="742950" y="64960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4CF58A-31BF-4DD0-B4CB-9B444B27F94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22297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2C8169E-9B48-454A-802B-5B74B6524DE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RITE AID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6608FC-65FB-4F1E-B240-E0665956DA4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Case 2: deployment without guardrails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7CF9F13-C3C4-45BD-A1CD-2DAE3A95B3A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A47EE4-3467-4A43-87EB-BA5EC60877A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1E81B24-2938-4A29-85BA-60394584A7FE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C6844F-6208-4B8F-8368-ADC1C041F7E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probabilistic alert entered a workflow that could confront and remove a customer.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26E4FB-519E-40CF-82FA-B631F91DF4BD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7B690F-871F-40AB-958A-A41151444371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7D0A7A-8377-4E0C-B6C5-1E697624E3BC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Rite Aid used facial-recognition surveillance in hundreds of stores from 2012 to 2020.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9BDD4B9-A745-40B5-9C0E-8AAB25E1E481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D887F-D95D-49BB-B03A-E429B6700CB7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WATCHLIST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B5A6F7-02D9-485B-BCCB-2539B4847259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152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Images labelled as persons of interest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104E3866-1443-4DAB-AB04-B4F54629D1DD}"/>
              </a:ext>
            </a:extLst>
          </p:cNvPr>
          <p:cNvSpPr>
            <a:spLocks noGrp="1"/>
          </p:cNvSpPr>
          <p:nvPr/>
        </p:nvSpPr>
        <p:spPr>
          <a:xfrm>
            <a:off x="3009900" y="2390775"/>
            <a:ext cx="2286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A56A8E6-D960-43A6-BB18-FEE5DA32633E}"/>
              </a:ext>
            </a:extLst>
          </p:cNvPr>
          <p:cNvSpPr>
            <a:spLocks noGrp="1"/>
          </p:cNvSpPr>
          <p:nvPr/>
        </p:nvSpPr>
        <p:spPr>
          <a:xfrm>
            <a:off x="3352800" y="17335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4D1A54-F417-4777-9537-E4C8BC0E03C0}"/>
              </a:ext>
            </a:extLst>
          </p:cNvPr>
          <p:cNvSpPr>
            <a:spLocks noGrp="1"/>
          </p:cNvSpPr>
          <p:nvPr/>
        </p:nvSpPr>
        <p:spPr>
          <a:xfrm>
            <a:off x="344805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STORE SCAN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907026-4F53-422F-9768-BC2EDF01D80E}"/>
              </a:ext>
            </a:extLst>
          </p:cNvPr>
          <p:cNvSpPr>
            <a:spLocks noGrp="1"/>
          </p:cNvSpPr>
          <p:nvPr/>
        </p:nvSpPr>
        <p:spPr>
          <a:xfrm>
            <a:off x="3467100" y="2143125"/>
            <a:ext cx="2152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Customer images captured in stores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221CB86D-657E-49EA-BD8A-B68E26EF8BC6}"/>
              </a:ext>
            </a:extLst>
          </p:cNvPr>
          <p:cNvSpPr>
            <a:spLocks noGrp="1"/>
          </p:cNvSpPr>
          <p:nvPr/>
        </p:nvSpPr>
        <p:spPr>
          <a:xfrm>
            <a:off x="5810250" y="2390775"/>
            <a:ext cx="228600" cy="2095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82D1F66-C654-4199-818B-0D6AF4E72A79}"/>
              </a:ext>
            </a:extLst>
          </p:cNvPr>
          <p:cNvSpPr>
            <a:spLocks noGrp="1"/>
          </p:cNvSpPr>
          <p:nvPr/>
        </p:nvSpPr>
        <p:spPr>
          <a:xfrm>
            <a:off x="6153150" y="17335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10787B-4BAE-46ED-8125-972D8EDFF639}"/>
              </a:ext>
            </a:extLst>
          </p:cNvPr>
          <p:cNvSpPr>
            <a:spLocks noGrp="1"/>
          </p:cNvSpPr>
          <p:nvPr/>
        </p:nvSpPr>
        <p:spPr>
          <a:xfrm>
            <a:off x="624840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MATCH ALERT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E67191-FC9C-4815-B411-1C9DA4EBF55C}"/>
              </a:ext>
            </a:extLst>
          </p:cNvPr>
          <p:cNvSpPr>
            <a:spLocks noGrp="1"/>
          </p:cNvSpPr>
          <p:nvPr/>
        </p:nvSpPr>
        <p:spPr>
          <a:xfrm>
            <a:off x="6267450" y="2143125"/>
            <a:ext cx="2152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System proposes a possible identity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AD86A980-8B45-445D-A678-9F19E2C82C45}"/>
              </a:ext>
            </a:extLst>
          </p:cNvPr>
          <p:cNvSpPr>
            <a:spLocks noGrp="1"/>
          </p:cNvSpPr>
          <p:nvPr/>
        </p:nvSpPr>
        <p:spPr>
          <a:xfrm>
            <a:off x="8610600" y="2390775"/>
            <a:ext cx="228600" cy="2095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748D67F-EB3E-4808-B8B0-84A8D048BC94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564301-4A1C-4371-B14A-48D5A4699320}"/>
              </a:ext>
            </a:extLst>
          </p:cNvPr>
          <p:cNvSpPr>
            <a:spLocks noGrp="1"/>
          </p:cNvSpPr>
          <p:nvPr/>
        </p:nvSpPr>
        <p:spPr>
          <a:xfrm>
            <a:off x="9048750" y="1828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 ACTION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E68A23-A83F-48E8-9CA2-2D0595CA47C4}"/>
              </a:ext>
            </a:extLst>
          </p:cNvPr>
          <p:cNvSpPr>
            <a:spLocks noGrp="1"/>
          </p:cNvSpPr>
          <p:nvPr/>
        </p:nvSpPr>
        <p:spPr>
          <a:xfrm>
            <a:off x="9067800" y="2143125"/>
            <a:ext cx="2152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Follow, search, remove, accuse, or call police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6EC1E72-4E47-43C8-8E88-08C1910ACC34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9144000" cy="1257300"/>
          </a:xfrm>
          <a:prstGeom prst="roundRect">
            <a:avLst>
              <a:gd name="adj" fmla="val 12121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D9471C-2743-44B1-8554-7F217212A2AE}"/>
              </a:ext>
            </a:extLst>
          </p:cNvPr>
          <p:cNvSpPr>
            <a:spLocks noGrp="1"/>
          </p:cNvSpPr>
          <p:nvPr/>
        </p:nvSpPr>
        <p:spPr>
          <a:xfrm>
            <a:off x="1809750" y="395287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NO MEANINGFUL NOTICE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13CA79-56ED-4056-BE88-F25627CE352E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5829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Customers generally did not know that facial recognition was operating. Employees could treat alerts as evidence rather than uncertain signals.</a:t>
            </a:r>
          </a:p>
        </p:txBody>
      </p:sp>
    </p:spTree>
    <p:extLst>
      <p:ext uri="{BB962C8B-B14F-4D97-AF65-F5344CB8AC3E}">
        <p14:creationId xmlns:p14="http://schemas.microsoft.com/office/powerpoint/2010/main" val="1302470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ECCF1228-C9A7-4DAE-991E-C24AB5D0DC9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RITE AID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80CED7-41BA-4CED-A5A6-F96AEEC084EF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technical error became a social harm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105AD74-DBFF-4504-BD12-0CCFEB00F59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33BB12-5F56-48A8-8581-6F6D7ED892F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CA5E628-C719-4D85-ACB1-2C0BA9063FA6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1A585C-06D4-4090-A718-22010CA1B90E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harm emerged from the model, the workflow, and the context of intervention.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4028A6-D2E8-4913-B765-2602D6FFCA2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BE5D49-9B83-4EDF-A9DA-37D8FC5CCE4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571B63B-7A0D-4AD1-B2E3-EE5C3B55EB1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809750" cy="238125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4CB106-2E2A-4102-A7AB-77A6BDB77A0B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INPUT RISK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A3E94-FC4F-4A2F-BE95-467EDAA93AEE}"/>
              </a:ext>
            </a:extLst>
          </p:cNvPr>
          <p:cNvSpPr>
            <a:spLocks noGrp="1"/>
          </p:cNvSpPr>
          <p:nvPr/>
        </p:nvSpPr>
        <p:spPr>
          <a:xfrm>
            <a:off x="666750" y="1876425"/>
            <a:ext cx="15811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Low-quality images and weak watchlist governance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B495808B-0CEF-49C0-8513-69D48F3566AB}"/>
              </a:ext>
            </a:extLst>
          </p:cNvPr>
          <p:cNvSpPr>
            <a:spLocks noGrp="1"/>
          </p:cNvSpPr>
          <p:nvPr/>
        </p:nvSpPr>
        <p:spPr>
          <a:xfrm>
            <a:off x="2438400" y="2524125"/>
            <a:ext cx="2095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6A93E3E-3977-4309-A0B7-0B614A323B07}"/>
              </a:ext>
            </a:extLst>
          </p:cNvPr>
          <p:cNvSpPr>
            <a:spLocks noGrp="1"/>
          </p:cNvSpPr>
          <p:nvPr/>
        </p:nvSpPr>
        <p:spPr>
          <a:xfrm>
            <a:off x="2790825" y="1466850"/>
            <a:ext cx="1809750" cy="238125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D826CF-D4BC-4ADA-B1FD-3E09B0AD6D59}"/>
              </a:ext>
            </a:extLst>
          </p:cNvPr>
          <p:cNvSpPr>
            <a:spLocks noGrp="1"/>
          </p:cNvSpPr>
          <p:nvPr/>
        </p:nvSpPr>
        <p:spPr>
          <a:xfrm>
            <a:off x="2886075" y="1562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MODEL RISK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CBC2B2-8878-4A14-A7BF-F0A9972A1412}"/>
              </a:ext>
            </a:extLst>
          </p:cNvPr>
          <p:cNvSpPr>
            <a:spLocks noGrp="1"/>
          </p:cNvSpPr>
          <p:nvPr/>
        </p:nvSpPr>
        <p:spPr>
          <a:xfrm>
            <a:off x="2905125" y="1876425"/>
            <a:ext cx="15811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False positives and uneven performance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A7D0340C-A5EB-49DE-8F6B-A249D90A3F0E}"/>
              </a:ext>
            </a:extLst>
          </p:cNvPr>
          <p:cNvSpPr>
            <a:spLocks noGrp="1"/>
          </p:cNvSpPr>
          <p:nvPr/>
        </p:nvSpPr>
        <p:spPr>
          <a:xfrm>
            <a:off x="4676775" y="2524125"/>
            <a:ext cx="2095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86DB8BA-641C-4728-B334-1F1158C3382A}"/>
              </a:ext>
            </a:extLst>
          </p:cNvPr>
          <p:cNvSpPr>
            <a:spLocks noGrp="1"/>
          </p:cNvSpPr>
          <p:nvPr/>
        </p:nvSpPr>
        <p:spPr>
          <a:xfrm>
            <a:off x="5029200" y="1466850"/>
            <a:ext cx="1809750" cy="238125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CFA2EB-F8FB-4157-938B-500DEF270937}"/>
              </a:ext>
            </a:extLst>
          </p:cNvPr>
          <p:cNvSpPr>
            <a:spLocks noGrp="1"/>
          </p:cNvSpPr>
          <p:nvPr/>
        </p:nvSpPr>
        <p:spPr>
          <a:xfrm>
            <a:off x="5124450" y="1562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WORKFLOW RISK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792378-E2B3-43D8-8026-A414F229D45D}"/>
              </a:ext>
            </a:extLst>
          </p:cNvPr>
          <p:cNvSpPr>
            <a:spLocks noGrp="1"/>
          </p:cNvSpPr>
          <p:nvPr/>
        </p:nvSpPr>
        <p:spPr>
          <a:xfrm>
            <a:off x="5143500" y="1876425"/>
            <a:ext cx="15811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Employees treated alerts as evidence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D7F8D589-6289-41C8-AD55-A35D8F44F136}"/>
              </a:ext>
            </a:extLst>
          </p:cNvPr>
          <p:cNvSpPr>
            <a:spLocks noGrp="1"/>
          </p:cNvSpPr>
          <p:nvPr/>
        </p:nvSpPr>
        <p:spPr>
          <a:xfrm>
            <a:off x="6915150" y="25241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D2EF4EF-E6E5-4A85-AC67-F00C0DE769D5}"/>
              </a:ext>
            </a:extLst>
          </p:cNvPr>
          <p:cNvSpPr>
            <a:spLocks noGrp="1"/>
          </p:cNvSpPr>
          <p:nvPr/>
        </p:nvSpPr>
        <p:spPr>
          <a:xfrm>
            <a:off x="7267575" y="1466850"/>
            <a:ext cx="1809750" cy="238125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82D43C-3E8A-48D4-BC76-C01D7D60F557}"/>
              </a:ext>
            </a:extLst>
          </p:cNvPr>
          <p:cNvSpPr>
            <a:spLocks noGrp="1"/>
          </p:cNvSpPr>
          <p:nvPr/>
        </p:nvSpPr>
        <p:spPr>
          <a:xfrm>
            <a:off x="7362825" y="1562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 RISK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6064B3-6F18-4C4B-8DC6-8CC5944E481B}"/>
              </a:ext>
            </a:extLst>
          </p:cNvPr>
          <p:cNvSpPr>
            <a:spLocks noGrp="1"/>
          </p:cNvSpPr>
          <p:nvPr/>
        </p:nvSpPr>
        <p:spPr>
          <a:xfrm>
            <a:off x="7381875" y="1876425"/>
            <a:ext cx="15811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Public confrontation amplified humiliation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80200C71-1C5A-4E7A-8C3D-1D3259A20634}"/>
              </a:ext>
            </a:extLst>
          </p:cNvPr>
          <p:cNvSpPr>
            <a:spLocks noGrp="1"/>
          </p:cNvSpPr>
          <p:nvPr/>
        </p:nvSpPr>
        <p:spPr>
          <a:xfrm>
            <a:off x="9153525" y="25241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C901205-1C8B-42DE-92A6-4ACF7E5B96DD}"/>
              </a:ext>
            </a:extLst>
          </p:cNvPr>
          <p:cNvSpPr>
            <a:spLocks noGrp="1"/>
          </p:cNvSpPr>
          <p:nvPr/>
        </p:nvSpPr>
        <p:spPr>
          <a:xfrm>
            <a:off x="9505950" y="1466850"/>
            <a:ext cx="1809750" cy="2381250"/>
          </a:xfrm>
          <a:prstGeom prst="roundRect">
            <a:avLst>
              <a:gd name="adj" fmla="val 6316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0159FE-8B77-4B04-92BA-D2BB8D352F3F}"/>
              </a:ext>
            </a:extLst>
          </p:cNvPr>
          <p:cNvSpPr>
            <a:spLocks noGrp="1"/>
          </p:cNvSpPr>
          <p:nvPr/>
        </p:nvSpPr>
        <p:spPr>
          <a:xfrm>
            <a:off x="9601200" y="1562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GOVERNANCE RISK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5B8368-683C-40D1-ACA8-E064AB122657}"/>
              </a:ext>
            </a:extLst>
          </p:cNvPr>
          <p:cNvSpPr>
            <a:spLocks noGrp="1"/>
          </p:cNvSpPr>
          <p:nvPr/>
        </p:nvSpPr>
        <p:spPr>
          <a:xfrm>
            <a:off x="9620250" y="1876425"/>
            <a:ext cx="15811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Testing, training, and oversight were inadequate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2A8F153-52CC-4607-9FEF-832C2EC898E6}"/>
              </a:ext>
            </a:extLst>
          </p:cNvPr>
          <p:cNvSpPr>
            <a:spLocks noGrp="1"/>
          </p:cNvSpPr>
          <p:nvPr/>
        </p:nvSpPr>
        <p:spPr>
          <a:xfrm>
            <a:off x="1543050" y="4267200"/>
            <a:ext cx="9105900" cy="990600"/>
          </a:xfrm>
          <a:prstGeom prst="roundRect">
            <a:avLst>
              <a:gd name="adj" fmla="val 14423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F15594-7C3B-43F9-A0DA-50EAAD0DE420}"/>
              </a:ext>
            </a:extLst>
          </p:cNvPr>
          <p:cNvSpPr>
            <a:spLocks noGrp="1"/>
          </p:cNvSpPr>
          <p:nvPr/>
        </p:nvSpPr>
        <p:spPr>
          <a:xfrm>
            <a:off x="1790700" y="45339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FALSE MATCH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A0D1196D-64A0-4512-9052-581A4D634F27}"/>
              </a:ext>
            </a:extLst>
          </p:cNvPr>
          <p:cNvSpPr>
            <a:spLocks noGrp="1"/>
          </p:cNvSpPr>
          <p:nvPr/>
        </p:nvSpPr>
        <p:spPr>
          <a:xfrm>
            <a:off x="4267200" y="4591050"/>
            <a:ext cx="304800" cy="2286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C573B3-A2B4-4120-BF7C-EB08A971B6A7}"/>
              </a:ext>
            </a:extLst>
          </p:cNvPr>
          <p:cNvSpPr>
            <a:spLocks noGrp="1"/>
          </p:cNvSpPr>
          <p:nvPr/>
        </p:nvSpPr>
        <p:spPr>
          <a:xfrm>
            <a:off x="4781550" y="4533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PUBLIC ACCUSATION</a:t>
            </a:r>
          </a:p>
        </p:txBody>
      </p:sp>
      <p:sp>
        <p:nvSpPr>
          <p:cNvPr id="32" name="右箭头 31">
            <a:extLst>
              <a:ext uri="{FF2B5EF4-FFF2-40B4-BE49-F238E27FC236}">
                <a16:creationId xmlns:a16="http://schemas.microsoft.com/office/drawing/2014/main" id="{5E98BDF5-CFEC-468C-8B17-E1E1E8715772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304800" cy="2286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459C54-76A9-449D-81CC-6C3B3B7143B9}"/>
              </a:ext>
            </a:extLst>
          </p:cNvPr>
          <p:cNvSpPr>
            <a:spLocks noGrp="1"/>
          </p:cNvSpPr>
          <p:nvPr/>
        </p:nvSpPr>
        <p:spPr>
          <a:xfrm>
            <a:off x="8362950" y="44577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HUMILIATION + SAFETY RISK</a:t>
            </a:r>
          </a:p>
        </p:txBody>
      </p:sp>
    </p:spTree>
    <p:extLst>
      <p:ext uri="{BB962C8B-B14F-4D97-AF65-F5344CB8AC3E}">
        <p14:creationId xmlns:p14="http://schemas.microsoft.com/office/powerpoint/2010/main" val="837797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ADC9090-CFF0-4161-BE3D-629207E654D7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RITE AID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8EBA6D-0968-4D9D-A665-67A0109B2C9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Ethical analysis: accuracy is necessary, not sufficient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EA284926-C135-453C-BF36-20074154176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43F95D-D4B4-4D77-8B8B-2CD076925BB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B2C5AF1-D64A-4BF8-92AB-DFBA41D51A17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6DE4E0-6454-485A-9CDE-6A77703D789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High-stakes deployment requires safeguards that address who bears the cost of error.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0EA110-D973-43AE-BDA3-DA36D025CF0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CAFEDE-06D4-489B-87FE-292D5078AA3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15245" b="15245"/>
          <a:stretch>
            <a:fillRect/>
          </a:stretch>
        </p:blipFill>
        <p:spPr>
          <a:xfrm>
            <a:off x="7620000" y="1200150"/>
            <a:ext cx="4019550" cy="4191000"/>
          </a:xfrm>
          <a:prstGeom prst="roundRect">
            <a:avLst>
              <a:gd name="adj" fmla="val 4265"/>
            </a:avLst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C38203A-F49D-4469-AC91-925FD478FAB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6667500" cy="876300"/>
          </a:xfrm>
          <a:prstGeom prst="roundRect">
            <a:avLst>
              <a:gd name="adj" fmla="val 1521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F15C0F-486D-4116-A0ED-50E9DCC6E34F}"/>
              </a:ext>
            </a:extLst>
          </p:cNvPr>
          <p:cNvSpPr>
            <a:spLocks noGrp="1"/>
          </p:cNvSpPr>
          <p:nvPr/>
        </p:nvSpPr>
        <p:spPr>
          <a:xfrm>
            <a:off x="723900" y="133350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HIGH STAKES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CBA562-6384-4B6C-B50C-4994E039DD14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statistically accurate system can remain unjust when safeguards are weak.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54C0348-AB20-44BD-AB86-5F7B4A8B78E8}"/>
              </a:ext>
            </a:extLst>
          </p:cNvPr>
          <p:cNvSpPr>
            <a:spLocks noGrp="1"/>
          </p:cNvSpPr>
          <p:nvPr/>
        </p:nvSpPr>
        <p:spPr>
          <a:xfrm>
            <a:off x="552450" y="2228850"/>
            <a:ext cx="6667500" cy="876300"/>
          </a:xfrm>
          <a:prstGeom prst="roundRect">
            <a:avLst>
              <a:gd name="adj" fmla="val 1521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CBC2AA-C93E-4326-AB15-78179E99953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ASYMMETRIC COST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F37C22-6C06-4B49-81C1-8A792FDD54CC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retailer saves time. The shopper bears stigma and confrontation.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4DB632F-7ADA-48A2-B193-91EFF7437EE2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6667500" cy="876300"/>
          </a:xfrm>
          <a:prstGeom prst="roundRect">
            <a:avLst>
              <a:gd name="adj" fmla="val 1521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B0116E-41A4-4401-9D3B-A226AAA06799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COERCIVE SETTING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5DAAFD-72A5-461E-9904-FDF6411CC03A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Notice cannot cure surveillance when opting out means avoiding the store.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302A5E0-8E2C-4596-869B-21D6824A36FA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6667500" cy="876300"/>
          </a:xfrm>
          <a:prstGeom prst="roundRect">
            <a:avLst>
              <a:gd name="adj" fmla="val 1521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4DAFE1-34E0-4E7E-B868-2F84A242B446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AUTOMATION BIAS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7E3DDB-4702-4E36-95DB-663C58440AF4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Human review fails when staff see only an alert and trust it.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B4594A-0535-4E28-B27C-A2D0098E973C}"/>
              </a:ext>
            </a:extLst>
          </p:cNvPr>
          <p:cNvSpPr>
            <a:spLocks noGrp="1"/>
          </p:cNvSpPr>
          <p:nvPr/>
        </p:nvSpPr>
        <p:spPr>
          <a:xfrm>
            <a:off x="819150" y="5391150"/>
            <a:ext cx="1055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FTC allegations also described disproportionate impact on people of color.</a:t>
            </a:r>
          </a:p>
        </p:txBody>
      </p:sp>
    </p:spTree>
    <p:extLst>
      <p:ext uri="{BB962C8B-B14F-4D97-AF65-F5344CB8AC3E}">
        <p14:creationId xmlns:p14="http://schemas.microsoft.com/office/powerpoint/2010/main" val="20594780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B53121A0-45BD-415E-91D4-50E198E4BAD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RITE AID · DISCUSSION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04D87A-860D-4E4C-BC7A-8983A3925B7F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Discussion: should this system be deployed?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866BD2C-EC93-49EF-B92D-0C4454298D8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4BDB54-24D8-4C37-94FA-2E6DFAA296F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F789EF0-BA38-4002-A4FB-F85E7BA6962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162CA7-39AD-4DD1-9503-ABB54E79DC6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Deployment should proceed only if evidence, safeguards, and remedy match the stakes.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D8D770-CC8E-415B-BB41-3B8D4DEF4E7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440C7D-5988-4A99-9B43-E95C21067FF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0556C40-7C3F-450F-B4A0-0FBC01A55963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1087100" cy="704850"/>
          </a:xfrm>
          <a:prstGeom prst="roundRect">
            <a:avLst>
              <a:gd name="adj" fmla="val 189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DB7D3-1014-409A-873A-599ADE79BFF1}"/>
              </a:ext>
            </a:extLst>
          </p:cNvPr>
          <p:cNvSpPr>
            <a:spLocks noGrp="1"/>
          </p:cNvSpPr>
          <p:nvPr/>
        </p:nvSpPr>
        <p:spPr>
          <a:xfrm>
            <a:off x="876300" y="1323975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evidence threshold should precede an employee intervention?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B96CB31-9546-4926-928B-F162A8C2899B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A94033E-26B8-4E07-8D26-B2B0B1B61C21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C887AF-2096-4197-BF9B-BAEE425E3604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9637CE-40C0-4A0A-A811-89D7F340CAC6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8E233-E34C-4363-B48A-185941E29F43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Who should be allowed onto a watchlist, and for how long?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F03582E-2E56-4D94-A93E-96DCE0200602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076D299-C845-427B-BE9B-CA5E375EF7CF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82BFE4-2D06-46F3-987A-C04CA4BFFF10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DC9778-77DA-4357-AFA5-550D2C70B287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E6B39E-59F6-42B1-BBE4-A9AAEA273BE6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Which metrics require testing across demographic groups and store contexts?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5220630-EE97-4192-AE7A-2DF52ACCDB3B}"/>
              </a:ext>
            </a:extLst>
          </p:cNvPr>
          <p:cNvSpPr>
            <a:spLocks noGrp="1"/>
          </p:cNvSpPr>
          <p:nvPr/>
        </p:nvSpPr>
        <p:spPr>
          <a:xfrm>
            <a:off x="5524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E428E06-B918-40A9-9D52-A7BADA87BDB2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05869F-A018-4820-8039-72EA797B38F3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F38837-B14B-4A7A-AE31-76D13D59C388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6BB15E-0088-4451-AEBC-AE9CDF16BB47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Is a human in the loop a safeguard if the human sees only the alert?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3AABE82-BED0-4AEA-AF55-407705401FA3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17BD108-9085-4DDE-A609-2C4292719351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B9F64BA-1C97-4769-B4D8-86A6EF49A626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B4485B-3BD1-4F57-AD2E-FA3C845D3392}"/>
              </a:ext>
            </a:extLst>
          </p:cNvPr>
          <p:cNvSpPr>
            <a:spLocks noGrp="1"/>
          </p:cNvSpPr>
          <p:nvPr/>
        </p:nvSpPr>
        <p:spPr>
          <a:xfrm>
            <a:off x="67818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7E879C-8828-49C1-8ECC-6C403C08208E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Would a less intrusive alternative achieve the security objective?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FA1B72-8232-4F29-914B-1194CF52D64B}"/>
              </a:ext>
            </a:extLst>
          </p:cNvPr>
          <p:cNvSpPr>
            <a:spLocks noGrp="1"/>
          </p:cNvSpPr>
          <p:nvPr/>
        </p:nvSpPr>
        <p:spPr>
          <a:xfrm>
            <a:off x="2524125" y="5267325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Use the question to identify a boundary, a safeguard, and a remedy.</a:t>
            </a:r>
          </a:p>
        </p:txBody>
      </p:sp>
    </p:spTree>
    <p:extLst>
      <p:ext uri="{BB962C8B-B14F-4D97-AF65-F5344CB8AC3E}">
        <p14:creationId xmlns:p14="http://schemas.microsoft.com/office/powerpoint/2010/main" val="1059382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C12463A-3EF2-4F52-B62B-549324166E7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RITE AID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D3D9FA-62B6-446F-AFB5-1C41E1209837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Outcome and lesson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2B57339-BE9A-4A7C-914E-8EA1B0FA402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3A8B3B-8031-459C-8C37-3D09DBBBBC2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1EF497-20D7-4297-99BD-DF47B0C2D23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E45DB2-F73A-4D69-82A6-CDED7213008A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by design includes deployment workflow, error response, vendor control, and remedy.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C2F005-1A2F-4791-83D1-E18248A8DF58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9238B4-0B45-4C40-A5C7-8DA8343FCB0D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4E4870B-8A79-4AC1-9083-9D707EFF532F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952750" cy="3943350"/>
          </a:xfrm>
          <a:prstGeom prst="roundRect">
            <a:avLst>
              <a:gd name="adj" fmla="val 5806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005961-EF0A-4968-971F-B78B0B34277A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2952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7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4E67B2-6B68-4D3A-845E-E304DA2C1DA9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2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YEAR BAN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009621-97C8-463E-BC40-E2AE1CC9313C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2305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Facial-recognition surveillance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E8948A9-8668-4B4B-9325-27892BB46D90}"/>
              </a:ext>
            </a:extLst>
          </p:cNvPr>
          <p:cNvSpPr>
            <a:spLocks noGrp="1"/>
          </p:cNvSpPr>
          <p:nvPr/>
        </p:nvSpPr>
        <p:spPr>
          <a:xfrm>
            <a:off x="3905250" y="1257300"/>
            <a:ext cx="7734300" cy="1123950"/>
          </a:xfrm>
          <a:prstGeom prst="roundRect">
            <a:avLst>
              <a:gd name="adj" fmla="val 1186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0F0827-2965-4932-A780-F6F703C316FF}"/>
              </a:ext>
            </a:extLst>
          </p:cNvPr>
          <p:cNvSpPr>
            <a:spLocks noGrp="1"/>
          </p:cNvSpPr>
          <p:nvPr/>
        </p:nvSpPr>
        <p:spPr>
          <a:xfrm>
            <a:off x="4076700" y="139065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ADF62-1EF0-4AF9-AA11-90C368F4651D}"/>
              </a:ext>
            </a:extLst>
          </p:cNvPr>
          <p:cNvSpPr>
            <a:spLocks noGrp="1"/>
          </p:cNvSpPr>
          <p:nvPr/>
        </p:nvSpPr>
        <p:spPr>
          <a:xfrm>
            <a:off x="4076700" y="1771650"/>
            <a:ext cx="739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Photos, videos, and derived data, models, or algorithms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598FB36-AC4F-4EA7-9C4E-E9BCCC132236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7734300" cy="1123950"/>
          </a:xfrm>
          <a:prstGeom prst="roundRect">
            <a:avLst>
              <a:gd name="adj" fmla="val 1186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E6E871-D52B-476F-8C69-DAD74A6998CF}"/>
              </a:ext>
            </a:extLst>
          </p:cNvPr>
          <p:cNvSpPr>
            <a:spLocks noGrp="1"/>
          </p:cNvSpPr>
          <p:nvPr/>
        </p:nvSpPr>
        <p:spPr>
          <a:xfrm>
            <a:off x="4076700" y="27051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9EE879-B00B-4945-A98D-83B26FCAA3B8}"/>
              </a:ext>
            </a:extLst>
          </p:cNvPr>
          <p:cNvSpPr>
            <a:spLocks noGrp="1"/>
          </p:cNvSpPr>
          <p:nvPr/>
        </p:nvSpPr>
        <p:spPr>
          <a:xfrm>
            <a:off x="4076700" y="3086100"/>
            <a:ext cx="739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Risk assessment, testing, training, notice, and complaint handling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F0C79D9-9CE7-4FD2-AF17-2EF11BA81ED6}"/>
              </a:ext>
            </a:extLst>
          </p:cNvPr>
          <p:cNvSpPr>
            <a:spLocks noGrp="1"/>
          </p:cNvSpPr>
          <p:nvPr/>
        </p:nvSpPr>
        <p:spPr>
          <a:xfrm>
            <a:off x="3905250" y="3886200"/>
            <a:ext cx="7734300" cy="1123950"/>
          </a:xfrm>
          <a:prstGeom prst="roundRect">
            <a:avLst>
              <a:gd name="adj" fmla="val 1186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6BDBA4-3966-453B-9D21-2D343F70F6B5}"/>
              </a:ext>
            </a:extLst>
          </p:cNvPr>
          <p:cNvSpPr>
            <a:spLocks noGrp="1"/>
          </p:cNvSpPr>
          <p:nvPr/>
        </p:nvSpPr>
        <p:spPr>
          <a:xfrm>
            <a:off x="4076700" y="401955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STOP IF UNSAFE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E11146-59EE-498A-93B6-7530169BA044}"/>
              </a:ext>
            </a:extLst>
          </p:cNvPr>
          <p:cNvSpPr>
            <a:spLocks noGrp="1"/>
          </p:cNvSpPr>
          <p:nvPr/>
        </p:nvSpPr>
        <p:spPr>
          <a:xfrm>
            <a:off x="4076700" y="4400550"/>
            <a:ext cx="739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Future biometric systems require controls that prevent foreseeable harm</a:t>
            </a:r>
          </a:p>
        </p:txBody>
      </p:sp>
    </p:spTree>
    <p:extLst>
      <p:ext uri="{BB962C8B-B14F-4D97-AF65-F5344CB8AC3E}">
        <p14:creationId xmlns:p14="http://schemas.microsoft.com/office/powerpoint/2010/main" val="1065351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295" b="7295"/>
          <a:stretch>
            <a:fillRect/>
          </a:stretch>
        </p:blipFill>
        <p:spPr>
          <a:xfrm>
            <a:off x="6838950" y="0"/>
            <a:ext cx="535305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328D65E-BA1D-4CA9-8B7C-5D4BFA8CBC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90575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751172-D778-4A89-8B51-4AA3D8B641B4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CASE 3 · PRIVACY IN PRACTICE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CD274C-D260-422B-9A96-992CAB8F0229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533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BetterHelp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560DE66-5014-4BE7-A221-7C0588391A92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5067300" cy="1581150"/>
          </a:xfrm>
          <a:prstGeom prst="roundRect">
            <a:avLst>
              <a:gd name="adj" fmla="val 8434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7E50A-0C0E-42D0-AC3C-9F32FB519261}"/>
              </a:ext>
            </a:extLst>
          </p:cNvPr>
          <p:cNvSpPr>
            <a:spLocks noGrp="1"/>
          </p:cNvSpPr>
          <p:nvPr/>
        </p:nvSpPr>
        <p:spPr>
          <a:xfrm>
            <a:off x="971550" y="3305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CORE QUESTION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1BCA09-0E10-43A8-A8BF-C81BB15D9D71}"/>
              </a:ext>
            </a:extLst>
          </p:cNvPr>
          <p:cNvSpPr>
            <a:spLocks noGrp="1"/>
          </p:cNvSpPr>
          <p:nvPr/>
        </p:nvSpPr>
        <p:spPr>
          <a:xfrm>
            <a:off x="971550" y="3667125"/>
            <a:ext cx="4610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happens when therapy-seeking data enters the advertising ecosystem?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5D7F46-0F8D-47E8-8BBD-25E6C941E62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Each case links a data decision to a human consequence and a remedy.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4883EC-3167-45C0-979A-7EA480249540}"/>
              </a:ext>
            </a:extLst>
          </p:cNvPr>
          <p:cNvSpPr>
            <a:spLocks noGrp="1"/>
          </p:cNvSpPr>
          <p:nvPr/>
        </p:nvSpPr>
        <p:spPr>
          <a:xfrm>
            <a:off x="742950" y="64960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7721EE-48F6-4F23-AB97-2911AA6525E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15759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9CBAFE2-2CB7-4741-BBFD-B4EB84E67A7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BETTERHELP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D213F7-0348-404F-8305-4AAB7D4664D8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Case 3: sensitive data beyond the clinic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D730341-49F6-4B33-B876-E88C1884AEC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02F9B5-8E6C-401A-99DE-74B95DD925A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2224A75-8B57-4C2A-B872-AD74F3A21CA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21632A-5FAF-42B0-BA18-3C71D7C1E08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case concerns a contested business use of vulnerable-context data, not only security.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3CC2F5-9189-45BF-808F-09002B21F7B8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38C971-AFE2-41C3-A7C4-D9E319EB75B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26ABB1-E163-45EF-AA2A-C5DCDEF050DC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People seeking online counselling supplied data that strongly implied a health context.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A8A2E4C-B377-4167-98B4-A8FD362063DD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4C331E-059A-4BC7-9D99-366C3C201197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1F5547-30F7-42B5-AAE9-6084A40CE28F}"/>
              </a:ext>
            </a:extLst>
          </p:cNvPr>
          <p:cNvSpPr>
            <a:spLocks noGrp="1"/>
          </p:cNvSpPr>
          <p:nvPr/>
        </p:nvSpPr>
        <p:spPr>
          <a:xfrm>
            <a:off x="666750" y="2066925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account identity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C2A4199-A634-4DCA-A576-2F0BC5F6045A}"/>
              </a:ext>
            </a:extLst>
          </p:cNvPr>
          <p:cNvSpPr>
            <a:spLocks noGrp="1"/>
          </p:cNvSpPr>
          <p:nvPr/>
        </p:nvSpPr>
        <p:spPr>
          <a:xfrm>
            <a:off x="552450" y="274320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85D49D-E435-4205-99F4-E23A59527DDE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IP ADDRESS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68AB45-B517-47D3-9D82-34C924A40210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device and location signal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AAD1CCC-7F6C-4F0B-A9E1-64CBF8E67EDD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9A964-E534-4246-9F5D-DD6BD45AF6AC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QUESTIONNAIRE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3B7A9D-2D6B-48FA-A892-153811EC5659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mental-health answers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5E9788DB-5057-4304-9EA9-273647386EB5}"/>
              </a:ext>
            </a:extLst>
          </p:cNvPr>
          <p:cNvSpPr>
            <a:spLocks noGrp="1"/>
          </p:cNvSpPr>
          <p:nvPr/>
        </p:nvSpPr>
        <p:spPr>
          <a:xfrm>
            <a:off x="3752850" y="2724150"/>
            <a:ext cx="533400" cy="4191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FC368E5-ED73-44AF-A7AA-EC6AF4F94A25}"/>
              </a:ext>
            </a:extLst>
          </p:cNvPr>
          <p:cNvSpPr>
            <a:spLocks noGrp="1"/>
          </p:cNvSpPr>
          <p:nvPr/>
        </p:nvSpPr>
        <p:spPr>
          <a:xfrm>
            <a:off x="4514850" y="1581150"/>
            <a:ext cx="2800350" cy="3048000"/>
          </a:xfrm>
          <a:prstGeom prst="roundRect">
            <a:avLst>
              <a:gd name="adj" fmla="val 6122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840A5C-11D6-4B93-8979-2775C5527296}"/>
              </a:ext>
            </a:extLst>
          </p:cNvPr>
          <p:cNvSpPr>
            <a:spLocks noGrp="1"/>
          </p:cNvSpPr>
          <p:nvPr/>
        </p:nvSpPr>
        <p:spPr>
          <a:xfrm>
            <a:off x="4514850" y="1924050"/>
            <a:ext cx="2800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  <a:p>
            <a:pPr algn="ctr">
              <a:lnSpc>
                <a:spcPct val="95000"/>
              </a:lnSpc>
              <a:buNone/>
              <a:defRPr sz="2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337A51-535C-47CF-9CD1-E66D36C67C8B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1145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 could reasonably expect confidentiality while seeking care.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E02947A0-62C9-4688-BC49-EF220DBDAE95}"/>
              </a:ext>
            </a:extLst>
          </p:cNvPr>
          <p:cNvSpPr>
            <a:spLocks noGrp="1"/>
          </p:cNvSpPr>
          <p:nvPr/>
        </p:nvSpPr>
        <p:spPr>
          <a:xfrm>
            <a:off x="7600950" y="2724150"/>
            <a:ext cx="533400" cy="4191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D2F2F4C-1A39-447D-8333-572030311A08}"/>
              </a:ext>
            </a:extLst>
          </p:cNvPr>
          <p:cNvSpPr>
            <a:spLocks noGrp="1"/>
          </p:cNvSpPr>
          <p:nvPr/>
        </p:nvSpPr>
        <p:spPr>
          <a:xfrm>
            <a:off x="8401050" y="1581150"/>
            <a:ext cx="3238500" cy="3048000"/>
          </a:xfrm>
          <a:prstGeom prst="roundRect">
            <a:avLst>
              <a:gd name="adj" fmla="val 5625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4D33B1-76BC-489A-A467-1911B2FB6766}"/>
              </a:ext>
            </a:extLst>
          </p:cNvPr>
          <p:cNvSpPr>
            <a:spLocks noGrp="1"/>
          </p:cNvSpPr>
          <p:nvPr/>
        </p:nvSpPr>
        <p:spPr>
          <a:xfrm>
            <a:off x="8401050" y="1962150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1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ADVERTISING</a:t>
            </a:r>
          </a:p>
          <a:p>
            <a:pPr algn="ctr">
              <a:lnSpc>
                <a:spcPct val="95000"/>
              </a:lnSpc>
              <a:buNone/>
              <a:defRPr sz="21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39A9CA-70E9-4536-9D14-D81B5CB7C939}"/>
              </a:ext>
            </a:extLst>
          </p:cNvPr>
          <p:cNvSpPr>
            <a:spLocks noGrp="1"/>
          </p:cNvSpPr>
          <p:nvPr/>
        </p:nvSpPr>
        <p:spPr>
          <a:xfrm>
            <a:off x="8763000" y="3143250"/>
            <a:ext cx="2514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FTC alleged disclosure to platforms including Facebook and Snapchat despite privacy assurances.</a:t>
            </a:r>
          </a:p>
        </p:txBody>
      </p:sp>
    </p:spTree>
    <p:extLst>
      <p:ext uri="{BB962C8B-B14F-4D97-AF65-F5344CB8AC3E}">
        <p14:creationId xmlns:p14="http://schemas.microsoft.com/office/powerpoint/2010/main" val="1229571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BAD5BAF-3569-4553-A1EA-C91F40A209A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BETTERHELP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131D7E-B25D-4C5B-A7B7-CAD95EA798E6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hidden data flow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4F1BE14-68AC-47EB-8F8B-59D0314C55A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586919-69B4-4D03-A6C2-247F0FB8A92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DACC85A-757F-4FD0-91F2-7253E50714FD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B11DCE-8678-42EF-9572-79179561557E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Identifiers and advertising tools can expose health interests without sharing a clinical record.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BB3A68-6508-4078-9CFB-542447CF5CD6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863111-F953-4D77-93EB-DAEB14DA1DF9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2E32F9D-01AB-45FA-9B89-10ADCE26DAA6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809750" cy="228600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5AA649-3473-44E8-AC3D-82FC21E34075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5756C4-6216-45D0-8565-A96D23419219}"/>
              </a:ext>
            </a:extLst>
          </p:cNvPr>
          <p:cNvSpPr>
            <a:spLocks noGrp="1"/>
          </p:cNvSpPr>
          <p:nvPr/>
        </p:nvSpPr>
        <p:spPr>
          <a:xfrm>
            <a:off x="666750" y="1933575"/>
            <a:ext cx="15811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Health answers and identifiers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A025DBCD-56E3-4976-BF71-4EA1D7DF9216}"/>
              </a:ext>
            </a:extLst>
          </p:cNvPr>
          <p:cNvSpPr>
            <a:spLocks noGrp="1"/>
          </p:cNvSpPr>
          <p:nvPr/>
        </p:nvSpPr>
        <p:spPr>
          <a:xfrm>
            <a:off x="2438400" y="2524125"/>
            <a:ext cx="2095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73EB3ED-AA40-4C74-9A1C-C649ECEB8359}"/>
              </a:ext>
            </a:extLst>
          </p:cNvPr>
          <p:cNvSpPr>
            <a:spLocks noGrp="1"/>
          </p:cNvSpPr>
          <p:nvPr/>
        </p:nvSpPr>
        <p:spPr>
          <a:xfrm>
            <a:off x="2790825" y="1524000"/>
            <a:ext cx="1809750" cy="228600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0A1225-E414-4FC1-BED0-3DD5CAE3DA6A}"/>
              </a:ext>
            </a:extLst>
          </p:cNvPr>
          <p:cNvSpPr>
            <a:spLocks noGrp="1"/>
          </p:cNvSpPr>
          <p:nvPr/>
        </p:nvSpPr>
        <p:spPr>
          <a:xfrm>
            <a:off x="2886075" y="1619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LINKAGE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06B33C-AF2D-4ABE-AC79-D85CC29FAE7D}"/>
              </a:ext>
            </a:extLst>
          </p:cNvPr>
          <p:cNvSpPr>
            <a:spLocks noGrp="1"/>
          </p:cNvSpPr>
          <p:nvPr/>
        </p:nvSpPr>
        <p:spPr>
          <a:xfrm>
            <a:off x="2905125" y="1933575"/>
            <a:ext cx="15811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Connect activity to ad profiles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27219768-9913-4E51-AB39-68F6AFD63A34}"/>
              </a:ext>
            </a:extLst>
          </p:cNvPr>
          <p:cNvSpPr>
            <a:spLocks noGrp="1"/>
          </p:cNvSpPr>
          <p:nvPr/>
        </p:nvSpPr>
        <p:spPr>
          <a:xfrm>
            <a:off x="4676775" y="25241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D290C3A-1B9C-4B79-906A-8A0968972A06}"/>
              </a:ext>
            </a:extLst>
          </p:cNvPr>
          <p:cNvSpPr>
            <a:spLocks noGrp="1"/>
          </p:cNvSpPr>
          <p:nvPr/>
        </p:nvSpPr>
        <p:spPr>
          <a:xfrm>
            <a:off x="5029200" y="1524000"/>
            <a:ext cx="1809750" cy="228600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E83496-1F3F-415B-8E63-A863D792B61E}"/>
              </a:ext>
            </a:extLst>
          </p:cNvPr>
          <p:cNvSpPr>
            <a:spLocks noGrp="1"/>
          </p:cNvSpPr>
          <p:nvPr/>
        </p:nvSpPr>
        <p:spPr>
          <a:xfrm>
            <a:off x="5124450" y="1619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OPTIMISATION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98A732-AB80-458C-85C2-380D21A8E7CA}"/>
              </a:ext>
            </a:extLst>
          </p:cNvPr>
          <p:cNvSpPr>
            <a:spLocks noGrp="1"/>
          </p:cNvSpPr>
          <p:nvPr/>
        </p:nvSpPr>
        <p:spPr>
          <a:xfrm>
            <a:off x="5143500" y="1933575"/>
            <a:ext cx="15811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Measure conversion and retarget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53FDD89D-327E-40E9-A15B-A74A4500F786}"/>
              </a:ext>
            </a:extLst>
          </p:cNvPr>
          <p:cNvSpPr>
            <a:spLocks noGrp="1"/>
          </p:cNvSpPr>
          <p:nvPr/>
        </p:nvSpPr>
        <p:spPr>
          <a:xfrm>
            <a:off x="6915150" y="25241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0B00E96-6DBB-4DD2-92D8-1D15252475A6}"/>
              </a:ext>
            </a:extLst>
          </p:cNvPr>
          <p:cNvSpPr>
            <a:spLocks noGrp="1"/>
          </p:cNvSpPr>
          <p:nvPr/>
        </p:nvSpPr>
        <p:spPr>
          <a:xfrm>
            <a:off x="7267575" y="1524000"/>
            <a:ext cx="1809750" cy="2286000"/>
          </a:xfrm>
          <a:prstGeom prst="roundRect">
            <a:avLst>
              <a:gd name="adj" fmla="val 6316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547B07-E14C-4799-B450-B031B187F451}"/>
              </a:ext>
            </a:extLst>
          </p:cNvPr>
          <p:cNvSpPr>
            <a:spLocks noGrp="1"/>
          </p:cNvSpPr>
          <p:nvPr/>
        </p:nvSpPr>
        <p:spPr>
          <a:xfrm>
            <a:off x="7362825" y="1619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1395593-E6F0-4D53-A43D-6FAD120697B7}"/>
              </a:ext>
            </a:extLst>
          </p:cNvPr>
          <p:cNvSpPr>
            <a:spLocks noGrp="1"/>
          </p:cNvSpPr>
          <p:nvPr/>
        </p:nvSpPr>
        <p:spPr>
          <a:xfrm>
            <a:off x="7381875" y="1933575"/>
            <a:ext cx="15811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Reveal sensitive interests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BB6B9D93-C7C4-407C-987F-744DB58F5FFB}"/>
              </a:ext>
            </a:extLst>
          </p:cNvPr>
          <p:cNvSpPr>
            <a:spLocks noGrp="1"/>
          </p:cNvSpPr>
          <p:nvPr/>
        </p:nvSpPr>
        <p:spPr>
          <a:xfrm>
            <a:off x="9153525" y="25241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A5E4E16-2872-4054-9EC1-05F953EBBC30}"/>
              </a:ext>
            </a:extLst>
          </p:cNvPr>
          <p:cNvSpPr>
            <a:spLocks noGrp="1"/>
          </p:cNvSpPr>
          <p:nvPr/>
        </p:nvSpPr>
        <p:spPr>
          <a:xfrm>
            <a:off x="9505950" y="1524000"/>
            <a:ext cx="1809750" cy="228600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A2DDDC-DC00-4EF0-9550-C3E9CC464DB5}"/>
              </a:ext>
            </a:extLst>
          </p:cNvPr>
          <p:cNvSpPr>
            <a:spLocks noGrp="1"/>
          </p:cNvSpPr>
          <p:nvPr/>
        </p:nvSpPr>
        <p:spPr>
          <a:xfrm>
            <a:off x="9601200" y="16192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D73A21-937D-4CE5-83F4-1CDC20B76FA9}"/>
              </a:ext>
            </a:extLst>
          </p:cNvPr>
          <p:cNvSpPr>
            <a:spLocks noGrp="1"/>
          </p:cNvSpPr>
          <p:nvPr/>
        </p:nvSpPr>
        <p:spPr>
          <a:xfrm>
            <a:off x="9620250" y="1933575"/>
            <a:ext cx="15811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4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Recipients retain or derive more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9D06B87-3342-4A6B-AC14-8D3E7B614C97}"/>
              </a:ext>
            </a:extLst>
          </p:cNvPr>
          <p:cNvSpPr>
            <a:spLocks noGrp="1"/>
          </p:cNvSpPr>
          <p:nvPr/>
        </p:nvSpPr>
        <p:spPr>
          <a:xfrm>
            <a:off x="1219200" y="4248150"/>
            <a:ext cx="9753600" cy="952500"/>
          </a:xfrm>
          <a:prstGeom prst="roundRect">
            <a:avLst>
              <a:gd name="adj" fmla="val 16000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EF87005-FFEE-493F-84C9-14B3DB276125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8839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visit, an identifier, or a questionnaire response can become a sensitive signal when combined with an advertising profile.</a:t>
            </a:r>
          </a:p>
        </p:txBody>
      </p:sp>
    </p:spTree>
    <p:extLst>
      <p:ext uri="{BB962C8B-B14F-4D97-AF65-F5344CB8AC3E}">
        <p14:creationId xmlns:p14="http://schemas.microsoft.com/office/powerpoint/2010/main" val="1558025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24FE80C-ABDE-4150-BB50-4D8EECB3FE5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BETTERHELP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3A2B0D-8BBF-4FB3-94BC-62137E96D989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Ethical analysis: context defines reasonable use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F6F447F-429A-41C9-9C22-11D483C40D1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E0CE8D-7235-42EF-90AA-9958187DF41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BEC5DDE-4E4E-4BC6-937E-66CE5A71CECB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A27EA8-7AEC-4ADD-AB3C-1BB60D7F4B79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Advertising attribution does not establish necessity for sensitive data processing.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E46F00-B47B-400A-98F9-B70847D3D4A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2F4703-33B7-482E-8FE2-EE1A09013E8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F0F7A2-0E9D-4219-8318-25ED9B2B220E}"/>
              </a:ext>
            </a:extLst>
          </p:cNvPr>
          <p:cNvSpPr>
            <a:spLocks noGrp="1"/>
          </p:cNvSpPr>
          <p:nvPr/>
        </p:nvSpPr>
        <p:spPr>
          <a:xfrm>
            <a:off x="552450" y="1238250"/>
            <a:ext cx="5162550" cy="1752600"/>
          </a:xfrm>
          <a:prstGeom prst="roundRect">
            <a:avLst>
              <a:gd name="adj" fmla="val 8696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C61DE9-F4E9-4D4A-96B2-C74DE13FFD2C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THERAPY-SEEKING CONTEXT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66FA5-F85A-444B-BDEF-03E6A6755F81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Expected flow: person → counselling service → care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B7782CE-5766-4AA6-82A1-0518037B4853}"/>
              </a:ext>
            </a:extLst>
          </p:cNvPr>
          <p:cNvSpPr>
            <a:spLocks noGrp="1"/>
          </p:cNvSpPr>
          <p:nvPr/>
        </p:nvSpPr>
        <p:spPr>
          <a:xfrm>
            <a:off x="6477000" y="1238250"/>
            <a:ext cx="5162550" cy="1752600"/>
          </a:xfrm>
          <a:prstGeom prst="roundRect">
            <a:avLst>
              <a:gd name="adj" fmla="val 8696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E2D8E5-D63F-4FF3-BC76-B1E2D7E6F47C}"/>
              </a:ext>
            </a:extLst>
          </p:cNvPr>
          <p:cNvSpPr>
            <a:spLocks noGrp="1"/>
          </p:cNvSpPr>
          <p:nvPr/>
        </p:nvSpPr>
        <p:spPr>
          <a:xfrm>
            <a:off x="6705600" y="14478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ADVERTISING 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9CD723-41D8-42DE-8BC5-F7E9581A1863}"/>
              </a:ext>
            </a:extLst>
          </p:cNvPr>
          <p:cNvSpPr>
            <a:spLocks noGrp="1"/>
          </p:cNvSpPr>
          <p:nvPr/>
        </p:nvSpPr>
        <p:spPr>
          <a:xfrm>
            <a:off x="6800850" y="20383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Contested flow: person → service → advertising profile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D3D832ED-AE61-499A-8E16-0BB9B15DC711}"/>
              </a:ext>
            </a:extLst>
          </p:cNvPr>
          <p:cNvSpPr>
            <a:spLocks noGrp="1"/>
          </p:cNvSpPr>
          <p:nvPr/>
        </p:nvSpPr>
        <p:spPr>
          <a:xfrm>
            <a:off x="5829300" y="1981200"/>
            <a:ext cx="495300" cy="3048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ABAD82D-218C-4498-A93E-0667D56C6216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5219700" cy="952500"/>
          </a:xfrm>
          <a:prstGeom prst="roundRect">
            <a:avLst>
              <a:gd name="adj" fmla="val 1400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64608F-8286-4F68-A5A9-65F659305D78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CONTEXTUAL INTEGRITY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EF9499-119C-4BDA-880C-A1A56D7F2842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1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Therapy data carries stronger expectations than ordinary shopping data.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78B18C9-1363-474A-AE3F-E366B5B8E894}"/>
              </a:ext>
            </a:extLst>
          </p:cNvPr>
          <p:cNvSpPr>
            <a:spLocks noGrp="1"/>
          </p:cNvSpPr>
          <p:nvPr/>
        </p:nvSpPr>
        <p:spPr>
          <a:xfrm>
            <a:off x="6096000" y="3333750"/>
            <a:ext cx="5219700" cy="952500"/>
          </a:xfrm>
          <a:prstGeom prst="roundRect">
            <a:avLst>
              <a:gd name="adj" fmla="val 140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55F820-8A04-4CF0-AF9B-DB556BB86520}"/>
              </a:ext>
            </a:extLst>
          </p:cNvPr>
          <p:cNvSpPr>
            <a:spLocks noGrp="1"/>
          </p:cNvSpPr>
          <p:nvPr/>
        </p:nvSpPr>
        <p:spPr>
          <a:xfrm>
            <a:off x="6267450" y="34671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8D5CD6-D064-45AD-83F0-C13F5FFF5249}"/>
              </a:ext>
            </a:extLst>
          </p:cNvPr>
          <p:cNvSpPr>
            <a:spLocks noGrp="1"/>
          </p:cNvSpPr>
          <p:nvPr/>
        </p:nvSpPr>
        <p:spPr>
          <a:xfrm>
            <a:off x="6267450" y="38481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1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Advertising was not necessary for counselling.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B5B484B-B234-4752-9D68-6A5B96E1DC58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5219700" cy="952500"/>
          </a:xfrm>
          <a:prstGeom prst="roundRect">
            <a:avLst>
              <a:gd name="adj" fmla="val 1400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FB7F0B-AAB1-4D00-9321-4A1EE57E5621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VULNERABILITY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D6C6CE-6DC6-463F-B3C8-C59210DCDB4B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1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Stigma and chilling effects can follow exposure.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6F24812-4179-454D-BF3D-FC8F69594DCD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5219700" cy="952500"/>
          </a:xfrm>
          <a:prstGeom prst="roundRect">
            <a:avLst>
              <a:gd name="adj" fmla="val 140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243496-62FC-4874-A7C3-40B934081F77}"/>
              </a:ext>
            </a:extLst>
          </p:cNvPr>
          <p:cNvSpPr>
            <a:spLocks noGrp="1"/>
          </p:cNvSpPr>
          <p:nvPr/>
        </p:nvSpPr>
        <p:spPr>
          <a:xfrm>
            <a:off x="6267450" y="45720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FIDUCIARY EXPECTATION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68E8C0-0193-4089-8D12-623DFD829981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1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Users may treat the platform like a care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622654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D089A8D9-3F93-4B1B-B540-703AD3A6B40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BETTERHELP · DISCUSSION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DA5860-A63D-4F74-8A81-392588B6068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Discussion: can consent legitimize this sharing?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C753AB3-8A9F-4FC4-8A3F-B76E67E2AB0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C0F732-EE55-4B1B-9660-B7EC58D815E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F1B11D3-BAB8-421F-B422-015F11AA4E4B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027D30-87EC-4AA0-A207-50F7D1E512A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discussion concerns legitimate purpose and responsibility across the data ecosystem.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999217-7DA3-4F17-9129-C52DA314604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A3057A-4F8D-47FE-A592-E7086070FF61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C530B6-7AED-4869-B9D5-1CD39DCC26D9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1087100" cy="704850"/>
          </a:xfrm>
          <a:prstGeom prst="roundRect">
            <a:avLst>
              <a:gd name="adj" fmla="val 189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6207E6-CA35-4D20-92F0-7076CF49BDC9}"/>
              </a:ext>
            </a:extLst>
          </p:cNvPr>
          <p:cNvSpPr>
            <a:spLocks noGrp="1"/>
          </p:cNvSpPr>
          <p:nvPr/>
        </p:nvSpPr>
        <p:spPr>
          <a:xfrm>
            <a:off x="876300" y="1323975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would affirmative express consent need to show here?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1A13EEF-151F-491F-9748-E1CF4EBFFA72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A869325-A15B-448C-9225-D06799CDEC06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5ACFFD-53D1-4DA2-BBDB-1944C30FD6E7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E0DB2-A971-4AAB-B2B4-077B848FF29D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B07C3E-754D-49B0-BE60-51528020D0AE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Should some data uses remain prohibited even if a user clicks agree?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ABD9CF-A0AC-4AF9-BCF7-A463C86AC326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853C463-DDF0-467A-9C4E-D17317732755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EE60CF-29AF-4757-B437-74B0E0EAE6A6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EF4B9C-4908-4C0D-ADA2-DE509731A13F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206653-8E6C-438B-ABA7-54D2B45515DF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Where does responsibility sit: service, ad platform, analytics vendor, or all?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301A2BD-17D2-496D-A056-7B6108A3404E}"/>
              </a:ext>
            </a:extLst>
          </p:cNvPr>
          <p:cNvSpPr>
            <a:spLocks noGrp="1"/>
          </p:cNvSpPr>
          <p:nvPr/>
        </p:nvSpPr>
        <p:spPr>
          <a:xfrm>
            <a:off x="5524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C4E3D9A-6886-452A-97D6-F8C5EE02C3C8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131E30-C5EF-4954-843A-D012C3CA3C9C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FEC2C3-E681-4F3E-8B34-D92BDA76EC6B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1E9BE4-BE09-4CCA-B6FA-8C9AD096FC41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How should teams test whether an identifier functions as health data?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07F239D-FC36-45CF-9194-B2C62FEC2851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D65348D-0281-42FE-A63B-69219408F078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F68E0C-876B-4C08-A248-0CED3BE07158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5DF537-20AA-4885-A7D7-64D3271534FE}"/>
              </a:ext>
            </a:extLst>
          </p:cNvPr>
          <p:cNvSpPr>
            <a:spLocks noGrp="1"/>
          </p:cNvSpPr>
          <p:nvPr/>
        </p:nvSpPr>
        <p:spPr>
          <a:xfrm>
            <a:off x="67818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1FEB1B-E679-4995-AD43-C89E32906C54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Which product metrics could replace person-level advertising attribution?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1196118-7616-4A7B-88E6-D55B77F5D876}"/>
              </a:ext>
            </a:extLst>
          </p:cNvPr>
          <p:cNvSpPr>
            <a:spLocks noGrp="1"/>
          </p:cNvSpPr>
          <p:nvPr/>
        </p:nvSpPr>
        <p:spPr>
          <a:xfrm>
            <a:off x="2524125" y="5267325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Use the question to identify a boundary, a safeguard, and a remedy.</a:t>
            </a:r>
          </a:p>
        </p:txBody>
      </p:sp>
    </p:spTree>
    <p:extLst>
      <p:ext uri="{BB962C8B-B14F-4D97-AF65-F5344CB8AC3E}">
        <p14:creationId xmlns:p14="http://schemas.microsoft.com/office/powerpoint/2010/main" val="11870684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5989D6E8-C214-4C42-94B5-FE115B36DA3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BETTERHELP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C3C9F8-C4F5-47C0-BEAB-00DCF099DC88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Outcome and lesson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4BB7A19-097D-492E-B6BA-DAECFE311A0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1AFA77-6F99-4F94-BE80-D0196998CFC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8E7ADA8-39D3-4242-93CD-193EF6F3F29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B5A095-CE37-45CC-A7F5-7F9F8412DD8C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Sensitive data can move through identifiers and advertising infrastructure without a clinical record.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6A2478-261D-4507-9458-11C304EF093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111C02-E170-41DA-A334-0BFFBCCDF2C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7E2C856-0350-48D5-9221-300A77D9A7CD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3371850" cy="2381250"/>
          </a:xfrm>
          <a:prstGeom prst="roundRect">
            <a:avLst>
              <a:gd name="adj" fmla="val 72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AC4AB1-BD16-46E8-A3A4-A44285E43E33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2990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$7.8M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247171-8317-43B9-9368-0277CD0008DC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3EDD03-C0FA-46C1-A211-C18C39340A75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Partial refunds for consumers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8427AA3-693D-4F2A-A59E-A741EAF5A562}"/>
              </a:ext>
            </a:extLst>
          </p:cNvPr>
          <p:cNvSpPr>
            <a:spLocks noGrp="1"/>
          </p:cNvSpPr>
          <p:nvPr/>
        </p:nvSpPr>
        <p:spPr>
          <a:xfrm>
            <a:off x="4248150" y="1352550"/>
            <a:ext cx="3371850" cy="2381250"/>
          </a:xfrm>
          <a:prstGeom prst="roundRect">
            <a:avLst>
              <a:gd name="adj" fmla="val 7200"/>
            </a:avLst>
          </a:prstGeom>
          <a:solidFill>
            <a:srgbClr val="003366"/>
          </a:solidFill>
          <a:ln w="1143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9F6DC1-3675-4FE3-B8F1-582312ED38FF}"/>
              </a:ext>
            </a:extLst>
          </p:cNvPr>
          <p:cNvSpPr>
            <a:spLocks noGrp="1"/>
          </p:cNvSpPr>
          <p:nvPr/>
        </p:nvSpPr>
        <p:spPr>
          <a:xfrm>
            <a:off x="4438650" y="1657350"/>
            <a:ext cx="2990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 BAN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D7DEEF-4358-403C-8AE7-05EA51A3653F}"/>
              </a:ext>
            </a:extLst>
          </p:cNvPr>
          <p:cNvSpPr>
            <a:spLocks noGrp="1"/>
          </p:cNvSpPr>
          <p:nvPr/>
        </p:nvSpPr>
        <p:spPr>
          <a:xfrm>
            <a:off x="4438650" y="243840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USE LIMIT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CEFD22-77D0-402A-8003-ED9666926B43}"/>
              </a:ext>
            </a:extLst>
          </p:cNvPr>
          <p:cNvSpPr>
            <a:spLocks noGrp="1"/>
          </p:cNvSpPr>
          <p:nvPr/>
        </p:nvSpPr>
        <p:spPr>
          <a:xfrm>
            <a:off x="4533900" y="2952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sharing of health data for advertising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19E67E-853E-4858-81FD-18B95FEFD050}"/>
              </a:ext>
            </a:extLst>
          </p:cNvPr>
          <p:cNvSpPr>
            <a:spLocks noGrp="1"/>
          </p:cNvSpPr>
          <p:nvPr/>
        </p:nvSpPr>
        <p:spPr>
          <a:xfrm>
            <a:off x="7943850" y="1352550"/>
            <a:ext cx="3371850" cy="2381250"/>
          </a:xfrm>
          <a:prstGeom prst="roundRect">
            <a:avLst>
              <a:gd name="adj" fmla="val 72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ABBB09-E48E-48CA-8209-1BB85545458D}"/>
              </a:ext>
            </a:extLst>
          </p:cNvPr>
          <p:cNvSpPr>
            <a:spLocks noGrp="1"/>
          </p:cNvSpPr>
          <p:nvPr/>
        </p:nvSpPr>
        <p:spPr>
          <a:xfrm>
            <a:off x="8134350" y="1657350"/>
            <a:ext cx="2990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≈800K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E9AF55-5517-4704-8A29-D5D908AB7914}"/>
              </a:ext>
            </a:extLst>
          </p:cNvPr>
          <p:cNvSpPr>
            <a:spLocks noGrp="1"/>
          </p:cNvSpPr>
          <p:nvPr/>
        </p:nvSpPr>
        <p:spPr>
          <a:xfrm>
            <a:off x="8134350" y="243840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REFUND NOTICES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21E363-A172-4503-B19E-2DBA7BB95E68}"/>
              </a:ext>
            </a:extLst>
          </p:cNvPr>
          <p:cNvSpPr>
            <a:spLocks noGrp="1"/>
          </p:cNvSpPr>
          <p:nvPr/>
        </p:nvSpPr>
        <p:spPr>
          <a:xfrm>
            <a:off x="8229600" y="2952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Consumers notified in 2024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AC00E16-002E-4BC1-9B13-6A40098DB710}"/>
              </a:ext>
            </a:extLst>
          </p:cNvPr>
          <p:cNvSpPr>
            <a:spLocks noGrp="1"/>
          </p:cNvSpPr>
          <p:nvPr/>
        </p:nvSpPr>
        <p:spPr>
          <a:xfrm>
            <a:off x="1504950" y="4114800"/>
            <a:ext cx="9182100" cy="1104900"/>
          </a:xfrm>
          <a:prstGeom prst="roundRect">
            <a:avLst>
              <a:gd name="adj" fmla="val 13793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439FEB-027A-4729-9F47-5C73CE87BA2A}"/>
              </a:ext>
            </a:extLst>
          </p:cNvPr>
          <p:cNvSpPr>
            <a:spLocks noGrp="1"/>
          </p:cNvSpPr>
          <p:nvPr/>
        </p:nvSpPr>
        <p:spPr>
          <a:xfrm>
            <a:off x="1847850" y="4333875"/>
            <a:ext cx="849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order also restricted retargeting, required a privacy program, directed deletion by recipients, and mandated independent assessments.</a:t>
            </a:r>
          </a:p>
        </p:txBody>
      </p:sp>
    </p:spTree>
    <p:extLst>
      <p:ext uri="{BB962C8B-B14F-4D97-AF65-F5344CB8AC3E}">
        <p14:creationId xmlns:p14="http://schemas.microsoft.com/office/powerpoint/2010/main" val="11963250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295" b="7295"/>
          <a:stretch>
            <a:fillRect/>
          </a:stretch>
        </p:blipFill>
        <p:spPr>
          <a:xfrm>
            <a:off x="6838950" y="0"/>
            <a:ext cx="535305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D6C60F-C913-4F06-A1B8-376179952C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905750" cy="6858000"/>
          </a:xfrm>
          <a:prstGeom prst="rect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150EDC-661F-4837-BFF0-99D3CDA50688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CASE 4 · PRIVACY IN PRACTICE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7CB0C0-D7FB-4215-AC3C-F2FABE281935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533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ChatGPT in Italy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DBCC032-D590-4880-A6D2-015009EC8CF9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5067300" cy="1581150"/>
          </a:xfrm>
          <a:prstGeom prst="roundRect">
            <a:avLst>
              <a:gd name="adj" fmla="val 8434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672DD-2241-4284-B731-2C0E4E0338C8}"/>
              </a:ext>
            </a:extLst>
          </p:cNvPr>
          <p:cNvSpPr>
            <a:spLocks noGrp="1"/>
          </p:cNvSpPr>
          <p:nvPr/>
        </p:nvSpPr>
        <p:spPr>
          <a:xfrm>
            <a:off x="971550" y="3305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CORE QUESTION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86AB9-2C51-4AD7-B581-493E10FBD512}"/>
              </a:ext>
            </a:extLst>
          </p:cNvPr>
          <p:cNvSpPr>
            <a:spLocks noGrp="1"/>
          </p:cNvSpPr>
          <p:nvPr/>
        </p:nvSpPr>
        <p:spPr>
          <a:xfrm>
            <a:off x="971550" y="3667125"/>
            <a:ext cx="4610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should data-protection law apply to training, probabilistic outputs, and user rights?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B80E45-051E-4C65-B745-95594BEFE9AA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Each case links a data decision to a human consequence and a remedy.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63A182-8726-4BF1-8E7D-B68A52B04391}"/>
              </a:ext>
            </a:extLst>
          </p:cNvPr>
          <p:cNvSpPr>
            <a:spLocks noGrp="1"/>
          </p:cNvSpPr>
          <p:nvPr/>
        </p:nvSpPr>
        <p:spPr>
          <a:xfrm>
            <a:off x="742950" y="64960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62F6A9-7B9F-4D78-9436-78FB5AEB4A3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4897720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EF7E2DC-8E38-4158-9812-526041ED848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CHATGPT IN ITALY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A0BFB5-8E97-4FCD-87E6-395B9510FF2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Case 4: a generative-AI privacy test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E5579B7-114C-4F1D-A028-4CF26F57685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72102F-3592-4DEB-B4B8-D75A4BF993A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997EC74-62E6-478F-BEFB-45459625FCC9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F25782-0490-4D43-B67C-4615C82B86D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intervention treated the model as part of a continuing personal-data lifecycle.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6B5265-F95C-4ED0-8E7C-DA62528BE3F3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89FD70-FF29-42CA-B63D-5C4E8386E5D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D514D70-4C42-4265-A950-2C74EA37A751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3371850" cy="1962150"/>
          </a:xfrm>
          <a:prstGeom prst="roundRect">
            <a:avLst>
              <a:gd name="adj" fmla="val 7767"/>
            </a:avLst>
          </a:prstGeom>
          <a:solidFill>
            <a:srgbClr val="003366"/>
          </a:solidFill>
          <a:ln w="1143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E19130-B76E-4704-B95D-583FA4375DBE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30 MAR 2023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BB9EA2-EEB8-4629-9BE7-BE0F7827AC8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Temporary limitation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25A830-CB60-41D2-968D-5120AAEA8F40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Italy's Garante restricted ChatGPT-related processing.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E506725-803C-4611-88B4-1FBB961C25D8}"/>
              </a:ext>
            </a:extLst>
          </p:cNvPr>
          <p:cNvSpPr>
            <a:spLocks noGrp="1"/>
          </p:cNvSpPr>
          <p:nvPr/>
        </p:nvSpPr>
        <p:spPr>
          <a:xfrm>
            <a:off x="4248150" y="1352550"/>
            <a:ext cx="3371850" cy="1962150"/>
          </a:xfrm>
          <a:prstGeom prst="roundRect">
            <a:avLst>
              <a:gd name="adj" fmla="val 776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C57BF1-6C5F-4541-9C04-3D7305639D00}"/>
              </a:ext>
            </a:extLst>
          </p:cNvPr>
          <p:cNvSpPr>
            <a:spLocks noGrp="1"/>
          </p:cNvSpPr>
          <p:nvPr/>
        </p:nvSpPr>
        <p:spPr>
          <a:xfrm>
            <a:off x="4457700" y="1543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APR 2023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01E892-5AA1-47E4-B753-8EECB4AA2833}"/>
              </a:ext>
            </a:extLst>
          </p:cNvPr>
          <p:cNvSpPr>
            <a:spLocks noGrp="1"/>
          </p:cNvSpPr>
          <p:nvPr/>
        </p:nvSpPr>
        <p:spPr>
          <a:xfrm>
            <a:off x="4457700" y="19526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Remedial measures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F49472-6906-485D-BAA5-B535C4BF7513}"/>
              </a:ext>
            </a:extLst>
          </p:cNvPr>
          <p:cNvSpPr>
            <a:spLocks noGrp="1"/>
          </p:cNvSpPr>
          <p:nvPr/>
        </p:nvSpPr>
        <p:spPr>
          <a:xfrm>
            <a:off x="4514850" y="249555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OpenAI added information, rights, and age-related measures.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65F0768-7E35-432D-92EC-AA1965A1C166}"/>
              </a:ext>
            </a:extLst>
          </p:cNvPr>
          <p:cNvSpPr>
            <a:spLocks noGrp="1"/>
          </p:cNvSpPr>
          <p:nvPr/>
        </p:nvSpPr>
        <p:spPr>
          <a:xfrm>
            <a:off x="7943850" y="1352550"/>
            <a:ext cx="3371850" cy="1962150"/>
          </a:xfrm>
          <a:prstGeom prst="roundRect">
            <a:avLst>
              <a:gd name="adj" fmla="val 776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E95D61-4BCC-4C71-A2BA-BED99A02F56F}"/>
              </a:ext>
            </a:extLst>
          </p:cNvPr>
          <p:cNvSpPr>
            <a:spLocks noGrp="1"/>
          </p:cNvSpPr>
          <p:nvPr/>
        </p:nvSpPr>
        <p:spPr>
          <a:xfrm>
            <a:off x="8153400" y="1543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28 APR 2023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468399-4FB9-4C58-8AFA-F6D43350CFE1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Service resumed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D4AC37-FBC5-4712-84B1-A228A06EB695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ChatGPT became available again in Italy.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ADAF87-C445-4F69-8BB7-D05A2030FEB8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CONCERNS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47F3641-D260-4375-A8A8-694EBD15196D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7FA3F5-82FA-4E71-B482-49D7A302A481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Legal basis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58682DC-93AC-4571-9AB8-D3FF11D31619}"/>
              </a:ext>
            </a:extLst>
          </p:cNvPr>
          <p:cNvSpPr>
            <a:spLocks noGrp="1"/>
          </p:cNvSpPr>
          <p:nvPr/>
        </p:nvSpPr>
        <p:spPr>
          <a:xfrm>
            <a:off x="2790825" y="41529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3BDC4C-BFA0-438E-B8FB-5D4A3D6DD5AF}"/>
              </a:ext>
            </a:extLst>
          </p:cNvPr>
          <p:cNvSpPr>
            <a:spLocks noGrp="1"/>
          </p:cNvSpPr>
          <p:nvPr/>
        </p:nvSpPr>
        <p:spPr>
          <a:xfrm>
            <a:off x="2886075" y="4248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959CA2C-D8D8-47D1-A2E3-F653B36DDEAD}"/>
              </a:ext>
            </a:extLst>
          </p:cNvPr>
          <p:cNvSpPr>
            <a:spLocks noGrp="1"/>
          </p:cNvSpPr>
          <p:nvPr/>
        </p:nvSpPr>
        <p:spPr>
          <a:xfrm>
            <a:off x="5029200" y="41529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F3693B-99AF-47A9-93A8-2543A819C23C}"/>
              </a:ext>
            </a:extLst>
          </p:cNvPr>
          <p:cNvSpPr>
            <a:spLocks noGrp="1"/>
          </p:cNvSpPr>
          <p:nvPr/>
        </p:nvSpPr>
        <p:spPr>
          <a:xfrm>
            <a:off x="5124450" y="4248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Inaccurate personal data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19F90CC-4194-4B47-B2EC-8D2427CAE783}"/>
              </a:ext>
            </a:extLst>
          </p:cNvPr>
          <p:cNvSpPr>
            <a:spLocks noGrp="1"/>
          </p:cNvSpPr>
          <p:nvPr/>
        </p:nvSpPr>
        <p:spPr>
          <a:xfrm>
            <a:off x="7267575" y="41529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B7E8EC-D2AD-4453-8595-E4EDA353AADF}"/>
              </a:ext>
            </a:extLst>
          </p:cNvPr>
          <p:cNvSpPr>
            <a:spLocks noGrp="1"/>
          </p:cNvSpPr>
          <p:nvPr/>
        </p:nvSpPr>
        <p:spPr>
          <a:xfrm>
            <a:off x="7362825" y="4248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Reported breach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128A6B4-462D-4AD6-A1AE-5460595E8375}"/>
              </a:ext>
            </a:extLst>
          </p:cNvPr>
          <p:cNvSpPr>
            <a:spLocks noGrp="1"/>
          </p:cNvSpPr>
          <p:nvPr/>
        </p:nvSpPr>
        <p:spPr>
          <a:xfrm>
            <a:off x="9505950" y="41529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2E80BE-51F4-47E0-87EA-5BF66A7394BA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Age protections</a:t>
            </a:r>
          </a:p>
        </p:txBody>
      </p:sp>
    </p:spTree>
    <p:extLst>
      <p:ext uri="{BB962C8B-B14F-4D97-AF65-F5344CB8AC3E}">
        <p14:creationId xmlns:p14="http://schemas.microsoft.com/office/powerpoint/2010/main" val="14288327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015BC0BC-2984-44BF-ADFD-D0F8F8CA005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CHATGPT IN ITALY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0CEF92-9024-4FC7-B04C-C6DE640695DD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Why generative AI complicates data rights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1CB9015-3DDB-47C6-B0D0-5CAB533C6AD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1504B2-8F20-4FE8-91E4-43D30166849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373A2D8-3A8A-4572-A64B-2B61F2699E67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432951-03E7-454A-8A55-22C52F04D6DE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Data-subject rights must operate across training data, model behaviour, prompts, and outputs.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FC82A3-6E7F-4063-B17F-D2262EC61A8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C3F885-9831-4AC0-A40D-C1E617CF39CF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9E228E7-0826-4FB9-B685-9462CE67ED14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1809750" cy="3600450"/>
          </a:xfrm>
          <a:prstGeom prst="roundRect">
            <a:avLst>
              <a:gd name="adj" fmla="val 8421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15F3EC-3D6A-4589-BD68-7DAAE3ECD4DC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733454-83BF-4F69-A75D-7123F06BE561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7286E2-CADC-4C54-9BF1-DAF979085CC1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1428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Personal data may be scraped without direct notice.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53B7E76-115B-4827-9CC0-708F0366684D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1504950" cy="59055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90F0A0-3131-471A-993D-59AF7A16E0E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NOTICE · OBJECTION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B50B631-93E0-4B2C-92EF-F2B522BAD4B5}"/>
              </a:ext>
            </a:extLst>
          </p:cNvPr>
          <p:cNvSpPr>
            <a:spLocks noGrp="1"/>
          </p:cNvSpPr>
          <p:nvPr/>
        </p:nvSpPr>
        <p:spPr>
          <a:xfrm>
            <a:off x="2790825" y="1352550"/>
            <a:ext cx="1809750" cy="3600450"/>
          </a:xfrm>
          <a:prstGeom prst="roundRect">
            <a:avLst>
              <a:gd name="adj" fmla="val 8421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8811B4-1EF9-4ECA-9AC2-55B66BDD47C1}"/>
              </a:ext>
            </a:extLst>
          </p:cNvPr>
          <p:cNvSpPr>
            <a:spLocks noGrp="1"/>
          </p:cNvSpPr>
          <p:nvPr/>
        </p:nvSpPr>
        <p:spPr>
          <a:xfrm>
            <a:off x="2962275" y="1543050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0ECF6F-5E4A-4087-82F8-63F630F126E0}"/>
              </a:ext>
            </a:extLst>
          </p:cNvPr>
          <p:cNvSpPr>
            <a:spLocks noGrp="1"/>
          </p:cNvSpPr>
          <p:nvPr/>
        </p:nvSpPr>
        <p:spPr>
          <a:xfrm>
            <a:off x="2962275" y="204787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2AECE3-3280-4701-B395-5CEDED81DE33}"/>
              </a:ext>
            </a:extLst>
          </p:cNvPr>
          <p:cNvSpPr>
            <a:spLocks noGrp="1"/>
          </p:cNvSpPr>
          <p:nvPr/>
        </p:nvSpPr>
        <p:spPr>
          <a:xfrm>
            <a:off x="2981325" y="2686050"/>
            <a:ext cx="1428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Retention and extractability remain contested.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961F23F-D6F4-47D1-A206-28F75473E2A7}"/>
              </a:ext>
            </a:extLst>
          </p:cNvPr>
          <p:cNvSpPr>
            <a:spLocks noGrp="1"/>
          </p:cNvSpPr>
          <p:nvPr/>
        </p:nvSpPr>
        <p:spPr>
          <a:xfrm>
            <a:off x="2943225" y="4038600"/>
            <a:ext cx="1504950" cy="59055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FEFC56-5EDD-4FE4-9674-49FB1453CC0A}"/>
              </a:ext>
            </a:extLst>
          </p:cNvPr>
          <p:cNvSpPr>
            <a:spLocks noGrp="1"/>
          </p:cNvSpPr>
          <p:nvPr/>
        </p:nvSpPr>
        <p:spPr>
          <a:xfrm>
            <a:off x="3038475" y="41719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ACCESS · DELETION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F8B834-5F3A-4EEC-8190-B5B801549828}"/>
              </a:ext>
            </a:extLst>
          </p:cNvPr>
          <p:cNvSpPr>
            <a:spLocks noGrp="1"/>
          </p:cNvSpPr>
          <p:nvPr/>
        </p:nvSpPr>
        <p:spPr>
          <a:xfrm>
            <a:off x="5029200" y="1352550"/>
            <a:ext cx="1809750" cy="3600450"/>
          </a:xfrm>
          <a:prstGeom prst="roundRect">
            <a:avLst>
              <a:gd name="adj" fmla="val 8421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D115DD-F84B-4AD0-AB69-54023A59220A}"/>
              </a:ext>
            </a:extLst>
          </p:cNvPr>
          <p:cNvSpPr>
            <a:spLocks noGrp="1"/>
          </p:cNvSpPr>
          <p:nvPr/>
        </p:nvSpPr>
        <p:spPr>
          <a:xfrm>
            <a:off x="5200650" y="1543050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59F820-9217-4AA9-8F46-DCAC9FA52CAB}"/>
              </a:ext>
            </a:extLst>
          </p:cNvPr>
          <p:cNvSpPr>
            <a:spLocks noGrp="1"/>
          </p:cNvSpPr>
          <p:nvPr/>
        </p:nvSpPr>
        <p:spPr>
          <a:xfrm>
            <a:off x="5200650" y="204787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PROMPTS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ACE015-AAE7-43FB-AB2F-64C20980AF7A}"/>
              </a:ext>
            </a:extLst>
          </p:cNvPr>
          <p:cNvSpPr>
            <a:spLocks noGrp="1"/>
          </p:cNvSpPr>
          <p:nvPr/>
        </p:nvSpPr>
        <p:spPr>
          <a:xfrm>
            <a:off x="5219700" y="2686050"/>
            <a:ext cx="1428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Users submit their own or others' data.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4180CC6-8DB1-4349-80D6-B7F48AFF170D}"/>
              </a:ext>
            </a:extLst>
          </p:cNvPr>
          <p:cNvSpPr>
            <a:spLocks noGrp="1"/>
          </p:cNvSpPr>
          <p:nvPr/>
        </p:nvSpPr>
        <p:spPr>
          <a:xfrm>
            <a:off x="5181600" y="4038600"/>
            <a:ext cx="1504950" cy="59055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7BC9CA-8ECE-4046-9B41-0B4F385EF3CB}"/>
              </a:ext>
            </a:extLst>
          </p:cNvPr>
          <p:cNvSpPr>
            <a:spLocks noGrp="1"/>
          </p:cNvSpPr>
          <p:nvPr/>
        </p:nvSpPr>
        <p:spPr>
          <a:xfrm>
            <a:off x="5276850" y="41719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MINIMISATION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BF40B9D-7792-48EF-99F6-3C86A314F15B}"/>
              </a:ext>
            </a:extLst>
          </p:cNvPr>
          <p:cNvSpPr>
            <a:spLocks noGrp="1"/>
          </p:cNvSpPr>
          <p:nvPr/>
        </p:nvSpPr>
        <p:spPr>
          <a:xfrm>
            <a:off x="7267575" y="1352550"/>
            <a:ext cx="1809750" cy="3600450"/>
          </a:xfrm>
          <a:prstGeom prst="roundRect">
            <a:avLst>
              <a:gd name="adj" fmla="val 8421"/>
            </a:avLst>
          </a:prstGeom>
          <a:solidFill>
            <a:srgbClr val="003366"/>
          </a:solidFill>
          <a:ln w="1143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A95AB1-DAF6-4650-B7F2-474C983B7299}"/>
              </a:ext>
            </a:extLst>
          </p:cNvPr>
          <p:cNvSpPr>
            <a:spLocks noGrp="1"/>
          </p:cNvSpPr>
          <p:nvPr/>
        </p:nvSpPr>
        <p:spPr>
          <a:xfrm>
            <a:off x="7439025" y="1543050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5594EB-1AE8-4F9D-BE83-CDF3D51A3804}"/>
              </a:ext>
            </a:extLst>
          </p:cNvPr>
          <p:cNvSpPr>
            <a:spLocks noGrp="1"/>
          </p:cNvSpPr>
          <p:nvPr/>
        </p:nvSpPr>
        <p:spPr>
          <a:xfrm>
            <a:off x="7439025" y="204787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3A2655-3414-42CC-97B4-C85ADB73412F}"/>
              </a:ext>
            </a:extLst>
          </p:cNvPr>
          <p:cNvSpPr>
            <a:spLocks noGrp="1"/>
          </p:cNvSpPr>
          <p:nvPr/>
        </p:nvSpPr>
        <p:spPr>
          <a:xfrm>
            <a:off x="7458075" y="2686050"/>
            <a:ext cx="1428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 can produce inaccurate statements.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3C8D703-6AC7-414C-A1C2-BC35ADC906F9}"/>
              </a:ext>
            </a:extLst>
          </p:cNvPr>
          <p:cNvSpPr>
            <a:spLocks noGrp="1"/>
          </p:cNvSpPr>
          <p:nvPr/>
        </p:nvSpPr>
        <p:spPr>
          <a:xfrm>
            <a:off x="7419975" y="4038600"/>
            <a:ext cx="1504950" cy="590550"/>
          </a:xfrm>
          <a:prstGeom prst="roundRect">
            <a:avLst>
              <a:gd name="adj" fmla="val 14516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0BDB3F0-5C69-4655-B3FB-0EFEBF7909EA}"/>
              </a:ext>
            </a:extLst>
          </p:cNvPr>
          <p:cNvSpPr>
            <a:spLocks noGrp="1"/>
          </p:cNvSpPr>
          <p:nvPr/>
        </p:nvSpPr>
        <p:spPr>
          <a:xfrm>
            <a:off x="7515225" y="41719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 · CORRECTION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EDDDD5B-502A-4EB1-9939-81018DF0B252}"/>
              </a:ext>
            </a:extLst>
          </p:cNvPr>
          <p:cNvSpPr>
            <a:spLocks noGrp="1"/>
          </p:cNvSpPr>
          <p:nvPr/>
        </p:nvSpPr>
        <p:spPr>
          <a:xfrm>
            <a:off x="9505950" y="1352550"/>
            <a:ext cx="1809750" cy="3600450"/>
          </a:xfrm>
          <a:prstGeom prst="roundRect">
            <a:avLst>
              <a:gd name="adj" fmla="val 8421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375528-7C60-42E9-A4B4-94B070A83B3C}"/>
              </a:ext>
            </a:extLst>
          </p:cNvPr>
          <p:cNvSpPr>
            <a:spLocks noGrp="1"/>
          </p:cNvSpPr>
          <p:nvPr/>
        </p:nvSpPr>
        <p:spPr>
          <a:xfrm>
            <a:off x="9677400" y="1543050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3D1C21-F889-4206-887C-0ED3877FD217}"/>
              </a:ext>
            </a:extLst>
          </p:cNvPr>
          <p:cNvSpPr>
            <a:spLocks noGrp="1"/>
          </p:cNvSpPr>
          <p:nvPr/>
        </p:nvSpPr>
        <p:spPr>
          <a:xfrm>
            <a:off x="9677400" y="204787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4BCABE9-C528-4334-97AA-2EC619814155}"/>
              </a:ext>
            </a:extLst>
          </p:cNvPr>
          <p:cNvSpPr>
            <a:spLocks noGrp="1"/>
          </p:cNvSpPr>
          <p:nvPr/>
        </p:nvSpPr>
        <p:spPr>
          <a:xfrm>
            <a:off x="9696450" y="2686050"/>
            <a:ext cx="1428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Retraining may be impractical.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D5D1C3E3-65A5-4C41-A3CA-DE7A170A5AC5}"/>
              </a:ext>
            </a:extLst>
          </p:cNvPr>
          <p:cNvSpPr>
            <a:spLocks noGrp="1"/>
          </p:cNvSpPr>
          <p:nvPr/>
        </p:nvSpPr>
        <p:spPr>
          <a:xfrm>
            <a:off x="9658350" y="4038600"/>
            <a:ext cx="1504950" cy="59055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5AD685-54C2-4F9A-82F5-38FB996F63E1}"/>
              </a:ext>
            </a:extLst>
          </p:cNvPr>
          <p:cNvSpPr>
            <a:spLocks noGrp="1"/>
          </p:cNvSpPr>
          <p:nvPr/>
        </p:nvSpPr>
        <p:spPr>
          <a:xfrm>
            <a:off x="9753600" y="41719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5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EFFECTIVE REMEDY</a:t>
            </a:r>
          </a:p>
        </p:txBody>
      </p:sp>
    </p:spTree>
    <p:extLst>
      <p:ext uri="{BB962C8B-B14F-4D97-AF65-F5344CB8AC3E}">
        <p14:creationId xmlns:p14="http://schemas.microsoft.com/office/powerpoint/2010/main" val="13115064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4E6864A-FA21-4382-BCF9-8C3A79D0768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CHATGPT IN ITALY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8E5AEB-0D86-44B1-9932-2736D5FF1BB3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Ethical analysis: innovation does not reverse accountability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38239D0-9D3E-4A1F-BBAF-B1D56F04185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FA145C-3795-419F-8847-9E863F8FA87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84EEE68-6F63-4A48-8622-A864EAF56634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9388BC-6B76-441A-B1ED-CE5B1864EC0A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new technical architecture changes implementation, not the duty to protect people.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5B4743-1FE4-4862-A2E7-2E6D24345C8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D63F9B-3A85-4373-8CDD-C03B51E4032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93E362F-C611-4B94-AAC3-7E3F3BF09CBE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809750" cy="314325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D526D-CFC4-446A-9262-91038E8AD927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LAWFULNESS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4BCBDB-6FAC-43EA-BC41-C8847FB108CA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158115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Each processing stage needs a defensible basis.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6E531D3-C9CC-46F5-A038-0AE3F4D2A98B}"/>
              </a:ext>
            </a:extLst>
          </p:cNvPr>
          <p:cNvSpPr>
            <a:spLocks noGrp="1"/>
          </p:cNvSpPr>
          <p:nvPr/>
        </p:nvSpPr>
        <p:spPr>
          <a:xfrm>
            <a:off x="2790825" y="1371600"/>
            <a:ext cx="1809750" cy="314325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2D70DB-3F04-4C79-9E28-68CAADDF6C66}"/>
              </a:ext>
            </a:extLst>
          </p:cNvPr>
          <p:cNvSpPr>
            <a:spLocks noGrp="1"/>
          </p:cNvSpPr>
          <p:nvPr/>
        </p:nvSpPr>
        <p:spPr>
          <a:xfrm>
            <a:off x="2886075" y="1466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4ED978-49C7-4476-A1B1-5DA4EB9DC196}"/>
              </a:ext>
            </a:extLst>
          </p:cNvPr>
          <p:cNvSpPr>
            <a:spLocks noGrp="1"/>
          </p:cNvSpPr>
          <p:nvPr/>
        </p:nvSpPr>
        <p:spPr>
          <a:xfrm>
            <a:off x="2905125" y="1781175"/>
            <a:ext cx="158115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Responsibility cannot shift to people who type prompts.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9DA95CE-AD39-4161-BCC8-D31D332660BA}"/>
              </a:ext>
            </a:extLst>
          </p:cNvPr>
          <p:cNvSpPr>
            <a:spLocks noGrp="1"/>
          </p:cNvSpPr>
          <p:nvPr/>
        </p:nvSpPr>
        <p:spPr>
          <a:xfrm>
            <a:off x="5029200" y="1371600"/>
            <a:ext cx="1809750" cy="3143250"/>
          </a:xfrm>
          <a:prstGeom prst="roundRect">
            <a:avLst>
              <a:gd name="adj" fmla="val 6316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62D8E8-ED83-4571-9824-D51475EB506A}"/>
              </a:ext>
            </a:extLst>
          </p:cNvPr>
          <p:cNvSpPr>
            <a:spLocks noGrp="1"/>
          </p:cNvSpPr>
          <p:nvPr/>
        </p:nvSpPr>
        <p:spPr>
          <a:xfrm>
            <a:off x="5124450" y="1466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66740-5301-4D78-ACD9-87EC506C6463}"/>
              </a:ext>
            </a:extLst>
          </p:cNvPr>
          <p:cNvSpPr>
            <a:spLocks noGrp="1"/>
          </p:cNvSpPr>
          <p:nvPr/>
        </p:nvSpPr>
        <p:spPr>
          <a:xfrm>
            <a:off x="5143500" y="1781175"/>
            <a:ext cx="158115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 need understandable information about sources, purposes, uncertainty, and rights.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BD0F1C6-25D7-496A-AC45-E882E4DBA3AC}"/>
              </a:ext>
            </a:extLst>
          </p:cNvPr>
          <p:cNvSpPr>
            <a:spLocks noGrp="1"/>
          </p:cNvSpPr>
          <p:nvPr/>
        </p:nvSpPr>
        <p:spPr>
          <a:xfrm>
            <a:off x="7267575" y="1371600"/>
            <a:ext cx="1809750" cy="314325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4D1B86-8A34-4DF1-AA6F-A55FB747A597}"/>
              </a:ext>
            </a:extLst>
          </p:cNvPr>
          <p:cNvSpPr>
            <a:spLocks noGrp="1"/>
          </p:cNvSpPr>
          <p:nvPr/>
        </p:nvSpPr>
        <p:spPr>
          <a:xfrm>
            <a:off x="7362825" y="1466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C62E66-CFE1-4499-ACD6-ACC4E8CE1304}"/>
              </a:ext>
            </a:extLst>
          </p:cNvPr>
          <p:cNvSpPr>
            <a:spLocks noGrp="1"/>
          </p:cNvSpPr>
          <p:nvPr/>
        </p:nvSpPr>
        <p:spPr>
          <a:xfrm>
            <a:off x="7381875" y="1781175"/>
            <a:ext cx="158115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warning about hallucinations does not repair reputational harm.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1613484-8112-4A20-BE0C-C344B690E9EF}"/>
              </a:ext>
            </a:extLst>
          </p:cNvPr>
          <p:cNvSpPr>
            <a:spLocks noGrp="1"/>
          </p:cNvSpPr>
          <p:nvPr/>
        </p:nvSpPr>
        <p:spPr>
          <a:xfrm>
            <a:off x="9505950" y="1371600"/>
            <a:ext cx="1809750" cy="314325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89DFA0-8B96-49D9-9735-976D6EC7F7D4}"/>
              </a:ext>
            </a:extLst>
          </p:cNvPr>
          <p:cNvSpPr>
            <a:spLocks noGrp="1"/>
          </p:cNvSpPr>
          <p:nvPr/>
        </p:nvSpPr>
        <p:spPr>
          <a:xfrm>
            <a:off x="9601200" y="1466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CHILDREN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47CEA1-05BA-4204-9CA0-1680A0DB9FDA}"/>
              </a:ext>
            </a:extLst>
          </p:cNvPr>
          <p:cNvSpPr>
            <a:spLocks noGrp="1"/>
          </p:cNvSpPr>
          <p:nvPr/>
        </p:nvSpPr>
        <p:spPr>
          <a:xfrm>
            <a:off x="9620250" y="1781175"/>
            <a:ext cx="158115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Age-appropriate design forms part of privacy protection.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23D826C-79BB-4B87-A488-3222B22A957B}"/>
              </a:ext>
            </a:extLst>
          </p:cNvPr>
          <p:cNvSpPr>
            <a:spLocks noGrp="1"/>
          </p:cNvSpPr>
          <p:nvPr/>
        </p:nvSpPr>
        <p:spPr>
          <a:xfrm>
            <a:off x="2019300" y="4857750"/>
            <a:ext cx="8153400" cy="647700"/>
          </a:xfrm>
          <a:prstGeom prst="roundRect">
            <a:avLst>
              <a:gd name="adj" fmla="val 20588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06F779-CD59-4900-A121-B73E9B8E8132}"/>
              </a:ext>
            </a:extLst>
          </p:cNvPr>
          <p:cNvSpPr>
            <a:spLocks noGrp="1"/>
          </p:cNvSpPr>
          <p:nvPr/>
        </p:nvSpPr>
        <p:spPr>
          <a:xfrm>
            <a:off x="2324100" y="5010150"/>
            <a:ext cx="754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Technical difficulty does not remove the requirement to design effective rights mechanisms.</a:t>
            </a:r>
          </a:p>
        </p:txBody>
      </p:sp>
    </p:spTree>
    <p:extLst>
      <p:ext uri="{BB962C8B-B14F-4D97-AF65-F5344CB8AC3E}">
        <p14:creationId xmlns:p14="http://schemas.microsoft.com/office/powerpoint/2010/main" val="16263902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FA5E1C8-CD72-4248-9408-87828D45AAB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CHATGPT IN ITALY · DISCUSSION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EB53AA-A81F-4D43-843E-73FBC4E0732F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Discussion: what is a meaningful remedy?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E4BB965-F4E9-4DC0-837A-3A902D4F4DA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C29418-DEB2-4EB5-9CFD-7F76870A3FB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14F5329-F319-4261-91BE-3343757D7736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0C0D4B-E60F-4816-AB60-27DD2C9E3C34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meaningful remedy must reach the data, the output, and the continuing processing operation.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9EF4E-2123-490A-867E-649537E400A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9E4D37-C814-4E20-A2E4-1D28CE579D4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137A8D8-1821-4A61-90FE-38756F39E119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1087100" cy="704850"/>
          </a:xfrm>
          <a:prstGeom prst="roundRect">
            <a:avLst>
              <a:gd name="adj" fmla="val 189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6C1419-5E37-4925-83F2-E267EAD67404}"/>
              </a:ext>
            </a:extLst>
          </p:cNvPr>
          <p:cNvSpPr>
            <a:spLocks noGrp="1"/>
          </p:cNvSpPr>
          <p:nvPr/>
        </p:nvSpPr>
        <p:spPr>
          <a:xfrm>
            <a:off x="876300" y="1323975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model outputs about a person be corrected, or only filtered?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2E2F07F-ECA0-4820-BFB0-6AE730B75351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AB0833-D1EE-4E0C-9E05-5FDFA2111F41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BD4A3D-E2CD-4ECF-960E-55C34E139056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C230E9-02D3-4A90-B530-CEEED7CF1328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6AFE75-31D3-49C2-8FAA-7AD55252E27F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When is legitimate interest a credible basis for model training?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4D1B898-123A-4D4E-A37E-76162446299C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F9EB54F-BAC0-4BAA-98AF-FA09010E1C6D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7F3234-EDB0-4033-AC66-C6EDAFA1D495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012EA0-3E36-4290-9FDA-D015CFD3589F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DF5215-0B75-407E-B99C-48C3EDAC7663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If individual notice is impractical at scale, which substitutes are adequate?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884C7E0-FF4F-4BA9-AF4C-202B0696251D}"/>
              </a:ext>
            </a:extLst>
          </p:cNvPr>
          <p:cNvSpPr>
            <a:spLocks noGrp="1"/>
          </p:cNvSpPr>
          <p:nvPr/>
        </p:nvSpPr>
        <p:spPr>
          <a:xfrm>
            <a:off x="5524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B64275D-6033-456C-91BE-3728384D4156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791647-2BDB-4372-9297-4CA71DAB399E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F0AE37-9FC0-4524-9F66-8DCE5FC35445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CA1F6CF-53AE-472B-BA55-640D69888722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How should developers respond to an objection when retraining is impractical?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31CE4BB-E8A9-46E9-9D48-CFD6460AEC81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5410200" cy="1295400"/>
          </a:xfrm>
          <a:prstGeom prst="roundRect">
            <a:avLst>
              <a:gd name="adj" fmla="val 10294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17D02089-080D-4F0C-8700-41E474AEE5E8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FDCCC1-0BDE-4EE7-89B8-1E3EAE28768A}"/>
              </a:ext>
            </a:extLst>
          </p:cNvPr>
          <p:cNvSpPr>
            <a:spLocks noGrp="1"/>
          </p:cNvSpPr>
          <p:nvPr/>
        </p:nvSpPr>
        <p:spPr>
          <a:xfrm>
            <a:off x="6381750" y="38195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AD12D7-37C7-4C1B-8D4F-5A613C379C0C}"/>
              </a:ext>
            </a:extLst>
          </p:cNvPr>
          <p:cNvSpPr>
            <a:spLocks noGrp="1"/>
          </p:cNvSpPr>
          <p:nvPr/>
        </p:nvSpPr>
        <p:spPr>
          <a:xfrm>
            <a:off x="6781800" y="38100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A24562-C23D-4188-9144-FD93DC405CBB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3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When is temporary suspension proportionate to uncertainty and risk?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DEE802E-5CB0-448A-B31A-37ED71F66566}"/>
              </a:ext>
            </a:extLst>
          </p:cNvPr>
          <p:cNvSpPr>
            <a:spLocks noGrp="1"/>
          </p:cNvSpPr>
          <p:nvPr/>
        </p:nvSpPr>
        <p:spPr>
          <a:xfrm>
            <a:off x="2524125" y="5267325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Use the question to identify a boundary, a safeguard, and a remedy.</a:t>
            </a:r>
          </a:p>
        </p:txBody>
      </p:sp>
    </p:spTree>
    <p:extLst>
      <p:ext uri="{BB962C8B-B14F-4D97-AF65-F5344CB8AC3E}">
        <p14:creationId xmlns:p14="http://schemas.microsoft.com/office/powerpoint/2010/main" val="424509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168F39F-667C-4EC3-A952-02A68E2919F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CHATGPT IN ITALY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8370A9-D639-4340-B24D-88485C6819BF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Outcome, caveat, and lesson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52EC236-5734-4435-877D-F7718D4E80D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75DD5F-7085-43AC-8F19-0E3DFD015F71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D844D37-5DFC-42EF-A1F1-48FFEC4E4C74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0FC815-FD4F-44AD-9906-5DF291EDB797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Accountability includes the remedy, the appeal, and the legal uncertainty that follows.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55B626-4A31-4275-92FC-EF1646D28CDD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93EAB3-5D04-4C9B-8B7C-2B59FB97CB4B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109897-1860-4992-B22B-A4EE580CF504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10191750" cy="762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CD61A0D-A540-41E6-94AA-C5A34E67144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2381250" cy="1371600"/>
          </a:xfrm>
          <a:prstGeom prst="roundRect">
            <a:avLst>
              <a:gd name="adj" fmla="val 9722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BB7BDC-4461-4653-A8C4-EA4AF5268D85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EABB6-6579-4082-8CCD-4E3D4638DA0B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MEASURES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7EAE59-65C1-442E-9E23-645FAA89A2FC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Transparency, rights, and age protections preceded service resumption.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50E67F-037E-4C74-8B9D-840229403FD4}"/>
              </a:ext>
            </a:extLst>
          </p:cNvPr>
          <p:cNvSpPr>
            <a:spLocks noGrp="1"/>
          </p:cNvSpPr>
          <p:nvPr/>
        </p:nvSpPr>
        <p:spPr>
          <a:xfrm>
            <a:off x="1581150" y="2571750"/>
            <a:ext cx="323850" cy="3238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603CE4A-EE0D-429F-87B2-207B69EC0D24}"/>
              </a:ext>
            </a:extLst>
          </p:cNvPr>
          <p:cNvSpPr>
            <a:spLocks noGrp="1"/>
          </p:cNvSpPr>
          <p:nvPr/>
        </p:nvSpPr>
        <p:spPr>
          <a:xfrm>
            <a:off x="3352800" y="3143250"/>
            <a:ext cx="2381250" cy="1371600"/>
          </a:xfrm>
          <a:prstGeom prst="roundRect">
            <a:avLst>
              <a:gd name="adj" fmla="val 9722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7E6EA4-A551-4347-91F9-4D380D678BFC}"/>
              </a:ext>
            </a:extLst>
          </p:cNvPr>
          <p:cNvSpPr>
            <a:spLocks noGrp="1"/>
          </p:cNvSpPr>
          <p:nvPr/>
        </p:nvSpPr>
        <p:spPr>
          <a:xfrm>
            <a:off x="3524250" y="32956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D07449-6A3B-4FCF-950D-2C778640C3CC}"/>
              </a:ext>
            </a:extLst>
          </p:cNvPr>
          <p:cNvSpPr>
            <a:spLocks noGrp="1"/>
          </p:cNvSpPr>
          <p:nvPr/>
        </p:nvSpPr>
        <p:spPr>
          <a:xfrm>
            <a:off x="3524250" y="36195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EDPB TASKFORCE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B71AD6-A948-4637-BDC2-1380615D2C03}"/>
              </a:ext>
            </a:extLst>
          </p:cNvPr>
          <p:cNvSpPr>
            <a:spLocks noGrp="1"/>
          </p:cNvSpPr>
          <p:nvPr/>
        </p:nvSpPr>
        <p:spPr>
          <a:xfrm>
            <a:off x="3543300" y="39624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European authorities coordinated preliminary GDPR analysis.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462487B-1375-4263-8E1F-B678963EFA80}"/>
              </a:ext>
            </a:extLst>
          </p:cNvPr>
          <p:cNvSpPr>
            <a:spLocks noGrp="1"/>
          </p:cNvSpPr>
          <p:nvPr/>
        </p:nvSpPr>
        <p:spPr>
          <a:xfrm>
            <a:off x="4381500" y="2743200"/>
            <a:ext cx="323850" cy="3238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446CB50-CE50-4994-998E-B5541FFE99A2}"/>
              </a:ext>
            </a:extLst>
          </p:cNvPr>
          <p:cNvSpPr>
            <a:spLocks noGrp="1"/>
          </p:cNvSpPr>
          <p:nvPr/>
        </p:nvSpPr>
        <p:spPr>
          <a:xfrm>
            <a:off x="6153150" y="1200150"/>
            <a:ext cx="2381250" cy="1371600"/>
          </a:xfrm>
          <a:prstGeom prst="roundRect">
            <a:avLst>
              <a:gd name="adj" fmla="val 9722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BA2F1D-17F1-4339-8F12-89F6B36B3F15}"/>
              </a:ext>
            </a:extLst>
          </p:cNvPr>
          <p:cNvSpPr>
            <a:spLocks noGrp="1"/>
          </p:cNvSpPr>
          <p:nvPr/>
        </p:nvSpPr>
        <p:spPr>
          <a:xfrm>
            <a:off x="6324600" y="13525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DEC 2024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78687E-10E4-4964-B287-ED101CE5BDC0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€15M DECISION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A0A298-4312-465B-B040-0929B0B8952A}"/>
              </a:ext>
            </a:extLst>
          </p:cNvPr>
          <p:cNvSpPr>
            <a:spLocks noGrp="1"/>
          </p:cNvSpPr>
          <p:nvPr/>
        </p:nvSpPr>
        <p:spPr>
          <a:xfrm>
            <a:off x="6343650" y="20193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Garante announced a sanction and information campaign.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B8856C6-E14D-4D85-83E5-95C38A94D99D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323850" cy="3238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13E68D1-A1F1-4D2C-A734-B364E08803B8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2381250" cy="1371600"/>
          </a:xfrm>
          <a:prstGeom prst="roundRect">
            <a:avLst>
              <a:gd name="adj" fmla="val 9722"/>
            </a:avLst>
          </a:prstGeom>
          <a:solidFill>
            <a:srgbClr val="003366"/>
          </a:solidFill>
          <a:ln w="1143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43FFA3-3DE5-456D-8480-2B4D6515B62E}"/>
              </a:ext>
            </a:extLst>
          </p:cNvPr>
          <p:cNvSpPr>
            <a:spLocks noGrp="1"/>
          </p:cNvSpPr>
          <p:nvPr/>
        </p:nvSpPr>
        <p:spPr>
          <a:xfrm>
            <a:off x="9124950" y="32956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MAR 2026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FC89BD-CBF3-454E-98A1-6D54ADD903CF}"/>
              </a:ext>
            </a:extLst>
          </p:cNvPr>
          <p:cNvSpPr>
            <a:spLocks noGrp="1"/>
          </p:cNvSpPr>
          <p:nvPr/>
        </p:nvSpPr>
        <p:spPr>
          <a:xfrm>
            <a:off x="9124950" y="36195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COURT JUDGMENT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8549F2-8B30-46AC-92C6-7D19C871504E}"/>
              </a:ext>
            </a:extLst>
          </p:cNvPr>
          <p:cNvSpPr>
            <a:spLocks noGrp="1"/>
          </p:cNvSpPr>
          <p:nvPr/>
        </p:nvSpPr>
        <p:spPr>
          <a:xfrm>
            <a:off x="9144000" y="39624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Rome court upheld OpenAI's challenge on competence. The merits remained unresolved.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85B7B69-72D0-4B44-A497-67B24663F4ED}"/>
              </a:ext>
            </a:extLst>
          </p:cNvPr>
          <p:cNvSpPr>
            <a:spLocks noGrp="1"/>
          </p:cNvSpPr>
          <p:nvPr/>
        </p:nvSpPr>
        <p:spPr>
          <a:xfrm>
            <a:off x="9982200" y="2743200"/>
            <a:ext cx="323850" cy="323850"/>
          </a:xfrm>
          <a:prstGeom prst="ellipse">
            <a:avLst/>
          </a:prstGeom>
          <a:solidFill>
            <a:srgbClr val="C65B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E1E90CD-FF0A-4EBA-9559-109BD1525CD6}"/>
              </a:ext>
            </a:extLst>
          </p:cNvPr>
          <p:cNvSpPr>
            <a:spLocks noGrp="1"/>
          </p:cNvSpPr>
          <p:nvPr/>
        </p:nvSpPr>
        <p:spPr>
          <a:xfrm>
            <a:off x="1981200" y="5010150"/>
            <a:ext cx="822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An annulled decision is not an acquittal on the substance of the privacy concerns.</a:t>
            </a:r>
          </a:p>
        </p:txBody>
      </p:sp>
    </p:spTree>
    <p:extLst>
      <p:ext uri="{BB962C8B-B14F-4D97-AF65-F5344CB8AC3E}">
        <p14:creationId xmlns:p14="http://schemas.microsoft.com/office/powerpoint/2010/main" val="20257518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404615-4C5B-4408-8850-38A85592C4A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CROSS-CASE SYNTHESIS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ABE9BE-7442-49A0-BA47-D923FC0C2DA3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Cross-case synthesis: common patterns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97A27A0-4B5F-48B9-AC1D-A5A9F4B62BB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C32B0-F432-4712-B079-95D51BED58F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25EC58E-82E6-4870-9AC1-A0A364388D5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AB2C06-30DF-4A55-A033-16A8F991D1F6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Each case fails at a different stage, yet opacity, power asymmetry, and weak recourse recur.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624442-E7E3-45AC-99D2-91F86C3CD54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D13E2C-435D-4904-8703-F9CECF6E7A1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52450" y="1333500"/>
          <a:ext cx="11087100" cy="38100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LIFECYCLE STAGE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HARM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REMEDY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Clearview AI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COLLECT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Public photos become biometric identity infrastructure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€20M CNIL fine and deletion order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Rite Aid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DECIDE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False match leads to accusation in a store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Five-year ban, deletion, and monitoring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BetterHelp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DISSEMINATE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Therapy-seeking data enters advertising systems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$7.8M payment, ad ban, and assessments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ChatGPT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INFER + OUTPUT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Inaccurate personal data and difficult rights implementation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Transparency, age, and rights measures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ECD2A1F-CC1E-4A0C-A85B-C1EF9E52913A}"/>
              </a:ext>
            </a:extLst>
          </p:cNvPr>
          <p:cNvSpPr>
            <a:spLocks noGrp="1"/>
          </p:cNvSpPr>
          <p:nvPr/>
        </p:nvSpPr>
        <p:spPr>
          <a:xfrm>
            <a:off x="1543050" y="5391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9E16C0-C3BE-4B9F-B573-0A70AC7464A4}"/>
              </a:ext>
            </a:extLst>
          </p:cNvPr>
          <p:cNvSpPr>
            <a:spLocks noGrp="1"/>
          </p:cNvSpPr>
          <p:nvPr/>
        </p:nvSpPr>
        <p:spPr>
          <a:xfrm>
            <a:off x="5095875" y="5391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POWER ASYMMETRY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2B6980-2D5E-44F0-9660-81756DF02DAD}"/>
              </a:ext>
            </a:extLst>
          </p:cNvPr>
          <p:cNvSpPr>
            <a:spLocks noGrp="1"/>
          </p:cNvSpPr>
          <p:nvPr/>
        </p:nvSpPr>
        <p:spPr>
          <a:xfrm>
            <a:off x="8648700" y="5391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ABSENT RECOURSE</a:t>
            </a:r>
          </a:p>
        </p:txBody>
      </p:sp>
    </p:spTree>
    <p:extLst>
      <p:ext uri="{BB962C8B-B14F-4D97-AF65-F5344CB8AC3E}">
        <p14:creationId xmlns:p14="http://schemas.microsoft.com/office/powerpoint/2010/main" val="2031458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7A336A7F-FA02-47B2-A471-AB27A603648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CROSS-CASE SYNTHESIS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7A54C1-1587-41BB-889A-386D0BB334F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Cross-case synthesis: where harm enters the lifecycle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82B28F8-CFFA-4235-8BCC-EAC9785D221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7F4DE7-B372-4089-9808-71638BC781F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113BC88-D894-4D79-BFB4-781BF4C3DE2B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C72372-AF3B-49A0-8241-570EDEF20F2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controls must operate across the whole lifecycle because harm at one stage enables the next.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C240F6-AEED-45C5-8991-65A030D6DB4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5FA7E3-B6B4-4488-8645-3A064169DC3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2387549-F10F-408F-BD75-882AFAB0F654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1809750" cy="186690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50CDC-450D-45C9-AE23-B86B054D0398}"/>
              </a:ext>
            </a:extLst>
          </p:cNvPr>
          <p:cNvSpPr>
            <a:spLocks noGrp="1"/>
          </p:cNvSpPr>
          <p:nvPr/>
        </p:nvSpPr>
        <p:spPr>
          <a:xfrm>
            <a:off x="647700" y="1943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F24DAB-4270-477F-875A-DA73DB15B892}"/>
              </a:ext>
            </a:extLst>
          </p:cNvPr>
          <p:cNvSpPr>
            <a:spLocks noGrp="1"/>
          </p:cNvSpPr>
          <p:nvPr/>
        </p:nvSpPr>
        <p:spPr>
          <a:xfrm>
            <a:off x="666750" y="2257425"/>
            <a:ext cx="15811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Clearview scraping</a:t>
            </a:r>
          </a:p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ChatGPT training data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7C1D2E95-9A62-4A0D-8F7C-9B700E300627}"/>
              </a:ext>
            </a:extLst>
          </p:cNvPr>
          <p:cNvSpPr>
            <a:spLocks noGrp="1"/>
          </p:cNvSpPr>
          <p:nvPr/>
        </p:nvSpPr>
        <p:spPr>
          <a:xfrm>
            <a:off x="2438400" y="2676525"/>
            <a:ext cx="2095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2663913-3D39-405D-8C06-576E2D3A4CB2}"/>
              </a:ext>
            </a:extLst>
          </p:cNvPr>
          <p:cNvSpPr>
            <a:spLocks noGrp="1"/>
          </p:cNvSpPr>
          <p:nvPr/>
        </p:nvSpPr>
        <p:spPr>
          <a:xfrm>
            <a:off x="2790825" y="1847850"/>
            <a:ext cx="1809750" cy="186690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A9A6E0-44CD-4CF7-B3A1-9F65E39E0BB8}"/>
              </a:ext>
            </a:extLst>
          </p:cNvPr>
          <p:cNvSpPr>
            <a:spLocks noGrp="1"/>
          </p:cNvSpPr>
          <p:nvPr/>
        </p:nvSpPr>
        <p:spPr>
          <a:xfrm>
            <a:off x="2886075" y="1943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B6E38F-5BFA-46E6-8C5F-80BD51946D46}"/>
              </a:ext>
            </a:extLst>
          </p:cNvPr>
          <p:cNvSpPr>
            <a:spLocks noGrp="1"/>
          </p:cNvSpPr>
          <p:nvPr/>
        </p:nvSpPr>
        <p:spPr>
          <a:xfrm>
            <a:off x="2905125" y="2257425"/>
            <a:ext cx="15811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BetterHelp ad-tech linkage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97F1E388-DB73-48E3-9476-4F2CB3230BC1}"/>
              </a:ext>
            </a:extLst>
          </p:cNvPr>
          <p:cNvSpPr>
            <a:spLocks noGrp="1"/>
          </p:cNvSpPr>
          <p:nvPr/>
        </p:nvSpPr>
        <p:spPr>
          <a:xfrm>
            <a:off x="4676775" y="2676525"/>
            <a:ext cx="209550" cy="1905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C1C1F34-366E-4048-9CC6-5FA97BCDFC8D}"/>
              </a:ext>
            </a:extLst>
          </p:cNvPr>
          <p:cNvSpPr>
            <a:spLocks noGrp="1"/>
          </p:cNvSpPr>
          <p:nvPr/>
        </p:nvSpPr>
        <p:spPr>
          <a:xfrm>
            <a:off x="5029200" y="1847850"/>
            <a:ext cx="1809750" cy="186690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B31688-F195-4CF0-949A-6E5E856635FE}"/>
              </a:ext>
            </a:extLst>
          </p:cNvPr>
          <p:cNvSpPr>
            <a:spLocks noGrp="1"/>
          </p:cNvSpPr>
          <p:nvPr/>
        </p:nvSpPr>
        <p:spPr>
          <a:xfrm>
            <a:off x="5124450" y="1943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AF270C-742D-4AC3-8D94-B6262BDFC445}"/>
              </a:ext>
            </a:extLst>
          </p:cNvPr>
          <p:cNvSpPr>
            <a:spLocks noGrp="1"/>
          </p:cNvSpPr>
          <p:nvPr/>
        </p:nvSpPr>
        <p:spPr>
          <a:xfrm>
            <a:off x="5143500" y="2257425"/>
            <a:ext cx="15811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ChatGPT inaccurate personal data</a:t>
            </a:r>
          </a:p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Proxy variables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6A73E92E-4DD1-4E8C-947E-38E22ED8FBEE}"/>
              </a:ext>
            </a:extLst>
          </p:cNvPr>
          <p:cNvSpPr>
            <a:spLocks noGrp="1"/>
          </p:cNvSpPr>
          <p:nvPr/>
        </p:nvSpPr>
        <p:spPr>
          <a:xfrm>
            <a:off x="6915150" y="26765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F926B19-72F7-4449-BA5C-A7C1A9B28981}"/>
              </a:ext>
            </a:extLst>
          </p:cNvPr>
          <p:cNvSpPr>
            <a:spLocks noGrp="1"/>
          </p:cNvSpPr>
          <p:nvPr/>
        </p:nvSpPr>
        <p:spPr>
          <a:xfrm>
            <a:off x="7267575" y="1847850"/>
            <a:ext cx="1809750" cy="1866900"/>
          </a:xfrm>
          <a:prstGeom prst="roundRect">
            <a:avLst>
              <a:gd name="adj" fmla="val 631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709419-B921-4F79-9215-51AF7F44D918}"/>
              </a:ext>
            </a:extLst>
          </p:cNvPr>
          <p:cNvSpPr>
            <a:spLocks noGrp="1"/>
          </p:cNvSpPr>
          <p:nvPr/>
        </p:nvSpPr>
        <p:spPr>
          <a:xfrm>
            <a:off x="7362825" y="1943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99FFFD-A940-43E9-8123-01994B174E9E}"/>
              </a:ext>
            </a:extLst>
          </p:cNvPr>
          <p:cNvSpPr>
            <a:spLocks noGrp="1"/>
          </p:cNvSpPr>
          <p:nvPr/>
        </p:nvSpPr>
        <p:spPr>
          <a:xfrm>
            <a:off x="7381875" y="2257425"/>
            <a:ext cx="15811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Rite Aid watchlist matching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772A7B25-35F1-4E50-B8F2-E438B491B6FC}"/>
              </a:ext>
            </a:extLst>
          </p:cNvPr>
          <p:cNvSpPr>
            <a:spLocks noGrp="1"/>
          </p:cNvSpPr>
          <p:nvPr/>
        </p:nvSpPr>
        <p:spPr>
          <a:xfrm>
            <a:off x="9153525" y="2676525"/>
            <a:ext cx="209550" cy="1905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C06B064-392B-407F-8AF9-2CA89E028CFD}"/>
              </a:ext>
            </a:extLst>
          </p:cNvPr>
          <p:cNvSpPr>
            <a:spLocks noGrp="1"/>
          </p:cNvSpPr>
          <p:nvPr/>
        </p:nvSpPr>
        <p:spPr>
          <a:xfrm>
            <a:off x="9505950" y="1847850"/>
            <a:ext cx="1809750" cy="1866900"/>
          </a:xfrm>
          <a:prstGeom prst="roundRect">
            <a:avLst>
              <a:gd name="adj" fmla="val 6316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2BC27A-7536-4087-BFCF-C275660F949C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BA4DC2-21A2-4672-88EE-332FC75F8D61}"/>
              </a:ext>
            </a:extLst>
          </p:cNvPr>
          <p:cNvSpPr>
            <a:spLocks noGrp="1"/>
          </p:cNvSpPr>
          <p:nvPr/>
        </p:nvSpPr>
        <p:spPr>
          <a:xfrm>
            <a:off x="9620250" y="2257425"/>
            <a:ext cx="15811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Rite Aid confrontation</a:t>
            </a:r>
          </a:p>
          <a:p>
            <a:pPr algn="ctr">
              <a:lnSpc>
                <a:spcPct val="100000"/>
              </a:lnSpc>
              <a:buNone/>
              <a:defRPr sz="11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Eubanks benefit denial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312E48D-74A2-4213-BEA6-7162D7220593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10058400" cy="990600"/>
          </a:xfrm>
          <a:prstGeom prst="roundRect">
            <a:avLst>
              <a:gd name="adj" fmla="val 15385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10D79CA-E026-4036-BA48-114D82B8663B}"/>
              </a:ext>
            </a:extLst>
          </p:cNvPr>
          <p:cNvSpPr>
            <a:spLocks noGrp="1"/>
          </p:cNvSpPr>
          <p:nvPr/>
        </p:nvSpPr>
        <p:spPr>
          <a:xfrm>
            <a:off x="1371600" y="44577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RISK COMPOUNDS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356DAE9E-A606-4865-8857-004D13B74E1E}"/>
              </a:ext>
            </a:extLst>
          </p:cNvPr>
          <p:cNvSpPr>
            <a:spLocks noGrp="1"/>
          </p:cNvSpPr>
          <p:nvPr/>
        </p:nvSpPr>
        <p:spPr>
          <a:xfrm>
            <a:off x="4095750" y="4524375"/>
            <a:ext cx="457200" cy="2667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1204EE-B997-4E3C-8A29-AA76D381EC8C}"/>
              </a:ext>
            </a:extLst>
          </p:cNvPr>
          <p:cNvSpPr>
            <a:spLocks noGrp="1"/>
          </p:cNvSpPr>
          <p:nvPr/>
        </p:nvSpPr>
        <p:spPr>
          <a:xfrm>
            <a:off x="4800600" y="438150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An early collection decision can enable later inference, profiling, and consequential action.</a:t>
            </a:r>
          </a:p>
        </p:txBody>
      </p:sp>
    </p:spTree>
    <p:extLst>
      <p:ext uri="{BB962C8B-B14F-4D97-AF65-F5344CB8AC3E}">
        <p14:creationId xmlns:p14="http://schemas.microsoft.com/office/powerpoint/2010/main" val="1927125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15CB586-B1AB-4ACC-A018-5FF8C1355CC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B · CROSS-CASE SYNTHESIS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AAC9A0-F82F-4A53-9E8E-3A8454D40AD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Cross-case synthesis: regulatory responses compared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5C9B854-1382-445D-BE6D-4126DB33C27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1FB891-045A-4B44-B90C-042819262E2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D27ADD5-7BE4-4573-9752-74247F7FE33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6D4427-C472-40EE-A151-767FCB56CDDA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Different legal instruments converge on accountability, use limits, deletion, and rights.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3A9FB2-3637-47B5-BC2B-24462202E28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58FF3-3F3A-41FB-943C-07CF7E59F823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552450" y="1314450"/>
          <a:ext cx="11087100" cy="390525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JURISDICTION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AUTHORITY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INSTRUMENT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OUTCOME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France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CNIL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GDPR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€20M Clearview penalty and deletion order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United Kingdom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ICO + tribunals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UK GDPR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£7.5M Clearview notice; jurisdiction grounds upheld in 2025, appeal continuing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United States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FTC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FTC Act §5 and consent orders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Rite Aid ban and BetterHelp payment, use limits, deletion, and monitoring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Italy / EU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Garante + EDPB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GDPR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ChatGPT measures; €15M decision annulled in 2026 on competence, merits unresolved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9F935739-893A-4193-8553-662B2494272E}"/>
              </a:ext>
            </a:extLst>
          </p:cNvPr>
          <p:cNvSpPr>
            <a:spLocks noGrp="1"/>
          </p:cNvSpPr>
          <p:nvPr/>
        </p:nvSpPr>
        <p:spPr>
          <a:xfrm>
            <a:off x="2000250" y="5391150"/>
            <a:ext cx="8191500" cy="361950"/>
          </a:xfrm>
          <a:prstGeom prst="roundRect">
            <a:avLst>
              <a:gd name="adj" fmla="val 26316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08DDEE-E598-4283-8F44-7A7771047D31}"/>
              </a:ext>
            </a:extLst>
          </p:cNvPr>
          <p:cNvSpPr>
            <a:spLocks noGrp="1"/>
          </p:cNvSpPr>
          <p:nvPr/>
        </p:nvSpPr>
        <p:spPr>
          <a:xfrm>
            <a:off x="2228850" y="5457825"/>
            <a:ext cx="7734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principle: organisations must make data power accountable and contestable.</a:t>
            </a:r>
          </a:p>
        </p:txBody>
      </p:sp>
    </p:spTree>
    <p:extLst>
      <p:ext uri="{BB962C8B-B14F-4D97-AF65-F5344CB8AC3E}">
        <p14:creationId xmlns:p14="http://schemas.microsoft.com/office/powerpoint/2010/main" val="461875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D6789C0-DC56-4B6B-9BEF-142683140494}"/>
              </a:ext>
            </a:extLst>
          </p:cNvPr>
          <p:cNvSpPr>
            <a:spLocks noGrp="1"/>
          </p:cNvSpPr>
          <p:nvPr/>
        </p:nvSpPr>
        <p:spPr>
          <a:xfrm>
            <a:off x="5334000" y="5905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BFB833-53E6-4167-BA4E-54B15D656985}"/>
              </a:ext>
            </a:extLst>
          </p:cNvPr>
          <p:cNvSpPr>
            <a:spLocks noGrp="1"/>
          </p:cNvSpPr>
          <p:nvPr/>
        </p:nvSpPr>
        <p:spPr>
          <a:xfrm>
            <a:off x="1752600" y="1200150"/>
            <a:ext cx="8686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case concerns you most?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8A6FED7-1C7B-4FA3-AEF1-FCA50A04720C}"/>
              </a:ext>
            </a:extLst>
          </p:cNvPr>
          <p:cNvSpPr>
            <a:spLocks noGrp="1"/>
          </p:cNvSpPr>
          <p:nvPr/>
        </p:nvSpPr>
        <p:spPr>
          <a:xfrm>
            <a:off x="1676400" y="2247900"/>
            <a:ext cx="8839200" cy="2324100"/>
          </a:xfrm>
          <a:prstGeom prst="roundRect">
            <a:avLst>
              <a:gd name="adj" fmla="val 7377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F45874-A335-4167-99C7-A21F681AA349}"/>
              </a:ext>
            </a:extLst>
          </p:cNvPr>
          <p:cNvSpPr>
            <a:spLocks noGrp="1"/>
          </p:cNvSpPr>
          <p:nvPr/>
        </p:nvSpPr>
        <p:spPr>
          <a:xfrm>
            <a:off x="2152650" y="2609850"/>
            <a:ext cx="78867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lifecycle stage would you regulate first?</a:t>
            </a:r>
          </a:p>
          <a:p>
            <a:endParaRPr sz="2200" b="0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8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would your design rule be?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89E1434-2C25-4A8D-831F-E5888AE43DFF}"/>
              </a:ext>
            </a:extLst>
          </p:cNvPr>
          <p:cNvSpPr>
            <a:spLocks noGrp="1"/>
          </p:cNvSpPr>
          <p:nvPr/>
        </p:nvSpPr>
        <p:spPr>
          <a:xfrm>
            <a:off x="4629150" y="5029200"/>
            <a:ext cx="2933700" cy="57150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730647-21B5-4F7D-8B66-8F21C81F76B4}"/>
              </a:ext>
            </a:extLst>
          </p:cNvPr>
          <p:cNvSpPr>
            <a:spLocks noGrp="1"/>
          </p:cNvSpPr>
          <p:nvPr/>
        </p:nvSpPr>
        <p:spPr>
          <a:xfrm>
            <a:off x="4629150" y="5029200"/>
            <a:ext cx="2933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10–15 MINUTES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C59A2F-4C77-4055-AA70-D425CD8A0AF1}"/>
              </a:ext>
            </a:extLst>
          </p:cNvPr>
          <p:cNvSpPr>
            <a:spLocks noGrp="1"/>
          </p:cNvSpPr>
          <p:nvPr/>
        </p:nvSpPr>
        <p:spPr>
          <a:xfrm>
            <a:off x="4000500" y="58674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Next: governance, rights, and privacy design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9B2985-66F8-4C6A-A46B-5713A2F2BF5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447EED-5DE2-47B1-8766-FC1D38F20B3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55875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B31A9DF-4DE5-40FA-976D-BCC6A2357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334250" cy="6858000"/>
          </a:xfrm>
          <a:prstGeom prst="rect">
            <a:avLst/>
          </a:prstGeom>
          <a:solidFill>
            <a:srgbClr val="003366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F79D5A-B186-4D7A-B832-D7302C149D4A}"/>
              </a:ext>
            </a:extLst>
          </p:cNvPr>
          <p:cNvSpPr>
            <a:spLocks noGrp="1"/>
          </p:cNvSpPr>
          <p:nvPr/>
        </p:nvSpPr>
        <p:spPr>
          <a:xfrm>
            <a:off x="742950" y="781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PART C · GOVERNANCE &amp; DESIGN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4C6C54-D9E4-415A-8C6D-6800351D9F82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552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4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remedy</a:t>
            </a:r>
          </a:p>
          <a:p>
            <a:pPr algn="l">
              <a:lnSpc>
                <a:spcPct val="95000"/>
              </a:lnSpc>
              <a:buNone/>
              <a:defRPr sz="4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 prevention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0FB228-53D4-4C9B-A094-84232B059D09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Rights, frameworks, and technologies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4D85DEF-5ABA-4430-96FE-71BB658802F9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5219700" cy="1295400"/>
          </a:xfrm>
          <a:prstGeom prst="roundRect">
            <a:avLst>
              <a:gd name="adj" fmla="val 10294"/>
            </a:avLst>
          </a:prstGeom>
          <a:solidFill>
            <a:srgbClr val="0E4F82">
              <a:alpha val="86667"/>
            </a:srgbClr>
          </a:solidFill>
          <a:ln w="9525">
            <a:solidFill>
              <a:srgbClr val="5BA4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4B4948-52ED-49A7-97B7-D4D3ECF09BAF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46482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teams prevent privacy failures while designing an AI system?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FF514-9B76-43C3-9687-DF0EDA270071}"/>
              </a:ext>
            </a:extLst>
          </p:cNvPr>
          <p:cNvSpPr>
            <a:spLocks noGrp="1"/>
          </p:cNvSpPr>
          <p:nvPr/>
        </p:nvSpPr>
        <p:spPr>
          <a:xfrm>
            <a:off x="742950" y="550545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C7DDEE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7DDEE"/>
                </a:solidFill>
                <a:latin typeface="Arial"/>
                <a:ea typeface="Arial"/>
                <a:cs typeface="Arial"/>
              </a:rPr>
              <a:t>Cases explain failure. Governance and design shape a different outcome.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F884EF-8BED-45D8-93A6-66F91BDEB071}"/>
              </a:ext>
            </a:extLst>
          </p:cNvPr>
          <p:cNvSpPr>
            <a:spLocks noGrp="1"/>
          </p:cNvSpPr>
          <p:nvPr/>
        </p:nvSpPr>
        <p:spPr>
          <a:xfrm>
            <a:off x="742950" y="64960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8E7F47-3E38-4747-A490-EA8281033DC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277064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452989F2-C0DF-40FE-BA79-F01E2BB1C1D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PRINCIPLES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F277D6-BF10-41AC-90B7-C4B95A0C2E3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GDPR: seven principles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0C5DEDA-3F25-4B61-857F-6CFD9147167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302DE5-6C21-4E24-AE56-833127AFB64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D109934-B59F-4717-9ED5-E86799BFBDE1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9BA34F-AA01-4E77-8B14-81A23BAF934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Article 5 makes privacy duties continuous across the AI lifecycle.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787850-C5CE-4A3B-89DB-48F292B1842D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2A07D7-AB0B-4982-9C18-2D48EC34441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24701C4-4AA9-4E37-974D-3F3FD06CF2A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7F1C21-6107-4331-8127-D7F0CBEF1ED6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LAWFULNESS, FAIRNESS, TRANSPARENCY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80C415-A8EB-4B23-B61E-EA85950775A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valid basis, fair effects, and clear information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72AE594-D768-48AE-B55E-92F583A9C16A}"/>
              </a:ext>
            </a:extLst>
          </p:cNvPr>
          <p:cNvSpPr>
            <a:spLocks noGrp="1"/>
          </p:cNvSpPr>
          <p:nvPr/>
        </p:nvSpPr>
        <p:spPr>
          <a:xfrm>
            <a:off x="3409950" y="125730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223C7B-6863-4EDC-8945-6498315651CF}"/>
              </a:ext>
            </a:extLst>
          </p:cNvPr>
          <p:cNvSpPr>
            <a:spLocks noGrp="1"/>
          </p:cNvSpPr>
          <p:nvPr/>
        </p:nvSpPr>
        <p:spPr>
          <a:xfrm>
            <a:off x="3505200" y="13525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PURPOSE LIMITATION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FB1C23-454E-4043-B438-B715F43A9A0B}"/>
              </a:ext>
            </a:extLst>
          </p:cNvPr>
          <p:cNvSpPr>
            <a:spLocks noGrp="1"/>
          </p:cNvSpPr>
          <p:nvPr/>
        </p:nvSpPr>
        <p:spPr>
          <a:xfrm>
            <a:off x="3524250" y="166687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Defined purposes and compatible reuse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2288DE9-B5C3-48A1-8CDD-7ACF12FE81A5}"/>
              </a:ext>
            </a:extLst>
          </p:cNvPr>
          <p:cNvSpPr>
            <a:spLocks noGrp="1"/>
          </p:cNvSpPr>
          <p:nvPr/>
        </p:nvSpPr>
        <p:spPr>
          <a:xfrm>
            <a:off x="6267450" y="125730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638F72-E689-4B3F-A3B0-BAEAE7DF6B09}"/>
              </a:ext>
            </a:extLst>
          </p:cNvPr>
          <p:cNvSpPr>
            <a:spLocks noGrp="1"/>
          </p:cNvSpPr>
          <p:nvPr/>
        </p:nvSpPr>
        <p:spPr>
          <a:xfrm>
            <a:off x="6362700" y="13525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MINIMISATION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84C989-15A1-4509-98A1-7E7B205CC6C5}"/>
              </a:ext>
            </a:extLst>
          </p:cNvPr>
          <p:cNvSpPr>
            <a:spLocks noGrp="1"/>
          </p:cNvSpPr>
          <p:nvPr/>
        </p:nvSpPr>
        <p:spPr>
          <a:xfrm>
            <a:off x="6381750" y="166687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Only data necessary for the purpose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B47796-E78F-4645-AC02-9C235A41305E}"/>
              </a:ext>
            </a:extLst>
          </p:cNvPr>
          <p:cNvSpPr>
            <a:spLocks noGrp="1"/>
          </p:cNvSpPr>
          <p:nvPr/>
        </p:nvSpPr>
        <p:spPr>
          <a:xfrm>
            <a:off x="9124950" y="125730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F8D679-AB34-499F-B10D-C64F3AB1123C}"/>
              </a:ext>
            </a:extLst>
          </p:cNvPr>
          <p:cNvSpPr>
            <a:spLocks noGrp="1"/>
          </p:cNvSpPr>
          <p:nvPr/>
        </p:nvSpPr>
        <p:spPr>
          <a:xfrm>
            <a:off x="9220200" y="13525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4CD8E7-1874-45E7-9ABA-0B292E3F4D7D}"/>
              </a:ext>
            </a:extLst>
          </p:cNvPr>
          <p:cNvSpPr>
            <a:spLocks noGrp="1"/>
          </p:cNvSpPr>
          <p:nvPr/>
        </p:nvSpPr>
        <p:spPr>
          <a:xfrm>
            <a:off x="9239250" y="166687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Correct records and timely rectification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14399E6-AEA0-47E7-BA23-2F6A4E9B29EF}"/>
              </a:ext>
            </a:extLst>
          </p:cNvPr>
          <p:cNvSpPr>
            <a:spLocks noGrp="1"/>
          </p:cNvSpPr>
          <p:nvPr/>
        </p:nvSpPr>
        <p:spPr>
          <a:xfrm>
            <a:off x="1981200" y="325755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0907496-FE24-4937-95B1-40126E0645C6}"/>
              </a:ext>
            </a:extLst>
          </p:cNvPr>
          <p:cNvSpPr>
            <a:spLocks noGrp="1"/>
          </p:cNvSpPr>
          <p:nvPr/>
        </p:nvSpPr>
        <p:spPr>
          <a:xfrm>
            <a:off x="2076450" y="33528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STORAGE LIMITATION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40C39E-27EE-407B-872D-691A77D16CDC}"/>
              </a:ext>
            </a:extLst>
          </p:cNvPr>
          <p:cNvSpPr>
            <a:spLocks noGrp="1"/>
          </p:cNvSpPr>
          <p:nvPr/>
        </p:nvSpPr>
        <p:spPr>
          <a:xfrm>
            <a:off x="2095500" y="366712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Retention tied to a justified need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CA58C774-CD00-4D1B-BDC9-C0DF53EF608D}"/>
              </a:ext>
            </a:extLst>
          </p:cNvPr>
          <p:cNvSpPr>
            <a:spLocks noGrp="1"/>
          </p:cNvSpPr>
          <p:nvPr/>
        </p:nvSpPr>
        <p:spPr>
          <a:xfrm>
            <a:off x="4838700" y="325755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E1ED10-02D6-4BB0-B96D-A0F84F808511}"/>
              </a:ext>
            </a:extLst>
          </p:cNvPr>
          <p:cNvSpPr>
            <a:spLocks noGrp="1"/>
          </p:cNvSpPr>
          <p:nvPr/>
        </p:nvSpPr>
        <p:spPr>
          <a:xfrm>
            <a:off x="4933950" y="33528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INTEGRITY &amp; CONFIDENTIALITY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957138-3CDD-4DC2-91D4-6F4132906E80}"/>
              </a:ext>
            </a:extLst>
          </p:cNvPr>
          <p:cNvSpPr>
            <a:spLocks noGrp="1"/>
          </p:cNvSpPr>
          <p:nvPr/>
        </p:nvSpPr>
        <p:spPr>
          <a:xfrm>
            <a:off x="4953000" y="366712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Security against loss and unauthorised access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6B60407-0FB9-40CD-9B48-2673DC89DABB}"/>
              </a:ext>
            </a:extLst>
          </p:cNvPr>
          <p:cNvSpPr>
            <a:spLocks noGrp="1"/>
          </p:cNvSpPr>
          <p:nvPr/>
        </p:nvSpPr>
        <p:spPr>
          <a:xfrm>
            <a:off x="7696200" y="3257550"/>
            <a:ext cx="2514600" cy="1562100"/>
          </a:xfrm>
          <a:prstGeom prst="roundRect">
            <a:avLst>
              <a:gd name="adj" fmla="val 7317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D3CA52-CB5A-4F5C-8620-A5B13BC56289}"/>
              </a:ext>
            </a:extLst>
          </p:cNvPr>
          <p:cNvSpPr>
            <a:spLocks noGrp="1"/>
          </p:cNvSpPr>
          <p:nvPr/>
        </p:nvSpPr>
        <p:spPr>
          <a:xfrm>
            <a:off x="7791450" y="33528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74C31D-2FCC-4438-9796-1C5568FC07D8}"/>
              </a:ext>
            </a:extLst>
          </p:cNvPr>
          <p:cNvSpPr>
            <a:spLocks noGrp="1"/>
          </p:cNvSpPr>
          <p:nvPr/>
        </p:nvSpPr>
        <p:spPr>
          <a:xfrm>
            <a:off x="7810500" y="3667125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that the controller complies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D3E666-5380-44B7-AC93-70D82DE44427}"/>
              </a:ext>
            </a:extLst>
          </p:cNvPr>
          <p:cNvSpPr>
            <a:spLocks noGrp="1"/>
          </p:cNvSpPr>
          <p:nvPr/>
        </p:nvSpPr>
        <p:spPr>
          <a:xfrm>
            <a:off x="2190750" y="514350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Article 5(2): the controller must be able to demonstrate compliance.</a:t>
            </a:r>
          </a:p>
        </p:txBody>
      </p:sp>
    </p:spTree>
    <p:extLst>
      <p:ext uri="{BB962C8B-B14F-4D97-AF65-F5344CB8AC3E}">
        <p14:creationId xmlns:p14="http://schemas.microsoft.com/office/powerpoint/2010/main" val="18210400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7BE20B9-2A84-492A-AAE3-7337DE8C4F6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PRINCIPLES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5AE28C-FB70-4B91-B9E3-5F44EF729B90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GDPR principles in AI systems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D383B95-FB21-4971-881B-E08E684ECA2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306BA9-A2AC-43B3-B402-F601B377854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6895535-F8A2-4A92-877A-53742124BAB1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9215A2-7B44-4E49-A08E-6B177ACBDFB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principles cover training, model behaviour, prompts, and outputs.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ADA5B9-9022-4AEC-A365-27A0D0AFF454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A27D54-3DF3-456F-9744-8549A0232091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742950" y="1219200"/>
          <a:ext cx="10668000" cy="44196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PRINCIPLE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REQUIRES IN AN AI 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Lawfulness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 defensible basis for collection, training, inference, and deployment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Purpose limitation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 compatibility test before reusing data for model development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Data minimisation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The least personal data and features needed for the stated purpose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Ways to correct source records and personal outputs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Storage limitation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Retention rules for datasets, prompts, logs, and derived data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Security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Protection for data, model access, interfaces, and outputs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Data lineage, documented tests, decisions, and rights responses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7037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FCD42026-60D4-4393-9533-7CDC248C470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RIGHTS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CB545C-A59E-4AA0-B11D-5933E376E3E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subject rights: a control compass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D95893C-A63C-40B6-944D-3F6FCBCCD7C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78B91D-3F2E-4AE9-9303-F2B336AEFB7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799C39C-979B-4C50-A72E-B0A65DFF337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5AE5B0-ADA2-4657-869C-0783D41180E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Rights turn a person from a data source into an active participant with claims and remedies.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49AEA5-8178-4B00-B9DB-272DAA64FBD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5EC95F-5CF9-47BA-B68D-D7D759598BA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15FFFA-E5FC-48C9-B010-54A7B796084A}"/>
              </a:ext>
            </a:extLst>
          </p:cNvPr>
          <p:cNvSpPr>
            <a:spLocks noGrp="1"/>
          </p:cNvSpPr>
          <p:nvPr/>
        </p:nvSpPr>
        <p:spPr>
          <a:xfrm>
            <a:off x="4686300" y="1952625"/>
            <a:ext cx="2857500" cy="2857500"/>
          </a:xfrm>
          <a:prstGeom prst="ellipse">
            <a:avLst/>
          </a:prstGeom>
          <a:solidFill>
            <a:srgbClr val="F7FBFE"/>
          </a:solidFill>
          <a:ln w="19050">
            <a:solidFill>
              <a:srgbClr val="D8E9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8EAE107-2F7F-4AF7-831A-7FB811C0E84D}"/>
              </a:ext>
            </a:extLst>
          </p:cNvPr>
          <p:cNvSpPr>
            <a:spLocks noGrp="1"/>
          </p:cNvSpPr>
          <p:nvPr/>
        </p:nvSpPr>
        <p:spPr>
          <a:xfrm>
            <a:off x="5162550" y="2428875"/>
            <a:ext cx="1905000" cy="1905000"/>
          </a:xfrm>
          <a:prstGeom prst="ellipse">
            <a:avLst/>
          </a:prstGeom>
          <a:solidFill>
            <a:srgbClr val="E6F0FA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8B1A7E-163B-4606-8C4C-4EBFBE6FCFD0}"/>
              </a:ext>
            </a:extLst>
          </p:cNvPr>
          <p:cNvSpPr>
            <a:spLocks noGrp="1"/>
          </p:cNvSpPr>
          <p:nvPr/>
        </p:nvSpPr>
        <p:spPr>
          <a:xfrm>
            <a:off x="5562600" y="2828925"/>
            <a:ext cx="1104900" cy="1104900"/>
          </a:xfrm>
          <a:prstGeom prst="ellipse">
            <a:avLst/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B63AC9-D2BC-4477-97FC-650C5DE554F4}"/>
              </a:ext>
            </a:extLst>
          </p:cNvPr>
          <p:cNvSpPr>
            <a:spLocks noGrp="1"/>
          </p:cNvSpPr>
          <p:nvPr/>
        </p:nvSpPr>
        <p:spPr>
          <a:xfrm>
            <a:off x="5562600" y="306705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" sz="1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93E931-0964-4D94-AAF4-EEC75C54B993}"/>
              </a:ext>
            </a:extLst>
          </p:cNvPr>
          <p:cNvSpPr>
            <a:spLocks noGrp="1"/>
          </p:cNvSpPr>
          <p:nvPr/>
        </p:nvSpPr>
        <p:spPr>
          <a:xfrm>
            <a:off x="5562600" y="33813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60" b="1" i="0">
                <a:solidFill>
                  <a:srgbClr val="B9D8EE"/>
                </a:solidFill>
                <a:latin typeface="Arial"/>
                <a:ea typeface="Arial"/>
                <a:cs typeface="Arial"/>
              </a:defRPr>
            </a:pPr>
            <a:r>
              <a:rPr sz="860" b="1" i="0">
                <a:solidFill>
                  <a:srgbClr val="B9D8EE"/>
                </a:solidFill>
                <a:latin typeface="Arial"/>
                <a:ea typeface="Arial"/>
                <a:cs typeface="Arial"/>
              </a:rPr>
              <a:t>DATA SUBJECT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DA679D-BC9E-49B6-A33E-8E8B91D4C102}"/>
              </a:ext>
            </a:extLst>
          </p:cNvPr>
          <p:cNvSpPr>
            <a:spLocks noGrp="1"/>
          </p:cNvSpPr>
          <p:nvPr/>
        </p:nvSpPr>
        <p:spPr>
          <a:xfrm>
            <a:off x="525780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KNOW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BF915D-9A99-4992-92CF-E640C9998D0F}"/>
              </a:ext>
            </a:extLst>
          </p:cNvPr>
          <p:cNvSpPr>
            <a:spLocks noGrp="1"/>
          </p:cNvSpPr>
          <p:nvPr/>
        </p:nvSpPr>
        <p:spPr>
          <a:xfrm>
            <a:off x="5219700" y="40481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277F07-18EB-40C1-B164-550A34EE397F}"/>
              </a:ext>
            </a:extLst>
          </p:cNvPr>
          <p:cNvSpPr>
            <a:spLocks noGrp="1"/>
          </p:cNvSpPr>
          <p:nvPr/>
        </p:nvSpPr>
        <p:spPr>
          <a:xfrm>
            <a:off x="4667250" y="32004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57D35A-48BF-49A2-9A6A-BB47D19F7318}"/>
              </a:ext>
            </a:extLst>
          </p:cNvPr>
          <p:cNvSpPr>
            <a:spLocks noGrp="1"/>
          </p:cNvSpPr>
          <p:nvPr/>
        </p:nvSpPr>
        <p:spPr>
          <a:xfrm>
            <a:off x="6648450" y="32004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9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77435A2-955E-4307-BDD3-D0A2A61FAF26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C81C955-BF08-41A7-8595-15FFB56B8761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327BA8-1ED8-4181-BA16-EA0FEB77C29D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67DF9F-03FE-4EDF-AE0A-0801A40F50AA}"/>
              </a:ext>
            </a:extLst>
          </p:cNvPr>
          <p:cNvSpPr>
            <a:spLocks noGrp="1"/>
          </p:cNvSpPr>
          <p:nvPr/>
        </p:nvSpPr>
        <p:spPr>
          <a:xfrm>
            <a:off x="1181100" y="14859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BE INFORMED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42B0A0-7DBB-44ED-B0DF-9A21A28873AE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How and why data is used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4CAD98-A1CB-4598-B8BB-03A3483926D4}"/>
              </a:ext>
            </a:extLst>
          </p:cNvPr>
          <p:cNvSpPr>
            <a:spLocks noGrp="1"/>
          </p:cNvSpPr>
          <p:nvPr/>
        </p:nvSpPr>
        <p:spPr>
          <a:xfrm>
            <a:off x="3695700" y="1762125"/>
            <a:ext cx="9906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992EFBB-88C7-4979-9F87-012E36336DA8}"/>
              </a:ext>
            </a:extLst>
          </p:cNvPr>
          <p:cNvSpPr>
            <a:spLocks noGrp="1"/>
          </p:cNvSpPr>
          <p:nvPr/>
        </p:nvSpPr>
        <p:spPr>
          <a:xfrm>
            <a:off x="552450" y="24193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4D753AB-FFE8-4223-9A4B-A9E4915B9A53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E06995-E59B-4BA3-B3D4-9F045F31AD4A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6621A1-887D-4ADF-8EDB-EB13E8E208F2}"/>
              </a:ext>
            </a:extLst>
          </p:cNvPr>
          <p:cNvSpPr>
            <a:spLocks noGrp="1"/>
          </p:cNvSpPr>
          <p:nvPr/>
        </p:nvSpPr>
        <p:spPr>
          <a:xfrm>
            <a:off x="1181100" y="25527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7C2318-74F0-4F27-B7DC-0E8EF8CE4129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Obtain a copy and context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2739AD-F648-4FF5-A9A9-F601E34FC13F}"/>
              </a:ext>
            </a:extLst>
          </p:cNvPr>
          <p:cNvSpPr>
            <a:spLocks noGrp="1"/>
          </p:cNvSpPr>
          <p:nvPr/>
        </p:nvSpPr>
        <p:spPr>
          <a:xfrm>
            <a:off x="3695700" y="2828925"/>
            <a:ext cx="9906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493E908-18B9-4FFB-BA6D-D64BD7063D4A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60543FB-3387-4EC9-897F-22D889FDC6B6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90B6B8C-6032-4EDB-AD04-730DCD6FFF08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5A6179-7A4E-45DD-9034-1F068A6755D2}"/>
              </a:ext>
            </a:extLst>
          </p:cNvPr>
          <p:cNvSpPr>
            <a:spLocks noGrp="1"/>
          </p:cNvSpPr>
          <p:nvPr/>
        </p:nvSpPr>
        <p:spPr>
          <a:xfrm>
            <a:off x="1181100" y="36195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RECTIFY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E55AEC9-D99C-442A-8C21-64B0EA9B39B4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Correct inaccurate data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AEF03F8-8999-4536-A818-A1E7C27692CE}"/>
              </a:ext>
            </a:extLst>
          </p:cNvPr>
          <p:cNvSpPr>
            <a:spLocks noGrp="1"/>
          </p:cNvSpPr>
          <p:nvPr/>
        </p:nvSpPr>
        <p:spPr>
          <a:xfrm>
            <a:off x="3695700" y="3895725"/>
            <a:ext cx="9906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2384113-155B-4D99-A6FD-19C2110E2365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933F629-1F53-438F-B927-A74B33BD07D1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213B6D-82B5-4CBF-BF11-75731F700AA8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2AC8A58-F433-46FE-BF39-071E95669C77}"/>
              </a:ext>
            </a:extLst>
          </p:cNvPr>
          <p:cNvSpPr>
            <a:spLocks noGrp="1"/>
          </p:cNvSpPr>
          <p:nvPr/>
        </p:nvSpPr>
        <p:spPr>
          <a:xfrm>
            <a:off x="1181100" y="46863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ERASURE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D9D356-E432-44C4-9F63-DEA87509ED1F}"/>
              </a:ext>
            </a:extLst>
          </p:cNvPr>
          <p:cNvSpPr>
            <a:spLocks noGrp="1"/>
          </p:cNvSpPr>
          <p:nvPr/>
        </p:nvSpPr>
        <p:spPr>
          <a:xfrm>
            <a:off x="1181100" y="4972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Delete where grounds apply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02FA7D-FE45-4614-9FFE-D9F2CE022E68}"/>
              </a:ext>
            </a:extLst>
          </p:cNvPr>
          <p:cNvSpPr>
            <a:spLocks noGrp="1"/>
          </p:cNvSpPr>
          <p:nvPr/>
        </p:nvSpPr>
        <p:spPr>
          <a:xfrm>
            <a:off x="3695700" y="4962525"/>
            <a:ext cx="9906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E6B175B3-D3FA-4921-91D6-354A3DE4BE5A}"/>
              </a:ext>
            </a:extLst>
          </p:cNvPr>
          <p:cNvSpPr>
            <a:spLocks noGrp="1"/>
          </p:cNvSpPr>
          <p:nvPr/>
        </p:nvSpPr>
        <p:spPr>
          <a:xfrm>
            <a:off x="8496300" y="13525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BD08D9EE-D4D1-4523-9ED3-B3467304D930}"/>
              </a:ext>
            </a:extLst>
          </p:cNvPr>
          <p:cNvSpPr>
            <a:spLocks noGrp="1"/>
          </p:cNvSpPr>
          <p:nvPr/>
        </p:nvSpPr>
        <p:spPr>
          <a:xfrm>
            <a:off x="8629650" y="15906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C065859-E475-406C-903A-59D00EFBE512}"/>
              </a:ext>
            </a:extLst>
          </p:cNvPr>
          <p:cNvSpPr>
            <a:spLocks noGrp="1"/>
          </p:cNvSpPr>
          <p:nvPr/>
        </p:nvSpPr>
        <p:spPr>
          <a:xfrm>
            <a:off x="8629650" y="15906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F17B34D-6F2F-4A51-BAB9-F25FB19AC450}"/>
              </a:ext>
            </a:extLst>
          </p:cNvPr>
          <p:cNvSpPr>
            <a:spLocks noGrp="1"/>
          </p:cNvSpPr>
          <p:nvPr/>
        </p:nvSpPr>
        <p:spPr>
          <a:xfrm>
            <a:off x="9124950" y="14859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RESTRICT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C7FBC22-94CB-4E85-9C31-E48B95801D9D}"/>
              </a:ext>
            </a:extLst>
          </p:cNvPr>
          <p:cNvSpPr>
            <a:spLocks noGrp="1"/>
          </p:cNvSpPr>
          <p:nvPr/>
        </p:nvSpPr>
        <p:spPr>
          <a:xfrm>
            <a:off x="9124950" y="1771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Pause specified processing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92F05E8-0D52-433A-8DC2-6A973DE8F3D4}"/>
              </a:ext>
            </a:extLst>
          </p:cNvPr>
          <p:cNvSpPr>
            <a:spLocks noGrp="1"/>
          </p:cNvSpPr>
          <p:nvPr/>
        </p:nvSpPr>
        <p:spPr>
          <a:xfrm>
            <a:off x="7543800" y="1762125"/>
            <a:ext cx="9525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658974ED-CE7B-4807-8CF3-3D2DD63475FC}"/>
              </a:ext>
            </a:extLst>
          </p:cNvPr>
          <p:cNvSpPr>
            <a:spLocks noGrp="1"/>
          </p:cNvSpPr>
          <p:nvPr/>
        </p:nvSpPr>
        <p:spPr>
          <a:xfrm>
            <a:off x="8496300" y="24193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8082AE6-82C7-420C-AE5E-7B1A1C92B774}"/>
              </a:ext>
            </a:extLst>
          </p:cNvPr>
          <p:cNvSpPr>
            <a:spLocks noGrp="1"/>
          </p:cNvSpPr>
          <p:nvPr/>
        </p:nvSpPr>
        <p:spPr>
          <a:xfrm>
            <a:off x="8629650" y="26574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6601AC9-5E0A-4D7B-9776-0E8205B7A8BC}"/>
              </a:ext>
            </a:extLst>
          </p:cNvPr>
          <p:cNvSpPr>
            <a:spLocks noGrp="1"/>
          </p:cNvSpPr>
          <p:nvPr/>
        </p:nvSpPr>
        <p:spPr>
          <a:xfrm>
            <a:off x="8629650" y="26574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83DF291-A8C0-4BBF-AB42-1627DAD0477B}"/>
              </a:ext>
            </a:extLst>
          </p:cNvPr>
          <p:cNvSpPr>
            <a:spLocks noGrp="1"/>
          </p:cNvSpPr>
          <p:nvPr/>
        </p:nvSpPr>
        <p:spPr>
          <a:xfrm>
            <a:off x="9124950" y="25527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PORTABILITY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6518BDB-B282-4B77-AA6C-C2BB15FAF4DF}"/>
              </a:ext>
            </a:extLst>
          </p:cNvPr>
          <p:cNvSpPr>
            <a:spLocks noGrp="1"/>
          </p:cNvSpPr>
          <p:nvPr/>
        </p:nvSpPr>
        <p:spPr>
          <a:xfrm>
            <a:off x="9124950" y="2838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Receive reusable provided data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ADD9084-6A2E-4937-A9E9-1B8E87988CA8}"/>
              </a:ext>
            </a:extLst>
          </p:cNvPr>
          <p:cNvSpPr>
            <a:spLocks noGrp="1"/>
          </p:cNvSpPr>
          <p:nvPr/>
        </p:nvSpPr>
        <p:spPr>
          <a:xfrm>
            <a:off x="7543800" y="2828925"/>
            <a:ext cx="9525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7E89472B-BE18-4798-BDE3-0C1DD161FC1C}"/>
              </a:ext>
            </a:extLst>
          </p:cNvPr>
          <p:cNvSpPr>
            <a:spLocks noGrp="1"/>
          </p:cNvSpPr>
          <p:nvPr/>
        </p:nvSpPr>
        <p:spPr>
          <a:xfrm>
            <a:off x="8496300" y="34861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A6B912FA-CA01-4266-988F-26F1DAC22C57}"/>
              </a:ext>
            </a:extLst>
          </p:cNvPr>
          <p:cNvSpPr>
            <a:spLocks noGrp="1"/>
          </p:cNvSpPr>
          <p:nvPr/>
        </p:nvSpPr>
        <p:spPr>
          <a:xfrm>
            <a:off x="8629650" y="37242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FBE1FD5-9868-4D87-83AF-13653C90A8B1}"/>
              </a:ext>
            </a:extLst>
          </p:cNvPr>
          <p:cNvSpPr>
            <a:spLocks noGrp="1"/>
          </p:cNvSpPr>
          <p:nvPr/>
        </p:nvSpPr>
        <p:spPr>
          <a:xfrm>
            <a:off x="8629650" y="37242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C1D2292-322A-4F5A-880E-B20E9D1E418E}"/>
              </a:ext>
            </a:extLst>
          </p:cNvPr>
          <p:cNvSpPr>
            <a:spLocks noGrp="1"/>
          </p:cNvSpPr>
          <p:nvPr/>
        </p:nvSpPr>
        <p:spPr>
          <a:xfrm>
            <a:off x="9124950" y="36195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D08FAC3-A111-4149-9D1C-36614D38B4C2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Challenge certain uses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15ABF36-E291-4E38-AB1F-331A4E10BD46}"/>
              </a:ext>
            </a:extLst>
          </p:cNvPr>
          <p:cNvSpPr>
            <a:spLocks noGrp="1"/>
          </p:cNvSpPr>
          <p:nvPr/>
        </p:nvSpPr>
        <p:spPr>
          <a:xfrm>
            <a:off x="7543800" y="3895725"/>
            <a:ext cx="952500" cy="1905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D57B5B82-75A2-4EF4-9104-C5778134BFC2}"/>
              </a:ext>
            </a:extLst>
          </p:cNvPr>
          <p:cNvSpPr>
            <a:spLocks noGrp="1"/>
          </p:cNvSpPr>
          <p:nvPr/>
        </p:nvSpPr>
        <p:spPr>
          <a:xfrm>
            <a:off x="8496300" y="4552950"/>
            <a:ext cx="3143250" cy="838200"/>
          </a:xfrm>
          <a:prstGeom prst="roundRect">
            <a:avLst>
              <a:gd name="adj" fmla="val 13636"/>
            </a:avLst>
          </a:prstGeom>
          <a:solidFill>
            <a:srgbClr val="FFF5F1"/>
          </a:solidFill>
          <a:ln w="11430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522649A0-5B96-4FAC-A3F2-4BBCDD7BA693}"/>
              </a:ext>
            </a:extLst>
          </p:cNvPr>
          <p:cNvSpPr>
            <a:spLocks noGrp="1"/>
          </p:cNvSpPr>
          <p:nvPr/>
        </p:nvSpPr>
        <p:spPr>
          <a:xfrm>
            <a:off x="8629650" y="4791075"/>
            <a:ext cx="361950" cy="361950"/>
          </a:xfrm>
          <a:prstGeom prst="ellipse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D7607A0-D79C-4398-B6CE-0A6CB4658D22}"/>
              </a:ext>
            </a:extLst>
          </p:cNvPr>
          <p:cNvSpPr>
            <a:spLocks noGrp="1"/>
          </p:cNvSpPr>
          <p:nvPr/>
        </p:nvSpPr>
        <p:spPr>
          <a:xfrm>
            <a:off x="8629650" y="47910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AA450C3-1EF7-4C13-AC5C-26C34D45E094}"/>
              </a:ext>
            </a:extLst>
          </p:cNvPr>
          <p:cNvSpPr>
            <a:spLocks noGrp="1"/>
          </p:cNvSpPr>
          <p:nvPr/>
        </p:nvSpPr>
        <p:spPr>
          <a:xfrm>
            <a:off x="9124950" y="4686300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AUTOMATED DECISIONS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14A6728-1851-47B9-8300-D44E153FB3AE}"/>
              </a:ext>
            </a:extLst>
          </p:cNvPr>
          <p:cNvSpPr>
            <a:spLocks noGrp="1"/>
          </p:cNvSpPr>
          <p:nvPr/>
        </p:nvSpPr>
        <p:spPr>
          <a:xfrm>
            <a:off x="9124950" y="4972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Seek safeguards for significant effects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067432C-F538-4A53-834F-20775C296B2B}"/>
              </a:ext>
            </a:extLst>
          </p:cNvPr>
          <p:cNvSpPr>
            <a:spLocks noGrp="1"/>
          </p:cNvSpPr>
          <p:nvPr/>
        </p:nvSpPr>
        <p:spPr>
          <a:xfrm>
            <a:off x="7543800" y="4962525"/>
            <a:ext cx="952500" cy="19050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383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621767E-DDF1-42F0-88D7-F2AD8CBCFE1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RIGHTS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310CA8-1EC9-4487-897B-B706DD925E6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Access, rectification, and erasure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599752B-2281-4CBF-9AD3-C0B40F1D57D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63AA77-C7A0-4545-B764-D0ADEE59CA6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7372E7-7CBD-4FF7-9244-4CF075358CDC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AE4CAD-8476-47CE-A45D-7DCAB36065DE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systems must translate database rights into workable model procedures.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3FE474-A9DD-41D2-BB44-C4E6935B20F1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D5A607-57DE-422F-9B77-55D40A1F3D79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51C831-52AE-4709-8CB3-170758CB6CAB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ACCESS · ART. 15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7D4268-B212-458E-ADC0-FFF207546E31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0000"/>
              </a:lnSpc>
              <a:buNone/>
              <a:defRPr sz="1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What data do you hold about me?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63BE2B-D0D6-4024-A8DA-036E367512E2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3333750" cy="381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3DA29-3124-415F-8E72-64AE1DF7A81B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AI challenge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DD8D0-FA16-4E3C-9F22-0BB6D62A3754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3333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records and model traces may be difficult to locate.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693D15-1939-47AB-8EAA-2884A657DF5E}"/>
              </a:ext>
            </a:extLst>
          </p:cNvPr>
          <p:cNvSpPr>
            <a:spLocks noGrp="1"/>
          </p:cNvSpPr>
          <p:nvPr/>
        </p:nvSpPr>
        <p:spPr>
          <a:xfrm>
            <a:off x="4324350" y="13144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RECTIFICATION · ART. 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5A3624-6557-470C-88B7-47E9ABDF40E4}"/>
              </a:ext>
            </a:extLst>
          </p:cNvPr>
          <p:cNvSpPr>
            <a:spLocks noGrp="1"/>
          </p:cNvSpPr>
          <p:nvPr/>
        </p:nvSpPr>
        <p:spPr>
          <a:xfrm>
            <a:off x="4324350" y="17526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0000"/>
              </a:lnSpc>
              <a:buNone/>
              <a:defRPr sz="1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This information is wrong.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D0C427-9DFC-46D9-93FA-FD6F8B3EED83}"/>
              </a:ext>
            </a:extLst>
          </p:cNvPr>
          <p:cNvSpPr>
            <a:spLocks noGrp="1"/>
          </p:cNvSpPr>
          <p:nvPr/>
        </p:nvSpPr>
        <p:spPr>
          <a:xfrm>
            <a:off x="4324350" y="2724150"/>
            <a:ext cx="3333750" cy="381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FF2AB5-0E6A-4102-A3E3-241C6111F1C2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AI challenge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9184CA-FE1E-4949-9B46-36A45C796D76}"/>
              </a:ext>
            </a:extLst>
          </p:cNvPr>
          <p:cNvSpPr>
            <a:spLocks noGrp="1"/>
          </p:cNvSpPr>
          <p:nvPr/>
        </p:nvSpPr>
        <p:spPr>
          <a:xfrm>
            <a:off x="4324350" y="3352800"/>
            <a:ext cx="3333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correction may need to reach source data, profiles, and future outputs.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D63FF1-E161-46A6-B0FD-4D6455D2B1F5}"/>
              </a:ext>
            </a:extLst>
          </p:cNvPr>
          <p:cNvSpPr>
            <a:spLocks noGrp="1"/>
          </p:cNvSpPr>
          <p:nvPr/>
        </p:nvSpPr>
        <p:spPr>
          <a:xfrm>
            <a:off x="8096250" y="13144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ERASURE · ART. 17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6FEE39-3C15-4FAC-AB71-D3EAE11745E3}"/>
              </a:ext>
            </a:extLst>
          </p:cNvPr>
          <p:cNvSpPr>
            <a:spLocks noGrp="1"/>
          </p:cNvSpPr>
          <p:nvPr/>
        </p:nvSpPr>
        <p:spPr>
          <a:xfrm>
            <a:off x="8096250" y="17526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0000"/>
              </a:lnSpc>
              <a:buNone/>
              <a:defRPr sz="1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Delete my data where the legal conditions apply.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5965C1-79C6-4E5D-A0D0-0B465F0FE091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3333750" cy="38100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BD9F75-C685-47B0-B0AE-94BB2A0A21F8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AI challenge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37995E-D25C-4BB6-91A9-82272805C4BF}"/>
              </a:ext>
            </a:extLst>
          </p:cNvPr>
          <p:cNvSpPr>
            <a:spLocks noGrp="1"/>
          </p:cNvSpPr>
          <p:nvPr/>
        </p:nvSpPr>
        <p:spPr>
          <a:xfrm>
            <a:off x="8096250" y="3352800"/>
            <a:ext cx="3333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Removal from datasets differs from removing influence from a trained model.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D42AA06-95B2-4B3F-99F0-AAF1A33937D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9334500" cy="552450"/>
          </a:xfrm>
          <a:prstGeom prst="roundRect">
            <a:avLst>
              <a:gd name="adj" fmla="val 20690"/>
            </a:avLst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F7BA5F-6806-4BA9-9714-B096164720B6}"/>
              </a:ext>
            </a:extLst>
          </p:cNvPr>
          <p:cNvSpPr>
            <a:spLocks noGrp="1"/>
          </p:cNvSpPr>
          <p:nvPr/>
        </p:nvSpPr>
        <p:spPr>
          <a:xfrm>
            <a:off x="1714500" y="5191125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organisation needs a response path for data, model behaviour, and future use.</a:t>
            </a:r>
          </a:p>
        </p:txBody>
      </p:sp>
    </p:spTree>
    <p:extLst>
      <p:ext uri="{BB962C8B-B14F-4D97-AF65-F5344CB8AC3E}">
        <p14:creationId xmlns:p14="http://schemas.microsoft.com/office/powerpoint/2010/main" val="12635686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CA224F7-4ACF-4A24-B822-B9712A3A55D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RIGHTS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6E3A01-AB38-42D4-8C60-AD4525D67721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Portability, objection, and automated decisions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0AC6480-2F9D-431E-AFE7-5012F2BA0CE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B2D6B1-C4BD-4789-8575-3FD59DFFC5D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44CB43E-51AC-4B75-80A2-B3AC634912C2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3B4D21-F22A-400A-8AEE-63DE99CED546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nominal human reviewer does not guarantee a meaningful review.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B775E2-05F1-4EE3-886F-DF90DD37AE8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8F073A-DA17-4687-8236-900D2949CDE9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E3031A5-1E35-4C76-8DF2-87610C695F68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3333750" cy="3638550"/>
          </a:xfrm>
          <a:prstGeom prst="roundRect">
            <a:avLst>
              <a:gd name="adj" fmla="val 400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8C497D-9CF3-46FB-9D86-5F1C87BDB985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PORTABILITY · ART. 20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493FD6-C934-4823-BA61-2959F21399FD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usable copy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05416E-BEAC-4852-B014-18D59ED574CB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29146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6000"/>
              </a:lnSpc>
              <a:buNone/>
              <a:defRPr sz="126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right concerns data a person provided and processing based on consent or contract. It does not automatically expose a model.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46CB42D-F9BB-4C4A-9655-28AA923993D8}"/>
              </a:ext>
            </a:extLst>
          </p:cNvPr>
          <p:cNvSpPr>
            <a:spLocks noGrp="1"/>
          </p:cNvSpPr>
          <p:nvPr/>
        </p:nvSpPr>
        <p:spPr>
          <a:xfrm>
            <a:off x="4324350" y="1333500"/>
            <a:ext cx="3333750" cy="363855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95C8C7-C1CB-4C0F-AB16-596BF0BE4D7A}"/>
              </a:ext>
            </a:extLst>
          </p:cNvPr>
          <p:cNvSpPr>
            <a:spLocks noGrp="1"/>
          </p:cNvSpPr>
          <p:nvPr/>
        </p:nvSpPr>
        <p:spPr>
          <a:xfrm>
            <a:off x="4533900" y="15811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OBJECTION · ART. 21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6DBD7E-D608-456C-84B4-5B101301A303}"/>
              </a:ext>
            </a:extLst>
          </p:cNvPr>
          <p:cNvSpPr>
            <a:spLocks noGrp="1"/>
          </p:cNvSpPr>
          <p:nvPr/>
        </p:nvSpPr>
        <p:spPr>
          <a:xfrm>
            <a:off x="4533900" y="21907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reason to stop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E4499D-E98E-429E-A714-75E21C79BAEE}"/>
              </a:ext>
            </a:extLst>
          </p:cNvPr>
          <p:cNvSpPr>
            <a:spLocks noGrp="1"/>
          </p:cNvSpPr>
          <p:nvPr/>
        </p:nvSpPr>
        <p:spPr>
          <a:xfrm>
            <a:off x="4533900" y="3028950"/>
            <a:ext cx="29146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6000"/>
              </a:lnSpc>
              <a:buNone/>
              <a:defRPr sz="126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controller must assess the objection against its grounds for continuing the processing.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C430B4D-FFAB-48A3-AD33-C68FB02A06F1}"/>
              </a:ext>
            </a:extLst>
          </p:cNvPr>
          <p:cNvSpPr>
            <a:spLocks noGrp="1"/>
          </p:cNvSpPr>
          <p:nvPr/>
        </p:nvSpPr>
        <p:spPr>
          <a:xfrm>
            <a:off x="8096250" y="1333500"/>
            <a:ext cx="3333750" cy="363855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1A50C4-0F7B-4927-B886-E4556ACEB260}"/>
              </a:ext>
            </a:extLst>
          </p:cNvPr>
          <p:cNvSpPr>
            <a:spLocks noGrp="1"/>
          </p:cNvSpPr>
          <p:nvPr/>
        </p:nvSpPr>
        <p:spPr>
          <a:xfrm>
            <a:off x="8305800" y="15811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AUTOMATED DECISIONS · ART. 22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979628-8D70-4677-AB8A-54B40613DD7F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 safeguard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7005D4-929B-4A43-B9D4-320D52F4CC12}"/>
              </a:ext>
            </a:extLst>
          </p:cNvPr>
          <p:cNvSpPr>
            <a:spLocks noGrp="1"/>
          </p:cNvSpPr>
          <p:nvPr/>
        </p:nvSpPr>
        <p:spPr>
          <a:xfrm>
            <a:off x="8305800" y="3028950"/>
            <a:ext cx="29146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6000"/>
              </a:lnSpc>
              <a:buNone/>
              <a:defRPr sz="12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solely automated decisions with legal or similarly significant effects, safeguards may include human intervention and challenge.</a:t>
            </a:r>
          </a:p>
        </p:txBody>
      </p:sp>
    </p:spTree>
    <p:extLst>
      <p:ext uri="{BB962C8B-B14F-4D97-AF65-F5344CB8AC3E}">
        <p14:creationId xmlns:p14="http://schemas.microsoft.com/office/powerpoint/2010/main" val="10629613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A4EBD2F-B86C-43C5-8827-2A010E05B33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RIGHTS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302D30-67D8-4B31-973B-0AD8CC2053C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rights implementation gap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40763EB-BB3D-4986-9BE8-82BE32F6332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2F795D-8F49-49FC-B7F9-A9B00237D8A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658DDF1-AA58-4E48-9231-5166FD1CB04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035AE5-FD58-4426-A54B-B4369B163E0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legal right remains; technical architecture determines whether it works in practice.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27A846-9F6A-4464-8C8A-55ADADC2EBE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AD9326-894C-4A5C-AB4B-12C38559D2E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A2C4E1-43AA-4877-B3E6-AB9C5932525F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LEGAL CLAIM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A3BFF8-20BF-441F-B61E-A8592900E9F6}"/>
              </a:ext>
            </a:extLst>
          </p:cNvPr>
          <p:cNvSpPr>
            <a:spLocks noGrp="1"/>
          </p:cNvSpPr>
          <p:nvPr/>
        </p:nvSpPr>
        <p:spPr>
          <a:xfrm>
            <a:off x="7086600" y="1257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SYSTEM REALITY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A5A120-061C-4982-B5E6-79C57EDF0ACB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Show me my data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C998E17-B231-4220-9338-9245B6FF0228}"/>
              </a:ext>
            </a:extLst>
          </p:cNvPr>
          <p:cNvSpPr>
            <a:spLocks noGrp="1"/>
          </p:cNvSpPr>
          <p:nvPr/>
        </p:nvSpPr>
        <p:spPr>
          <a:xfrm>
            <a:off x="4095750" y="1895475"/>
            <a:ext cx="514350" cy="2667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1629F4-88DF-4D92-B108-88D3B654C005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records may lack stable links to individuals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D6A935-8EB2-42F2-BE70-097B4BDCAA4B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Correct what is wrong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1795176F-3A38-4C94-955A-B5DC755173E9}"/>
              </a:ext>
            </a:extLst>
          </p:cNvPr>
          <p:cNvSpPr>
            <a:spLocks noGrp="1"/>
          </p:cNvSpPr>
          <p:nvPr/>
        </p:nvSpPr>
        <p:spPr>
          <a:xfrm>
            <a:off x="4095750" y="2714625"/>
            <a:ext cx="514350" cy="2667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DB36B4-D467-4984-BC5B-33B8273D7BE6}"/>
              </a:ext>
            </a:extLst>
          </p:cNvPr>
          <p:cNvSpPr>
            <a:spLocks noGrp="1"/>
          </p:cNvSpPr>
          <p:nvPr/>
        </p:nvSpPr>
        <p:spPr>
          <a:xfrm>
            <a:off x="5010150" y="25717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model may reproduce errors probabilistically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2F78AA-2633-47D2-886F-9A5A8797C035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Delete my data</a:t>
            </a: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FD9CF661-FB54-428B-82E7-84A81A709FA2}"/>
              </a:ext>
            </a:extLst>
          </p:cNvPr>
          <p:cNvSpPr>
            <a:spLocks noGrp="1"/>
          </p:cNvSpPr>
          <p:nvPr/>
        </p:nvSpPr>
        <p:spPr>
          <a:xfrm>
            <a:off x="4095750" y="3533775"/>
            <a:ext cx="514350" cy="2667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915599-56A5-417D-B3CF-F78BA03DAC27}"/>
              </a:ext>
            </a:extLst>
          </p:cNvPr>
          <p:cNvSpPr>
            <a:spLocks noGrp="1"/>
          </p:cNvSpPr>
          <p:nvPr/>
        </p:nvSpPr>
        <p:spPr>
          <a:xfrm>
            <a:off x="5010150" y="3390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Dataset deletion and model influence are different problems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A85BE5-1DF6-4DB2-B382-478621204206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Stop using my data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1207D710-B203-4336-80F2-A2B5E7ABFE06}"/>
              </a:ext>
            </a:extLst>
          </p:cNvPr>
          <p:cNvSpPr>
            <a:spLocks noGrp="1"/>
          </p:cNvSpPr>
          <p:nvPr/>
        </p:nvSpPr>
        <p:spPr>
          <a:xfrm>
            <a:off x="4095750" y="4352925"/>
            <a:ext cx="514350" cy="26670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E06666-6618-4980-A863-AFDDA1D0DADC}"/>
              </a:ext>
            </a:extLst>
          </p:cNvPr>
          <p:cNvSpPr>
            <a:spLocks noGrp="1"/>
          </p:cNvSpPr>
          <p:nvPr/>
        </p:nvSpPr>
        <p:spPr>
          <a:xfrm>
            <a:off x="5010150" y="42100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deployed model may continue to encode learned patterns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CD88AF3-0228-4DF0-AB6A-711FDE2759E0}"/>
              </a:ext>
            </a:extLst>
          </p:cNvPr>
          <p:cNvSpPr>
            <a:spLocks noGrp="1"/>
          </p:cNvSpPr>
          <p:nvPr/>
        </p:nvSpPr>
        <p:spPr>
          <a:xfrm>
            <a:off x="4476750" y="5105400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0EDD23-203E-4585-92DE-3985BB88D443}"/>
              </a:ext>
            </a:extLst>
          </p:cNvPr>
          <p:cNvSpPr>
            <a:spLocks noGrp="1"/>
          </p:cNvSpPr>
          <p:nvPr/>
        </p:nvSpPr>
        <p:spPr>
          <a:xfrm>
            <a:off x="4667250" y="52006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DESIGNABLE REMEDY</a:t>
            </a:r>
          </a:p>
        </p:txBody>
      </p:sp>
    </p:spTree>
    <p:extLst>
      <p:ext uri="{BB962C8B-B14F-4D97-AF65-F5344CB8AC3E}">
        <p14:creationId xmlns:p14="http://schemas.microsoft.com/office/powerpoint/2010/main" val="13575248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E46F5CC-5850-492B-B702-ACEBCAD3240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GDPR LAWFULNESS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5F5AA5-11B0-49F4-831C-04C579A1CDD8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Legal bases for processing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E5F4A2B2-9670-4A15-8A27-EA43D0E42291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6B7442-916B-4506-A179-75A91B67AF5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1BAAAE3-4B66-40BE-8BD7-3F915A7B819D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783D2B-527A-4FE1-90A0-1AABFE104ED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Each processing purpose needs a basis that fits the actual relationship and risk.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A6FE93-603A-4FB9-BE24-CB9796D9CF89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69FCF1-DC48-4075-AE5B-1DB2B6062DD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924BDFC-3FFC-4730-A679-F61A23169AAE}"/>
              </a:ext>
            </a:extLst>
          </p:cNvPr>
          <p:cNvSpPr>
            <a:spLocks noGrp="1"/>
          </p:cNvSpPr>
          <p:nvPr/>
        </p:nvSpPr>
        <p:spPr>
          <a:xfrm>
            <a:off x="552450" y="127635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151A57-996A-4D14-9093-A6E35DE9AF33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F7429F-7227-4505-878D-865F8C844298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Real choice and a clear, specific purpose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A11CA60-BF6C-4C76-92F6-36CA284F87DD}"/>
              </a:ext>
            </a:extLst>
          </p:cNvPr>
          <p:cNvSpPr>
            <a:spLocks noGrp="1"/>
          </p:cNvSpPr>
          <p:nvPr/>
        </p:nvSpPr>
        <p:spPr>
          <a:xfrm>
            <a:off x="4324350" y="127635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9EA4A5-4698-4293-A829-511F3126361E}"/>
              </a:ext>
            </a:extLst>
          </p:cNvPr>
          <p:cNvSpPr>
            <a:spLocks noGrp="1"/>
          </p:cNvSpPr>
          <p:nvPr/>
        </p:nvSpPr>
        <p:spPr>
          <a:xfrm>
            <a:off x="4419600" y="1371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6743C0-9A7B-4419-99AB-96F50FE8C5C4}"/>
              </a:ext>
            </a:extLst>
          </p:cNvPr>
          <p:cNvSpPr>
            <a:spLocks noGrp="1"/>
          </p:cNvSpPr>
          <p:nvPr/>
        </p:nvSpPr>
        <p:spPr>
          <a:xfrm>
            <a:off x="4438650" y="168592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Necessary to deliver the requested service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6CB0CAF-4BD9-48A0-AA57-B932569CEE06}"/>
              </a:ext>
            </a:extLst>
          </p:cNvPr>
          <p:cNvSpPr>
            <a:spLocks noGrp="1"/>
          </p:cNvSpPr>
          <p:nvPr/>
        </p:nvSpPr>
        <p:spPr>
          <a:xfrm>
            <a:off x="8096250" y="127635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61C0BC-35EC-47EE-8A8C-0D24ED79705D}"/>
              </a:ext>
            </a:extLst>
          </p:cNvPr>
          <p:cNvSpPr>
            <a:spLocks noGrp="1"/>
          </p:cNvSpPr>
          <p:nvPr/>
        </p:nvSpPr>
        <p:spPr>
          <a:xfrm>
            <a:off x="8191500" y="1371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LEGAL OBLIGATION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625E35-35ED-42AD-B59C-90D50ABD226F}"/>
              </a:ext>
            </a:extLst>
          </p:cNvPr>
          <p:cNvSpPr>
            <a:spLocks noGrp="1"/>
          </p:cNvSpPr>
          <p:nvPr/>
        </p:nvSpPr>
        <p:spPr>
          <a:xfrm>
            <a:off x="8210550" y="168592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Processing required by law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3D22E25-D992-4A72-9D44-22ED6F20F6D3}"/>
              </a:ext>
            </a:extLst>
          </p:cNvPr>
          <p:cNvSpPr>
            <a:spLocks noGrp="1"/>
          </p:cNvSpPr>
          <p:nvPr/>
        </p:nvSpPr>
        <p:spPr>
          <a:xfrm>
            <a:off x="552450" y="274320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19FC14-340B-4FCF-973D-D34A763B0946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VITAL INTERESTS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5DF8D-4EF7-4915-A95B-78D46FBC31BA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Protection of life in a narrow situation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0CA76A6-F765-4142-A58B-B5497AD3A55F}"/>
              </a:ext>
            </a:extLst>
          </p:cNvPr>
          <p:cNvSpPr>
            <a:spLocks noGrp="1"/>
          </p:cNvSpPr>
          <p:nvPr/>
        </p:nvSpPr>
        <p:spPr>
          <a:xfrm>
            <a:off x="4324350" y="274320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850C7D-10B6-46E7-A5CA-D6D655D0EC20}"/>
              </a:ext>
            </a:extLst>
          </p:cNvPr>
          <p:cNvSpPr>
            <a:spLocks noGrp="1"/>
          </p:cNvSpPr>
          <p:nvPr/>
        </p:nvSpPr>
        <p:spPr>
          <a:xfrm>
            <a:off x="4419600" y="2838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PUBLIC TASK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025F87-DDA5-4852-98EF-3ACAD1042F19}"/>
              </a:ext>
            </a:extLst>
          </p:cNvPr>
          <p:cNvSpPr>
            <a:spLocks noGrp="1"/>
          </p:cNvSpPr>
          <p:nvPr/>
        </p:nvSpPr>
        <p:spPr>
          <a:xfrm>
            <a:off x="4438650" y="315277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Official authority or public-interest task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1CCCAE8-F2A2-4CF4-87D9-DE345D7AF7B9}"/>
              </a:ext>
            </a:extLst>
          </p:cNvPr>
          <p:cNvSpPr>
            <a:spLocks noGrp="1"/>
          </p:cNvSpPr>
          <p:nvPr/>
        </p:nvSpPr>
        <p:spPr>
          <a:xfrm>
            <a:off x="8096250" y="2743200"/>
            <a:ext cx="3333750" cy="1181100"/>
          </a:xfrm>
          <a:prstGeom prst="roundRect">
            <a:avLst>
              <a:gd name="adj" fmla="val 9677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9BF33F-BDFA-46A8-9C26-99FEC6772799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LEGITIMATE INTERESTS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B47EF9-ECE0-435A-9CD8-439381ADB980}"/>
              </a:ext>
            </a:extLst>
          </p:cNvPr>
          <p:cNvSpPr>
            <a:spLocks noGrp="1"/>
          </p:cNvSpPr>
          <p:nvPr/>
        </p:nvSpPr>
        <p:spPr>
          <a:xfrm>
            <a:off x="8210550" y="3152775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 necessity, and balancing tests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A54934-C383-4989-A1DD-0661660394DD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AI QUESTIONS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1C1C8C-0798-4166-BC5B-96026281C41A}"/>
              </a:ext>
            </a:extLst>
          </p:cNvPr>
          <p:cNvSpPr>
            <a:spLocks noGrp="1"/>
          </p:cNvSpPr>
          <p:nvPr/>
        </p:nvSpPr>
        <p:spPr>
          <a:xfrm>
            <a:off x="2324100" y="4324350"/>
            <a:ext cx="8858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data: </a:t>
            </a: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What basis covers collection and development?</a:t>
            </a:r>
          </a:p>
          <a:p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Deployment: </a:t>
            </a: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Does the new use match what people could reasonably expect?</a:t>
            </a:r>
          </a:p>
          <a:p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Special categories: </a:t>
            </a: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Article 9 requires an additional condition.</a:t>
            </a:r>
          </a:p>
        </p:txBody>
      </p:sp>
    </p:spTree>
    <p:extLst>
      <p:ext uri="{BB962C8B-B14F-4D97-AF65-F5344CB8AC3E}">
        <p14:creationId xmlns:p14="http://schemas.microsoft.com/office/powerpoint/2010/main" val="13195960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E04C117F-E0F1-4E14-A8F9-5D7FED3D3A6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BY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F1DAA4-5014-4CB0-97AE-0DD88844E109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by Design: an operating architecture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7CCE568-13F7-440F-974F-AB9D38DFBD1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2D13DE-4A73-466F-BC89-EBFDA9942CB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E5D1DC7-66E9-405D-8113-9256455042FA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77857B-9D20-494B-B11D-E78FF58D6B5B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by Design is an architecture of defaults, controls, evidence, and user agency.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C158C9-24A0-46E1-914F-5C2D768198D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6ABEFA-E522-41FB-8BE3-9890D0F8727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FBFB28F-CF49-439A-A14E-F61C3F197ECF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00300" cy="4248150"/>
          </a:xfrm>
          <a:prstGeom prst="roundRect">
            <a:avLst>
              <a:gd name="adj" fmla="val 7143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AEE0CF-43C4-4CDC-BF56-12A3C8F49319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18288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</a:t>
            </a:r>
          </a:p>
          <a:p>
            <a:pPr algn="ctr">
              <a:lnSpc>
                <a:spcPct val="94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 DESIGN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0B7F3B-41EB-402A-95C9-9E8E5C4107CF}"/>
              </a:ext>
            </a:extLst>
          </p:cNvPr>
          <p:cNvSpPr>
            <a:spLocks noGrp="1"/>
          </p:cNvSpPr>
          <p:nvPr/>
        </p:nvSpPr>
        <p:spPr>
          <a:xfrm>
            <a:off x="990600" y="2590800"/>
            <a:ext cx="1524000" cy="28575"/>
          </a:xfrm>
          <a:prstGeom prst="rect">
            <a:avLst/>
          </a:prstGeom>
          <a:solidFill>
            <a:srgbClr val="65A8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A72CE5-D996-49CD-9507-B2082FF538AA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828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0" i="0">
                <a:solidFill>
                  <a:srgbClr val="DCEBF6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DCEBF6"/>
                </a:solidFill>
                <a:latin typeface="Arial"/>
                <a:ea typeface="Arial"/>
                <a:cs typeface="Arial"/>
              </a:rPr>
              <a:t>Not a final compliance check.</a:t>
            </a:r>
          </a:p>
          <a:p>
            <a:endParaRPr sz="1300" b="0" i="0">
              <a:solidFill>
                <a:srgbClr val="DCEBF6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5000"/>
              </a:lnSpc>
              <a:buNone/>
              <a:defRPr sz="1300" b="0" i="0">
                <a:solidFill>
                  <a:srgbClr val="DCEBF6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DCEBF6"/>
                </a:solidFill>
                <a:latin typeface="Arial"/>
                <a:ea typeface="Arial"/>
                <a:cs typeface="Arial"/>
              </a:rPr>
              <a:t>A system property built before deployment—and maintained through change.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C2A9160-B674-4147-AD7B-09C539DA76C2}"/>
              </a:ext>
            </a:extLst>
          </p:cNvPr>
          <p:cNvSpPr>
            <a:spLocks noGrp="1"/>
          </p:cNvSpPr>
          <p:nvPr/>
        </p:nvSpPr>
        <p:spPr>
          <a:xfrm>
            <a:off x="904875" y="4800600"/>
            <a:ext cx="1695450" cy="3619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66D98B-1BE9-450B-98D4-3856A720FE3F}"/>
              </a:ext>
            </a:extLst>
          </p:cNvPr>
          <p:cNvSpPr>
            <a:spLocks noGrp="1"/>
          </p:cNvSpPr>
          <p:nvPr/>
        </p:nvSpPr>
        <p:spPr>
          <a:xfrm>
            <a:off x="981075" y="4800600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GDPR ART. 25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8731FFF-221F-4264-8B88-2473F0FD250F}"/>
              </a:ext>
            </a:extLst>
          </p:cNvPr>
          <p:cNvSpPr>
            <a:spLocks noGrp="1"/>
          </p:cNvSpPr>
          <p:nvPr/>
        </p:nvSpPr>
        <p:spPr>
          <a:xfrm>
            <a:off x="4210050" y="1219200"/>
            <a:ext cx="6553200" cy="609600"/>
          </a:xfrm>
          <a:prstGeom prst="roundRect">
            <a:avLst>
              <a:gd name="adj" fmla="val 21875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87BA35-2FFF-4D68-BED7-D538CD06D5B1}"/>
              </a:ext>
            </a:extLst>
          </p:cNvPr>
          <p:cNvSpPr>
            <a:spLocks noGrp="1"/>
          </p:cNvSpPr>
          <p:nvPr/>
        </p:nvSpPr>
        <p:spPr>
          <a:xfrm>
            <a:off x="4400550" y="13049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01  PROACTIVE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93C954-8426-498D-B566-3B6F42C97C33}"/>
              </a:ext>
            </a:extLst>
          </p:cNvPr>
          <p:cNvSpPr>
            <a:spLocks noGrp="1"/>
          </p:cNvSpPr>
          <p:nvPr/>
        </p:nvSpPr>
        <p:spPr>
          <a:xfrm>
            <a:off x="6515100" y="1304925"/>
            <a:ext cx="4114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Anticipate privacy risk before it becomes harm</a:t>
            </a:r>
          </a:p>
        </p:txBody>
      </p:sp>
      <p:sp>
        <p:nvSpPr>
          <p:cNvPr id="18" name="下箭头 17">
            <a:extLst>
              <a:ext uri="{FF2B5EF4-FFF2-40B4-BE49-F238E27FC236}">
                <a16:creationId xmlns:a16="http://schemas.microsoft.com/office/drawing/2014/main" id="{2E824B50-5F5F-4521-BA45-DCFB013D687A}"/>
              </a:ext>
            </a:extLst>
          </p:cNvPr>
          <p:cNvSpPr>
            <a:spLocks noGrp="1"/>
          </p:cNvSpPr>
          <p:nvPr/>
        </p:nvSpPr>
        <p:spPr>
          <a:xfrm>
            <a:off x="7391400" y="1866900"/>
            <a:ext cx="190500" cy="228600"/>
          </a:xfrm>
          <a:prstGeom prst="down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2A39F42-285F-492A-BC0A-2AE83048BAE2}"/>
              </a:ext>
            </a:extLst>
          </p:cNvPr>
          <p:cNvSpPr>
            <a:spLocks noGrp="1"/>
          </p:cNvSpPr>
          <p:nvPr/>
        </p:nvSpPr>
        <p:spPr>
          <a:xfrm>
            <a:off x="3333750" y="2133600"/>
            <a:ext cx="3943350" cy="1066800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391FDA8-5792-4DAC-BC1F-DFCA27489B07}"/>
              </a:ext>
            </a:extLst>
          </p:cNvPr>
          <p:cNvSpPr>
            <a:spLocks noGrp="1"/>
          </p:cNvSpPr>
          <p:nvPr/>
        </p:nvSpPr>
        <p:spPr>
          <a:xfrm>
            <a:off x="7696200" y="2133600"/>
            <a:ext cx="3943350" cy="1066800"/>
          </a:xfrm>
          <a:prstGeom prst="roundRect">
            <a:avLst>
              <a:gd name="adj" fmla="val 12500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DCA197-B0CD-43D7-B13F-AA56CD173DF3}"/>
              </a:ext>
            </a:extLst>
          </p:cNvPr>
          <p:cNvSpPr>
            <a:spLocks noGrp="1"/>
          </p:cNvSpPr>
          <p:nvPr/>
        </p:nvSpPr>
        <p:spPr>
          <a:xfrm>
            <a:off x="3543300" y="232410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02  PRIVACY AS THE DEFAULT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9F955-60E0-4A9C-BA6E-4A0B56FB5AE0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Protection applies without requiring user action.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E5FF5D-1E81-4ECD-A416-BD68BC81012F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03  EMBEDDED INTO DESIGN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3F001E-2DFF-481E-97CF-5C359FE20EC4}"/>
              </a:ext>
            </a:extLst>
          </p:cNvPr>
          <p:cNvSpPr>
            <a:spLocks noGrp="1"/>
          </p:cNvSpPr>
          <p:nvPr/>
        </p:nvSpPr>
        <p:spPr>
          <a:xfrm>
            <a:off x="7905750" y="26670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Privacy sits inside architecture, not beside it.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24D5060-D969-42FA-B447-835C5DE213C3}"/>
              </a:ext>
            </a:extLst>
          </p:cNvPr>
          <p:cNvSpPr>
            <a:spLocks noGrp="1"/>
          </p:cNvSpPr>
          <p:nvPr/>
        </p:nvSpPr>
        <p:spPr>
          <a:xfrm>
            <a:off x="4095750" y="3390900"/>
            <a:ext cx="6781800" cy="628650"/>
          </a:xfrm>
          <a:prstGeom prst="roundRect">
            <a:avLst>
              <a:gd name="adj" fmla="val 18182"/>
            </a:avLst>
          </a:prstGeom>
          <a:solidFill>
            <a:srgbClr val="D7E9F7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905E0D-0D45-46AD-9999-EC1D94ABCFB7}"/>
              </a:ext>
            </a:extLst>
          </p:cNvPr>
          <p:cNvSpPr>
            <a:spLocks noGrp="1"/>
          </p:cNvSpPr>
          <p:nvPr/>
        </p:nvSpPr>
        <p:spPr>
          <a:xfrm>
            <a:off x="4324350" y="347662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04  FULL FUNCTIONALITY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30B8D72-47E1-4CE0-836D-42201977B2F7}"/>
              </a:ext>
            </a:extLst>
          </p:cNvPr>
          <p:cNvSpPr>
            <a:spLocks noGrp="1"/>
          </p:cNvSpPr>
          <p:nvPr/>
        </p:nvSpPr>
        <p:spPr>
          <a:xfrm>
            <a:off x="6743700" y="3476625"/>
            <a:ext cx="413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r">
              <a:lnSpc>
                <a:spcPct val="105000"/>
              </a:lnSpc>
              <a:buNone/>
              <a:defRPr sz="12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Seek useful systems and strong privacy safeguards—avoid false trade-offs.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1DCA895-DEC1-4A89-A482-8305FD401866}"/>
              </a:ext>
            </a:extLst>
          </p:cNvPr>
          <p:cNvSpPr>
            <a:spLocks noGrp="1"/>
          </p:cNvSpPr>
          <p:nvPr/>
        </p:nvSpPr>
        <p:spPr>
          <a:xfrm>
            <a:off x="3333750" y="4267200"/>
            <a:ext cx="2628900" cy="1200150"/>
          </a:xfrm>
          <a:prstGeom prst="roundRect">
            <a:avLst>
              <a:gd name="adj" fmla="val 10317"/>
            </a:avLst>
          </a:prstGeom>
          <a:solidFill>
            <a:srgbClr val="E6F0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B961FB-5461-4DA9-BA2E-4BE7CB74F7F1}"/>
              </a:ext>
            </a:extLst>
          </p:cNvPr>
          <p:cNvSpPr>
            <a:spLocks noGrp="1"/>
          </p:cNvSpPr>
          <p:nvPr/>
        </p:nvSpPr>
        <p:spPr>
          <a:xfrm>
            <a:off x="3505200" y="4400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05BE7E-6C0E-474C-B3EF-52AF2192FBA1}"/>
              </a:ext>
            </a:extLst>
          </p:cNvPr>
          <p:cNvSpPr>
            <a:spLocks noGrp="1"/>
          </p:cNvSpPr>
          <p:nvPr/>
        </p:nvSpPr>
        <p:spPr>
          <a:xfrm>
            <a:off x="3943350" y="441960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9CB3F2-9F0E-47FB-AD29-FE2C9B0B664F}"/>
              </a:ext>
            </a:extLst>
          </p:cNvPr>
          <p:cNvSpPr>
            <a:spLocks noGrp="1"/>
          </p:cNvSpPr>
          <p:nvPr/>
        </p:nvSpPr>
        <p:spPr>
          <a:xfrm>
            <a:off x="3505200" y="48196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7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7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 the full lifecycle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7040928-2232-4135-A921-16EEA5DC26CC}"/>
              </a:ext>
            </a:extLst>
          </p:cNvPr>
          <p:cNvSpPr>
            <a:spLocks noGrp="1"/>
          </p:cNvSpPr>
          <p:nvPr/>
        </p:nvSpPr>
        <p:spPr>
          <a:xfrm>
            <a:off x="6134100" y="4267200"/>
            <a:ext cx="2628900" cy="1200150"/>
          </a:xfrm>
          <a:prstGeom prst="roundRect">
            <a:avLst>
              <a:gd name="adj" fmla="val 10317"/>
            </a:avLst>
          </a:prstGeom>
          <a:solidFill>
            <a:srgbClr val="F3F8FC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1F29FF7-B8BA-4EDA-B1DB-25EDEF16EE74}"/>
              </a:ext>
            </a:extLst>
          </p:cNvPr>
          <p:cNvSpPr>
            <a:spLocks noGrp="1"/>
          </p:cNvSpPr>
          <p:nvPr/>
        </p:nvSpPr>
        <p:spPr>
          <a:xfrm>
            <a:off x="6305550" y="4400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E210A5C-738D-49DC-9BA6-53A2BC3DD128}"/>
              </a:ext>
            </a:extLst>
          </p:cNvPr>
          <p:cNvSpPr>
            <a:spLocks noGrp="1"/>
          </p:cNvSpPr>
          <p:nvPr/>
        </p:nvSpPr>
        <p:spPr>
          <a:xfrm>
            <a:off x="6743700" y="441960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FEAD280-3DD3-4CDC-A58A-176204188262}"/>
              </a:ext>
            </a:extLst>
          </p:cNvPr>
          <p:cNvSpPr>
            <a:spLocks noGrp="1"/>
          </p:cNvSpPr>
          <p:nvPr/>
        </p:nvSpPr>
        <p:spPr>
          <a:xfrm>
            <a:off x="6305550" y="48196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7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7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Make operations auditable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D08F544-06A1-4996-A09B-FBD35FA76472}"/>
              </a:ext>
            </a:extLst>
          </p:cNvPr>
          <p:cNvSpPr>
            <a:spLocks noGrp="1"/>
          </p:cNvSpPr>
          <p:nvPr/>
        </p:nvSpPr>
        <p:spPr>
          <a:xfrm>
            <a:off x="8934450" y="4267200"/>
            <a:ext cx="2628900" cy="1200150"/>
          </a:xfrm>
          <a:prstGeom prst="roundRect">
            <a:avLst>
              <a:gd name="adj" fmla="val 10317"/>
            </a:avLst>
          </a:prstGeom>
          <a:solidFill>
            <a:srgbClr val="003366"/>
          </a:solidFill>
          <a:ln w="10478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028660-6D25-4CB7-9D16-80DF715F5356}"/>
              </a:ext>
            </a:extLst>
          </p:cNvPr>
          <p:cNvSpPr>
            <a:spLocks noGrp="1"/>
          </p:cNvSpPr>
          <p:nvPr/>
        </p:nvSpPr>
        <p:spPr>
          <a:xfrm>
            <a:off x="9105900" y="4400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F08C7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8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BB340F-5849-44BF-B56F-92C8D1E4CA22}"/>
              </a:ext>
            </a:extLst>
          </p:cNvPr>
          <p:cNvSpPr>
            <a:spLocks noGrp="1"/>
          </p:cNvSpPr>
          <p:nvPr/>
        </p:nvSpPr>
        <p:spPr>
          <a:xfrm>
            <a:off x="9544050" y="441960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RESPECT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5B59330-5AA1-4799-A19F-84B67B35D058}"/>
              </a:ext>
            </a:extLst>
          </p:cNvPr>
          <p:cNvSpPr>
            <a:spLocks noGrp="1"/>
          </p:cNvSpPr>
          <p:nvPr/>
        </p:nvSpPr>
        <p:spPr>
          <a:xfrm>
            <a:off x="9105900" y="48196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70" b="0" i="0">
                <a:solidFill>
                  <a:srgbClr val="E1EDF6"/>
                </a:solidFill>
                <a:latin typeface="Arial"/>
                <a:ea typeface="Arial"/>
                <a:cs typeface="Arial"/>
              </a:defRPr>
            </a:pPr>
            <a:r>
              <a:rPr sz="1070" b="0" i="0">
                <a:solidFill>
                  <a:srgbClr val="E1EDF6"/>
                </a:solidFill>
                <a:latin typeface="Arial"/>
                <a:ea typeface="Arial"/>
                <a:cs typeface="Arial"/>
              </a:rPr>
              <a:t>Preserve practical control</a:t>
            </a:r>
          </a:p>
        </p:txBody>
      </p:sp>
    </p:spTree>
    <p:extLst>
      <p:ext uri="{BB962C8B-B14F-4D97-AF65-F5344CB8AC3E}">
        <p14:creationId xmlns:p14="http://schemas.microsoft.com/office/powerpoint/2010/main" val="20198998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9434583-C3FB-4A76-A2AE-E6543299060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BY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7EF69A-A6BD-47EA-AAC8-A50773076C84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by Design in AI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0DC51E5-546A-4CB0-B339-FA1CAAA3F99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11501C-CC2D-47E6-9817-BB3C428A767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D5E688B-53E5-4E07-9283-A79C9504D74E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DE3C21-EDB2-49A8-B51C-7E0163D64A8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architecture must support privacy requirements after deployment as well as before it.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FA9A7E-AF4C-4929-9CB3-173A53DC8268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6EA2F0-8D8C-4B86-A387-365B91B8BEFA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AFBD63-8BEF-4446-BC42-17F59FE7F03A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PROACTIVE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53FEF4-396F-426C-9A0D-D04627B78CEF}"/>
              </a:ext>
            </a:extLst>
          </p:cNvPr>
          <p:cNvSpPr>
            <a:spLocks noGrp="1"/>
          </p:cNvSpPr>
          <p:nvPr/>
        </p:nvSpPr>
        <p:spPr>
          <a:xfrm>
            <a:off x="3476625" y="1409700"/>
            <a:ext cx="55245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86540-2431-409E-8625-64E8B9CBD559}"/>
              </a:ext>
            </a:extLst>
          </p:cNvPr>
          <p:cNvSpPr>
            <a:spLocks noGrp="1"/>
          </p:cNvSpPr>
          <p:nvPr/>
        </p:nvSpPr>
        <p:spPr>
          <a:xfrm>
            <a:off x="4267200" y="123825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Models change through updates, new data, and changed use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C8AE42-5203-43F0-BE8F-5ACB8A98E631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34974D-75B4-4917-87AC-A275343827B4}"/>
              </a:ext>
            </a:extLst>
          </p:cNvPr>
          <p:cNvSpPr>
            <a:spLocks noGrp="1"/>
          </p:cNvSpPr>
          <p:nvPr/>
        </p:nvSpPr>
        <p:spPr>
          <a:xfrm>
            <a:off x="3476625" y="2114550"/>
            <a:ext cx="55245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185AA3-31BD-404B-955A-9BE09BBE9073}"/>
              </a:ext>
            </a:extLst>
          </p:cNvPr>
          <p:cNvSpPr>
            <a:spLocks noGrp="1"/>
          </p:cNvSpPr>
          <p:nvPr/>
        </p:nvSpPr>
        <p:spPr>
          <a:xfrm>
            <a:off x="4267200" y="194310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pipelines often retain more data than the purpose needs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CA8BE4-B9A4-4DD4-9E04-0F59E9B291BE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EMBEDDED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185CAD-4441-4E26-848D-0BE37A61AF17}"/>
              </a:ext>
            </a:extLst>
          </p:cNvPr>
          <p:cNvSpPr>
            <a:spLocks noGrp="1"/>
          </p:cNvSpPr>
          <p:nvPr/>
        </p:nvSpPr>
        <p:spPr>
          <a:xfrm>
            <a:off x="3476625" y="2819400"/>
            <a:ext cx="552450" cy="38100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E4ED2A-1C3E-48C2-B871-8C92B21FF730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Removing one person's influence may require specialised methods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C08E25-9CFA-49C2-A3D8-F349E295E561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END TO END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E4462B-D128-44E3-909C-578693E99DAC}"/>
              </a:ext>
            </a:extLst>
          </p:cNvPr>
          <p:cNvSpPr>
            <a:spLocks noGrp="1"/>
          </p:cNvSpPr>
          <p:nvPr/>
        </p:nvSpPr>
        <p:spPr>
          <a:xfrm>
            <a:off x="3476625" y="3524250"/>
            <a:ext cx="55245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FD0063-5937-46F9-8C67-C0964DA24821}"/>
              </a:ext>
            </a:extLst>
          </p:cNvPr>
          <p:cNvSpPr>
            <a:spLocks noGrp="1"/>
          </p:cNvSpPr>
          <p:nvPr/>
        </p:nvSpPr>
        <p:spPr>
          <a:xfrm>
            <a:off x="4267200" y="335280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Datasets, model access, prompts, logs, and outputs all need controls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294BDB-EB6B-4147-9833-7879982DAD62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CDF94-B1C0-4D2E-A834-A496396EFF14}"/>
              </a:ext>
            </a:extLst>
          </p:cNvPr>
          <p:cNvSpPr>
            <a:spLocks noGrp="1"/>
          </p:cNvSpPr>
          <p:nvPr/>
        </p:nvSpPr>
        <p:spPr>
          <a:xfrm>
            <a:off x="3476625" y="4229100"/>
            <a:ext cx="55245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8325AD-FC08-4412-BBD2-77940E45D4CF}"/>
              </a:ext>
            </a:extLst>
          </p:cNvPr>
          <p:cNvSpPr>
            <a:spLocks noGrp="1"/>
          </p:cNvSpPr>
          <p:nvPr/>
        </p:nvSpPr>
        <p:spPr>
          <a:xfrm>
            <a:off x="4267200" y="405765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Opacity makes audit evidence harder to produce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F5CBD3-9A42-4FC8-9168-1BA4E2FC3309}"/>
              </a:ext>
            </a:extLst>
          </p:cNvPr>
          <p:cNvSpPr>
            <a:spLocks noGrp="1"/>
          </p:cNvSpPr>
          <p:nvPr/>
        </p:nvSpPr>
        <p:spPr>
          <a:xfrm>
            <a:off x="838200" y="47815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USER RESPECT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C58C73-B0FB-4577-A8B8-CCD5B15F91B3}"/>
              </a:ext>
            </a:extLst>
          </p:cNvPr>
          <p:cNvSpPr>
            <a:spLocks noGrp="1"/>
          </p:cNvSpPr>
          <p:nvPr/>
        </p:nvSpPr>
        <p:spPr>
          <a:xfrm>
            <a:off x="3476625" y="4933950"/>
            <a:ext cx="552450" cy="38100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30B194-D12C-4E16-95CE-8671A27DD0D1}"/>
              </a:ext>
            </a:extLst>
          </p:cNvPr>
          <p:cNvSpPr>
            <a:spLocks noGrp="1"/>
          </p:cNvSpPr>
          <p:nvPr/>
        </p:nvSpPr>
        <p:spPr>
          <a:xfrm>
            <a:off x="4267200" y="4762500"/>
            <a:ext cx="706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Rights need interfaces, identity checks, and response procedures</a:t>
            </a:r>
          </a:p>
        </p:txBody>
      </p:sp>
    </p:spTree>
    <p:extLst>
      <p:ext uri="{BB962C8B-B14F-4D97-AF65-F5344CB8AC3E}">
        <p14:creationId xmlns:p14="http://schemas.microsoft.com/office/powerpoint/2010/main" val="14088307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9E9E2333-247B-4B6B-A541-AA6784CB6E1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773FAD-0B9F-458F-B9FF-D6454B761465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Privacy-enhancing technologies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064110E-BBE9-4CFE-947E-F6A53F747AD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F13C50-5402-4996-9CBB-DC65D6221CC8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C5A9D94-B07E-46FF-AC6C-6D39A9DF0806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AA5735-7AA4-4334-A449-F43C27ED8059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PETs address different threats and often work best in combination.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127C35-66D0-4358-AFC4-D6320B5B2FA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E1B87D-AEAF-4771-AAD5-7B4FCC37A9E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4324320-71A4-488C-814B-F18325B2D4A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20A3F6-D3BC-4CC4-876B-571BA734CAD0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DIFFERENTIAL PRIVACY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937C5-2730-4A67-B9B3-8B812049086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Noise limits what an output reveals about one person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B175DBF-8486-4C8A-BDE5-8BB6DFE9B84B}"/>
              </a:ext>
            </a:extLst>
          </p:cNvPr>
          <p:cNvSpPr>
            <a:spLocks noGrp="1"/>
          </p:cNvSpPr>
          <p:nvPr/>
        </p:nvSpPr>
        <p:spPr>
          <a:xfrm>
            <a:off x="4324350" y="12573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BECBDF-C4C3-48E2-8A15-6B9D61B86FC3}"/>
              </a:ext>
            </a:extLst>
          </p:cNvPr>
          <p:cNvSpPr>
            <a:spLocks noGrp="1"/>
          </p:cNvSpPr>
          <p:nvPr/>
        </p:nvSpPr>
        <p:spPr>
          <a:xfrm>
            <a:off x="4419600" y="1352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FEDERATED LEARNING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557F13-1C8E-4F1E-86FB-F56AA8EC59E2}"/>
              </a:ext>
            </a:extLst>
          </p:cNvPr>
          <p:cNvSpPr>
            <a:spLocks noGrp="1"/>
          </p:cNvSpPr>
          <p:nvPr/>
        </p:nvSpPr>
        <p:spPr>
          <a:xfrm>
            <a:off x="4438650" y="16668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occurs where data resides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56506BF-058C-4C87-84F9-57E183C41660}"/>
              </a:ext>
            </a:extLst>
          </p:cNvPr>
          <p:cNvSpPr>
            <a:spLocks noGrp="1"/>
          </p:cNvSpPr>
          <p:nvPr/>
        </p:nvSpPr>
        <p:spPr>
          <a:xfrm>
            <a:off x="8096250" y="12573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C6820F-514E-47D5-874C-8E1A272C37AC}"/>
              </a:ext>
            </a:extLst>
          </p:cNvPr>
          <p:cNvSpPr>
            <a:spLocks noGrp="1"/>
          </p:cNvSpPr>
          <p:nvPr/>
        </p:nvSpPr>
        <p:spPr>
          <a:xfrm>
            <a:off x="8191500" y="1352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700289-1073-42D2-BAB6-C3285E2245BF}"/>
              </a:ext>
            </a:extLst>
          </p:cNvPr>
          <p:cNvSpPr>
            <a:spLocks noGrp="1"/>
          </p:cNvSpPr>
          <p:nvPr/>
        </p:nvSpPr>
        <p:spPr>
          <a:xfrm>
            <a:off x="8210550" y="16668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Artificial records approximate useful patterns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6FE7C84-C267-4F77-9C2C-FA7ADA67D63F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59EA4D-DDBA-40AB-96FA-92D999466253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HOMOMORPHIC ENCRYPTION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1694EB-00EB-4C4C-8603-AD7B70D898C8}"/>
              </a:ext>
            </a:extLst>
          </p:cNvPr>
          <p:cNvSpPr>
            <a:spLocks noGrp="1"/>
          </p:cNvSpPr>
          <p:nvPr/>
        </p:nvSpPr>
        <p:spPr>
          <a:xfrm>
            <a:off x="666750" y="33051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Computation runs on encrypted values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F86E9C8-574D-4758-B372-272955692E2B}"/>
              </a:ext>
            </a:extLst>
          </p:cNvPr>
          <p:cNvSpPr>
            <a:spLocks noGrp="1"/>
          </p:cNvSpPr>
          <p:nvPr/>
        </p:nvSpPr>
        <p:spPr>
          <a:xfrm>
            <a:off x="4324350" y="28956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C542DB-8265-484C-8BCB-EB7CABF5E65A}"/>
              </a:ext>
            </a:extLst>
          </p:cNvPr>
          <p:cNvSpPr>
            <a:spLocks noGrp="1"/>
          </p:cNvSpPr>
          <p:nvPr/>
        </p:nvSpPr>
        <p:spPr>
          <a:xfrm>
            <a:off x="4419600" y="29908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SECURE MULTI-PARTY COMPUTATION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F0A2A0-40E8-4516-8FC1-6B059043EC88}"/>
              </a:ext>
            </a:extLst>
          </p:cNvPr>
          <p:cNvSpPr>
            <a:spLocks noGrp="1"/>
          </p:cNvSpPr>
          <p:nvPr/>
        </p:nvSpPr>
        <p:spPr>
          <a:xfrm>
            <a:off x="4438650" y="33051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Parties compute jointly without pooling raw data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CD44A4C-CE8D-4483-BCF0-5225F6136566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D33C9B-D301-47B9-AE00-6C01A2EA5C11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8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TRUSTED EXECUTION ENVIRONMENTS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5524EE-3E4D-4623-89D4-293830CAA452}"/>
              </a:ext>
            </a:extLst>
          </p:cNvPr>
          <p:cNvSpPr>
            <a:spLocks noGrp="1"/>
          </p:cNvSpPr>
          <p:nvPr/>
        </p:nvSpPr>
        <p:spPr>
          <a:xfrm>
            <a:off x="8210550" y="330517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Hardware isolates sensitive computation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2F1AC6-D75C-4E91-9A86-2830A8A1E105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RAW DATA</a:t>
            </a:r>
          </a:p>
        </p:txBody>
      </p:sp>
      <p:sp>
        <p:nvSpPr>
          <p:cNvPr id="28" name="右箭头 27">
            <a:extLst>
              <a:ext uri="{FF2B5EF4-FFF2-40B4-BE49-F238E27FC236}">
                <a16:creationId xmlns:a16="http://schemas.microsoft.com/office/drawing/2014/main" id="{E4B1DE7F-EC69-4D39-9A60-B97F46690DC4}"/>
              </a:ext>
            </a:extLst>
          </p:cNvPr>
          <p:cNvSpPr>
            <a:spLocks noGrp="1"/>
          </p:cNvSpPr>
          <p:nvPr/>
        </p:nvSpPr>
        <p:spPr>
          <a:xfrm>
            <a:off x="3143250" y="5010150"/>
            <a:ext cx="533400" cy="2667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87A6B2B-46A1-48E1-82E5-60FFC2A59EFC}"/>
              </a:ext>
            </a:extLst>
          </p:cNvPr>
          <p:cNvSpPr>
            <a:spLocks noGrp="1"/>
          </p:cNvSpPr>
          <p:nvPr/>
        </p:nvSpPr>
        <p:spPr>
          <a:xfrm>
            <a:off x="3867150" y="4857750"/>
            <a:ext cx="2476500" cy="571500"/>
          </a:xfrm>
          <a:prstGeom prst="roundRect">
            <a:avLst>
              <a:gd name="adj" fmla="val 20000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35B778-1AC3-4401-BF0F-83320AD9CE74}"/>
              </a:ext>
            </a:extLst>
          </p:cNvPr>
          <p:cNvSpPr>
            <a:spLocks noGrp="1"/>
          </p:cNvSpPr>
          <p:nvPr/>
        </p:nvSpPr>
        <p:spPr>
          <a:xfrm>
            <a:off x="4057650" y="49720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SELECTED PET</a:t>
            </a:r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B6FD04EE-73EA-4CC2-A3D8-3E2FA4DFECFD}"/>
              </a:ext>
            </a:extLst>
          </p:cNvPr>
          <p:cNvSpPr>
            <a:spLocks noGrp="1"/>
          </p:cNvSpPr>
          <p:nvPr/>
        </p:nvSpPr>
        <p:spPr>
          <a:xfrm>
            <a:off x="6534150" y="5010150"/>
            <a:ext cx="533400" cy="2667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0549DC-B22F-47D1-9240-BBBC879436CC}"/>
              </a:ext>
            </a:extLst>
          </p:cNvPr>
          <p:cNvSpPr>
            <a:spLocks noGrp="1"/>
          </p:cNvSpPr>
          <p:nvPr/>
        </p:nvSpPr>
        <p:spPr>
          <a:xfrm>
            <a:off x="7258050" y="49530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  <p:extLst>
      <p:ext uri="{BB962C8B-B14F-4D97-AF65-F5344CB8AC3E}">
        <p14:creationId xmlns:p14="http://schemas.microsoft.com/office/powerpoint/2010/main" val="9801922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E30386D1-357F-4FC3-8AFF-47B79756DE4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7BF08E-764A-4E89-BCB7-1FB63890A095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Differential privacy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FBF81D4-A85B-42C4-8256-1E674CBF404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50BB5-6291-4390-B1B9-86A12E43CAC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CBF76CB-8C53-4700-9D2D-C9ECA5AD5D20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DC7796-CF01-409D-ADCB-516A49BBE7F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privacy budget makes the disclosure risk measurable, but parameter choices matter.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8D3531-69CF-4DC3-944F-5453C9ECDEB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71B609-CA02-42F8-B2FB-04D2128F57A2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312463-F955-4714-BB62-6A40E4E95BE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CORE IDEA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FF4016-14EB-45C7-9BA4-6A16671C652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 output changes only slightly when one person's record enters or leaves the dataset.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202C78F-29A1-46D9-ACD9-321B58BF576F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3704DF2-7C37-4C72-9CBC-45BE8ED14CD4}"/>
              </a:ext>
            </a:extLst>
          </p:cNvPr>
          <p:cNvSpPr>
            <a:spLocks noGrp="1"/>
          </p:cNvSpPr>
          <p:nvPr/>
        </p:nvSpPr>
        <p:spPr>
          <a:xfrm>
            <a:off x="6629400" y="142875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D3FAE56-DAA5-424C-8B77-39BEF59005C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1258B3-6CEF-4971-8435-17452D64EC11}"/>
              </a:ext>
            </a:extLst>
          </p:cNvPr>
          <p:cNvSpPr>
            <a:spLocks noGrp="1"/>
          </p:cNvSpPr>
          <p:nvPr/>
        </p:nvSpPr>
        <p:spPr>
          <a:xfrm>
            <a:off x="7429500" y="152400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AF7D6A7-7511-4CEE-ACD2-ACF5B4CE5B21}"/>
              </a:ext>
            </a:extLst>
          </p:cNvPr>
          <p:cNvSpPr>
            <a:spLocks noGrp="1"/>
          </p:cNvSpPr>
          <p:nvPr/>
        </p:nvSpPr>
        <p:spPr>
          <a:xfrm>
            <a:off x="7829550" y="1952625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5007414-C827-4628-B95D-CB0ADD6DA331}"/>
              </a:ext>
            </a:extLst>
          </p:cNvPr>
          <p:cNvSpPr>
            <a:spLocks noGrp="1"/>
          </p:cNvSpPr>
          <p:nvPr/>
        </p:nvSpPr>
        <p:spPr>
          <a:xfrm>
            <a:off x="8248650" y="158115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999267A-A9AC-4B3A-AF2F-A9EEBF1B3CCB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120E690-D360-47E6-B05B-67A7E2051F47}"/>
              </a:ext>
            </a:extLst>
          </p:cNvPr>
          <p:cNvSpPr>
            <a:spLocks noGrp="1"/>
          </p:cNvSpPr>
          <p:nvPr/>
        </p:nvSpPr>
        <p:spPr>
          <a:xfrm>
            <a:off x="9086850" y="1428750"/>
            <a:ext cx="209550" cy="209550"/>
          </a:xfrm>
          <a:prstGeom prst="ellipse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A7EE098-AAF1-4529-9799-66DBC32075AA}"/>
              </a:ext>
            </a:extLst>
          </p:cNvPr>
          <p:cNvSpPr>
            <a:spLocks noGrp="1"/>
          </p:cNvSpPr>
          <p:nvPr/>
        </p:nvSpPr>
        <p:spPr>
          <a:xfrm>
            <a:off x="9525000" y="192405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C058893-48C7-4777-9ADC-274D038E06A8}"/>
              </a:ext>
            </a:extLst>
          </p:cNvPr>
          <p:cNvSpPr>
            <a:spLocks noGrp="1"/>
          </p:cNvSpPr>
          <p:nvPr/>
        </p:nvSpPr>
        <p:spPr>
          <a:xfrm>
            <a:off x="9944100" y="1600200"/>
            <a:ext cx="209550" cy="2095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59F93B-3BE1-42EC-AA23-748AC6AEBC2E}"/>
              </a:ext>
            </a:extLst>
          </p:cNvPr>
          <p:cNvSpPr>
            <a:spLocks noGrp="1"/>
          </p:cNvSpPr>
          <p:nvPr/>
        </p:nvSpPr>
        <p:spPr>
          <a:xfrm>
            <a:off x="7048500" y="22860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11B76347-5EDE-483A-B940-AE13AF220E7E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952500" cy="3238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7676BCE-BEBB-434A-B0FC-EF034BF1F587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4762500" cy="819150"/>
          </a:xfrm>
          <a:prstGeom prst="roundRect">
            <a:avLst>
              <a:gd name="adj" fmla="val 1627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860E55-A3C2-47E9-B597-B840B549B005}"/>
              </a:ext>
            </a:extLst>
          </p:cNvPr>
          <p:cNvSpPr>
            <a:spLocks noGrp="1"/>
          </p:cNvSpPr>
          <p:nvPr/>
        </p:nvSpPr>
        <p:spPr>
          <a:xfrm>
            <a:off x="6477000" y="33909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 OUTPUT + CALIBRATED NOISE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E2006D9E-2515-46D9-88B7-D5F085CD4356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381250" cy="1790700"/>
          </a:xfrm>
          <a:prstGeom prst="roundRect">
            <a:avLst>
              <a:gd name="adj" fmla="val 7447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3BE355-DBA9-450A-89F0-EC6B7B7AF886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STRENGTH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61121C-8A10-4A22-8905-596FEF426B58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20383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mathematical guarantee supports auditing and composition across repeated queries.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209776BB-569D-4420-92DE-BB64E10DE0F2}"/>
              </a:ext>
            </a:extLst>
          </p:cNvPr>
          <p:cNvSpPr>
            <a:spLocks noGrp="1"/>
          </p:cNvSpPr>
          <p:nvPr/>
        </p:nvSpPr>
        <p:spPr>
          <a:xfrm>
            <a:off x="3276600" y="3181350"/>
            <a:ext cx="2381250" cy="1790700"/>
          </a:xfrm>
          <a:prstGeom prst="roundRect">
            <a:avLst>
              <a:gd name="adj" fmla="val 7447"/>
            </a:avLst>
          </a:prstGeom>
          <a:solidFill>
            <a:srgbClr val="F3F8FC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73E709-8A00-4803-B763-8337832A4D8C}"/>
              </a:ext>
            </a:extLst>
          </p:cNvPr>
          <p:cNvSpPr>
            <a:spLocks noGrp="1"/>
          </p:cNvSpPr>
          <p:nvPr/>
        </p:nvSpPr>
        <p:spPr>
          <a:xfrm>
            <a:off x="3448050" y="3314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52000C-BC59-4F56-BCA9-CE3B906AEDE8}"/>
              </a:ext>
            </a:extLst>
          </p:cNvPr>
          <p:cNvSpPr>
            <a:spLocks noGrp="1"/>
          </p:cNvSpPr>
          <p:nvPr/>
        </p:nvSpPr>
        <p:spPr>
          <a:xfrm>
            <a:off x="3448050" y="3695700"/>
            <a:ext cx="20383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2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small privacy budget can reduce utility. A large budget weakens protection.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B3323B-3D27-427E-9040-0588CB3B06E4}"/>
              </a:ext>
            </a:extLst>
          </p:cNvPr>
          <p:cNvSpPr>
            <a:spLocks noGrp="1"/>
          </p:cNvSpPr>
          <p:nvPr/>
        </p:nvSpPr>
        <p:spPr>
          <a:xfrm>
            <a:off x="8401050" y="42672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34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607E7A-3BE7-4411-9BF2-F55DF8363CBD}"/>
              </a:ext>
            </a:extLst>
          </p:cNvPr>
          <p:cNvSpPr>
            <a:spLocks noGrp="1"/>
          </p:cNvSpPr>
          <p:nvPr/>
        </p:nvSpPr>
        <p:spPr>
          <a:xfrm>
            <a:off x="7677150" y="4876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privacy budget</a:t>
            </a:r>
          </a:p>
        </p:txBody>
      </p:sp>
    </p:spTree>
    <p:extLst>
      <p:ext uri="{BB962C8B-B14F-4D97-AF65-F5344CB8AC3E}">
        <p14:creationId xmlns:p14="http://schemas.microsoft.com/office/powerpoint/2010/main" val="18322793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43A4DD7D-2F50-4EB6-AF6A-1DAD32A59F6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00264B-5DEF-4D6C-867D-6334218FEA88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Federated learning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ACBDF4F-F48F-4152-BE89-3ABBF2CE0C44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403871-DB68-401C-939D-02E5FEA46ED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7C66227-E4A0-4868-B03F-E245D96AB6F3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A1C31D-1579-4298-A8C0-6F6540CD554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Keeping raw data local reduces central collection, while model updates still need protection.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F5D36D-C5FD-42D0-B24D-2C311BF1132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9D43BF-3B9A-408C-A001-E53F968EC6A1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0DA44-74CB-4CB7-9B4A-0636C434D748}"/>
              </a:ext>
            </a:extLst>
          </p:cNvPr>
          <p:cNvSpPr>
            <a:spLocks noGrp="1"/>
          </p:cNvSpPr>
          <p:nvPr/>
        </p:nvSpPr>
        <p:spPr>
          <a:xfrm>
            <a:off x="5810250" y="1676400"/>
            <a:ext cx="47625" cy="30480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70A003-F36C-4361-80C4-EDD4723F93CF}"/>
              </a:ext>
            </a:extLst>
          </p:cNvPr>
          <p:cNvSpPr>
            <a:spLocks noGrp="1"/>
          </p:cNvSpPr>
          <p:nvPr/>
        </p:nvSpPr>
        <p:spPr>
          <a:xfrm>
            <a:off x="2286000" y="3181350"/>
            <a:ext cx="7620000" cy="4762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9FF45B-49B4-4F9E-BB85-49EE77C51047}"/>
              </a:ext>
            </a:extLst>
          </p:cNvPr>
          <p:cNvSpPr>
            <a:spLocks noGrp="1"/>
          </p:cNvSpPr>
          <p:nvPr/>
        </p:nvSpPr>
        <p:spPr>
          <a:xfrm>
            <a:off x="2266950" y="2114550"/>
            <a:ext cx="47625" cy="10858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D51022-B8D8-41CD-9139-A9A9E80402F0}"/>
              </a:ext>
            </a:extLst>
          </p:cNvPr>
          <p:cNvSpPr>
            <a:spLocks noGrp="1"/>
          </p:cNvSpPr>
          <p:nvPr/>
        </p:nvSpPr>
        <p:spPr>
          <a:xfrm>
            <a:off x="9886950" y="2114550"/>
            <a:ext cx="47625" cy="10858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1B3CEF-1949-4882-ADA4-B2DE9BFE3EED}"/>
              </a:ext>
            </a:extLst>
          </p:cNvPr>
          <p:cNvSpPr>
            <a:spLocks noGrp="1"/>
          </p:cNvSpPr>
          <p:nvPr/>
        </p:nvSpPr>
        <p:spPr>
          <a:xfrm>
            <a:off x="2266950" y="3181350"/>
            <a:ext cx="47625" cy="10858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E5C950-87B8-4416-B2C7-1B24A7893AC6}"/>
              </a:ext>
            </a:extLst>
          </p:cNvPr>
          <p:cNvSpPr>
            <a:spLocks noGrp="1"/>
          </p:cNvSpPr>
          <p:nvPr/>
        </p:nvSpPr>
        <p:spPr>
          <a:xfrm>
            <a:off x="9886950" y="3181350"/>
            <a:ext cx="47625" cy="10858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A254F5F-4539-40CC-8494-A11095E0A193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2286000" cy="1600200"/>
          </a:xfrm>
          <a:prstGeom prst="roundRect">
            <a:avLst>
              <a:gd name="adj" fmla="val 10714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BA93BB-0E25-4E0D-950B-4EE1F585C035}"/>
              </a:ext>
            </a:extLst>
          </p:cNvPr>
          <p:cNvSpPr>
            <a:spLocks noGrp="1"/>
          </p:cNvSpPr>
          <p:nvPr/>
        </p:nvSpPr>
        <p:spPr>
          <a:xfrm>
            <a:off x="4857750" y="2724150"/>
            <a:ext cx="190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</a:t>
            </a:r>
          </a:p>
          <a:p>
            <a:pPr algn="ctr">
              <a:lnSpc>
                <a:spcPct val="105000"/>
              </a:lnSpc>
              <a:buNone/>
              <a:defRPr sz="1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AGGREGATOR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B29B0E9-46DB-422F-A749-0C0DB889826D}"/>
              </a:ext>
            </a:extLst>
          </p:cNvPr>
          <p:cNvSpPr>
            <a:spLocks noGrp="1"/>
          </p:cNvSpPr>
          <p:nvPr/>
        </p:nvSpPr>
        <p:spPr>
          <a:xfrm>
            <a:off x="1219200" y="142875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A0C523-D000-416A-8210-1D69A81667F8}"/>
              </a:ext>
            </a:extLst>
          </p:cNvPr>
          <p:cNvSpPr>
            <a:spLocks noGrp="1"/>
          </p:cNvSpPr>
          <p:nvPr/>
        </p:nvSpPr>
        <p:spPr>
          <a:xfrm>
            <a:off x="1409700" y="1619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DEVICE 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308A7A-EEAA-43EA-A863-FD939B0CC9DA}"/>
              </a:ext>
            </a:extLst>
          </p:cNvPr>
          <p:cNvSpPr>
            <a:spLocks noGrp="1"/>
          </p:cNvSpPr>
          <p:nvPr/>
        </p:nvSpPr>
        <p:spPr>
          <a:xfrm>
            <a:off x="1409700" y="2019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Local training data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3CD0A62-8FD5-499D-8A04-ECF360495266}"/>
              </a:ext>
            </a:extLst>
          </p:cNvPr>
          <p:cNvSpPr>
            <a:spLocks noGrp="1"/>
          </p:cNvSpPr>
          <p:nvPr/>
        </p:nvSpPr>
        <p:spPr>
          <a:xfrm>
            <a:off x="8839200" y="142875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742578-2638-4544-A617-52B780D9F435}"/>
              </a:ext>
            </a:extLst>
          </p:cNvPr>
          <p:cNvSpPr>
            <a:spLocks noGrp="1"/>
          </p:cNvSpPr>
          <p:nvPr/>
        </p:nvSpPr>
        <p:spPr>
          <a:xfrm>
            <a:off x="9029700" y="1619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DEVICE B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D1209C-D6A0-42A4-BAFE-3E0D3CCEF251}"/>
              </a:ext>
            </a:extLst>
          </p:cNvPr>
          <p:cNvSpPr>
            <a:spLocks noGrp="1"/>
          </p:cNvSpPr>
          <p:nvPr/>
        </p:nvSpPr>
        <p:spPr>
          <a:xfrm>
            <a:off x="9029700" y="2019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Local training data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E840CE5-176D-4DEF-8C71-D9923E29AB8A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F1ACC6-6A80-47FD-ADBA-B6A077B9EE6A}"/>
              </a:ext>
            </a:extLst>
          </p:cNvPr>
          <p:cNvSpPr>
            <a:spLocks noGrp="1"/>
          </p:cNvSpPr>
          <p:nvPr/>
        </p:nvSpPr>
        <p:spPr>
          <a:xfrm>
            <a:off x="1409700" y="4286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HOSPITAL 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CD437A-B565-4808-AF62-30668AE0CCDF}"/>
              </a:ext>
            </a:extLst>
          </p:cNvPr>
          <p:cNvSpPr>
            <a:spLocks noGrp="1"/>
          </p:cNvSpPr>
          <p:nvPr/>
        </p:nvSpPr>
        <p:spPr>
          <a:xfrm>
            <a:off x="1409700" y="4686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Local training data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0ECE37C-061E-4FC5-9C96-96EC45CC5223}"/>
              </a:ext>
            </a:extLst>
          </p:cNvPr>
          <p:cNvSpPr>
            <a:spLocks noGrp="1"/>
          </p:cNvSpPr>
          <p:nvPr/>
        </p:nvSpPr>
        <p:spPr>
          <a:xfrm>
            <a:off x="8839200" y="409575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D57345-CEE8-42FB-8081-FFB210109107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LAB 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FAC8B5-2E73-444F-96F6-FB97D70B8620}"/>
              </a:ext>
            </a:extLst>
          </p:cNvPr>
          <p:cNvSpPr>
            <a:spLocks noGrp="1"/>
          </p:cNvSpPr>
          <p:nvPr/>
        </p:nvSpPr>
        <p:spPr>
          <a:xfrm>
            <a:off x="9029700" y="4686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1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Local training data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56BCEC-4876-40AB-817F-95D7B80E42A8}"/>
              </a:ext>
            </a:extLst>
          </p:cNvPr>
          <p:cNvSpPr>
            <a:spLocks noGrp="1"/>
          </p:cNvSpPr>
          <p:nvPr/>
        </p:nvSpPr>
        <p:spPr>
          <a:xfrm>
            <a:off x="45720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MODEL UPDATES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243B67-9033-44E0-BC15-6F675FB8D04C}"/>
              </a:ext>
            </a:extLst>
          </p:cNvPr>
          <p:cNvSpPr>
            <a:spLocks noGrp="1"/>
          </p:cNvSpPr>
          <p:nvPr/>
        </p:nvSpPr>
        <p:spPr>
          <a:xfrm>
            <a:off x="3276600" y="4953000"/>
            <a:ext cx="563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Combine with secure aggregation or differential privacy when updates could leak information.</a:t>
            </a:r>
          </a:p>
        </p:txBody>
      </p:sp>
    </p:spTree>
    <p:extLst>
      <p:ext uri="{BB962C8B-B14F-4D97-AF65-F5344CB8AC3E}">
        <p14:creationId xmlns:p14="http://schemas.microsoft.com/office/powerpoint/2010/main" val="9214870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F0C4C57-A0CD-4FB6-8076-53C56BE903B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A90BEC-1176-44EA-B805-19EE6C395882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Synthetic data and homomorphic encryption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137BD39-FF08-40B2-9451-4BFF4F4363E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F05A18-1C1D-4EE2-89FD-3F7B0007D7F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FD6EE03-5F95-4BCA-8893-453B72C11734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72D3F3-9936-469E-9AF2-647CCB9098E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These techniques protect different stages of use and carry different implementation costs.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50C72F-33D5-4124-B5FE-2F0522A5934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ED188A-CF3C-4CCF-8313-4DAF30DBDE4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0BEB38-3779-471E-B14E-84B6EBBBEBCD}"/>
              </a:ext>
            </a:extLst>
          </p:cNvPr>
          <p:cNvSpPr>
            <a:spLocks noGrp="1"/>
          </p:cNvSpPr>
          <p:nvPr/>
        </p:nvSpPr>
        <p:spPr>
          <a:xfrm>
            <a:off x="742950" y="129540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1B7F7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B7F79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28D309-758B-465E-A54C-CB3D9C901251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Artificial records approximate selected statistical properties of source data.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A555C0-C42F-4E71-9100-7BF664D5311E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Useful for testing, development, and controlled sharing</a:t>
            </a:r>
          </a:p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Quality depends on how well the generator preserves relevant patterns</a:t>
            </a:r>
          </a:p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Memorisation and bias can remain if generation lacks safeguards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B34C8-E3F2-4011-ADD3-03FA79025A09}"/>
              </a:ext>
            </a:extLst>
          </p:cNvPr>
          <p:cNvSpPr>
            <a:spLocks noGrp="1"/>
          </p:cNvSpPr>
          <p:nvPr/>
        </p:nvSpPr>
        <p:spPr>
          <a:xfrm>
            <a:off x="5924550" y="1276350"/>
            <a:ext cx="38100" cy="38100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BC2821-43A0-4701-BC3E-2B6B49AC753C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HOMOMORPHIC ENCRYPTION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A9CB7E-66F0-4FBC-B960-2D53EDE41093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service computes on encrypted data without seeing the plaintext values.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4876EC-8130-4240-9043-AA7BBC8E758F}"/>
              </a:ext>
            </a:extLst>
          </p:cNvPr>
          <p:cNvSpPr>
            <a:spLocks noGrp="1"/>
          </p:cNvSpPr>
          <p:nvPr/>
        </p:nvSpPr>
        <p:spPr>
          <a:xfrm>
            <a:off x="6381750" y="270510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Protects confidentiality while data is in use</a:t>
            </a:r>
          </a:p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Suitable for selected medical and financial computations</a:t>
            </a:r>
          </a:p>
          <a:p>
            <a:pPr marL="254000" indent="-127000" algn="l">
              <a:lnSpc>
                <a:spcPct val="104000"/>
              </a:lnSpc>
              <a:spcAft>
                <a:spcPts val="700"/>
              </a:spcAft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Computation and engineering costs remain high for large workloads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3C35261-169D-48E4-BF78-782A681B3A56}"/>
              </a:ext>
            </a:extLst>
          </p:cNvPr>
          <p:cNvSpPr>
            <a:spLocks noGrp="1"/>
          </p:cNvSpPr>
          <p:nvPr/>
        </p:nvSpPr>
        <p:spPr>
          <a:xfrm>
            <a:off x="1428750" y="5124450"/>
            <a:ext cx="9334500" cy="552450"/>
          </a:xfrm>
          <a:prstGeom prst="roundRect">
            <a:avLst>
              <a:gd name="adj" fmla="val 20690"/>
            </a:avLst>
          </a:prstGeom>
          <a:solidFill>
            <a:srgbClr val="E6F0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5EE011-EEA9-4A14-A0DB-1821DE40FEC1}"/>
              </a:ext>
            </a:extLst>
          </p:cNvPr>
          <p:cNvSpPr>
            <a:spLocks noGrp="1"/>
          </p:cNvSpPr>
          <p:nvPr/>
        </p:nvSpPr>
        <p:spPr>
          <a:xfrm>
            <a:off x="1714500" y="5210175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Threat model first: identity exposure and data-in-use exposure require different tools.</a:t>
            </a:r>
          </a:p>
        </p:txBody>
      </p:sp>
    </p:spTree>
    <p:extLst>
      <p:ext uri="{BB962C8B-B14F-4D97-AF65-F5344CB8AC3E}">
        <p14:creationId xmlns:p14="http://schemas.microsoft.com/office/powerpoint/2010/main" val="10491045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1A90E36-0101-496F-AEFF-F6E468E7813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PRIVACY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BAE5C2-B312-4307-8210-F223E3E3834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PET trade-offs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B0E5EAC8-C720-4E61-BA16-B2AAF4F583E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A74B1-5A5C-400F-9907-614B1123D60E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67BD505-F8A9-4397-8EEE-85D007E14A82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CE569A-FE86-49BE-94E6-5A126B3506BF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Tool selection depends on the threat, acceptable accuracy loss, and operational capacity.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38F014-B665-4110-9772-73FF9A6EDA05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E5D05F-2B0E-4367-8A69-ADB7CCF54F4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52450" y="1257300"/>
          <a:ext cx="11087100" cy="42672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PRIVACY GAIN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COST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COMPLEXITY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AI USE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Differential privacy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Limits individual contribution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Statistics and private training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Federated learning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Keeps raw data local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Low to medium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Cross-device or multi-site training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Synthetic data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Reduces direct identity exposure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Testing and controlled sharing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Homomorphic encryption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Protects data during computation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Low result loss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Selected encrypted inference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Secure MPC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Avoids pooling raw inputs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Low result loss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Joint analytics across organisations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Trusted environments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Isolates computation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Medium to high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Protected model execution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0422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DDC7C49-9523-4377-AD7A-081D40209D3A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DPIA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1CD56C-B60B-4231-BAE9-6DD5555D5399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Data Protection Impact Assessment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E58153A-7B27-4B59-998F-F4F917C649A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13FF5B-B172-4183-A02A-B907DBCB513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7A6E4DE-A97B-44E8-93B1-03DAE42EA032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8A83D9-5126-4494-A1E6-30DDAFBDB36B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DPIA documents risk and changes the project before high-risk processing begins.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5195B1-3F01-4712-917F-D75A3F1C8E06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D4289F-6216-4492-8CFC-B3B1D53841B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F3623E-0937-4720-9BF1-0B6D5391AE65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628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structured process for identifying and minimising data protection risks.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FFEA75-E7F9-4628-853E-94B2F3BACCF0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WHEN A DPIA IS REQUIRED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7E08E3-CC72-48C2-BC46-0251A736A56E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3BAAF3-A594-4D99-A4BA-71DC11F33D3C}"/>
              </a:ext>
            </a:extLst>
          </p:cNvPr>
          <p:cNvSpPr>
            <a:spLocks noGrp="1"/>
          </p:cNvSpPr>
          <p:nvPr/>
        </p:nvSpPr>
        <p:spPr>
          <a:xfrm>
            <a:off x="1409700" y="2609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EXTENSIVE PROFILING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C716D-925D-4749-BDC5-4C5A1E2F2F2D}"/>
              </a:ext>
            </a:extLst>
          </p:cNvPr>
          <p:cNvSpPr>
            <a:spLocks noGrp="1"/>
          </p:cNvSpPr>
          <p:nvPr/>
        </p:nvSpPr>
        <p:spPr>
          <a:xfrm>
            <a:off x="4000500" y="26098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Significant effects on people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28F344-C581-409B-B7AB-E48E4D11811F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BC7CB1-558A-4E3A-8410-E86662ECD212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SENSITIVE DATA AT SCALE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47B0EA-9EB2-458F-B614-0A0F33A1C518}"/>
              </a:ext>
            </a:extLst>
          </p:cNvPr>
          <p:cNvSpPr>
            <a:spLocks noGrp="1"/>
          </p:cNvSpPr>
          <p:nvPr/>
        </p:nvSpPr>
        <p:spPr>
          <a:xfrm>
            <a:off x="4000500" y="3257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Health, biometrics, or other special categories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DFABD3-EF38-4D79-9C8E-66C6063396C2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9E2E15-E6EF-4CFC-BDC3-9695771B81AD}"/>
              </a:ext>
            </a:extLst>
          </p:cNvPr>
          <p:cNvSpPr>
            <a:spLocks noGrp="1"/>
          </p:cNvSpPr>
          <p:nvPr/>
        </p:nvSpPr>
        <p:spPr>
          <a:xfrm>
            <a:off x="1409700" y="3905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PUBLIC MONITORING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3A2740-EFB8-4DDE-A803-C29DAA5C0F04}"/>
              </a:ext>
            </a:extLst>
          </p:cNvPr>
          <p:cNvSpPr>
            <a:spLocks noGrp="1"/>
          </p:cNvSpPr>
          <p:nvPr/>
        </p:nvSpPr>
        <p:spPr>
          <a:xfrm>
            <a:off x="4000500" y="3905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Systematic observation across public space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5B6306-42BA-4131-8233-E6536CF7BD34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3A58B0-447B-4388-A546-E56A9B57848D}"/>
              </a:ext>
            </a:extLst>
          </p:cNvPr>
          <p:cNvSpPr>
            <a:spLocks noGrp="1"/>
          </p:cNvSpPr>
          <p:nvPr/>
        </p:nvSpPr>
        <p:spPr>
          <a:xfrm>
            <a:off x="1409700" y="4552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HIGH-RISK AUTOMATION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E82419-7B9A-487E-BDE2-8B94F39C5499}"/>
              </a:ext>
            </a:extLst>
          </p:cNvPr>
          <p:cNvSpPr>
            <a:spLocks noGrp="1"/>
          </p:cNvSpPr>
          <p:nvPr/>
        </p:nvSpPr>
        <p:spPr>
          <a:xfrm>
            <a:off x="4000500" y="4552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Decisions with legal or similarly significant effects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EC9BE541-E906-4861-9E86-83F244CBC575}"/>
              </a:ext>
            </a:extLst>
          </p:cNvPr>
          <p:cNvSpPr>
            <a:spLocks noGrp="1"/>
          </p:cNvSpPr>
          <p:nvPr/>
        </p:nvSpPr>
        <p:spPr>
          <a:xfrm>
            <a:off x="9239250" y="1562100"/>
            <a:ext cx="2000250" cy="3371850"/>
          </a:xfrm>
          <a:prstGeom prst="roundRect">
            <a:avLst>
              <a:gd name="adj" fmla="val 8571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2C9B17-0292-4FE5-B2F4-4E6D86FD0A39}"/>
              </a:ext>
            </a:extLst>
          </p:cNvPr>
          <p:cNvSpPr>
            <a:spLocks noGrp="1"/>
          </p:cNvSpPr>
          <p:nvPr/>
        </p:nvSpPr>
        <p:spPr>
          <a:xfrm>
            <a:off x="9429750" y="2247900"/>
            <a:ext cx="161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  <a:p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3F2212-2A81-4B19-922E-A3FBE0E23330}"/>
              </a:ext>
            </a:extLst>
          </p:cNvPr>
          <p:cNvSpPr>
            <a:spLocks noGrp="1"/>
          </p:cNvSpPr>
          <p:nvPr/>
        </p:nvSpPr>
        <p:spPr>
          <a:xfrm>
            <a:off x="9620250" y="3390900"/>
            <a:ext cx="123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Identify</a:t>
            </a:r>
          </a:p>
          <a:p>
            <a:pPr algn="ctr">
              <a:lnSpc>
                <a:spcPct val="105000"/>
              </a:lnSpc>
              <a:buNone/>
              <a:defRPr sz="1500" b="0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Reduce</a:t>
            </a:r>
          </a:p>
          <a:p>
            <a:pPr algn="ctr">
              <a:lnSpc>
                <a:spcPct val="105000"/>
              </a:lnSpc>
              <a:buNone/>
              <a:defRPr sz="1500" b="0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17806571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2F14825C-9B0F-4621-8530-15F8138A62F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DPIA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BEC09D-40A4-4F38-8D46-AF351047D0C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DPIA for AI: a living risk loop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19250CE-7952-4A66-AFBB-DEF57BE7FD0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11EC12-2C12-416A-B236-778F2DEFDF0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0E98AF4-7B73-4619-A54D-CE2B215FB0CA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47D6BA-E36F-4185-BBAE-B25E6219F15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DPIA is revisited when the data, model, purpose, people, or deployment materially changes.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C8EA07-F23D-4723-AAF6-0E6F10D6B60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94DDFC-FB2A-4F6C-8AD8-F3A7B09A6006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7D8637-E914-4024-B070-D55FEC0A0155}"/>
              </a:ext>
            </a:extLst>
          </p:cNvPr>
          <p:cNvSpPr>
            <a:spLocks noGrp="1"/>
          </p:cNvSpPr>
          <p:nvPr/>
        </p:nvSpPr>
        <p:spPr>
          <a:xfrm>
            <a:off x="6067425" y="1371600"/>
            <a:ext cx="47625" cy="40957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A46F7B-AF0D-45A4-A41E-1FA12D3790B5}"/>
              </a:ext>
            </a:extLst>
          </p:cNvPr>
          <p:cNvSpPr>
            <a:spLocks noGrp="1"/>
          </p:cNvSpPr>
          <p:nvPr/>
        </p:nvSpPr>
        <p:spPr>
          <a:xfrm>
            <a:off x="5562600" y="1581150"/>
            <a:ext cx="95250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FC60B5-329B-442F-9F8E-54C917B30AD3}"/>
              </a:ext>
            </a:extLst>
          </p:cNvPr>
          <p:cNvSpPr>
            <a:spLocks noGrp="1"/>
          </p:cNvSpPr>
          <p:nvPr/>
        </p:nvSpPr>
        <p:spPr>
          <a:xfrm>
            <a:off x="5915025" y="1438275"/>
            <a:ext cx="342900" cy="34290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548E7E-4F02-4346-AB9D-90AC1BDB74B2}"/>
              </a:ext>
            </a:extLst>
          </p:cNvPr>
          <p:cNvSpPr>
            <a:spLocks noGrp="1"/>
          </p:cNvSpPr>
          <p:nvPr/>
        </p:nvSpPr>
        <p:spPr>
          <a:xfrm>
            <a:off x="5915025" y="14382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A7B0CD7-DAF8-4F5E-9499-57CECE1AB9B1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F3F8FC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443AE8-CF67-4CCD-8097-4515D04CF94D}"/>
              </a:ext>
            </a:extLst>
          </p:cNvPr>
          <p:cNvSpPr>
            <a:spLocks noGrp="1"/>
          </p:cNvSpPr>
          <p:nvPr/>
        </p:nvSpPr>
        <p:spPr>
          <a:xfrm>
            <a:off x="895350" y="135255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422635-B7F0-4383-A3CB-D6F057B9CF14}"/>
              </a:ext>
            </a:extLst>
          </p:cNvPr>
          <p:cNvSpPr>
            <a:spLocks noGrp="1"/>
          </p:cNvSpPr>
          <p:nvPr/>
        </p:nvSpPr>
        <p:spPr>
          <a:xfrm>
            <a:off x="2609850" y="13335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Is high-risk processing likely?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C03EAC-F343-419B-8CA4-4EE99E435686}"/>
              </a:ext>
            </a:extLst>
          </p:cNvPr>
          <p:cNvSpPr>
            <a:spLocks noGrp="1"/>
          </p:cNvSpPr>
          <p:nvPr/>
        </p:nvSpPr>
        <p:spPr>
          <a:xfrm>
            <a:off x="6115050" y="2276475"/>
            <a:ext cx="95250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B5E1BEE-1C71-4E49-95EB-9B13E1FC49F8}"/>
              </a:ext>
            </a:extLst>
          </p:cNvPr>
          <p:cNvSpPr>
            <a:spLocks noGrp="1"/>
          </p:cNvSpPr>
          <p:nvPr/>
        </p:nvSpPr>
        <p:spPr>
          <a:xfrm>
            <a:off x="5915025" y="2133600"/>
            <a:ext cx="342900" cy="34290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ED5A53-4E4C-46B1-A169-4CFD5FDAC8BA}"/>
              </a:ext>
            </a:extLst>
          </p:cNvPr>
          <p:cNvSpPr>
            <a:spLocks noGrp="1"/>
          </p:cNvSpPr>
          <p:nvPr/>
        </p:nvSpPr>
        <p:spPr>
          <a:xfrm>
            <a:off x="5915025" y="21336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2D30AE3-D654-449C-B2B0-7AA3F0B3979C}"/>
              </a:ext>
            </a:extLst>
          </p:cNvPr>
          <p:cNvSpPr>
            <a:spLocks noGrp="1"/>
          </p:cNvSpPr>
          <p:nvPr/>
        </p:nvSpPr>
        <p:spPr>
          <a:xfrm>
            <a:off x="6515100" y="1952625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D3C74E-9FA5-495F-B5E5-87656FFCD08D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7F8633-261F-4079-BB38-D7D46AE30285}"/>
              </a:ext>
            </a:extLst>
          </p:cNvPr>
          <p:cNvSpPr>
            <a:spLocks noGrp="1"/>
          </p:cNvSpPr>
          <p:nvPr/>
        </p:nvSpPr>
        <p:spPr>
          <a:xfrm>
            <a:off x="8401050" y="20288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Map data, purpose, model, and affected people.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3E4890-D13B-4717-B628-B1250C947E50}"/>
              </a:ext>
            </a:extLst>
          </p:cNvPr>
          <p:cNvSpPr>
            <a:spLocks noGrp="1"/>
          </p:cNvSpPr>
          <p:nvPr/>
        </p:nvSpPr>
        <p:spPr>
          <a:xfrm>
            <a:off x="5562600" y="2971800"/>
            <a:ext cx="95250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0AE8A9E-EB8B-4C14-937B-48CEB579B53C}"/>
              </a:ext>
            </a:extLst>
          </p:cNvPr>
          <p:cNvSpPr>
            <a:spLocks noGrp="1"/>
          </p:cNvSpPr>
          <p:nvPr/>
        </p:nvSpPr>
        <p:spPr>
          <a:xfrm>
            <a:off x="5915025" y="2828925"/>
            <a:ext cx="342900" cy="34290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390569-0CDC-4123-BA22-3D7D4305390D}"/>
              </a:ext>
            </a:extLst>
          </p:cNvPr>
          <p:cNvSpPr>
            <a:spLocks noGrp="1"/>
          </p:cNvSpPr>
          <p:nvPr/>
        </p:nvSpPr>
        <p:spPr>
          <a:xfrm>
            <a:off x="5915025" y="282892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AC4B1FC-C403-4BA2-8AA2-76811E3A63FC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F3F8FC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5FC0C1-21EC-44AC-8B58-849C342FD809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5DCA0D-FB67-44A7-A449-CEB6305774CC}"/>
              </a:ext>
            </a:extLst>
          </p:cNvPr>
          <p:cNvSpPr>
            <a:spLocks noGrp="1"/>
          </p:cNvSpPr>
          <p:nvPr/>
        </p:nvSpPr>
        <p:spPr>
          <a:xfrm>
            <a:off x="2609850" y="272415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Test necessity and less intrusive alternatives.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3634C4-BD4F-44E5-9502-5C4908FC6C7B}"/>
              </a:ext>
            </a:extLst>
          </p:cNvPr>
          <p:cNvSpPr>
            <a:spLocks noGrp="1"/>
          </p:cNvSpPr>
          <p:nvPr/>
        </p:nvSpPr>
        <p:spPr>
          <a:xfrm>
            <a:off x="6115050" y="3667125"/>
            <a:ext cx="952500" cy="28575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B847E7D-17EF-41A5-BC4F-F404804E755A}"/>
              </a:ext>
            </a:extLst>
          </p:cNvPr>
          <p:cNvSpPr>
            <a:spLocks noGrp="1"/>
          </p:cNvSpPr>
          <p:nvPr/>
        </p:nvSpPr>
        <p:spPr>
          <a:xfrm>
            <a:off x="5915025" y="3524250"/>
            <a:ext cx="342900" cy="342900"/>
          </a:xfrm>
          <a:prstGeom prst="ellipse">
            <a:avLst/>
          </a:prstGeom>
          <a:solidFill>
            <a:srgbClr val="C65B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7AE392-5C8C-434F-91A7-412D2823DB2F}"/>
              </a:ext>
            </a:extLst>
          </p:cNvPr>
          <p:cNvSpPr>
            <a:spLocks noGrp="1"/>
          </p:cNvSpPr>
          <p:nvPr/>
        </p:nvSpPr>
        <p:spPr>
          <a:xfrm>
            <a:off x="5915025" y="35242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881F516-BA6B-4CD1-BF95-2E4604B8414B}"/>
              </a:ext>
            </a:extLst>
          </p:cNvPr>
          <p:cNvSpPr>
            <a:spLocks noGrp="1"/>
          </p:cNvSpPr>
          <p:nvPr/>
        </p:nvSpPr>
        <p:spPr>
          <a:xfrm>
            <a:off x="6515100" y="3343275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E6F0FA"/>
          </a:solidFill>
          <a:ln w="10478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25604F-1547-4796-B75C-78842B2E2FD2}"/>
              </a:ext>
            </a:extLst>
          </p:cNvPr>
          <p:cNvSpPr>
            <a:spLocks noGrp="1"/>
          </p:cNvSpPr>
          <p:nvPr/>
        </p:nvSpPr>
        <p:spPr>
          <a:xfrm>
            <a:off x="6686550" y="3438525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RATE RISK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2109079-A81C-4494-9B30-8487B1E48054}"/>
              </a:ext>
            </a:extLst>
          </p:cNvPr>
          <p:cNvSpPr>
            <a:spLocks noGrp="1"/>
          </p:cNvSpPr>
          <p:nvPr/>
        </p:nvSpPr>
        <p:spPr>
          <a:xfrm>
            <a:off x="8401050" y="341947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Assess severity and likelihood of harm.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B9BBAE-4D63-4458-AEAC-6EFB503557FC}"/>
              </a:ext>
            </a:extLst>
          </p:cNvPr>
          <p:cNvSpPr>
            <a:spLocks noGrp="1"/>
          </p:cNvSpPr>
          <p:nvPr/>
        </p:nvSpPr>
        <p:spPr>
          <a:xfrm>
            <a:off x="5562600" y="4362450"/>
            <a:ext cx="95250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AF34832-096E-40CE-B260-DB0BEA906DD7}"/>
              </a:ext>
            </a:extLst>
          </p:cNvPr>
          <p:cNvSpPr>
            <a:spLocks noGrp="1"/>
          </p:cNvSpPr>
          <p:nvPr/>
        </p:nvSpPr>
        <p:spPr>
          <a:xfrm>
            <a:off x="5915025" y="4219575"/>
            <a:ext cx="342900" cy="34290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5DD8AF-FFEC-4D3C-BC25-98E292011180}"/>
              </a:ext>
            </a:extLst>
          </p:cNvPr>
          <p:cNvSpPr>
            <a:spLocks noGrp="1"/>
          </p:cNvSpPr>
          <p:nvPr/>
        </p:nvSpPr>
        <p:spPr>
          <a:xfrm>
            <a:off x="5915025" y="42195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8FF0A66B-AE73-47BD-886F-2A032F3C1F89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F3F8FC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67A28A1-BC29-4EAD-9595-7FADD5E2B9F3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MITIGATE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825B16C-DA6A-4A82-A505-D4059DCEAB53}"/>
              </a:ext>
            </a:extLst>
          </p:cNvPr>
          <p:cNvSpPr>
            <a:spLocks noGrp="1"/>
          </p:cNvSpPr>
          <p:nvPr/>
        </p:nvSpPr>
        <p:spPr>
          <a:xfrm>
            <a:off x="2609850" y="41148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Change design, controls, and procedures.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A06141D-2B95-4DF1-B8D8-5AD6842AD78A}"/>
              </a:ext>
            </a:extLst>
          </p:cNvPr>
          <p:cNvSpPr>
            <a:spLocks noGrp="1"/>
          </p:cNvSpPr>
          <p:nvPr/>
        </p:nvSpPr>
        <p:spPr>
          <a:xfrm>
            <a:off x="6115050" y="5057775"/>
            <a:ext cx="95250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669CD1BF-D254-4C4D-B7AF-F4ABF3671BF7}"/>
              </a:ext>
            </a:extLst>
          </p:cNvPr>
          <p:cNvSpPr>
            <a:spLocks noGrp="1"/>
          </p:cNvSpPr>
          <p:nvPr/>
        </p:nvSpPr>
        <p:spPr>
          <a:xfrm>
            <a:off x="5915025" y="4914900"/>
            <a:ext cx="342900" cy="34290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266EACC-DA1B-4817-9176-9071E1036425}"/>
              </a:ext>
            </a:extLst>
          </p:cNvPr>
          <p:cNvSpPr>
            <a:spLocks noGrp="1"/>
          </p:cNvSpPr>
          <p:nvPr/>
        </p:nvSpPr>
        <p:spPr>
          <a:xfrm>
            <a:off x="5915025" y="49149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B958614-205C-42B7-BF85-F1143DC91A96}"/>
              </a:ext>
            </a:extLst>
          </p:cNvPr>
          <p:cNvSpPr>
            <a:spLocks noGrp="1"/>
          </p:cNvSpPr>
          <p:nvPr/>
        </p:nvSpPr>
        <p:spPr>
          <a:xfrm>
            <a:off x="6515100" y="4733925"/>
            <a:ext cx="4838700" cy="647700"/>
          </a:xfrm>
          <a:prstGeom prst="roundRect">
            <a:avLst>
              <a:gd name="adj" fmla="val 17647"/>
            </a:avLst>
          </a:prstGeom>
          <a:solidFill>
            <a:srgbClr val="E6F0FA"/>
          </a:solidFill>
          <a:ln w="10478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4E4BFDD-A3D5-4079-B875-2A3B317943F9}"/>
              </a:ext>
            </a:extLst>
          </p:cNvPr>
          <p:cNvSpPr>
            <a:spLocks noGrp="1"/>
          </p:cNvSpPr>
          <p:nvPr/>
        </p:nvSpPr>
        <p:spPr>
          <a:xfrm>
            <a:off x="6686550" y="4829175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3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3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APPROVE + MONITOR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959D121-CC9E-4279-B162-FB8678C0D362}"/>
              </a:ext>
            </a:extLst>
          </p:cNvPr>
          <p:cNvSpPr>
            <a:spLocks noGrp="1"/>
          </p:cNvSpPr>
          <p:nvPr/>
        </p:nvSpPr>
        <p:spPr>
          <a:xfrm>
            <a:off x="8401050" y="48101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Record decisions and review changes.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53CA9356-C6E3-403F-94F3-1F4D213A9379}"/>
              </a:ext>
            </a:extLst>
          </p:cNvPr>
          <p:cNvSpPr>
            <a:spLocks noGrp="1"/>
          </p:cNvSpPr>
          <p:nvPr/>
        </p:nvSpPr>
        <p:spPr>
          <a:xfrm>
            <a:off x="4000500" y="5572125"/>
            <a:ext cx="4133850" cy="3238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D60D85-0082-408A-9F77-4DAB4CCAC662}"/>
              </a:ext>
            </a:extLst>
          </p:cNvPr>
          <p:cNvSpPr>
            <a:spLocks noGrp="1"/>
          </p:cNvSpPr>
          <p:nvPr/>
        </p:nvSpPr>
        <p:spPr>
          <a:xfrm>
            <a:off x="4076700" y="5572125"/>
            <a:ext cx="3981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4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 CHANGE?  RETURN TO STEP 01</a:t>
            </a:r>
          </a:p>
        </p:txBody>
      </p:sp>
    </p:spTree>
    <p:extLst>
      <p:ext uri="{BB962C8B-B14F-4D97-AF65-F5344CB8AC3E}">
        <p14:creationId xmlns:p14="http://schemas.microsoft.com/office/powerpoint/2010/main" val="31520798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06CA991-C62C-4D28-A6A0-3434D0F4316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REGULATORY FRAMEWORKS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AB2D6E-FB1A-41E6-ABFE-4EB4C7BC961C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EU AI Act and data protection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065EABE-27E7-4DD2-B124-27FA81A9857D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F3B664-5135-421B-867A-66836795E1F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964F476-F5E7-4DB4-81DF-398457DDE898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7A0426-8973-4DD4-AD65-A55F5C54EA6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AI Act duties layer onto GDPR obligations; high-risk timelines now extend into 2027 and 2028.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7E5CF9-3513-4A28-A0DD-07B1362FB061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4A9F7E-E0DB-4D80-BE20-71896459C7FF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17DDACA-6AE7-4382-B8BF-F063AFE70E77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2476500" cy="762000"/>
          </a:xfrm>
          <a:prstGeom prst="roundRect">
            <a:avLst>
              <a:gd name="adj" fmla="val 12500"/>
            </a:avLst>
          </a:prstGeom>
          <a:solidFill>
            <a:srgbClr val="C65B4B"/>
          </a:solidFill>
          <a:ln w="9525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4E149C-F694-4061-BF87-D97809802E07}"/>
              </a:ext>
            </a:extLst>
          </p:cNvPr>
          <p:cNvSpPr>
            <a:spLocks noGrp="1"/>
          </p:cNvSpPr>
          <p:nvPr/>
        </p:nvSpPr>
        <p:spPr>
          <a:xfrm>
            <a:off x="933450" y="1447800"/>
            <a:ext cx="2171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UNACCEPTABLE RISK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C581A3-18C0-4CD7-A0BB-47A13DEA6286}"/>
              </a:ext>
            </a:extLst>
          </p:cNvPr>
          <p:cNvSpPr>
            <a:spLocks noGrp="1"/>
          </p:cNvSpPr>
          <p:nvPr/>
        </p:nvSpPr>
        <p:spPr>
          <a:xfrm>
            <a:off x="933450" y="169545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Prohibited practices apply since February 2025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92E01C6-4D60-43B6-94A3-9D29DF1D8705}"/>
              </a:ext>
            </a:extLst>
          </p:cNvPr>
          <p:cNvSpPr>
            <a:spLocks noGrp="1"/>
          </p:cNvSpPr>
          <p:nvPr/>
        </p:nvSpPr>
        <p:spPr>
          <a:xfrm>
            <a:off x="1181100" y="2247900"/>
            <a:ext cx="3429000" cy="762000"/>
          </a:xfrm>
          <a:prstGeom prst="roundRect">
            <a:avLst>
              <a:gd name="adj" fmla="val 12500"/>
            </a:avLst>
          </a:prstGeom>
          <a:solidFill>
            <a:srgbClr val="003366"/>
          </a:solidFill>
          <a:ln w="95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22537D-EE7F-4FA5-AE00-94283F5046B4}"/>
              </a:ext>
            </a:extLst>
          </p:cNvPr>
          <p:cNvSpPr>
            <a:spLocks noGrp="1"/>
          </p:cNvSpPr>
          <p:nvPr/>
        </p:nvSpPr>
        <p:spPr>
          <a:xfrm>
            <a:off x="1333500" y="2343150"/>
            <a:ext cx="3124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TRANSPARENCY DUTIES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CEC007-AF65-4F3B-8042-0C18304387AD}"/>
              </a:ext>
            </a:extLst>
          </p:cNvPr>
          <p:cNvSpPr>
            <a:spLocks noGrp="1"/>
          </p:cNvSpPr>
          <p:nvPr/>
        </p:nvSpPr>
        <p:spPr>
          <a:xfrm>
            <a:off x="1333500" y="259080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and content transparency duties apply since August 2026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A954479-5086-435D-A2C3-C95F85A473B7}"/>
              </a:ext>
            </a:extLst>
          </p:cNvPr>
          <p:cNvSpPr>
            <a:spLocks noGrp="1"/>
          </p:cNvSpPr>
          <p:nvPr/>
        </p:nvSpPr>
        <p:spPr>
          <a:xfrm>
            <a:off x="1581150" y="3143250"/>
            <a:ext cx="4381500" cy="762000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D7DEFF-E580-4A19-8603-5DDEFF980204}"/>
              </a:ext>
            </a:extLst>
          </p:cNvPr>
          <p:cNvSpPr>
            <a:spLocks noGrp="1"/>
          </p:cNvSpPr>
          <p:nvPr/>
        </p:nvSpPr>
        <p:spPr>
          <a:xfrm>
            <a:off x="1733550" y="3238500"/>
            <a:ext cx="407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HIGH-RISK · ANNEX III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728B3E-FDBE-4F4E-94B1-D056492EE77A}"/>
              </a:ext>
            </a:extLst>
          </p:cNvPr>
          <p:cNvSpPr>
            <a:spLocks noGrp="1"/>
          </p:cNvSpPr>
          <p:nvPr/>
        </p:nvSpPr>
        <p:spPr>
          <a:xfrm>
            <a:off x="1733550" y="3486150"/>
            <a:ext cx="407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20" b="0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Requirements apply from 2 December 2027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77B42F8-3097-4A01-9D3A-8B831142F7EE}"/>
              </a:ext>
            </a:extLst>
          </p:cNvPr>
          <p:cNvSpPr>
            <a:spLocks noGrp="1"/>
          </p:cNvSpPr>
          <p:nvPr/>
        </p:nvSpPr>
        <p:spPr>
          <a:xfrm>
            <a:off x="1981200" y="4038600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4F3C02-7BA5-468B-B268-3209CE31E797}"/>
              </a:ext>
            </a:extLst>
          </p:cNvPr>
          <p:cNvSpPr>
            <a:spLocks noGrp="1"/>
          </p:cNvSpPr>
          <p:nvPr/>
        </p:nvSpPr>
        <p:spPr>
          <a:xfrm>
            <a:off x="2133600" y="4133850"/>
            <a:ext cx="464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PRODUCT-EMBEDDED HIGH RISK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5E2B77-83E3-4953-9B95-CBC86A2357C5}"/>
              </a:ext>
            </a:extLst>
          </p:cNvPr>
          <p:cNvSpPr>
            <a:spLocks noGrp="1"/>
          </p:cNvSpPr>
          <p:nvPr/>
        </p:nvSpPr>
        <p:spPr>
          <a:xfrm>
            <a:off x="2133600" y="4381500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20" b="0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Requirements apply from 2 August 2028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8280B6B-1FDC-4993-9565-BB3349F6F627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714750" cy="3486150"/>
          </a:xfrm>
          <a:prstGeom prst="roundRect">
            <a:avLst>
              <a:gd name="adj" fmla="val 491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A6FF04-832B-4D5A-8D7D-4D5E5861A5F3}"/>
              </a:ext>
            </a:extLst>
          </p:cNvPr>
          <p:cNvSpPr>
            <a:spLocks noGrp="1"/>
          </p:cNvSpPr>
          <p:nvPr/>
        </p:nvSpPr>
        <p:spPr>
          <a:xfrm>
            <a:off x="7810500" y="16764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GDPR STILL APPLIES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575E37-E18D-4A77-95EB-84224972D0E0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3048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marL="254000" indent="-127000" algn="l">
              <a:lnSpc>
                <a:spcPct val="104000"/>
              </a:lnSpc>
              <a:spcAft>
                <a:spcPts val="900"/>
              </a:spcAft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Lawful basis and Article 9 conditions</a:t>
            </a:r>
          </a:p>
          <a:p>
            <a:pPr marL="254000" indent="-127000" algn="l">
              <a:lnSpc>
                <a:spcPct val="104000"/>
              </a:lnSpc>
              <a:spcAft>
                <a:spcPts val="900"/>
              </a:spcAft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Rights and transparency</a:t>
            </a:r>
          </a:p>
          <a:p>
            <a:pPr marL="254000" indent="-127000" algn="l">
              <a:lnSpc>
                <a:spcPct val="104000"/>
              </a:lnSpc>
              <a:spcAft>
                <a:spcPts val="900"/>
              </a:spcAft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DPIA for likely high-risk processing</a:t>
            </a:r>
          </a:p>
          <a:p>
            <a:pPr marL="254000" indent="-127000" algn="l">
              <a:lnSpc>
                <a:spcPct val="104000"/>
              </a:lnSpc>
              <a:spcAft>
                <a:spcPts val="900"/>
              </a:spcAft>
              <a:buNone/>
              <a:defRPr sz="1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Security, minimisation, and accountability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0A8C83-E2B0-43D8-874F-322E661841ED}"/>
              </a:ext>
            </a:extLst>
          </p:cNvPr>
          <p:cNvSpPr>
            <a:spLocks noGrp="1"/>
          </p:cNvSpPr>
          <p:nvPr/>
        </p:nvSpPr>
        <p:spPr>
          <a:xfrm>
            <a:off x="8172450" y="44958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As of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951081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E04030C-B637-445D-B239-9FCFBA42CCC7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REGULATORY FRAMEWORKS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9B37AF-E1EF-4607-8B52-7C505C893225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Cross-jurisdictional comparison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86F11D1-7169-4ECC-BD7F-97FB65E25437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FF164D-1F15-4CB5-ABBC-2F3EC55038F9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372E78B-A221-4ECF-943A-D65FB3571498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9F63B1-BDE0-4F36-8BF7-CECC03DA84A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governance differs by jurisdiction, so product controls need a clear legal map.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4F5BFA-663E-4D11-82CF-6CA05E71566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62098A-EFBD-4083-93A7-3E5218E47945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52450" y="1219200"/>
          <a:ext cx="11087100" cy="45339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UNITED STATES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CHINA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Core framework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GDPR plus AI Act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Sector laws, state laws, FTC Act §5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PIPL plus algorithm rules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Legal basis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Article 6 bases; Article 9 condition where relevant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Authority depends on sector, state, and practice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Consent and statutory alternatives under PIPL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Automated decisions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GDPR Art. 22 safeguards; AI Act duties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Case-specific federal and state rules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PIPL Art. 24 fairness, transparency, and refusal rights in specified uses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Sensitive data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GDPR Art. 9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Sector and state protections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PIPL Art. 28; separate consent generally required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Transfers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Adequacy, SCCs, or another GDPR mechanism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No single omnibus federal transfer regime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Security assessment, certification, or standard contract routes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2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Current AI focus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Transparency active; high-risk duties phased to 2027/2028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Agency enforcement and state legislation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Algorithm governance and personal information protection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9711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6C7A36D-554C-44AD-AE8B-CB86E1F95A2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ACCOUNTABILITY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691349-3407-4382-A938-8746B9DA6760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accountability in Responsible AI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CC5ACC0-4870-4830-B95F-C85EA099AFC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A09648-F406-4307-B649-5237C4170D7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79CA17A-4067-435D-A649-81B60145BD68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42F01B-8C6E-409B-AC99-6EA3CA744C7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Accountability connects organisational responsibility, system design, and independent verification.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27B846-48CB-4BEB-A840-235C7A6E580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DE6884-03F1-4C89-A5FE-5F8ED37DD7ED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CAD2EB-8B80-4D3C-A1FB-40F4213A6514}"/>
              </a:ext>
            </a:extLst>
          </p:cNvPr>
          <p:cNvSpPr>
            <a:spLocks noGrp="1"/>
          </p:cNvSpPr>
          <p:nvPr/>
        </p:nvSpPr>
        <p:spPr>
          <a:xfrm>
            <a:off x="3390900" y="2381250"/>
            <a:ext cx="5410200" cy="4762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656BA1-E044-4BB7-AEED-E5050B4F093F}"/>
              </a:ext>
            </a:extLst>
          </p:cNvPr>
          <p:cNvSpPr>
            <a:spLocks noGrp="1"/>
          </p:cNvSpPr>
          <p:nvPr/>
        </p:nvSpPr>
        <p:spPr>
          <a:xfrm rot="-1740000">
            <a:off x="4095750" y="2143125"/>
            <a:ext cx="47625" cy="29146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7536AA-C02E-4BA6-BA21-F4ABB4ED5C71}"/>
              </a:ext>
            </a:extLst>
          </p:cNvPr>
          <p:cNvSpPr>
            <a:spLocks noGrp="1"/>
          </p:cNvSpPr>
          <p:nvPr/>
        </p:nvSpPr>
        <p:spPr>
          <a:xfrm rot="1740000">
            <a:off x="8048625" y="2143125"/>
            <a:ext cx="47625" cy="29146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DB171EF-6F5E-4C13-A5A0-433257C2A5AB}"/>
              </a:ext>
            </a:extLst>
          </p:cNvPr>
          <p:cNvSpPr>
            <a:spLocks noGrp="1"/>
          </p:cNvSpPr>
          <p:nvPr/>
        </p:nvSpPr>
        <p:spPr>
          <a:xfrm>
            <a:off x="4953000" y="1219200"/>
            <a:ext cx="2286000" cy="1104900"/>
          </a:xfrm>
          <a:prstGeom prst="roundRect">
            <a:avLst>
              <a:gd name="adj" fmla="val 10345"/>
            </a:avLst>
          </a:prstGeom>
          <a:solidFill>
            <a:srgbClr val="003366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528E43-9350-4EE8-9226-7101ECD1F3A8}"/>
              </a:ext>
            </a:extLst>
          </p:cNvPr>
          <p:cNvSpPr>
            <a:spLocks noGrp="1"/>
          </p:cNvSpPr>
          <p:nvPr/>
        </p:nvSpPr>
        <p:spPr>
          <a:xfrm>
            <a:off x="5048250" y="1314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328CFF-9F4D-446C-BD39-2265DC49327E}"/>
              </a:ext>
            </a:extLst>
          </p:cNvPr>
          <p:cNvSpPr>
            <a:spLocks noGrp="1"/>
          </p:cNvSpPr>
          <p:nvPr/>
        </p:nvSpPr>
        <p:spPr>
          <a:xfrm>
            <a:off x="5067300" y="1628775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Named owners across the data pipeline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95627E3-2A08-492C-8795-22C3EFEBC130}"/>
              </a:ext>
            </a:extLst>
          </p:cNvPr>
          <p:cNvSpPr>
            <a:spLocks noGrp="1"/>
          </p:cNvSpPr>
          <p:nvPr/>
        </p:nvSpPr>
        <p:spPr>
          <a:xfrm>
            <a:off x="2381250" y="4095750"/>
            <a:ext cx="2476500" cy="1104900"/>
          </a:xfrm>
          <a:prstGeom prst="roundRect">
            <a:avLst>
              <a:gd name="adj" fmla="val 10345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F14B07-6ED7-42F3-8560-A9A9168089F8}"/>
              </a:ext>
            </a:extLst>
          </p:cNvPr>
          <p:cNvSpPr>
            <a:spLocks noGrp="1"/>
          </p:cNvSpPr>
          <p:nvPr/>
        </p:nvSpPr>
        <p:spPr>
          <a:xfrm>
            <a:off x="2476500" y="4191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5D9E8D-52B4-48C7-A9EB-74984D1972D4}"/>
              </a:ext>
            </a:extLst>
          </p:cNvPr>
          <p:cNvSpPr>
            <a:spLocks noGrp="1"/>
          </p:cNvSpPr>
          <p:nvPr/>
        </p:nvSpPr>
        <p:spPr>
          <a:xfrm>
            <a:off x="2495550" y="4505325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Privacy requirements in architecture and defaults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D5D6E55-B364-4537-BD76-6FBD72D1B59C}"/>
              </a:ext>
            </a:extLst>
          </p:cNvPr>
          <p:cNvSpPr>
            <a:spLocks noGrp="1"/>
          </p:cNvSpPr>
          <p:nvPr/>
        </p:nvSpPr>
        <p:spPr>
          <a:xfrm>
            <a:off x="7334250" y="4095750"/>
            <a:ext cx="2476500" cy="1104900"/>
          </a:xfrm>
          <a:prstGeom prst="roundRect">
            <a:avLst>
              <a:gd name="adj" fmla="val 10345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31D532-58E8-43EF-BDC8-7AC2F9924F13}"/>
              </a:ext>
            </a:extLst>
          </p:cNvPr>
          <p:cNvSpPr>
            <a:spLocks noGrp="1"/>
          </p:cNvSpPr>
          <p:nvPr/>
        </p:nvSpPr>
        <p:spPr>
          <a:xfrm>
            <a:off x="7429500" y="4191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88B3AE-12B2-45B6-AE0B-450FDC9F7E20}"/>
              </a:ext>
            </a:extLst>
          </p:cNvPr>
          <p:cNvSpPr>
            <a:spLocks noGrp="1"/>
          </p:cNvSpPr>
          <p:nvPr/>
        </p:nvSpPr>
        <p:spPr>
          <a:xfrm>
            <a:off x="7448550" y="4505325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3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Audit evidence, oversight, and redress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42E0F32-0960-4491-9991-7A3533905BD0}"/>
              </a:ext>
            </a:extLst>
          </p:cNvPr>
          <p:cNvSpPr>
            <a:spLocks noGrp="1"/>
          </p:cNvSpPr>
          <p:nvPr/>
        </p:nvSpPr>
        <p:spPr>
          <a:xfrm>
            <a:off x="4667250" y="3067050"/>
            <a:ext cx="2857500" cy="742950"/>
          </a:xfrm>
          <a:prstGeom prst="roundRect">
            <a:avLst>
              <a:gd name="adj" fmla="val 17949"/>
            </a:avLst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C33C98-C166-4CF9-81E9-18677F134676}"/>
              </a:ext>
            </a:extLst>
          </p:cNvPr>
          <p:cNvSpPr>
            <a:spLocks noGrp="1"/>
          </p:cNvSpPr>
          <p:nvPr/>
        </p:nvSpPr>
        <p:spPr>
          <a:xfrm>
            <a:off x="4876800" y="3181350"/>
            <a:ext cx="243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</a:t>
            </a:r>
          </a:p>
          <a:p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13601006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90C8FE6-A5D3-4E08-B399-9B318876321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DESIGN FOR VULNERABILITY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2E336D-F78A-46F5-9A93-7D43C4CE0DCE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and vulnerability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62E4077-B9DD-4B6E-A42F-87488D67B47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5350B2-1C70-49FF-BCFF-25F72C0CAF66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9C98D83-FFE0-4E88-B0C0-9BD18D6A7324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7C41D7-7BF3-48AF-BB64-7E33EB9A1394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Privacy safeguards should work for people who cannot refuse a service or absorb an error.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70AC-5EAD-42B8-B533-A7AA4CAB7CC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BFB3DE-3826-4113-AED9-6FA4DAFA45AE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F70C989-BDC6-4EE4-A70D-7E80F714385A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057650" cy="4019550"/>
          </a:xfrm>
          <a:prstGeom prst="roundRect">
            <a:avLst>
              <a:gd name="adj" fmla="val 4265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4B7761-BB3D-4FD0-B809-A187E817E94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348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EUBANKS'S DESIGN QUESTION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55A4E-206B-4D1B-B6C8-FE89386C7EB4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342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4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carries the privacy burden when access to a basic service depends on data collection?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23E2D3-4758-4515-8748-523B2F1126D8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00" b="0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1100" b="0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Automating Inequality (2018)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33EA48-A14A-4C6E-9151-CC1F8AC07C2E}"/>
              </a:ext>
            </a:extLst>
          </p:cNvPr>
          <p:cNvSpPr>
            <a:spLocks noGrp="1"/>
          </p:cNvSpPr>
          <p:nvPr/>
        </p:nvSpPr>
        <p:spPr>
          <a:xfrm>
            <a:off x="5143500" y="13335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E07F8F-04B5-4F6D-9669-C4BD86CF159D}"/>
              </a:ext>
            </a:extLst>
          </p:cNvPr>
          <p:cNvSpPr>
            <a:spLocks noGrp="1"/>
          </p:cNvSpPr>
          <p:nvPr/>
        </p:nvSpPr>
        <p:spPr>
          <a:xfrm>
            <a:off x="5772150" y="13335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NO FORCED SURRENDER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879BA4-2FE0-42C6-9DA6-787D9FD06EF7}"/>
              </a:ext>
            </a:extLst>
          </p:cNvPr>
          <p:cNvSpPr>
            <a:spLocks noGrp="1"/>
          </p:cNvSpPr>
          <p:nvPr/>
        </p:nvSpPr>
        <p:spPr>
          <a:xfrm>
            <a:off x="5772150" y="165735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 not condition essential services on unnecessary data extraction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DAE57F-5DAA-4896-8B4E-8912B624E61A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0F2107-FD90-48EC-82DA-DC77CC5B2B98}"/>
              </a:ext>
            </a:extLst>
          </p:cNvPr>
          <p:cNvSpPr>
            <a:spLocks noGrp="1"/>
          </p:cNvSpPr>
          <p:nvPr/>
        </p:nvSpPr>
        <p:spPr>
          <a:xfrm>
            <a:off x="5772150" y="23241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TEST UNEQUAL BURDENS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3B9027-FBA7-4D23-9C19-6FCB85EE43EC}"/>
              </a:ext>
            </a:extLst>
          </p:cNvPr>
          <p:cNvSpPr>
            <a:spLocks noGrp="1"/>
          </p:cNvSpPr>
          <p:nvPr/>
        </p:nvSpPr>
        <p:spPr>
          <a:xfrm>
            <a:off x="5772150" y="264795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Measure who faces more surveillance and less recourse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41E669-939A-4285-9874-5F93C8588A9F}"/>
              </a:ext>
            </a:extLst>
          </p:cNvPr>
          <p:cNvSpPr>
            <a:spLocks noGrp="1"/>
          </p:cNvSpPr>
          <p:nvPr/>
        </p:nvSpPr>
        <p:spPr>
          <a:xfrm>
            <a:off x="5143500" y="33147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C8A53C-39B5-4168-9084-44D9D80E9CE3}"/>
              </a:ext>
            </a:extLst>
          </p:cNvPr>
          <p:cNvSpPr>
            <a:spLocks noGrp="1"/>
          </p:cNvSpPr>
          <p:nvPr/>
        </p:nvSpPr>
        <p:spPr>
          <a:xfrm>
            <a:off x="5772150" y="3314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REAL APPEAL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3020C-5C9D-46F6-99BF-99589C2E97FE}"/>
              </a:ext>
            </a:extLst>
          </p:cNvPr>
          <p:cNvSpPr>
            <a:spLocks noGrp="1"/>
          </p:cNvSpPr>
          <p:nvPr/>
        </p:nvSpPr>
        <p:spPr>
          <a:xfrm>
            <a:off x="5772150" y="363855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Give a reviewer authority to change the outcome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9EF89D-832A-4CEF-8D79-EFBDB1501472}"/>
              </a:ext>
            </a:extLst>
          </p:cNvPr>
          <p:cNvSpPr>
            <a:spLocks noGrp="1"/>
          </p:cNvSpPr>
          <p:nvPr/>
        </p:nvSpPr>
        <p:spPr>
          <a:xfrm>
            <a:off x="5143500" y="4305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7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F04807-78BB-43AC-92EF-F302E654AC8C}"/>
              </a:ext>
            </a:extLst>
          </p:cNvPr>
          <p:cNvSpPr>
            <a:spLocks noGrp="1"/>
          </p:cNvSpPr>
          <p:nvPr/>
        </p:nvSpPr>
        <p:spPr>
          <a:xfrm>
            <a:off x="5772150" y="43053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FAILURE-FOCUSED DESIGN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C334124-10B0-4F62-BE81-B2F4B715DAD0}"/>
              </a:ext>
            </a:extLst>
          </p:cNvPr>
          <p:cNvSpPr>
            <a:spLocks noGrp="1"/>
          </p:cNvSpPr>
          <p:nvPr/>
        </p:nvSpPr>
        <p:spPr>
          <a:xfrm>
            <a:off x="5772150" y="462915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Start with the person who bears the worst plausible harm</a:t>
            </a:r>
          </a:p>
        </p:txBody>
      </p:sp>
    </p:spTree>
    <p:extLst>
      <p:ext uri="{BB962C8B-B14F-4D97-AF65-F5344CB8AC3E}">
        <p14:creationId xmlns:p14="http://schemas.microsoft.com/office/powerpoint/2010/main" val="8964435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FA48BE5F-1978-4B31-A4F1-9E993D7D503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DESIGN RULES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A21059-033F-46E2-909E-82B01CC227E1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privacy operating system for AI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F34D554-584A-441F-A945-BB8DC4D48AB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53F0DD-A05F-41E1-BF90-9F5999E38B35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054AEBE-867D-4ED5-81A6-86A962CD9F61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FECFBE-2F0C-4120-9E59-FC561B0C3F36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Ten practical rules move from discovery to reduction, governance, and redress.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A3B16C-DDA2-41CE-B912-57B9F68CE97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CAEFD8-7F23-4446-9CA2-ABB2F03FD417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26E3F56-9287-4A52-A9C9-F4A574E48DD1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2190750" cy="3924300"/>
          </a:xfrm>
          <a:prstGeom prst="roundRect">
            <a:avLst>
              <a:gd name="adj" fmla="val 7826"/>
            </a:avLst>
          </a:prstGeom>
          <a:solidFill>
            <a:srgbClr val="EAF3FA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1B1E41-89EF-46B7-9A48-D56D6A1E019B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BAFB1A-2300-4B25-A9A3-1AB9126D9750}"/>
              </a:ext>
            </a:extLst>
          </p:cNvPr>
          <p:cNvSpPr>
            <a:spLocks noGrp="1"/>
          </p:cNvSpPr>
          <p:nvPr/>
        </p:nvSpPr>
        <p:spPr>
          <a:xfrm>
            <a:off x="1200150" y="15906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A05EA0-F2E4-48AD-9D98-891C822A1410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See the system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54E5E3-02AD-45B1-AC64-388AF4DAE7F6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180975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B3E40EC-C232-4B04-85A0-B19353CBD481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180975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EC0FAD-E998-45D6-A40C-EAADBEB830E1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01  MAP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CD04A71-4C39-4B63-A837-CD82A087C577}"/>
              </a:ext>
            </a:extLst>
          </p:cNvPr>
          <p:cNvSpPr>
            <a:spLocks noGrp="1"/>
          </p:cNvSpPr>
          <p:nvPr/>
        </p:nvSpPr>
        <p:spPr>
          <a:xfrm>
            <a:off x="742950" y="3305175"/>
            <a:ext cx="180975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44C0C4-2B91-42C3-BB7D-8750E8DE1562}"/>
              </a:ext>
            </a:extLst>
          </p:cNvPr>
          <p:cNvSpPr>
            <a:spLocks noGrp="1"/>
          </p:cNvSpPr>
          <p:nvPr/>
        </p:nvSpPr>
        <p:spPr>
          <a:xfrm>
            <a:off x="819150" y="3305175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07  CONTEXT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8CBDC70-806B-44E2-8255-8A2B25E7C3C3}"/>
              </a:ext>
            </a:extLst>
          </p:cNvPr>
          <p:cNvSpPr>
            <a:spLocks noGrp="1"/>
          </p:cNvSpPr>
          <p:nvPr/>
        </p:nvSpPr>
        <p:spPr>
          <a:xfrm>
            <a:off x="2933700" y="1371600"/>
            <a:ext cx="3390900" cy="3924300"/>
          </a:xfrm>
          <a:prstGeom prst="roundRect">
            <a:avLst>
              <a:gd name="adj" fmla="val 5056"/>
            </a:avLst>
          </a:prstGeom>
          <a:solidFill>
            <a:srgbClr val="DCECF8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2B83DB-305E-4DCA-B35C-4E4B23826735}"/>
              </a:ext>
            </a:extLst>
          </p:cNvPr>
          <p:cNvSpPr>
            <a:spLocks noGrp="1"/>
          </p:cNvSpPr>
          <p:nvPr/>
        </p:nvSpPr>
        <p:spPr>
          <a:xfrm>
            <a:off x="3124200" y="15621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FBC3D9-7CC3-45FC-9921-0D595FE8348F}"/>
              </a:ext>
            </a:extLst>
          </p:cNvPr>
          <p:cNvSpPr>
            <a:spLocks noGrp="1"/>
          </p:cNvSpPr>
          <p:nvPr/>
        </p:nvSpPr>
        <p:spPr>
          <a:xfrm>
            <a:off x="3581400" y="1590675"/>
            <a:ext cx="2552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REDUCE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45286F-6935-4311-AF92-368F22A9B760}"/>
              </a:ext>
            </a:extLst>
          </p:cNvPr>
          <p:cNvSpPr>
            <a:spLocks noGrp="1"/>
          </p:cNvSpPr>
          <p:nvPr/>
        </p:nvSpPr>
        <p:spPr>
          <a:xfrm>
            <a:off x="3124200" y="20002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Shrink exposure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2D4578-B9C9-47F9-81F8-CC9A8B3D5FE1}"/>
              </a:ext>
            </a:extLst>
          </p:cNvPr>
          <p:cNvSpPr>
            <a:spLocks noGrp="1"/>
          </p:cNvSpPr>
          <p:nvPr/>
        </p:nvSpPr>
        <p:spPr>
          <a:xfrm>
            <a:off x="3124200" y="2390775"/>
            <a:ext cx="300990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2AF7F6F2-3CC8-476D-BEF6-102FED0C6CC5}"/>
              </a:ext>
            </a:extLst>
          </p:cNvPr>
          <p:cNvSpPr>
            <a:spLocks noGrp="1"/>
          </p:cNvSpPr>
          <p:nvPr/>
        </p:nvSpPr>
        <p:spPr>
          <a:xfrm>
            <a:off x="3124200" y="2628900"/>
            <a:ext cx="30099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3DF698-53C9-47DF-906F-84368518EA07}"/>
              </a:ext>
            </a:extLst>
          </p:cNvPr>
          <p:cNvSpPr>
            <a:spLocks noGrp="1"/>
          </p:cNvSpPr>
          <p:nvPr/>
        </p:nvSpPr>
        <p:spPr>
          <a:xfrm>
            <a:off x="3200400" y="26289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7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7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02  MINIMISE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6AB42AE-4D55-432A-B70B-8EC4BE40B1A1}"/>
              </a:ext>
            </a:extLst>
          </p:cNvPr>
          <p:cNvSpPr>
            <a:spLocks noGrp="1"/>
          </p:cNvSpPr>
          <p:nvPr/>
        </p:nvSpPr>
        <p:spPr>
          <a:xfrm>
            <a:off x="3124200" y="3248025"/>
            <a:ext cx="30099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466C1F2-6484-4103-A613-532CFA4BCBF2}"/>
              </a:ext>
            </a:extLst>
          </p:cNvPr>
          <p:cNvSpPr>
            <a:spLocks noGrp="1"/>
          </p:cNvSpPr>
          <p:nvPr/>
        </p:nvSpPr>
        <p:spPr>
          <a:xfrm>
            <a:off x="3200400" y="32480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7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7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03  LIMIT PURPOSE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6629BFA-BE31-4CBA-B28E-7B1F663EE95C}"/>
              </a:ext>
            </a:extLst>
          </p:cNvPr>
          <p:cNvSpPr>
            <a:spLocks noGrp="1"/>
          </p:cNvSpPr>
          <p:nvPr/>
        </p:nvSpPr>
        <p:spPr>
          <a:xfrm>
            <a:off x="3124200" y="3867150"/>
            <a:ext cx="30099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A5E778-6A46-4B83-91FB-38151E232E55}"/>
              </a:ext>
            </a:extLst>
          </p:cNvPr>
          <p:cNvSpPr>
            <a:spLocks noGrp="1"/>
          </p:cNvSpPr>
          <p:nvPr/>
        </p:nvSpPr>
        <p:spPr>
          <a:xfrm>
            <a:off x="3200400" y="38671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7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7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04  TEST INFERENCE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B3641594-CFDA-4339-963F-CADFBBB790B5}"/>
              </a:ext>
            </a:extLst>
          </p:cNvPr>
          <p:cNvSpPr>
            <a:spLocks noGrp="1"/>
          </p:cNvSpPr>
          <p:nvPr/>
        </p:nvSpPr>
        <p:spPr>
          <a:xfrm>
            <a:off x="3124200" y="4486275"/>
            <a:ext cx="30099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BC3599-9883-45B5-A4EC-A628C4EEF904}"/>
              </a:ext>
            </a:extLst>
          </p:cNvPr>
          <p:cNvSpPr>
            <a:spLocks noGrp="1"/>
          </p:cNvSpPr>
          <p:nvPr/>
        </p:nvSpPr>
        <p:spPr>
          <a:xfrm>
            <a:off x="3200400" y="44862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7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7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05  SELECT PETs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06595F3-FEA4-4BDB-943B-7EC253269DA0}"/>
              </a:ext>
            </a:extLst>
          </p:cNvPr>
          <p:cNvSpPr>
            <a:spLocks noGrp="1"/>
          </p:cNvSpPr>
          <p:nvPr/>
        </p:nvSpPr>
        <p:spPr>
          <a:xfrm>
            <a:off x="6515100" y="1371600"/>
            <a:ext cx="2857500" cy="3924300"/>
          </a:xfrm>
          <a:prstGeom prst="roundRect">
            <a:avLst>
              <a:gd name="adj" fmla="val 6000"/>
            </a:avLst>
          </a:prstGeom>
          <a:solidFill>
            <a:srgbClr val="C9E1F2"/>
          </a:solidFill>
          <a:ln w="10478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A03DC2-4C2F-4B37-A0CB-BACB7A5C9DB5}"/>
              </a:ext>
            </a:extLst>
          </p:cNvPr>
          <p:cNvSpPr>
            <a:spLocks noGrp="1"/>
          </p:cNvSpPr>
          <p:nvPr/>
        </p:nvSpPr>
        <p:spPr>
          <a:xfrm>
            <a:off x="6705600" y="15621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51FE993-AC3D-4C86-9919-8A29B7A39A1F}"/>
              </a:ext>
            </a:extLst>
          </p:cNvPr>
          <p:cNvSpPr>
            <a:spLocks noGrp="1"/>
          </p:cNvSpPr>
          <p:nvPr/>
        </p:nvSpPr>
        <p:spPr>
          <a:xfrm>
            <a:off x="7162800" y="1590675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7E5496-B1EB-41DD-91C3-18A261BF8A4C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Make control real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CBD62E9-6D85-4411-93E6-DD17F017BD49}"/>
              </a:ext>
            </a:extLst>
          </p:cNvPr>
          <p:cNvSpPr>
            <a:spLocks noGrp="1"/>
          </p:cNvSpPr>
          <p:nvPr/>
        </p:nvSpPr>
        <p:spPr>
          <a:xfrm>
            <a:off x="6705600" y="2390775"/>
            <a:ext cx="2476500" cy="190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5D9BF3A-D195-4B92-87FA-03D6A73E1CE9}"/>
              </a:ext>
            </a:extLst>
          </p:cNvPr>
          <p:cNvSpPr>
            <a:spLocks noGrp="1"/>
          </p:cNvSpPr>
          <p:nvPr/>
        </p:nvSpPr>
        <p:spPr>
          <a:xfrm>
            <a:off x="6705600" y="2628900"/>
            <a:ext cx="247650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6953A69-6398-4E3C-92D9-C52B953D609F}"/>
              </a:ext>
            </a:extLst>
          </p:cNvPr>
          <p:cNvSpPr>
            <a:spLocks noGrp="1"/>
          </p:cNvSpPr>
          <p:nvPr/>
        </p:nvSpPr>
        <p:spPr>
          <a:xfrm>
            <a:off x="6781800" y="2628900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06  REVIEW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4BFCB12-72C7-4E8B-ADA8-3D9AF80CDDA2}"/>
              </a:ext>
            </a:extLst>
          </p:cNvPr>
          <p:cNvSpPr>
            <a:spLocks noGrp="1"/>
          </p:cNvSpPr>
          <p:nvPr/>
        </p:nvSpPr>
        <p:spPr>
          <a:xfrm>
            <a:off x="6705600" y="3305175"/>
            <a:ext cx="247650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A19C0C4-9CF1-4E25-B6EB-53D621568537}"/>
              </a:ext>
            </a:extLst>
          </p:cNvPr>
          <p:cNvSpPr>
            <a:spLocks noGrp="1"/>
          </p:cNvSpPr>
          <p:nvPr/>
        </p:nvSpPr>
        <p:spPr>
          <a:xfrm>
            <a:off x="6781800" y="3305175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08  AUDIT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9BEAC2A4-1CB6-496B-9AC9-2723EB1972A9}"/>
              </a:ext>
            </a:extLst>
          </p:cNvPr>
          <p:cNvSpPr>
            <a:spLocks noGrp="1"/>
          </p:cNvSpPr>
          <p:nvPr/>
        </p:nvSpPr>
        <p:spPr>
          <a:xfrm>
            <a:off x="6705600" y="3981450"/>
            <a:ext cx="247650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6BC238F-8B05-44FF-A7E1-92BD9485136B}"/>
              </a:ext>
            </a:extLst>
          </p:cNvPr>
          <p:cNvSpPr>
            <a:spLocks noGrp="1"/>
          </p:cNvSpPr>
          <p:nvPr/>
        </p:nvSpPr>
        <p:spPr>
          <a:xfrm>
            <a:off x="6781800" y="3981450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09  DOCUMENT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A181EC90-9C27-459D-ADC1-54B4178CE9AD}"/>
              </a:ext>
            </a:extLst>
          </p:cNvPr>
          <p:cNvSpPr>
            <a:spLocks noGrp="1"/>
          </p:cNvSpPr>
          <p:nvPr/>
        </p:nvSpPr>
        <p:spPr>
          <a:xfrm>
            <a:off x="9563100" y="1371600"/>
            <a:ext cx="2076450" cy="3924300"/>
          </a:xfrm>
          <a:prstGeom prst="roundRect">
            <a:avLst>
              <a:gd name="adj" fmla="val 8257"/>
            </a:avLst>
          </a:prstGeom>
          <a:solidFill>
            <a:srgbClr val="003366"/>
          </a:solidFill>
          <a:ln w="10478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DABE289-33B6-44DD-B9A8-E1C919736BC3}"/>
              </a:ext>
            </a:extLst>
          </p:cNvPr>
          <p:cNvSpPr>
            <a:spLocks noGrp="1"/>
          </p:cNvSpPr>
          <p:nvPr/>
        </p:nvSpPr>
        <p:spPr>
          <a:xfrm>
            <a:off x="9753600" y="15621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08C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08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2273AAE-81A7-45E2-AB89-046368C0C1E7}"/>
              </a:ext>
            </a:extLst>
          </p:cNvPr>
          <p:cNvSpPr>
            <a:spLocks noGrp="1"/>
          </p:cNvSpPr>
          <p:nvPr/>
        </p:nvSpPr>
        <p:spPr>
          <a:xfrm>
            <a:off x="10210800" y="15906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REDRESS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10DB25-E452-4EB3-BEBA-5342FCE9D80A}"/>
              </a:ext>
            </a:extLst>
          </p:cNvPr>
          <p:cNvSpPr>
            <a:spLocks noGrp="1"/>
          </p:cNvSpPr>
          <p:nvPr/>
        </p:nvSpPr>
        <p:spPr>
          <a:xfrm>
            <a:off x="9753600" y="20002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BCD8E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CD8EB"/>
                </a:solidFill>
                <a:latin typeface="Arial"/>
                <a:ea typeface="Arial"/>
                <a:cs typeface="Arial"/>
              </a:rPr>
              <a:t>Plan the remedy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205F87E-B652-40A8-9513-475A47BD9ABB}"/>
              </a:ext>
            </a:extLst>
          </p:cNvPr>
          <p:cNvSpPr>
            <a:spLocks noGrp="1"/>
          </p:cNvSpPr>
          <p:nvPr/>
        </p:nvSpPr>
        <p:spPr>
          <a:xfrm>
            <a:off x="9753600" y="2390775"/>
            <a:ext cx="1695450" cy="19050"/>
          </a:xfrm>
          <a:prstGeom prst="rect">
            <a:avLst/>
          </a:prstGeom>
          <a:solidFill>
            <a:srgbClr val="4F94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ADA06671-29B6-4A33-8BBB-CE7AC18E62C7}"/>
              </a:ext>
            </a:extLst>
          </p:cNvPr>
          <p:cNvSpPr>
            <a:spLocks noGrp="1"/>
          </p:cNvSpPr>
          <p:nvPr/>
        </p:nvSpPr>
        <p:spPr>
          <a:xfrm>
            <a:off x="9753600" y="2895600"/>
            <a:ext cx="1695450" cy="685800"/>
          </a:xfrm>
          <a:prstGeom prst="roundRect">
            <a:avLst>
              <a:gd name="adj" fmla="val 50000"/>
            </a:avLst>
          </a:prstGeom>
          <a:solidFill>
            <a:srgbClr val="0E4F82"/>
          </a:solidFill>
          <a:ln w="9525">
            <a:solidFill>
              <a:srgbClr val="4F94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62F0B7B-E273-48F9-9704-BF331BABA118}"/>
              </a:ext>
            </a:extLst>
          </p:cNvPr>
          <p:cNvSpPr>
            <a:spLocks noGrp="1"/>
          </p:cNvSpPr>
          <p:nvPr/>
        </p:nvSpPr>
        <p:spPr>
          <a:xfrm>
            <a:off x="9829800" y="289560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 REDRESS</a:t>
            </a:r>
          </a:p>
        </p:txBody>
      </p:sp>
      <p:sp>
        <p:nvSpPr>
          <p:cNvPr id="49" name="右箭头 48">
            <a:extLst>
              <a:ext uri="{FF2B5EF4-FFF2-40B4-BE49-F238E27FC236}">
                <a16:creationId xmlns:a16="http://schemas.microsoft.com/office/drawing/2014/main" id="{C221FCF2-B91C-4A18-AD86-C22A63829624}"/>
              </a:ext>
            </a:extLst>
          </p:cNvPr>
          <p:cNvSpPr>
            <a:spLocks noGrp="1"/>
          </p:cNvSpPr>
          <p:nvPr/>
        </p:nvSpPr>
        <p:spPr>
          <a:xfrm>
            <a:off x="2752725" y="3200400"/>
            <a:ext cx="171450" cy="2476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右箭头 49">
            <a:extLst>
              <a:ext uri="{FF2B5EF4-FFF2-40B4-BE49-F238E27FC236}">
                <a16:creationId xmlns:a16="http://schemas.microsoft.com/office/drawing/2014/main" id="{45D31361-13D6-43EC-9DB4-96E1A3043B47}"/>
              </a:ext>
            </a:extLst>
          </p:cNvPr>
          <p:cNvSpPr>
            <a:spLocks noGrp="1"/>
          </p:cNvSpPr>
          <p:nvPr/>
        </p:nvSpPr>
        <p:spPr>
          <a:xfrm>
            <a:off x="6334125" y="3200400"/>
            <a:ext cx="171450" cy="24765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右箭头 50">
            <a:extLst>
              <a:ext uri="{FF2B5EF4-FFF2-40B4-BE49-F238E27FC236}">
                <a16:creationId xmlns:a16="http://schemas.microsoft.com/office/drawing/2014/main" id="{BBDF56A3-8997-40D4-8A62-F7A09DD42907}"/>
              </a:ext>
            </a:extLst>
          </p:cNvPr>
          <p:cNvSpPr>
            <a:spLocks noGrp="1"/>
          </p:cNvSpPr>
          <p:nvPr/>
        </p:nvSpPr>
        <p:spPr>
          <a:xfrm>
            <a:off x="9382125" y="3200400"/>
            <a:ext cx="171450" cy="247650"/>
          </a:xfrm>
          <a:prstGeom prst="rightArrow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D97D621D-6168-4266-888A-8F887913C432}"/>
              </a:ext>
            </a:extLst>
          </p:cNvPr>
          <p:cNvSpPr>
            <a:spLocks noGrp="1"/>
          </p:cNvSpPr>
          <p:nvPr/>
        </p:nvSpPr>
        <p:spPr>
          <a:xfrm>
            <a:off x="4076700" y="5495925"/>
            <a:ext cx="4038600" cy="381000"/>
          </a:xfrm>
          <a:prstGeom prst="roundRect">
            <a:avLst>
              <a:gd name="adj" fmla="val 50000"/>
            </a:avLst>
          </a:prstGeom>
          <a:solidFill>
            <a:srgbClr val="F3F8FC"/>
          </a:solidFill>
          <a:ln w="9525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6C33A03-881B-472D-B02F-DD82D251177C}"/>
              </a:ext>
            </a:extLst>
          </p:cNvPr>
          <p:cNvSpPr>
            <a:spLocks noGrp="1"/>
          </p:cNvSpPr>
          <p:nvPr/>
        </p:nvSpPr>
        <p:spPr>
          <a:xfrm>
            <a:off x="4152900" y="5495925"/>
            <a:ext cx="3886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TRACE → REDUCE → VERIFY → REMEDY</a:t>
            </a:r>
          </a:p>
        </p:txBody>
      </p:sp>
    </p:spTree>
    <p:extLst>
      <p:ext uri="{BB962C8B-B14F-4D97-AF65-F5344CB8AC3E}">
        <p14:creationId xmlns:p14="http://schemas.microsoft.com/office/powerpoint/2010/main" val="18936588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FFC6912D-5CFF-4BC1-BC80-34E82B6056A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CLASS ACTIVITY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CFBB6E-2F6D-49E8-ACAF-E19EC1BC2645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Mini activity: the privacy audit canvas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B4BAB92-AE3C-4198-9BA6-EACE7A6A832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8A2A4-1B85-4284-9AE9-B16A67D926B3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B302981-1F99-49B0-9941-F53A7E6450E9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D044DF-6D7F-4F2E-8A99-6D230033BE9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Work across the canvas, then compress the analysis into one actionable audit finding.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92D5FF-F18C-4CB4-B8A8-F4C2F0372EE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AB8A48-9284-45B9-AB43-B102CCC636B0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FEFC2FD-9A89-4145-A548-0C27721DA0B1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5486400" cy="1676400"/>
          </a:xfrm>
          <a:prstGeom prst="roundRect">
            <a:avLst>
              <a:gd name="adj" fmla="val 9091"/>
            </a:avLst>
          </a:prstGeom>
          <a:solidFill>
            <a:srgbClr val="F3F8FC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12223A6-E4B8-4A65-B2FE-05D6D2805520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7C5D7E-96A8-4B44-A9B3-81AEC59318BB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1AE6E4-A04C-4E52-A50F-B25BDCF283E6}"/>
              </a:ext>
            </a:extLst>
          </p:cNvPr>
          <p:cNvSpPr>
            <a:spLocks noGrp="1"/>
          </p:cNvSpPr>
          <p:nvPr/>
        </p:nvSpPr>
        <p:spPr>
          <a:xfrm>
            <a:off x="1219200" y="15335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FCAEA0-8469-4F3F-803B-BC00C329AF0A}"/>
              </a:ext>
            </a:extLst>
          </p:cNvPr>
          <p:cNvSpPr>
            <a:spLocks noGrp="1"/>
          </p:cNvSpPr>
          <p:nvPr/>
        </p:nvSpPr>
        <p:spPr>
          <a:xfrm>
            <a:off x="723900" y="2028825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A93D63-832E-451B-BAFA-5B81DD0C6CF9}"/>
              </a:ext>
            </a:extLst>
          </p:cNvPr>
          <p:cNvSpPr>
            <a:spLocks noGrp="1"/>
          </p:cNvSpPr>
          <p:nvPr/>
        </p:nvSpPr>
        <p:spPr>
          <a:xfrm>
            <a:off x="952500" y="19621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Stakeholders — Who is affected?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1B135F-9FAA-4CBB-ACB1-766B62448B0E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8AE48B-9273-4F78-94DB-094FB300E9C3}"/>
              </a:ext>
            </a:extLst>
          </p:cNvPr>
          <p:cNvSpPr>
            <a:spLocks noGrp="1"/>
          </p:cNvSpPr>
          <p:nvPr/>
        </p:nvSpPr>
        <p:spPr>
          <a:xfrm>
            <a:off x="952500" y="2390775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Rights — Can people act on them?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885B79C-40C4-4B19-B198-AF312E528A7D}"/>
              </a:ext>
            </a:extLst>
          </p:cNvPr>
          <p:cNvSpPr>
            <a:spLocks noGrp="1"/>
          </p:cNvSpPr>
          <p:nvPr/>
        </p:nvSpPr>
        <p:spPr>
          <a:xfrm>
            <a:off x="6153150" y="1333500"/>
            <a:ext cx="5486400" cy="1676400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8BB2B81-2DA9-4B32-9E00-792570335A83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3DEC96-E329-4396-B362-B0ADA8FD7E22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BE3E35-9A87-484A-BAC0-2EA7FE14BA37}"/>
              </a:ext>
            </a:extLst>
          </p:cNvPr>
          <p:cNvSpPr>
            <a:spLocks noGrp="1"/>
          </p:cNvSpPr>
          <p:nvPr/>
        </p:nvSpPr>
        <p:spPr>
          <a:xfrm>
            <a:off x="6819900" y="15335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DATA + PURPOSE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F589AD-EDB1-4300-9666-B45BC969982D}"/>
              </a:ext>
            </a:extLst>
          </p:cNvPr>
          <p:cNvSpPr>
            <a:spLocks noGrp="1"/>
          </p:cNvSpPr>
          <p:nvPr/>
        </p:nvSpPr>
        <p:spPr>
          <a:xfrm>
            <a:off x="6324600" y="2028825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7D4310-2BF6-4F74-9414-5C0528FDE450}"/>
              </a:ext>
            </a:extLst>
          </p:cNvPr>
          <p:cNvSpPr>
            <a:spLocks noGrp="1"/>
          </p:cNvSpPr>
          <p:nvPr/>
        </p:nvSpPr>
        <p:spPr>
          <a:xfrm>
            <a:off x="6553200" y="196215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 flows — What is collected or inferred?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CCB18E-834F-44E8-A0DA-18AA96086CD7}"/>
              </a:ext>
            </a:extLst>
          </p:cNvPr>
          <p:cNvSpPr>
            <a:spLocks noGrp="1"/>
          </p:cNvSpPr>
          <p:nvPr/>
        </p:nvSpPr>
        <p:spPr>
          <a:xfrm>
            <a:off x="6324600" y="2457450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3BE18F-1434-45C1-B6F3-39F5DFB473C5}"/>
              </a:ext>
            </a:extLst>
          </p:cNvPr>
          <p:cNvSpPr>
            <a:spLocks noGrp="1"/>
          </p:cNvSpPr>
          <p:nvPr/>
        </p:nvSpPr>
        <p:spPr>
          <a:xfrm>
            <a:off x="6553200" y="2390775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Legal basis — What supports each purpose?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B47681B-E91F-4E32-BDC6-2E82AEB045C6}"/>
              </a:ext>
            </a:extLst>
          </p:cNvPr>
          <p:cNvSpPr>
            <a:spLocks noGrp="1"/>
          </p:cNvSpPr>
          <p:nvPr/>
        </p:nvSpPr>
        <p:spPr>
          <a:xfrm>
            <a:off x="552450" y="3286125"/>
            <a:ext cx="5486400" cy="1676400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02A02A8-DA58-4340-BED0-AA5070CFD659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361950" cy="361950"/>
          </a:xfrm>
          <a:prstGeom prst="ellipse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C6C824-F216-48E2-B637-0DA84D70E4C5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A0409B5-9A28-4B02-8132-ABFF4CFBC540}"/>
              </a:ext>
            </a:extLst>
          </p:cNvPr>
          <p:cNvSpPr>
            <a:spLocks noGrp="1"/>
          </p:cNvSpPr>
          <p:nvPr/>
        </p:nvSpPr>
        <p:spPr>
          <a:xfrm>
            <a:off x="1219200" y="3486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362C-BC75-436B-9B64-D0008D4C4720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653C5B-0D20-4772-869E-FB39EE3EB7E6}"/>
              </a:ext>
            </a:extLst>
          </p:cNvPr>
          <p:cNvSpPr>
            <a:spLocks noGrp="1"/>
          </p:cNvSpPr>
          <p:nvPr/>
        </p:nvSpPr>
        <p:spPr>
          <a:xfrm>
            <a:off x="952500" y="3914775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PETs — Which technical control fits?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7A8886-F480-464B-8C25-04522E5AA2CC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5A7B68-C95B-4189-9612-62337094BB37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Governance — Who owns the decision and DPIA?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1040BABE-6A17-41BF-A1D2-C3C69F302AF4}"/>
              </a:ext>
            </a:extLst>
          </p:cNvPr>
          <p:cNvSpPr>
            <a:spLocks noGrp="1"/>
          </p:cNvSpPr>
          <p:nvPr/>
        </p:nvSpPr>
        <p:spPr>
          <a:xfrm>
            <a:off x="6153150" y="3286125"/>
            <a:ext cx="5486400" cy="1676400"/>
          </a:xfrm>
          <a:prstGeom prst="roundRect">
            <a:avLst>
              <a:gd name="adj" fmla="val 9091"/>
            </a:avLst>
          </a:prstGeom>
          <a:solidFill>
            <a:srgbClr val="FFF5F1"/>
          </a:solidFill>
          <a:ln w="11430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625045D-BC63-4621-8EF8-AD7B046BE7D5}"/>
              </a:ext>
            </a:extLst>
          </p:cNvPr>
          <p:cNvSpPr>
            <a:spLocks noGrp="1"/>
          </p:cNvSpPr>
          <p:nvPr/>
        </p:nvSpPr>
        <p:spPr>
          <a:xfrm>
            <a:off x="6324600" y="3457575"/>
            <a:ext cx="361950" cy="361950"/>
          </a:xfrm>
          <a:prstGeom prst="ellipse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4D1326C-9A75-4157-B55C-3F3287225427}"/>
              </a:ext>
            </a:extLst>
          </p:cNvPr>
          <p:cNvSpPr>
            <a:spLocks noGrp="1"/>
          </p:cNvSpPr>
          <p:nvPr/>
        </p:nvSpPr>
        <p:spPr>
          <a:xfrm>
            <a:off x="6324600" y="34575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26B2253-73E7-4A33-918F-DE08B2B1A638}"/>
              </a:ext>
            </a:extLst>
          </p:cNvPr>
          <p:cNvSpPr>
            <a:spLocks noGrp="1"/>
          </p:cNvSpPr>
          <p:nvPr/>
        </p:nvSpPr>
        <p:spPr>
          <a:xfrm>
            <a:off x="6819900" y="3486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HARM + REMEDY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350E69-E829-4AED-9A29-592B6CDCB92A}"/>
              </a:ext>
            </a:extLst>
          </p:cNvPr>
          <p:cNvSpPr>
            <a:spLocks noGrp="1"/>
          </p:cNvSpPr>
          <p:nvPr/>
        </p:nvSpPr>
        <p:spPr>
          <a:xfrm>
            <a:off x="6324600" y="3981450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B72999-6C2B-44BC-BD23-3C91A14D0292}"/>
              </a:ext>
            </a:extLst>
          </p:cNvPr>
          <p:cNvSpPr>
            <a:spLocks noGrp="1"/>
          </p:cNvSpPr>
          <p:nvPr/>
        </p:nvSpPr>
        <p:spPr>
          <a:xfrm>
            <a:off x="6553200" y="3914775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Risks — What harm is plausible?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C2563B-1DD4-4D0E-989B-A1284D200069}"/>
              </a:ext>
            </a:extLst>
          </p:cNvPr>
          <p:cNvSpPr>
            <a:spLocks noGrp="1"/>
          </p:cNvSpPr>
          <p:nvPr/>
        </p:nvSpPr>
        <p:spPr>
          <a:xfrm>
            <a:off x="6324600" y="4410075"/>
            <a:ext cx="114300" cy="11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65B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AA793B5-BF03-4CB2-A462-84AA641DF10E}"/>
              </a:ext>
            </a:extLst>
          </p:cNvPr>
          <p:cNvSpPr>
            <a:spLocks noGrp="1"/>
          </p:cNvSpPr>
          <p:nvPr/>
        </p:nvSpPr>
        <p:spPr>
          <a:xfrm>
            <a:off x="6553200" y="4343400"/>
            <a:ext cx="487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Remedy — What happens after failure?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8F091E6-E0C2-4CC6-99D2-1171BB4A519C}"/>
              </a:ext>
            </a:extLst>
          </p:cNvPr>
          <p:cNvSpPr>
            <a:spLocks noGrp="1"/>
          </p:cNvSpPr>
          <p:nvPr/>
        </p:nvSpPr>
        <p:spPr>
          <a:xfrm>
            <a:off x="2305050" y="5181600"/>
            <a:ext cx="7581900" cy="704850"/>
          </a:xfrm>
          <a:prstGeom prst="roundRect">
            <a:avLst>
              <a:gd name="adj" fmla="val 21622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F65749-4065-458B-9031-A3C613850FA8}"/>
              </a:ext>
            </a:extLst>
          </p:cNvPr>
          <p:cNvSpPr>
            <a:spLocks noGrp="1"/>
          </p:cNvSpPr>
          <p:nvPr/>
        </p:nvSpPr>
        <p:spPr>
          <a:xfrm>
            <a:off x="2533650" y="5286375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950" b="1" i="0">
                <a:solidFill>
                  <a:srgbClr val="9EC8E8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9EC8E8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5FEAE9-7B26-4624-A340-560AA52592BA}"/>
              </a:ext>
            </a:extLst>
          </p:cNvPr>
          <p:cNvSpPr>
            <a:spLocks noGrp="1"/>
          </p:cNvSpPr>
          <p:nvPr/>
        </p:nvSpPr>
        <p:spPr>
          <a:xfrm>
            <a:off x="3829050" y="5276850"/>
            <a:ext cx="461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sentences: highest risk · strongest safeguard · one unmet right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9455C07C-41B1-4FD6-A507-B38CF64632EB}"/>
              </a:ext>
            </a:extLst>
          </p:cNvPr>
          <p:cNvSpPr>
            <a:spLocks noGrp="1"/>
          </p:cNvSpPr>
          <p:nvPr/>
        </p:nvSpPr>
        <p:spPr>
          <a:xfrm>
            <a:off x="8553450" y="5343525"/>
            <a:ext cx="1104900" cy="40005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AE67793-C9D8-42BC-92BD-1AE6EF65F52E}"/>
              </a:ext>
            </a:extLst>
          </p:cNvPr>
          <p:cNvSpPr>
            <a:spLocks noGrp="1"/>
          </p:cNvSpPr>
          <p:nvPr/>
        </p:nvSpPr>
        <p:spPr>
          <a:xfrm>
            <a:off x="8629650" y="534352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10 + 5 MIN</a:t>
            </a:r>
          </a:p>
        </p:txBody>
      </p:sp>
    </p:spTree>
    <p:extLst>
      <p:ext uri="{BB962C8B-B14F-4D97-AF65-F5344CB8AC3E}">
        <p14:creationId xmlns:p14="http://schemas.microsoft.com/office/powerpoint/2010/main" val="10682011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330CCB5-1660-46E9-A605-E3FD10E433F7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CLASS ACTIVITY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82AD7F-D1E8-4046-A3F4-2E1F07F36950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Structured debate: privacy and utility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91F5A29-6880-4A7C-B206-F5C1D648765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360B5B-3112-4E07-A3C7-F68A8076B7F2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7224C11-82F2-4C64-B88D-DE1A304B6E8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2DAD68-26F4-42F9-AAED-3ABBD1E8DB0F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 credible trade-off identifies who gains, who bears risk, and what evidence supports the choice.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FEF640-E9FF-443F-9597-53141DA18CF1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11EBE7-1D2B-4A1B-B7BB-E7397975335B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1028700" y="1276350"/>
          <a:ext cx="10287000" cy="37719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PRIVACY ADVOCATE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ADVOCATE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Core value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Autonomy, dignity, and limits on power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Performance, access, and public benefit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Collect only what the purpose needs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Use available data when expected benefits justify it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Consent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Specific choice with an easy withdrawal path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 workable permission model at operational scale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Primary risk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Surveillance, chilling effects, and weak recourse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Missed benefit, reduced accuracy, or underperformance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</a:rPr>
                        <a:t>Preferred remedy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Restriction, PETs, or prohibition for unacceptable uses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Transparency, audit, and proportionate opt-out</a:t>
                      </a:r>
                    </a:p>
                  </a:txBody>
                  <a:tcPr anchor="ctr">
                    <a:solidFill>
                      <a:srgbClr val="F3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C99603B-00E7-495E-8F93-2E1D85A7C423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9334500" cy="552450"/>
          </a:xfrm>
          <a:prstGeom prst="roundRect">
            <a:avLst>
              <a:gd name="adj" fmla="val 20690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F229B6-822C-4D07-A4D5-095D92B0BBBC}"/>
              </a:ext>
            </a:extLst>
          </p:cNvPr>
          <p:cNvSpPr>
            <a:spLocks noGrp="1"/>
          </p:cNvSpPr>
          <p:nvPr/>
        </p:nvSpPr>
        <p:spPr>
          <a:xfrm>
            <a:off x="1714500" y="5305425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Debate prompt: which evidence would change your position?</a:t>
            </a:r>
          </a:p>
        </p:txBody>
      </p:sp>
    </p:spTree>
    <p:extLst>
      <p:ext uri="{BB962C8B-B14F-4D97-AF65-F5344CB8AC3E}">
        <p14:creationId xmlns:p14="http://schemas.microsoft.com/office/powerpoint/2010/main" val="20869618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C3E361B-17A7-4D66-A258-0B10046CA64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ACCOUNTABILITY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B2EAEE-AE0E-473F-A9A7-921FCE8F4B1A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Limits of law and governance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7E285FC-53DE-4B4A-B63B-0131A1B5174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AD3596-873A-44F4-AF36-6809A2F6DE20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A78EC3A-498D-48AB-8110-E74A28436F05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774019-9E95-48EA-BEB1-A0DDC3A960D1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Durable privacy protection requires legal authority, engineering capacity, and organisational practice.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111FC3-E812-4B37-8155-21EECCEBB23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F8D66-DAD5-402A-BC64-518F36271C5C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D0CE20-E272-493C-94C5-750DB5CC3CF6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0CB26B-757D-402D-885F-7010B52DCC0D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LAW LAGS CHANGE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DE7906-AA33-410E-9DB8-D65A142CEED0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2381250" cy="381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972B36-27F5-47F3-8786-CD69F9B44B4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New model capabilities and uses can appear before doctrine and guidance settle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DA0011-641A-4E3D-93FC-AA721785DB31}"/>
              </a:ext>
            </a:extLst>
          </p:cNvPr>
          <p:cNvSpPr>
            <a:spLocks noGrp="1"/>
          </p:cNvSpPr>
          <p:nvPr/>
        </p:nvSpPr>
        <p:spPr>
          <a:xfrm>
            <a:off x="3352800" y="13716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59572A-78AA-4C69-AEE5-F82361C4858E}"/>
              </a:ext>
            </a:extLst>
          </p:cNvPr>
          <p:cNvSpPr>
            <a:spLocks noGrp="1"/>
          </p:cNvSpPr>
          <p:nvPr/>
        </p:nvSpPr>
        <p:spPr>
          <a:xfrm>
            <a:off x="3352800" y="19240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ENFORCEMENT VARIES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7DB609-3E65-412C-8C27-202B737E5F05}"/>
              </a:ext>
            </a:extLst>
          </p:cNvPr>
          <p:cNvSpPr>
            <a:spLocks noGrp="1"/>
          </p:cNvSpPr>
          <p:nvPr/>
        </p:nvSpPr>
        <p:spPr>
          <a:xfrm>
            <a:off x="3352800" y="2533650"/>
            <a:ext cx="2381250" cy="381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ED5FD9-A483-4FF7-BBE8-A98FC316F33F}"/>
              </a:ext>
            </a:extLst>
          </p:cNvPr>
          <p:cNvSpPr>
            <a:spLocks noGrp="1"/>
          </p:cNvSpPr>
          <p:nvPr/>
        </p:nvSpPr>
        <p:spPr>
          <a:xfrm>
            <a:off x="3352800" y="28003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Rights depend on regulator capacity, jurisdiction, and access to evidence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8E05EF-EF61-453E-8557-0BCC43060EDF}"/>
              </a:ext>
            </a:extLst>
          </p:cNvPr>
          <p:cNvSpPr>
            <a:spLocks noGrp="1"/>
          </p:cNvSpPr>
          <p:nvPr/>
        </p:nvSpPr>
        <p:spPr>
          <a:xfrm>
            <a:off x="6153150" y="13716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DD45A7-3E60-4465-BF8C-FA95D1CB7C3E}"/>
              </a:ext>
            </a:extLst>
          </p:cNvPr>
          <p:cNvSpPr>
            <a:spLocks noGrp="1"/>
          </p:cNvSpPr>
          <p:nvPr/>
        </p:nvSpPr>
        <p:spPr>
          <a:xfrm>
            <a:off x="6153150" y="19240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RIGHTS REQUIRE AGENCY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7FA5D3-4BFD-4423-86E9-B52B195B394A}"/>
              </a:ext>
            </a:extLst>
          </p:cNvPr>
          <p:cNvSpPr>
            <a:spLocks noGrp="1"/>
          </p:cNvSpPr>
          <p:nvPr/>
        </p:nvSpPr>
        <p:spPr>
          <a:xfrm>
            <a:off x="6153150" y="2533650"/>
            <a:ext cx="2381250" cy="3810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FF2BCD-3F52-4F44-B3FC-693C34A79EDB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People need notice, time, support, and a route to challenge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FDF468-AAF4-4DC8-B67C-5C0D3122C554}"/>
              </a:ext>
            </a:extLst>
          </p:cNvPr>
          <p:cNvSpPr>
            <a:spLocks noGrp="1"/>
          </p:cNvSpPr>
          <p:nvPr/>
        </p:nvSpPr>
        <p:spPr>
          <a:xfrm>
            <a:off x="8953500" y="13716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9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9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5EE2FB-25E8-4F6E-8B4A-EA3E05990FC8}"/>
              </a:ext>
            </a:extLst>
          </p:cNvPr>
          <p:cNvSpPr>
            <a:spLocks noGrp="1"/>
          </p:cNvSpPr>
          <p:nvPr/>
        </p:nvSpPr>
        <p:spPr>
          <a:xfrm>
            <a:off x="8953500" y="19240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DESIGN SITS UPSTREAM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05C10D-DE5D-48FC-A6AC-C4FDC4D650D5}"/>
              </a:ext>
            </a:extLst>
          </p:cNvPr>
          <p:cNvSpPr>
            <a:spLocks noGrp="1"/>
          </p:cNvSpPr>
          <p:nvPr/>
        </p:nvSpPr>
        <p:spPr>
          <a:xfrm>
            <a:off x="8953500" y="2533650"/>
            <a:ext cx="2381250" cy="38100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FC6D94-62B6-47C2-97FF-ACAF317A80CB}"/>
              </a:ext>
            </a:extLst>
          </p:cNvPr>
          <p:cNvSpPr>
            <a:spLocks noGrp="1"/>
          </p:cNvSpPr>
          <p:nvPr/>
        </p:nvSpPr>
        <p:spPr>
          <a:xfrm>
            <a:off x="8953500" y="28003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2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Avoiding unnecessary collection can remove risk before enforcement begins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5B934C9-8A6B-4F36-8971-83CB0E6729AE}"/>
              </a:ext>
            </a:extLst>
          </p:cNvPr>
          <p:cNvSpPr>
            <a:spLocks noGrp="1"/>
          </p:cNvSpPr>
          <p:nvPr/>
        </p:nvSpPr>
        <p:spPr>
          <a:xfrm>
            <a:off x="1905000" y="4762500"/>
            <a:ext cx="2476500" cy="514350"/>
          </a:xfrm>
          <a:prstGeom prst="roundRect">
            <a:avLst>
              <a:gd name="adj" fmla="val 18519"/>
            </a:avLst>
          </a:prstGeom>
          <a:solidFill>
            <a:srgbClr val="E6F0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A6B3E7A-8BC8-4E14-8C96-330A1EF4E169}"/>
              </a:ext>
            </a:extLst>
          </p:cNvPr>
          <p:cNvSpPr>
            <a:spLocks noGrp="1"/>
          </p:cNvSpPr>
          <p:nvPr/>
        </p:nvSpPr>
        <p:spPr>
          <a:xfrm>
            <a:off x="2000250" y="48577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LAW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40D4312D-E61D-4FFB-A1FF-FAE9079D0F94}"/>
              </a:ext>
            </a:extLst>
          </p:cNvPr>
          <p:cNvSpPr>
            <a:spLocks noGrp="1"/>
          </p:cNvSpPr>
          <p:nvPr/>
        </p:nvSpPr>
        <p:spPr>
          <a:xfrm>
            <a:off x="4572000" y="4762500"/>
            <a:ext cx="3429000" cy="514350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D06AA9-A366-4B96-9A74-411EBC7E2230}"/>
              </a:ext>
            </a:extLst>
          </p:cNvPr>
          <p:cNvSpPr>
            <a:spLocks noGrp="1"/>
          </p:cNvSpPr>
          <p:nvPr/>
        </p:nvSpPr>
        <p:spPr>
          <a:xfrm>
            <a:off x="4667250" y="48577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6154215-58E5-4BEE-B555-93CC67643B64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2476500" cy="514350"/>
          </a:xfrm>
          <a:prstGeom prst="roundRect">
            <a:avLst>
              <a:gd name="adj" fmla="val 18519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21E7FF-A281-464D-B260-160EF1EC0815}"/>
              </a:ext>
            </a:extLst>
          </p:cNvPr>
          <p:cNvSpPr>
            <a:spLocks noGrp="1"/>
          </p:cNvSpPr>
          <p:nvPr/>
        </p:nvSpPr>
        <p:spPr>
          <a:xfrm>
            <a:off x="8286750" y="48577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CULTURE</a:t>
            </a:r>
          </a:p>
        </p:txBody>
      </p:sp>
    </p:spTree>
    <p:extLst>
      <p:ext uri="{BB962C8B-B14F-4D97-AF65-F5344CB8AC3E}">
        <p14:creationId xmlns:p14="http://schemas.microsoft.com/office/powerpoint/2010/main" val="3000650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9EBC096-928A-4BEF-8D88-C676B3361E6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SYNTHESIS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EDBF9A-E71C-435A-9D69-F0CED754C27D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7ECDFB0-97B2-414A-B751-A6A5EC0ECEDA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EE02E-EB1B-474B-B9C6-05A55C09D67F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308DA1-AFBB-4434-A0EB-12BB082C7B2F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E83956-C2DB-4CF9-93C9-DD02627DB9AA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Responsible AI treats privacy as a lifecycle duty and a question of power.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89864A-8D22-4DFA-A1FE-1C69DE4BDAD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C47BC0-016B-4FB3-A5F3-15BAE580E3D4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3724DA-D451-488D-93C0-81BCE383B69A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70D82D-F6BA-48E8-AFBB-087C449EBE1D}"/>
              </a:ext>
            </a:extLst>
          </p:cNvPr>
          <p:cNvSpPr>
            <a:spLocks noGrp="1"/>
          </p:cNvSpPr>
          <p:nvPr/>
        </p:nvSpPr>
        <p:spPr>
          <a:xfrm>
            <a:off x="1104900" y="12001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Privacy risk accumulates from collection through inference, decisions, and retention.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19C20-FC9C-446F-A90A-8FDAFD4ECA92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3F1245-3775-4247-96A2-CA283800590C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89D9A3-33E7-4C40-811C-712CB6CC7D45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Public availability, consent, accuracy, and security each require contextual analysis.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76A673-4F8C-4B62-8E7D-46AD1821E517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8F7743-B689-42BC-BFED-0B68B64270F1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CCA40C-F62C-43EA-B76A-0E65F06D0A2A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High-stakes systems need necessity tests, alternatives, and effective review.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4756D1-9BC4-4205-A1E5-6C1AFC03765E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D8CD31-8ED6-461E-B1E3-1F44D71327EB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CA542E-403B-454C-BC9E-07D62B89F929}"/>
              </a:ext>
            </a:extLst>
          </p:cNvPr>
          <p:cNvSpPr>
            <a:spLocks noGrp="1"/>
          </p:cNvSpPr>
          <p:nvPr/>
        </p:nvSpPr>
        <p:spPr>
          <a:xfrm>
            <a:off x="1104900" y="39433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Derived data and model outputs can carry risks comparable to source records.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1E03FA-9574-4417-8BED-68F38AC5F9C4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07CFA2-978F-43CD-B1FC-FDA00F903286}"/>
              </a:ext>
            </a:extLst>
          </p:cNvPr>
          <p:cNvSpPr>
            <a:spLocks noGrp="1"/>
          </p:cNvSpPr>
          <p:nvPr/>
        </p:nvSpPr>
        <p:spPr>
          <a:xfrm>
            <a:off x="6210300" y="1219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919DEC-2D02-4503-967A-1B460D852938}"/>
              </a:ext>
            </a:extLst>
          </p:cNvPr>
          <p:cNvSpPr>
            <a:spLocks noGrp="1"/>
          </p:cNvSpPr>
          <p:nvPr/>
        </p:nvSpPr>
        <p:spPr>
          <a:xfrm>
            <a:off x="6762750" y="12001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Effective remedies reach data use and future system behaviour.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198DFE-99F1-4B3A-A010-017F1F434420}"/>
              </a:ext>
            </a:extLst>
          </p:cNvPr>
          <p:cNvSpPr>
            <a:spLocks noGrp="1"/>
          </p:cNvSpPr>
          <p:nvPr/>
        </p:nvSpPr>
        <p:spPr>
          <a:xfrm>
            <a:off x="6210300" y="19050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6E1AB3-3002-46F8-88A1-33EAF4469EED}"/>
              </a:ext>
            </a:extLst>
          </p:cNvPr>
          <p:cNvSpPr>
            <a:spLocks noGrp="1"/>
          </p:cNvSpPr>
          <p:nvPr/>
        </p:nvSpPr>
        <p:spPr>
          <a:xfrm>
            <a:off x="6210300" y="21336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D349A6-33E5-4D1A-ADAA-7620503D1BB4}"/>
              </a:ext>
            </a:extLst>
          </p:cNvPr>
          <p:cNvSpPr>
            <a:spLocks noGrp="1"/>
          </p:cNvSpPr>
          <p:nvPr/>
        </p:nvSpPr>
        <p:spPr>
          <a:xfrm>
            <a:off x="6762750" y="21145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PETs provide useful guarantees when teams match them to a defined threat.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D15149-6DC3-40A6-B6BF-6A11D9A6930C}"/>
              </a:ext>
            </a:extLst>
          </p:cNvPr>
          <p:cNvSpPr>
            <a:spLocks noGrp="1"/>
          </p:cNvSpPr>
          <p:nvPr/>
        </p:nvSpPr>
        <p:spPr>
          <a:xfrm>
            <a:off x="6210300" y="2819400"/>
            <a:ext cx="5219700" cy="28575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07467C-F716-4536-A413-EF4903A58EDE}"/>
              </a:ext>
            </a:extLst>
          </p:cNvPr>
          <p:cNvSpPr>
            <a:spLocks noGrp="1"/>
          </p:cNvSpPr>
          <p:nvPr/>
        </p:nvSpPr>
        <p:spPr>
          <a:xfrm>
            <a:off x="6210300" y="30480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6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552489-3D90-4A4F-BF0B-2832E5DAA94F}"/>
              </a:ext>
            </a:extLst>
          </p:cNvPr>
          <p:cNvSpPr>
            <a:spLocks noGrp="1"/>
          </p:cNvSpPr>
          <p:nvPr/>
        </p:nvSpPr>
        <p:spPr>
          <a:xfrm>
            <a:off x="6762750" y="30289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8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8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Vulnerable people need safeguards that work without money, time, or technical expertise.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E177C7-2E72-400E-8129-D770E7C4BC4D}"/>
              </a:ext>
            </a:extLst>
          </p:cNvPr>
          <p:cNvSpPr>
            <a:spLocks noGrp="1"/>
          </p:cNvSpPr>
          <p:nvPr/>
        </p:nvSpPr>
        <p:spPr>
          <a:xfrm>
            <a:off x="6210300" y="3733800"/>
            <a:ext cx="5219700" cy="28575"/>
          </a:xfrm>
          <a:prstGeom prst="rect">
            <a:avLst/>
          </a:prstGeom>
          <a:solidFill>
            <a:srgbClr val="C65B4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1A0C1A-FC71-4DBF-8167-843E8412B196}"/>
              </a:ext>
            </a:extLst>
          </p:cNvPr>
          <p:cNvSpPr>
            <a:spLocks noGrp="1"/>
          </p:cNvSpPr>
          <p:nvPr/>
        </p:nvSpPr>
        <p:spPr>
          <a:xfrm>
            <a:off x="2457450" y="49911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04A303CC-0642-421F-9EC5-E5D09F10255E}"/>
              </a:ext>
            </a:extLst>
          </p:cNvPr>
          <p:cNvSpPr>
            <a:spLocks noGrp="1"/>
          </p:cNvSpPr>
          <p:nvPr/>
        </p:nvSpPr>
        <p:spPr>
          <a:xfrm>
            <a:off x="4229100" y="5038725"/>
            <a:ext cx="400050" cy="2286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DA84D3-A885-4C43-AC5A-853DC17A5A7D}"/>
              </a:ext>
            </a:extLst>
          </p:cNvPr>
          <p:cNvSpPr>
            <a:spLocks noGrp="1"/>
          </p:cNvSpPr>
          <p:nvPr/>
        </p:nvSpPr>
        <p:spPr>
          <a:xfrm>
            <a:off x="4686300" y="49911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CDCFF88D-8DB3-45DC-A5B3-9D19E31A5605}"/>
              </a:ext>
            </a:extLst>
          </p:cNvPr>
          <p:cNvSpPr>
            <a:spLocks noGrp="1"/>
          </p:cNvSpPr>
          <p:nvPr/>
        </p:nvSpPr>
        <p:spPr>
          <a:xfrm>
            <a:off x="6743700" y="5038725"/>
            <a:ext cx="400050" cy="228600"/>
          </a:xfrm>
          <a:prstGeom prst="rightArrow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B48AE2-834C-48F6-822D-2F1465EF9420}"/>
              </a:ext>
            </a:extLst>
          </p:cNvPr>
          <p:cNvSpPr>
            <a:spLocks noGrp="1"/>
          </p:cNvSpPr>
          <p:nvPr/>
        </p:nvSpPr>
        <p:spPr>
          <a:xfrm>
            <a:off x="7200900" y="49911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HUMAN IMPACT</a:t>
            </a:r>
          </a:p>
        </p:txBody>
      </p:sp>
    </p:spTree>
    <p:extLst>
      <p:ext uri="{BB962C8B-B14F-4D97-AF65-F5344CB8AC3E}">
        <p14:creationId xmlns:p14="http://schemas.microsoft.com/office/powerpoint/2010/main" val="21005107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3B569C0-15B6-43B3-B2A4-CCB9E981F14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PART C · CLOSE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CBECCA-2445-4232-8FC2-E52E83A1042B}"/>
              </a:ext>
            </a:extLst>
          </p:cNvPr>
          <p:cNvSpPr>
            <a:spLocks noGrp="1"/>
          </p:cNvSpPr>
          <p:nvPr/>
        </p:nvSpPr>
        <p:spPr>
          <a:xfrm>
            <a:off x="552450" y="4476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Reading, next lecture, and Q&amp;A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05867B9-7D0B-47E5-BE11-4D1E5578D24C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0033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A212E5-C23D-4416-A8FC-BCECEC5F18AB}"/>
              </a:ext>
            </a:extLst>
          </p:cNvPr>
          <p:cNvSpPr>
            <a:spLocks noGrp="1"/>
          </p:cNvSpPr>
          <p:nvPr/>
        </p:nvSpPr>
        <p:spPr>
          <a:xfrm>
            <a:off x="11125200" y="4000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CDFD36-0DF0-4BDD-847C-CE2DE2211D27}"/>
              </a:ext>
            </a:extLst>
          </p:cNvPr>
          <p:cNvSpPr>
            <a:spLocks noGrp="1"/>
          </p:cNvSpPr>
          <p:nvPr/>
        </p:nvSpPr>
        <p:spPr>
          <a:xfrm>
            <a:off x="552450" y="6086475"/>
            <a:ext cx="11087100" cy="361950"/>
          </a:xfrm>
          <a:prstGeom prst="roundRect">
            <a:avLst>
              <a:gd name="adj" fmla="val 26316"/>
            </a:avLst>
          </a:prstGeom>
          <a:solidFill>
            <a:srgbClr val="E6F0FA"/>
          </a:solidFill>
          <a:ln w="762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DD4E03-BCED-489F-BFA2-B5D01E761344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070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Questions are welcome.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8474F2-5122-4CEE-A821-F5618DB13F2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8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628632-EAD4-4585-B45D-9462B42A01DB}"/>
              </a:ext>
            </a:extLst>
          </p:cNvPr>
          <p:cNvSpPr>
            <a:spLocks noGrp="1"/>
          </p:cNvSpPr>
          <p:nvPr/>
        </p:nvSpPr>
        <p:spPr>
          <a:xfrm>
            <a:off x="11239500" y="65341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8B3C57-4DCC-491B-8DCA-A31339FA74D8}"/>
              </a:ext>
            </a:extLst>
          </p:cNvPr>
          <p:cNvSpPr>
            <a:spLocks noGrp="1"/>
          </p:cNvSpPr>
          <p:nvPr/>
        </p:nvSpPr>
        <p:spPr>
          <a:xfrm>
            <a:off x="742950" y="1371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CEF2C0-3002-45BC-9708-A29885D8B499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4000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Coeckelbergh: chapter on privacy</a:t>
            </a:r>
          </a:p>
          <a:p>
            <a:pPr algn="l">
              <a:lnSpc>
                <a:spcPct val="112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Eubanks: Chapter 1</a:t>
            </a:r>
          </a:p>
          <a:p>
            <a:pPr algn="l">
              <a:lnSpc>
                <a:spcPct val="112000"/>
              </a:lnSpc>
              <a:buNone/>
              <a:defRPr sz="18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Available on Canvas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490B0-DF93-44E9-9A69-1FD5D82DC9E2}"/>
              </a:ext>
            </a:extLst>
          </p:cNvPr>
          <p:cNvSpPr>
            <a:spLocks noGrp="1"/>
          </p:cNvSpPr>
          <p:nvPr/>
        </p:nvSpPr>
        <p:spPr>
          <a:xfrm>
            <a:off x="5200650" y="1314450"/>
            <a:ext cx="38100" cy="3714750"/>
          </a:xfrm>
          <a:prstGeom prst="rect">
            <a:avLst/>
          </a:prstGeom>
          <a:solidFill>
            <a:srgbClr val="A8C9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8E3DC4-AD3A-48A9-9BA2-1CADAFB742D2}"/>
              </a:ext>
            </a:extLst>
          </p:cNvPr>
          <p:cNvSpPr>
            <a:spLocks noGrp="1"/>
          </p:cNvSpPr>
          <p:nvPr/>
        </p:nvSpPr>
        <p:spPr>
          <a:xfrm>
            <a:off x="5695950" y="1371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C65B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5B4B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494245-99CF-43F0-B4A9-1D04E5CC2FE5}"/>
              </a:ext>
            </a:extLst>
          </p:cNvPr>
          <p:cNvSpPr>
            <a:spLocks noGrp="1"/>
          </p:cNvSpPr>
          <p:nvPr/>
        </p:nvSpPr>
        <p:spPr>
          <a:xfrm>
            <a:off x="5695950" y="18478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Lecture 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3BEE5F-0EFB-449F-A470-CDAE460BCEA4}"/>
              </a:ext>
            </a:extLst>
          </p:cNvPr>
          <p:cNvSpPr>
            <a:spLocks noGrp="1"/>
          </p:cNvSpPr>
          <p:nvPr/>
        </p:nvSpPr>
        <p:spPr>
          <a:xfrm>
            <a:off x="5695950" y="2324100"/>
            <a:ext cx="514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Accountability, Responsibility, Transparency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E80E134-1A5C-442E-A7B6-68A224AA2989}"/>
              </a:ext>
            </a:extLst>
          </p:cNvPr>
          <p:cNvSpPr>
            <a:spLocks noGrp="1"/>
          </p:cNvSpPr>
          <p:nvPr/>
        </p:nvSpPr>
        <p:spPr>
          <a:xfrm>
            <a:off x="5695950" y="3371850"/>
            <a:ext cx="5143500" cy="1257300"/>
          </a:xfrm>
          <a:prstGeom prst="roundRect">
            <a:avLst>
              <a:gd name="adj" fmla="val 10606"/>
            </a:avLst>
          </a:prstGeom>
          <a:solidFill>
            <a:srgbClr val="E6F0FA"/>
          </a:solidFill>
          <a:ln w="11430">
            <a:solidFill>
              <a:srgbClr val="A8C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B271CD-6800-4749-BCA7-867739DA55AA}"/>
              </a:ext>
            </a:extLst>
          </p:cNvPr>
          <p:cNvSpPr>
            <a:spLocks noGrp="1"/>
          </p:cNvSpPr>
          <p:nvPr/>
        </p:nvSpPr>
        <p:spPr>
          <a:xfrm>
            <a:off x="5924550" y="35623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00" b="1" i="0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2E75B6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B24057-1F34-452D-B67E-789DCF7159C2}"/>
              </a:ext>
            </a:extLst>
          </p:cNvPr>
          <p:cNvSpPr>
            <a:spLocks noGrp="1"/>
          </p:cNvSpPr>
          <p:nvPr/>
        </p:nvSpPr>
        <p:spPr>
          <a:xfrm>
            <a:off x="5924550" y="3924300"/>
            <a:ext cx="464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4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Name one data point you shared today that you cannot delete. Who holds it, and what would you do if it were wrong?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9DFCD1-C9CE-4857-8170-D3CC4A7D1C79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300" b="1" i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siruihan@ust.hk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BFADFC-89DF-461E-A4B6-98781380D7FB}"/>
              </a:ext>
            </a:extLst>
          </p:cNvPr>
          <p:cNvSpPr>
            <a:spLocks noGrp="1"/>
          </p:cNvSpPr>
          <p:nvPr/>
        </p:nvSpPr>
        <p:spPr>
          <a:xfrm>
            <a:off x="742950" y="5295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150" b="0" i="0">
                <a:solidFill>
                  <a:srgbClr val="647382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647382"/>
                </a:solidFill>
                <a:latin typeface="Arial"/>
                <a:ea typeface="Arial"/>
                <a:cs typeface="Arial"/>
              </a:rPr>
              <a:t>Office hours: TBD</a:t>
            </a:r>
          </a:p>
        </p:txBody>
      </p:sp>
    </p:spTree>
    <p:extLst>
      <p:ext uri="{BB962C8B-B14F-4D97-AF65-F5344CB8AC3E}">
        <p14:creationId xmlns:p14="http://schemas.microsoft.com/office/powerpoint/2010/main" val="4974404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EF8AAC-5E50-41DD-914F-5BB21703F7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>
              <a:alpha val="72157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281F99-AB7E-4212-99F0-81DBFD8F5D86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666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54EF86-C6AA-419A-B40D-DEBC1340DC3D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2900" b="1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D6D2D-439E-4481-BF8D-A119AF87C141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4000500" cy="47625"/>
          </a:xfrm>
          <a:prstGeom prst="rect">
            <a:avLst/>
          </a:prstGeom>
          <a:solidFill>
            <a:srgbClr val="5BA4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23B94C-C97A-4D8C-8051-B5FCAD77F5C1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HKUST · MSc(AIE) Program · Fall 2026/27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4FF24F-E2B3-42E5-8FD5-AE0CFC5D530F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A8D4F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8D4F0"/>
                </a:solidFill>
                <a:latin typeface="Arial"/>
                <a:ea typeface="Arial"/>
                <a:cs typeface="Arial"/>
              </a:rPr>
              <a:t>MAIE 5103 · Artificial Intelligence Ethics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4B0DC3-16B2-4C95-AE31-A46AB7AA1C3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20226691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12703</Words>
  <Application>Microsoft Macintosh PowerPoint</Application>
  <DocSecurity>0</DocSecurity>
  <PresentationFormat>宽屏</PresentationFormat>
  <Paragraphs>2082</Paragraphs>
  <Slides>89</Slides>
  <Notes>89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3" baseType="lpstr">
      <vt:lpstr>Arial</vt:lpstr>
      <vt:lpstr>Calibri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 Yanting</cp:lastModifiedBy>
  <cp:revision>6</cp:revision>
  <dcterms:created xsi:type="dcterms:W3CDTF">2026-09-08T06:07:08Z</dcterms:created>
  <dcterms:modified xsi:type="dcterms:W3CDTF">2026-09-08T10:37:01Z</dcterms:modified>
</cp:coreProperties>
</file>